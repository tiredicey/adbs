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250 words, about 1 min 55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14):</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14):</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14):</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14):</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14):</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14):</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14):</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14):</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14):</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14):</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14):</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14):</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14):</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07, 08 and 09 Handouts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14 slides · about 1 min 55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db.movies.insertOne({"title" : "Stand by Me"})</a:t>
            </a:r>
          </a:p>
          <a:p>
            <a:pPr algn="l">
              <a:lnSpc>
                <a:spcPct val="100000"/>
              </a:lnSpc>
            </a:pPr>
            <a:r>
              <a:rPr sz="2800" b="0">
                <a:solidFill>
                  <a:srgbClr val="9FE0C9"/>
                </a:solidFill>
                <a:latin typeface="Courier New"/>
              </a:rPr>
              <a:t>{ acknowledged: true,</a:t>
            </a:r>
          </a:p>
          <a:p>
            <a:pPr algn="l">
              <a:lnSpc>
                <a:spcPct val="100000"/>
              </a:lnSpc>
            </a:pPr>
            <a:r>
              <a:rPr sz="2800" b="0">
                <a:solidFill>
                  <a:srgbClr val="9FE0C9"/>
                </a:solidFill>
                <a:latin typeface="Courier New"/>
              </a:rPr>
              <a:t>  insertedId: ObjectId('6ae590867b507d5b5c544ca7') }</a:t>
            </a:r>
          </a:p>
        </p:txBody>
      </p:sp>
      <p:sp>
        <p:nvSpPr>
          <p:cNvPr id="8" name="Rectangle 7"/>
          <p:cNvSpPr/>
          <p:nvPr/>
        </p:nvSpPr>
        <p:spPr>
          <a:xfrm>
            <a:off x="411480" y="415137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42816"/>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 {"_id" : 0})</a:t>
            </a:r>
          </a:p>
          <a:p>
            <a:pPr algn="l">
              <a:lnSpc>
                <a:spcPct val="1000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 {"_id" : 0})</a:t>
            </a:r>
          </a:p>
          <a:p>
            <a:pPr algn="l">
              <a:lnSpc>
                <a:spcPct val="100000"/>
              </a:lnSpc>
            </a:pPr>
            <a:r>
              <a:rPr sz="2800" b="0">
                <a:solidFill>
                  <a:srgbClr val="9FE0C9"/>
                </a:solidFill>
                <a:latin typeface="Courier New"/>
              </a:rPr>
              <a:t>[ { title: 'Stand by Me' }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1206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50109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db.movies.insertMany([{"title" : "Ghostbusters"},</a:t>
            </a:r>
          </a:p>
          <a:p>
            <a:pPr algn="l">
              <a:lnSpc>
                <a:spcPct val="100000"/>
              </a:lnSpc>
            </a:pPr>
            <a:r>
              <a:rPr sz="2800" b="0">
                <a:solidFill>
                  <a:srgbClr val="E6ECF2"/>
                </a:solidFill>
                <a:latin typeface="Courier New"/>
              </a:rPr>
              <a:t>  {"title" : "E.T."},</a:t>
            </a:r>
          </a:p>
          <a:p>
            <a:pPr algn="l">
              <a:lnSpc>
                <a:spcPct val="100000"/>
              </a:lnSpc>
            </a:pPr>
            <a:r>
              <a:rPr sz="2800" b="0">
                <a:solidFill>
                  <a:srgbClr val="E6ECF2"/>
                </a:solidFill>
                <a:latin typeface="Courier New"/>
              </a:rPr>
              <a:t>  {"title" : "Blade Runner"}])</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acknowledged: true,</a:t>
            </a:r>
          </a:p>
          <a:p>
            <a:pPr algn="l">
              <a:lnSpc>
                <a:spcPct val="100000"/>
              </a:lnSpc>
            </a:pPr>
            <a:r>
              <a:rPr sz="2800" b="0">
                <a:solidFill>
                  <a:srgbClr val="9FE0C9"/>
                </a:solidFill>
                <a:latin typeface="Courier New"/>
              </a:rPr>
              <a:t>  insertedIds: {</a:t>
            </a:r>
          </a:p>
          <a:p>
            <a:pPr algn="l">
              <a:lnSpc>
                <a:spcPct val="100000"/>
              </a:lnSpc>
            </a:pPr>
            <a:r>
              <a:rPr sz="2800" b="0">
                <a:solidFill>
                  <a:srgbClr val="9FE0C9"/>
                </a:solidFill>
                <a:latin typeface="Courier New"/>
              </a:rPr>
              <a:t>    '0': ObjectId('6ae59088cd1d7692c9544ca7'),</a:t>
            </a:r>
          </a:p>
          <a:p>
            <a:pPr algn="l">
              <a:lnSpc>
                <a:spcPct val="100000"/>
              </a:lnSpc>
            </a:pPr>
            <a:r>
              <a:rPr sz="2800" b="0">
                <a:solidFill>
                  <a:srgbClr val="9FE0C9"/>
                </a:solidFill>
                <a:latin typeface="Courier New"/>
              </a:rPr>
              <a:t>    '1': ObjectId('6ae59088cd1d7692c9544ca8'),</a:t>
            </a:r>
          </a:p>
          <a:p>
            <a:pPr algn="l">
              <a:lnSpc>
                <a:spcPct val="100000"/>
              </a:lnSpc>
            </a:pPr>
            <a:r>
              <a:rPr sz="2800" b="0">
                <a:solidFill>
                  <a:srgbClr val="9FE0C9"/>
                </a:solidFill>
                <a:latin typeface="Courier New"/>
              </a:rPr>
              <a:t>    '2': ObjectId('6ae59088cd1d7692c9544ca9')</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title: 'Stand by Me' },</a:t>
            </a:r>
          </a:p>
          <a:p>
            <a:pPr algn="l">
              <a:lnSpc>
                <a:spcPct val="1000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8FA3B8"/>
                </a:solidFill>
                <a:latin typeface="Courier New"/>
              </a:rPr>
              <a:t>// no output: the collection is empty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E6ECF2"/>
                </a:solidFill>
                <a:latin typeface="Courier New"/>
              </a:rPr>
              <a:t>  {"ordered" : false})</a:t>
            </a:r>
          </a:p>
          <a:p>
            <a:pPr algn="l">
              <a:lnSpc>
                <a:spcPct val="100000"/>
              </a:lnSpc>
            </a:pPr>
            <a:r>
              <a:rPr sz="2800" b="0">
                <a:solidFill>
                  <a:srgbClr val="FFB4A8"/>
                </a:solidFill>
                <a:latin typeface="Courier New"/>
              </a:rPr>
              <a:t>MongoBulkWriteError: E11000 duplicate key error</a:t>
            </a:r>
          </a:p>
          <a:p>
            <a:pPr algn="l">
              <a:lnSpc>
                <a:spcPct val="100000"/>
              </a:lnSpc>
            </a:pPr>
            <a:r>
              <a:rPr sz="2800" b="0">
                <a:solidFill>
                  <a:srgbClr val="FFB4A8"/>
                </a:solidFill>
                <a:latin typeface="Courier New"/>
              </a:rPr>
              <a:t>collection: adbs_part1.movies index: _id_ dup key: {</a:t>
            </a:r>
          </a:p>
          <a:p>
            <a:pPr algn="l">
              <a:lnSpc>
                <a:spcPct val="100000"/>
              </a:lnSpc>
            </a:pPr>
            <a:r>
              <a:rPr sz="2800" b="0">
                <a:solidFill>
                  <a:srgbClr val="FFB4A8"/>
                </a:solidFill>
                <a:latin typeface="Courier New"/>
              </a:rPr>
              <a:t>_id: 4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db.ordered.find()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db.ordered.insertMany([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FFB4A8"/>
                </a:solidFill>
                <a:latin typeface="Courier New"/>
              </a:rPr>
              <a:t>MongoBulkWriteError: E11000 duplicate key error</a:t>
            </a:r>
          </a:p>
          <a:p>
            <a:pPr algn="l">
              <a:lnSpc>
                <a:spcPct val="100000"/>
              </a:lnSpc>
            </a:pPr>
            <a:r>
              <a:rPr sz="2800" b="0">
                <a:solidFill>
                  <a:srgbClr val="FFB4A8"/>
                </a:solidFill>
                <a:latin typeface="Courier New"/>
              </a:rPr>
              <a:t>collection: adbs_part1.ordered index: _id_ dup key:</a:t>
            </a:r>
          </a:p>
          <a:p>
            <a:pPr algn="l">
              <a:lnSpc>
                <a:spcPct val="1000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db.ordered.find()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3, title: 'Sixteen Candles' },</a:t>
            </a:r>
          </a:p>
          <a:p>
            <a:pPr algn="l">
              <a:lnSpc>
                <a:spcPct val="1000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  { _id: 5, title: 'Scarface' }</a:t>
            </a:r>
          </a:p>
          <a:p>
            <a:pPr algn="l">
              <a:lnSpc>
                <a:spcPct val="100000"/>
              </a:lnSpc>
            </a:pPr>
            <a:r>
              <a:rPr sz="2800" b="0">
                <a:solidFill>
                  <a:srgbClr val="9FE0C9"/>
                </a:solidFill>
                <a:latin typeface="Courier New"/>
              </a:rPr>
              <a:t>]</a:t>
            </a:r>
          </a:p>
        </p:txBody>
      </p:sp>
      <p:sp>
        <p:nvSpPr>
          <p:cNvPr id="6" name="Rectangle 5"/>
          <p:cNvSpPr/>
          <p:nvPr/>
        </p:nvSpPr>
        <p:spPr>
          <a:xfrm>
            <a:off x="411480" y="427024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6168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db.movies.deleteOne({"_id" : 4})</a:t>
            </a:r>
          </a:p>
          <a:p>
            <a:pPr algn="l">
              <a:lnSpc>
                <a:spcPct val="1000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3, title: 'Sixteen Candles' },</a:t>
            </a:r>
          </a:p>
          <a:p>
            <a:pPr algn="l">
              <a:lnSpc>
                <a:spcPct val="100000"/>
              </a:lnSpc>
            </a:pPr>
            <a:r>
              <a:rPr sz="2800" b="0">
                <a:solidFill>
                  <a:srgbClr val="9FE0C9"/>
                </a:solidFill>
                <a:latin typeface="Courier New"/>
              </a:rPr>
              <a:t>  { _id: 5, title: 'Scarface'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a:t>
            </a:r>
          </a:p>
          <a:p>
            <a:pPr algn="l">
              <a:lnSpc>
                <a:spcPct val="100000"/>
              </a:lnSpc>
            </a:pPr>
            <a:r>
              <a:rPr sz="2800" b="0">
                <a:solidFill>
                  <a:srgbClr val="8FA3B8"/>
                </a:solidFill>
                <a:latin typeface="Courier New"/>
              </a:rPr>
              <a:t>// the handout's three movies</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ct val="1000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ct val="100000"/>
              </a:lnSpc>
            </a:pPr>
            <a:r>
              <a:rPr sz="2800" b="0">
                <a:solidFill>
                  <a:srgbClr val="9FE0C9"/>
                </a:solidFill>
                <a:latin typeface="Courier New"/>
              </a:rPr>
              <a:t>    year: 1985 },</a:t>
            </a:r>
          </a:p>
          <a:p>
            <a:pPr algn="l">
              <a:lnSpc>
                <a:spcPct val="100000"/>
              </a:lnSpc>
            </a:pPr>
            <a:r>
              <a:rPr sz="2800" b="0">
                <a:solidFill>
                  <a:srgbClr val="9FE0C9"/>
                </a:solidFill>
                <a:latin typeface="Courier New"/>
              </a:rPr>
              <a:t>  { _id: 3, title: 'Sixteen Candles', year: 1984 }</a:t>
            </a:r>
          </a:p>
          <a:p>
            <a:pPr algn="l">
              <a:lnSpc>
                <a:spcPct val="100000"/>
              </a:lnSpc>
            </a:pPr>
            <a:r>
              <a:rPr sz="2800" b="0">
                <a:solidFill>
                  <a:srgbClr val="9FE0C9"/>
                </a:solidFill>
                <a:latin typeface="Courier New"/>
              </a:rPr>
              <a:t>]</a:t>
            </a:r>
          </a:p>
        </p:txBody>
      </p:sp>
      <p:sp>
        <p:nvSpPr>
          <p:cNvPr id="6" name="Rectangle 5"/>
          <p:cNvSpPr/>
          <p:nvPr/>
        </p:nvSpPr>
        <p:spPr>
          <a:xfrm>
            <a:off x="411480" y="468172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77316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db.movies.deleteMany({"year" : 1985})</a:t>
            </a:r>
          </a:p>
          <a:p>
            <a:pPr algn="l">
              <a:lnSpc>
                <a:spcPct val="100000"/>
              </a:lnSpc>
            </a:pPr>
            <a:r>
              <a:rPr sz="2800" b="0">
                <a:solidFill>
                  <a:srgbClr val="9FE0C9"/>
                </a:solidFill>
                <a:latin typeface="Courier New"/>
              </a:rPr>
              <a:t>{ acknowledged: true, deletedCount: 2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a:t>
            </a:r>
          </a:p>
          <a:p>
            <a:pPr algn="l">
              <a:lnSpc>
                <a:spcPct val="100000"/>
              </a:lnSpc>
            </a:pPr>
            <a:r>
              <a:rPr sz="2800" b="0">
                <a:solidFill>
                  <a:srgbClr val="9FE0C9"/>
                </a:solidFill>
                <a:latin typeface="Courier New"/>
              </a:rPr>
              <a:t>[ { _id: 3, title: 'Sixteen Candles', year: 1984 }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08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db.users.findOne({"name"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name: 'Joe',</a:t>
            </a:r>
          </a:p>
          <a:p>
            <a:pPr algn="l">
              <a:lnSpc>
                <a:spcPct val="100000"/>
              </a:lnSpc>
            </a:pPr>
            <a:r>
              <a:rPr sz="2800" b="0">
                <a:solidFill>
                  <a:srgbClr val="9FE0C9"/>
                </a:solidFill>
                <a:latin typeface="Courier New"/>
              </a:rPr>
              <a:t>  friends: 32,</a:t>
            </a:r>
          </a:p>
          <a:p>
            <a:pPr algn="l">
              <a:lnSpc>
                <a:spcPct val="100000"/>
              </a:lnSpc>
            </a:pPr>
            <a:r>
              <a:rPr sz="2800" b="0">
                <a:solidFill>
                  <a:srgbClr val="9FE0C9"/>
                </a:solidFill>
                <a:latin typeface="Courier New"/>
              </a:rPr>
              <a:t>  enemies: 2</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db.users.findOne({"name"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a:t>
            </a:r>
            <a:r>
              <a:rPr sz="2800" b="0" strike="sngStrike">
                <a:solidFill>
                  <a:srgbClr val="FFB4A8"/>
                </a:solidFill>
                <a:latin typeface="Courier New"/>
              </a:rPr>
              <a:t>name: 'Joe'</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friends: 32</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enemies: 2</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47091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5994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var Joe = db.users.findOne({"name" : "Joe"});</a:t>
            </a:r>
          </a:p>
          <a:p>
            <a:pPr algn="l">
              <a:lnSpc>
                <a:spcPct val="100000"/>
              </a:lnSpc>
            </a:pPr>
            <a:r>
              <a:rPr sz="2800" b="0">
                <a:solidFill>
                  <a:srgbClr val="E6ECF2"/>
                </a:solidFill>
                <a:latin typeface="Courier New"/>
              </a:rPr>
              <a:t>Joe.relationships = {"friends" : Joe.friends,</a:t>
            </a:r>
          </a:p>
          <a:p>
            <a:pPr algn="l">
              <a:lnSpc>
                <a:spcPct val="100000"/>
              </a:lnSpc>
            </a:pPr>
            <a:r>
              <a:rPr sz="2800" b="0">
                <a:solidFill>
                  <a:srgbClr val="E6ECF2"/>
                </a:solidFill>
                <a:latin typeface="Courier New"/>
              </a:rPr>
              <a:t>  "enemies" : Joe.enemies};</a:t>
            </a:r>
          </a:p>
          <a:p>
            <a:pPr algn="l">
              <a:lnSpc>
                <a:spcPct val="100000"/>
              </a:lnSpc>
            </a:pPr>
            <a:r>
              <a:rPr sz="2800" b="0">
                <a:solidFill>
                  <a:srgbClr val="E6ECF2"/>
                </a:solidFill>
                <a:latin typeface="Courier New"/>
              </a:rPr>
              <a:t>Joe.username = Joe.name;</a:t>
            </a:r>
          </a:p>
          <a:p>
            <a:pPr algn="l">
              <a:lnSpc>
                <a:spcPct val="100000"/>
              </a:lnSpc>
            </a:pPr>
            <a:r>
              <a:rPr sz="2800" b="0">
                <a:solidFill>
                  <a:srgbClr val="E6ECF2"/>
                </a:solidFill>
                <a:latin typeface="Courier New"/>
              </a:rPr>
              <a:t>delete Joe.friends; delete Joe.enemies;</a:t>
            </a:r>
          </a:p>
          <a:p>
            <a:pPr algn="l">
              <a:lnSpc>
                <a:spcPct val="100000"/>
              </a:lnSpc>
            </a:pPr>
            <a:r>
              <a:rPr sz="2800" b="0">
                <a:solidFill>
                  <a:srgbClr val="E6ECF2"/>
                </a:solidFill>
                <a:latin typeface="Courier New"/>
              </a:rPr>
              <a:t>delete Joe.name;</a:t>
            </a:r>
          </a:p>
          <a:p>
            <a:pPr algn="l">
              <a:lnSpc>
                <a:spcPct val="100000"/>
              </a:lnSpc>
            </a:pPr>
            <a:r>
              <a:rPr sz="2800" b="0">
                <a:solidFill>
                  <a:srgbClr val="E6ECF2"/>
                </a:solidFill>
                <a:latin typeface="Courier New"/>
              </a:rPr>
              <a:t>db.users.replaceOne({"name" : "Joe"}, Joe)</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db.users.findOne({"username"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ct val="100000"/>
              </a:lnSpc>
            </a:pPr>
            <a:r>
              <a:rPr sz="2800" b="0">
                <a:solidFill>
                  <a:srgbClr val="9FE0C9"/>
                </a:solidFill>
                <a:latin typeface="Courier New"/>
              </a:rPr>
              <a:t>  </a:t>
            </a:r>
            <a:r>
              <a:rPr sz="2800" b="1" u="sng">
                <a:solidFill>
                  <a:srgbClr val="FFD27F"/>
                </a:solidFill>
                <a:latin typeface="Courier New"/>
              </a:rPr>
              <a:t>username: 'Joe'</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"Green Eggs and Ham"}})</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'favorite book': </a:t>
            </a:r>
            <a:r>
              <a:rPr sz="2800" b="0" strike="sngStrike">
                <a:solidFill>
                  <a:srgbClr val="FFB4A8"/>
                </a:solidFill>
                <a:latin typeface="Courier New"/>
              </a:rPr>
              <a:t>'Green Eggs and Ham'</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["Cat's Cradle", "Foundation Trilogy",</a:t>
            </a:r>
          </a:p>
          <a:p>
            <a:pPr algn="l">
              <a:lnSpc>
                <a:spcPct val="100000"/>
              </a:lnSpc>
            </a:pPr>
            <a:r>
              <a:rPr sz="2800" b="0">
                <a:solidFill>
                  <a:srgbClr val="E6ECF2"/>
                </a:solidFill>
                <a:latin typeface="Courier New"/>
              </a:rPr>
              <a:t>   "Ender's Game"]}})</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ct val="1000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a:t>
            </a:r>
            <a:r>
              <a:rPr sz="2800" b="0" strike="sngStrike">
                <a:solidFill>
                  <a:srgbClr val="FFB4A8"/>
                </a:solidFill>
                <a:latin typeface="Courier New"/>
              </a:rPr>
              <a:t>'favorite book'</a:t>
            </a:r>
            <a:r>
              <a:rPr sz="2800" b="0">
                <a:solidFill>
                  <a:srgbClr val="9FE0C9"/>
                </a:solidFill>
                <a:latin typeface="Courier New"/>
              </a:rPr>
              <a:t>: [ </a:t>
            </a:r>
            <a:r>
              <a:rPr sz="2800" b="0" strike="sngStrike">
                <a:solidFill>
                  <a:srgbClr val="FFB4A8"/>
                </a:solidFill>
                <a:latin typeface="Courier New"/>
              </a:rPr>
              <a:t>"Cat's Cradle"</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'Foundation Trilogy'</a:t>
            </a:r>
            <a:r>
              <a:rPr sz="2800" b="0">
                <a:solidFill>
                  <a:srgbClr val="9FE0C9"/>
                </a:solidFill>
                <a:latin typeface="Courier New"/>
              </a:rPr>
              <a:t>, </a:t>
            </a:r>
            <a:r>
              <a:rPr sz="2800" b="0" strike="sngStrike">
                <a:solidFill>
                  <a:srgbClr val="FFB4A8"/>
                </a:solidFill>
                <a:latin typeface="Courier New"/>
              </a:rPr>
              <a:t>"Ender's Game"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{"$unset" : {"favorite book" : 1}})</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db.books.findOne({},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title: 'MongoDB-2019',</a:t>
            </a:r>
          </a:p>
          <a:p>
            <a:pPr algn="l">
              <a:lnSpc>
                <a:spcPct val="100000"/>
              </a:lnSpc>
            </a:pPr>
            <a:r>
              <a:rPr sz="2800" b="0">
                <a:solidFill>
                  <a:srgbClr val="9FE0C9"/>
                </a:solidFill>
                <a:latin typeface="Courier New"/>
              </a:rPr>
              <a:t>  author: {</a:t>
            </a:r>
          </a:p>
          <a:p>
            <a:pPr algn="l">
              <a:lnSpc>
                <a:spcPct val="1000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ct val="100000"/>
              </a:lnSpc>
            </a:pPr>
            <a:r>
              <a:rPr sz="2800" b="0">
                <a:solidFill>
                  <a:srgbClr val="9FE0C9"/>
                </a:solidFill>
                <a:latin typeface="Courier New"/>
              </a:rPr>
              <a:t>    email: 'Nic@example.com'</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db.books.updateOne({"author.name" : "Nicole"},</a:t>
            </a:r>
          </a:p>
          <a:p>
            <a:pPr algn="l">
              <a:lnSpc>
                <a:spcPct val="100000"/>
              </a:lnSpc>
            </a:pPr>
            <a:r>
              <a:rPr sz="2800" b="0">
                <a:solidFill>
                  <a:srgbClr val="E6ECF2"/>
                </a:solidFill>
                <a:latin typeface="Courier New"/>
              </a:rPr>
              <a:t>  {"$set" : {"author.name" : "Nicole Tagayon"}})</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db.books.findOne({},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title: 'MongoDB-2019',</a:t>
            </a:r>
          </a:p>
          <a:p>
            <a:pPr algn="l">
              <a:lnSpc>
                <a:spcPct val="100000"/>
              </a:lnSpc>
            </a:pPr>
            <a:r>
              <a:rPr sz="2800" b="0">
                <a:solidFill>
                  <a:srgbClr val="9FE0C9"/>
                </a:solidFill>
                <a:latin typeface="Courier New"/>
              </a:rPr>
              <a:t>  author: {</a:t>
            </a:r>
          </a:p>
          <a:p>
            <a:pPr algn="l">
              <a:lnSpc>
                <a:spcPct val="1000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ct val="100000"/>
              </a:lnSpc>
            </a:pPr>
            <a:r>
              <a:rPr sz="2800" b="0">
                <a:solidFill>
                  <a:srgbClr val="9FE0C9"/>
                </a:solidFill>
                <a:latin typeface="Courier New"/>
              </a:rPr>
              <a:t>    email: 'Nic@example.com'</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db.users.find({"birthday" : "10/13/1978"})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birthday: '10/13/1978' },</a:t>
            </a:r>
          </a:p>
          <a:p>
            <a:pPr algn="l">
              <a:lnSpc>
                <a:spcPct val="100000"/>
              </a:lnSpc>
            </a:pPr>
            <a:r>
              <a:rPr sz="2800" b="0">
                <a:solidFill>
                  <a:srgbClr val="9FE0C9"/>
                </a:solidFill>
                <a:latin typeface="Courier New"/>
              </a:rPr>
              <a:t>  { _id: 2, birthday: '10/13/1978' },</a:t>
            </a:r>
          </a:p>
          <a:p>
            <a:pPr algn="l">
              <a:lnSpc>
                <a:spcPct val="100000"/>
              </a:lnSpc>
            </a:pPr>
            <a:r>
              <a:rPr sz="2800" b="0">
                <a:solidFill>
                  <a:srgbClr val="9FE0C9"/>
                </a:solidFill>
                <a:latin typeface="Courier New"/>
              </a:rPr>
              <a:t>  { _id: 3, birthday: '10/13/1978'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db.users.updateMany({"birthday" : "10/13/1978"},</a:t>
            </a:r>
          </a:p>
          <a:p>
            <a:pPr algn="l">
              <a:lnSpc>
                <a:spcPct val="100000"/>
              </a:lnSpc>
            </a:pPr>
            <a:r>
              <a:rPr sz="2800" b="0">
                <a:solidFill>
                  <a:srgbClr val="E6ECF2"/>
                </a:solidFill>
                <a:latin typeface="Courier New"/>
              </a:rPr>
              <a:t>  {"$set" : {"gift" : "Happy Birthday!"}})</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3, modifiedCount: 3,</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db.users.find({"birthday" : "10/13/1978"})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  { _id: 2,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  { _id: 3,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2743200"/>
                <a:gridCol w="5882335"/>
                <a:gridCol w="2743200"/>
              </a:tblGrid>
              <a:tr h="713232">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'Ana', age: 17 },</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  { _id: 3, name: 'Cara', age: 24 },</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  { _id: 5, name: 'Eli', age: 31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{"$lt" : 18}})</a:t>
            </a:r>
          </a:p>
          <a:p>
            <a:pPr algn="l">
              <a:lnSpc>
                <a:spcPct val="100000"/>
              </a:lnSpc>
            </a:pPr>
            <a:r>
              <a:rPr sz="2800" b="0">
                <a:solidFill>
                  <a:srgbClr val="9FE0C9"/>
                </a:solidFill>
                <a:latin typeface="Courier New"/>
              </a:rPr>
              <a:t>[ { _id: 1, name: 'Ana', age: 17 } ]</a:t>
            </a:r>
          </a:p>
        </p:txBody>
      </p:sp>
      <p:sp>
        <p:nvSpPr>
          <p:cNvPr id="6" name="Rectangle 5"/>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{"$lte" : 18}})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'Ana', age: 17 },</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 : 30}})</a:t>
            </a:r>
          </a:p>
          <a:p>
            <a:pPr algn="l">
              <a:lnSpc>
                <a:spcPct val="100000"/>
              </a:lnSpc>
            </a:pPr>
            <a:r>
              <a:rPr sz="2800" b="0">
                <a:solidFill>
                  <a:srgbClr val="9FE0C9"/>
                </a:solidFill>
                <a:latin typeface="Courier New"/>
              </a:rPr>
              <a:t>[ { _id: 5, name: 'Eli', age: 31 } ]</a:t>
            </a:r>
          </a:p>
        </p:txBody>
      </p:sp>
      <p:sp>
        <p:nvSpPr>
          <p:cNvPr id="6" name="Rectangle 5"/>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{"$gte" : 30}})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  { _id: 5, name: 'Eli', age: 31 }</a:t>
            </a:r>
          </a:p>
          <a:p>
            <a:pPr algn="l">
              <a:lnSpc>
                <a:spcPct val="1000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{"$gte" : 18, "$lte" : 30}})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  { _id: 3, name: 'Cara', age: 24 },</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22 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2, ticket_no: 542, winner: false },</a:t>
            </a:r>
          </a:p>
          <a:p>
            <a:pPr algn="l">
              <a:lnSpc>
                <a:spcPct val="100000"/>
              </a:lnSpc>
            </a:pPr>
            <a:r>
              <a:rPr sz="2800" b="0">
                <a:solidFill>
                  <a:srgbClr val="9FE0C9"/>
                </a:solidFill>
                <a:latin typeface="Courier New"/>
              </a:rPr>
              <a:t>  { _id: 3, ticket_no: 390, winner: false },</a:t>
            </a:r>
          </a:p>
          <a:p>
            <a:pPr algn="l">
              <a:lnSpc>
                <a:spcPct val="100000"/>
              </a:lnSpc>
            </a:pPr>
            <a:r>
              <a:rPr sz="2800" b="0">
                <a:solidFill>
                  <a:srgbClr val="9FE0C9"/>
                </a:solidFill>
                <a:latin typeface="Courier New"/>
              </a:rPr>
              <a:t>  { _id: 4, ticket_no: 111, winner: true },</a:t>
            </a:r>
          </a:p>
          <a:p>
            <a:pPr algn="l">
              <a:lnSpc>
                <a:spcPct val="100000"/>
              </a:lnSpc>
            </a:pPr>
            <a:r>
              <a:rPr sz="2800" b="0">
                <a:solidFill>
                  <a:srgbClr val="9FE0C9"/>
                </a:solidFill>
                <a:latin typeface="Courier New"/>
              </a:rPr>
              <a:t>  { _id: 5, ticket_no: 222, winner: false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db.raffle.find({"ticket_no" :</a:t>
            </a:r>
          </a:p>
          <a:p>
            <a:pPr algn="l">
              <a:lnSpc>
                <a:spcPct val="100000"/>
              </a:lnSpc>
            </a:pPr>
            <a:r>
              <a:rPr sz="2800" b="0">
                <a:solidFill>
                  <a:srgbClr val="E6ECF2"/>
                </a:solidFill>
                <a:latin typeface="Courier New"/>
              </a:rPr>
              <a:t>  {"$in" : [725, 542, 390]}})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2, ticket_no: 542, winner: false },</a:t>
            </a:r>
          </a:p>
          <a:p>
            <a:pPr algn="l">
              <a:lnSpc>
                <a:spcPct val="100000"/>
              </a:lnSpc>
            </a:pPr>
            <a:r>
              <a:rPr sz="2800" b="0">
                <a:solidFill>
                  <a:srgbClr val="9FE0C9"/>
                </a:solidFill>
                <a:latin typeface="Courier New"/>
              </a:rPr>
              <a:t>  { _id: 3, ticket_no: 390, winner: false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db.raffle.find({"$or" : [{"ticket_no" : 725},</a:t>
            </a:r>
          </a:p>
          <a:p>
            <a:pPr algn="l">
              <a:lnSpc>
                <a:spcPct val="100000"/>
              </a:lnSpc>
            </a:pPr>
            <a:r>
              <a:rPr sz="2800" b="0">
                <a:solidFill>
                  <a:srgbClr val="E6ECF2"/>
                </a:solidFill>
                <a:latin typeface="Courier New"/>
              </a:rPr>
              <a:t>  {"winner" : true}]})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4, ticket_no: 111, winner: true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'Rhea', salary: 8000 },</a:t>
            </a:r>
          </a:p>
          <a:p>
            <a:pPr algn="l">
              <a:lnSpc>
                <a:spcPct val="100000"/>
              </a:lnSpc>
            </a:pPr>
            <a:r>
              <a:rPr sz="2800" b="0">
                <a:solidFill>
                  <a:srgbClr val="9FE0C9"/>
                </a:solidFill>
                <a:latin typeface="Courier New"/>
              </a:rPr>
              <a:t>  { _id: 2, name: 'Mark', salary: 10000 },</a:t>
            </a:r>
          </a:p>
          <a:p>
            <a:pPr algn="l">
              <a:lnSpc>
                <a:spcPct val="100000"/>
              </a:lnSpc>
            </a:pPr>
            <a:r>
              <a:rPr sz="2800" b="0">
                <a:solidFill>
                  <a:srgbClr val="9FE0C9"/>
                </a:solidFill>
                <a:latin typeface="Courier New"/>
              </a:rPr>
              <a:t>  { _id: 3, name: 'Liza', salary: 15000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db.users.find({salary:</a:t>
            </a:r>
          </a:p>
          <a:p>
            <a:pPr algn="l">
              <a:lnSpc>
                <a:spcPct val="100000"/>
              </a:lnSpc>
            </a:pPr>
            <a:r>
              <a:rPr sz="2800" b="0">
                <a:solidFill>
                  <a:srgbClr val="E6ECF2"/>
                </a:solidFill>
                <a:latin typeface="Courier New"/>
              </a:rPr>
              <a:t>  {$not: {$gt: 10000}}}).pretty()</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'Rhea', salary: 8000 },</a:t>
            </a:r>
          </a:p>
          <a:p>
            <a:pPr algn="l">
              <a:lnSpc>
                <a:spcPct val="100000"/>
              </a:lnSpc>
            </a:pPr>
            <a:r>
              <a:rPr sz="2800" b="0">
                <a:solidFill>
                  <a:srgbClr val="9FE0C9"/>
                </a:solidFill>
                <a:latin typeface="Courier New"/>
              </a:rPr>
              <a:t>  { _id: 2, name: 'Mark', salary: 10000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26 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db.food.find()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db.food.insertOne({"_id" : 1,</a:t>
            </a:r>
          </a:p>
          <a:p>
            <a:pPr algn="l">
              <a:lnSpc>
                <a:spcPct val="100000"/>
              </a:lnSpc>
            </a:pPr>
            <a:r>
              <a:rPr sz="2800" b="0">
                <a:solidFill>
                  <a:srgbClr val="E6ECF2"/>
                </a:solidFill>
                <a:latin typeface="Courier New"/>
              </a:rPr>
              <a:t>  "fruit" : ["apple", "banana", "peach"]})</a:t>
            </a:r>
          </a:p>
          <a:p>
            <a:pPr algn="l">
              <a:lnSpc>
                <a:spcPct val="100000"/>
              </a:lnSpc>
            </a:pPr>
            <a:r>
              <a:rPr sz="2800" b="0">
                <a:solidFill>
                  <a:srgbClr val="E6ECF2"/>
                </a:solidFill>
                <a:latin typeface="Courier New"/>
              </a:rPr>
              <a:t>db.food.insertOne({"_id" : 2,</a:t>
            </a:r>
          </a:p>
          <a:p>
            <a:pPr algn="l">
              <a:lnSpc>
                <a:spcPct val="100000"/>
              </a:lnSpc>
            </a:pPr>
            <a:r>
              <a:rPr sz="2800" b="0">
                <a:solidFill>
                  <a:srgbClr val="E6ECF2"/>
                </a:solidFill>
                <a:latin typeface="Courier New"/>
              </a:rPr>
              <a:t>  "fruit" : ["apple", "kumquat", "orange"]})</a:t>
            </a:r>
          </a:p>
          <a:p>
            <a:pPr algn="l">
              <a:lnSpc>
                <a:spcPct val="100000"/>
              </a:lnSpc>
            </a:pPr>
            <a:r>
              <a:rPr sz="2800" b="0">
                <a:solidFill>
                  <a:srgbClr val="E6ECF2"/>
                </a:solidFill>
                <a:latin typeface="Courier New"/>
              </a:rPr>
              <a:t>db.food.insertOne({"_id" : 3,</a:t>
            </a:r>
          </a:p>
          <a:p>
            <a:pPr algn="l">
              <a:lnSpc>
                <a:spcPct val="100000"/>
              </a:lnSpc>
            </a:pPr>
            <a:r>
              <a:rPr sz="2800" b="0">
                <a:solidFill>
                  <a:srgbClr val="E6ECF2"/>
                </a:solidFill>
                <a:latin typeface="Courier New"/>
              </a:rPr>
              <a:t>  "fruit" : ["cherry", "banana", "apple"]})</a:t>
            </a:r>
          </a:p>
          <a:p>
            <a:pPr algn="l">
              <a:lnSpc>
                <a:spcPct val="100000"/>
              </a:lnSpc>
            </a:pPr>
            <a:r>
              <a:rPr sz="2800" b="0">
                <a:solidFill>
                  <a:srgbClr val="8FA3B8"/>
                </a:solidFill>
                <a:latin typeface="Courier New"/>
              </a:rPr>
              <a:t>// the shell prints the reply of the last command</a:t>
            </a:r>
          </a:p>
          <a:p>
            <a:pPr algn="l">
              <a:lnSpc>
                <a:spcPct val="100000"/>
              </a:lnSpc>
            </a:pPr>
            <a:r>
              <a:rPr sz="2800" b="0">
                <a:solidFill>
                  <a:srgbClr val="9FE0C9"/>
                </a:solidFill>
                <a:latin typeface="Courier New"/>
              </a:rPr>
              <a:t>{ acknowledged: true, insertedId: 3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db.food.find()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2,</a:t>
            </a:r>
          </a:p>
          <a:p>
            <a:pPr algn="l">
              <a:lnSpc>
                <a:spcPct val="100000"/>
              </a:lnSpc>
            </a:pPr>
            <a:r>
              <a:rPr sz="2800" b="0">
                <a:solidFill>
                  <a:srgbClr val="9FE0C9"/>
                </a:solidFill>
                <a:latin typeface="Courier New"/>
              </a:rPr>
              <a:t>    </a:t>
            </a:r>
            <a:r>
              <a:rPr sz="2800" b="1" u="sng">
                <a:solidFill>
                  <a:srgbClr val="FFD27F"/>
                </a:solidFill>
                <a:latin typeface="Courier New"/>
              </a:rPr>
              <a:t>fruit: [ 'apple', 'kumquat', 'orange'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"banana"})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{$all : ["apple", "banana"]}})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db.food.find({"fruit.2" : "peach"})</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{"$size" : 3}})</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2,</a:t>
            </a:r>
          </a:p>
          <a:p>
            <a:pPr algn="l">
              <a:lnSpc>
                <a:spcPct val="100000"/>
              </a:lnSpc>
            </a:pPr>
            <a:r>
              <a:rPr sz="2800" b="0">
                <a:solidFill>
                  <a:srgbClr val="9FE0C9"/>
                </a:solidFill>
                <a:latin typeface="Courier New"/>
              </a:rPr>
              <a:t>    fruit: [ 'apple', 'kumquat', 'orange'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10 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8FA3B8"/>
                </a:solidFill>
                <a:latin typeface="Courier New"/>
              </a:rPr>
              <a:t>// practice post: 40 comments, c1 to c40</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'c1', 'c2', 'c3', 'c4', 'c5', 'c6',</a:t>
            </a:r>
          </a:p>
          <a:p>
            <a:pPr algn="l">
              <a:lnSpc>
                <a:spcPct val="100000"/>
              </a:lnSpc>
            </a:pPr>
            <a:r>
              <a:rPr sz="2800" b="0">
                <a:solidFill>
                  <a:srgbClr val="9FE0C9"/>
                </a:solidFill>
                <a:latin typeface="Courier New"/>
              </a:rPr>
              <a:t>    'c7', 'c8', 'c9', 'c10'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'c31', 'c32', 'c33', 'c34', 'c35',</a:t>
            </a:r>
          </a:p>
          <a:p>
            <a:pPr algn="l">
              <a:lnSpc>
                <a:spcPct val="100000"/>
              </a:lnSpc>
            </a:pPr>
            <a:r>
              <a:rPr sz="2800" b="0">
                <a:solidFill>
                  <a:srgbClr val="9FE0C9"/>
                </a:solidFill>
                <a:latin typeface="Courier New"/>
              </a:rPr>
              <a:t>    'c36', 'c37', 'c38', 'c39', 'c40'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[23,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'c24', 'c25', 'c26', 'c27', 'c28',</a:t>
            </a:r>
          </a:p>
          <a:p>
            <a:pPr algn="l">
              <a:lnSpc>
                <a:spcPct val="100000"/>
              </a:lnSpc>
            </a:pPr>
            <a:r>
              <a:rPr sz="2800" b="0">
                <a:solidFill>
                  <a:srgbClr val="9FE0C9"/>
                </a:solidFill>
                <a:latin typeface="Courier New"/>
              </a:rPr>
              <a:t>    'c29', 'c30', 'c31', 'c32', 'c33'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db.people.find({"name.first" : "John",</a:t>
            </a:r>
          </a:p>
          <a:p>
            <a:pPr algn="l">
              <a:lnSpc>
                <a:spcPct val="100000"/>
              </a:lnSpc>
            </a:pPr>
            <a:r>
              <a:rPr sz="2800" b="0">
                <a:solidFill>
                  <a:srgbClr val="E6ECF2"/>
                </a:solidFill>
                <a:latin typeface="Courier New"/>
              </a:rPr>
              <a:t>  "name.last" : "Escalona"})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name: { first: 'John', last: 'Escalona' },</a:t>
            </a:r>
          </a:p>
          <a:p>
            <a:pPr algn="l">
              <a:lnSpc>
                <a:spcPct val="100000"/>
              </a:lnSpc>
            </a:pPr>
            <a:r>
              <a:rPr sz="2800" b="0">
                <a:solidFill>
                  <a:srgbClr val="9FE0C9"/>
                </a:solidFill>
                <a:latin typeface="Courier New"/>
              </a:rPr>
              <a:t>    age: 45</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