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Section 3.1A. Our topic is MongoDB commands and cloud computing, from the 07, 08 and 09 handouts. Each of us has 3 minutes.</a:t>
            </a:r>
          </a:p>
          <a:p/>
          <a:p>
            <a:r>
              <a:t>SOUNDBITE (say it last, slowly): Store it. Query it. Put it in the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a:p/>
          <a:p>
            <a:r>
              <a:t>SOUNDBITE (say it last, slowly): Six parts MongoDB. Two parts cloud.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First, two words: in MongoDB, a table is called a collection, and a row is called a document. Every slide shows the data before, the command, and the data after. Watch what changes.</a:t>
            </a:r>
          </a:p>
          <a:p/>
          <a:p>
            <a:r>
              <a:t>(Whole part: 268 words, about 2 min 04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insertOne adds one document. Before: the movies collection is empty, so nothing prints. We insert one movie, Stand by Me. We did not give an underscore I D, so MongoDB made one for us. After: the collection has Stand by Me. One document in.</a:t>
            </a:r>
          </a:p>
          <a:p/>
          <a:p>
            <a:r>
              <a:t>SOUNDBITE (say it last, slowly): One document in. MongoDB adds the _id.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insertMany adds many documents with one command. We pass an array, in square brackets. Before: only Stand by Me. The reply lists three new I Ds.</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(No new words. Let the class read this slide, then click.)</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After: four movies. The three new ones are highlighted.</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Now an error on purpose.</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We insert four movies, but two of them use underscore I D 4. With ordered false, MongoDB tries every document, even after an error.</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After: 3, 4 and 5 are saved. Only the duplicate failed. Unordered keeps going.</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Same four movies, but ordered.</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Ordered is the default. The duplicate 4 causes an error.</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We delete underscore I D 4. The reply says deleted count 1. After: only 3 and 5 are left.</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We delete year 1985. Deleted count is 2. After: only Sixteen Candles, from 1984, is left. Documents in, documents out.</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299 words, about 2 min 18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 of 20):</a:t>
            </a:r>
          </a:p>
          <a:p>
            <a:r>
              <a:t>findOne returns one document that matches the filter. Here we find Joe. Joe has 32 friends and 2 enemies. Remember this shape. We change it next.</a:t>
            </a:r>
          </a:p>
          <a:p/>
          <a:p>
            <a:r>
              <a:t>SOUNDBITE (say it last, slowly): findOne brings back one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3 of 20):</a:t>
            </a:r>
          </a:p>
          <a:p>
            <a:r>
              <a:t>replaceOne swaps the whole document for a new one. Before: Joe, as on the last slide.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4 of 20):</a:t>
            </a:r>
          </a:p>
          <a:p>
            <a:r>
              <a:t>The handout uses it for a big change. We load Joe into a variable, move friends and enemies into a new relationships field, copy name into username, delete the old fields, then save with replaceOne. The reply says matched 1, modified 1.</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5 of 20):</a:t>
            </a:r>
          </a:p>
          <a:p>
            <a:r>
              <a:t>(No new words. Let the class read this slide, then click.)</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6 of 20):</a:t>
            </a:r>
          </a:p>
          <a:p>
            <a:r>
              <a:t>After: Joe has relationships and username. The old fields are gone.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7 of 20):</a:t>
            </a:r>
          </a:p>
          <a:p>
            <a:r>
              <a:t>updateOne takes a filter, then a change. The dollar set operator sets a field. If the field does not exist yet, it is created. Before: John has no favorite book.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8 of 20):</a:t>
            </a:r>
          </a:p>
          <a:p>
            <a:r>
              <a:t>(No new words. Let the class read this slide, then click.)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9 of 20):</a:t>
            </a:r>
          </a:p>
          <a:p>
            <a:r>
              <a:t>After: John has a favorite book, Green Eggs and Ham.</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10 of 20):</a:t>
            </a:r>
          </a:p>
          <a:p>
            <a:r>
              <a:t>Dollar set can even change the type of a field. Before: John, as on the last slide.</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11 of 20):</a:t>
            </a:r>
          </a:p>
          <a:p>
            <a:r>
              <a:t>Now favorite book becomes an array of three books.</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12 of 20):</a:t>
            </a:r>
          </a:p>
          <a:p>
            <a:r>
              <a:t>After: the single text value is replaced by a list.</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13 of 20):</a:t>
            </a:r>
          </a:p>
          <a:p>
            <a:r>
              <a:t>Dollar unset removes a field completely. Before: John, as on the last slide.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14 of 20):</a:t>
            </a:r>
          </a:p>
          <a:p>
            <a:r>
              <a:t>After: favorite book is gone. The rest of John stays the same.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15 of 20):</a:t>
            </a:r>
          </a:p>
          <a:p>
            <a:r>
              <a:t>Dollar set can reach inside an embedded document.</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16 of 20):</a:t>
            </a:r>
          </a:p>
          <a:p>
            <a:r>
              <a:t>Author is a document inside the book. We use author dot name, in quotes, to change only the name.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17 of 20):</a:t>
            </a:r>
          </a:p>
          <a:p>
            <a:r>
              <a:t>After: the name is Nicole Tagayon. The email did not change.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18 of 20):</a:t>
            </a:r>
          </a:p>
          <a:p>
            <a:r>
              <a:t>updateMany works like updateOne and takes the same parameters.</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19 of 20):</a:t>
            </a:r>
          </a:p>
          <a:p>
            <a:r>
              <a:t>The difference is how many documents can change. Three users share the birthday October 13, 1978. Matched 3, modified 3.</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20 of 20):</a:t>
            </a:r>
          </a:p>
          <a:p>
            <a:r>
              <a:t>After: all three have the gift Happy Birthday. Find it first, then change it.</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2 of 6):</a:t>
            </a:r>
          </a:p>
          <a:p>
            <a:r>
              <a:t>Here are the four. Dollar L T is less than. Dollar L T E is less than or equal. Dollar G T is greater than. Dollar G T E is greater than or equal. Tip: the letter E means equal is allowed.</a:t>
            </a:r>
          </a:p>
          <a:p/>
          <a:p>
            <a:r>
              <a:t>SOUNDBITE (say it last, slowly):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3 of 6):</a:t>
            </a:r>
          </a:p>
          <a:p>
            <a:r>
              <a:t>This is our practice data. It is not from the handout. Five users: Ana is 17, Ben 18, Cara 24, Dan 30, and Eli 31. Keep these ages in mind.</a:t>
            </a:r>
          </a:p>
          <a:p/>
          <a:p>
            <a:r>
              <a:t>SOUNDBITE (say it last, slowly): Ages 17, 18, 24, 30, 31.</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4 of 6):</a:t>
            </a:r>
          </a:p>
          <a:p>
            <a:r>
              <a:t>Read the first command as: find users where age is less than 18. We get only Ana, who is 17. The second is less than or equal to 18. We get Ana and Ben. Ben is exactly 18, so the E lets him in.</a:t>
            </a:r>
          </a:p>
          <a:p/>
          <a:p>
            <a:r>
              <a:t>SOUNDBITE (say it last, slowly): 18 is out with $lt, in with $lte.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5 of 6):</a:t>
            </a:r>
          </a:p>
          <a:p>
            <a:r>
              <a:t>Greater than 30 gives only Eli, who is 31. Greater than or equal to 30 gives Dan and Eli. Dan is exactly 30, so he is in this time.</a:t>
            </a:r>
          </a:p>
          <a:p/>
          <a:p>
            <a:r>
              <a:t>SOUNDBITE (say it last, slowly): 30 is out with $gt, in with $gte.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6 of 6):</a:t>
            </a:r>
          </a:p>
          <a:p>
            <a:r>
              <a:t>The handout finds users between 18 and 30. Put greater than or equal 18 and less than or equal 30 on the same field. Both must be true. The result is Ben, Cara and Dan. Remember: the E means equal is allowed.</a:t>
            </a:r>
          </a:p>
          <a:p/>
          <a:p>
            <a:r>
              <a:t>SOUNDBITE (say it last, slowly): Two operators, one field, one range.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 The handout says there are two ways to do an OR query in MongoDB. The first is dollar in. The second is dollar or. After those, dollar not.</a:t>
            </a:r>
          </a:p>
          <a:p/>
          <a:p>
            <a:r>
              <a:t>(Whole part: 308 words, about 2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2 of 6):</a:t>
            </a:r>
          </a:p>
          <a:p>
            <a:r>
              <a:t>This is the raffle. It is our practice data, built around the handout's winning tickets. There are five tickets: 725, 542, 390, 111 and 222. Ticket 111 is the only one where winner is true. Keep this list in mind for the next two slides.</a:t>
            </a:r>
          </a:p>
          <a:p/>
          <a:p>
            <a:r>
              <a:t>SOUNDBITE (say it last, slowly): Five tickets. Only 111 is a winner.</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3 of 6):</a:t>
            </a:r>
          </a:p>
          <a:p>
            <a:r>
              <a:t>Dollar in checks many values for one key. The handout's winning tickets are 725, 542 and 390. Read the command as: find tickets where the ticket number is in this list. One query returns all three. Tickets 111 and 222 are not in the list, so they do not come back.</a:t>
            </a:r>
          </a:p>
          <a:p/>
          <a:p>
            <a:r>
              <a:t>SOUNDBITE (say it last, slowly): $in is a guest list for one key.</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4 of 6):</a:t>
            </a:r>
          </a:p>
          <a:p>
            <a:r>
              <a:t>Dollar or is more general. The handout says it takes an array of possible criteria, and each one can use a different key. Here the array has two conditions: ticket number 725, or winner is true. A document only needs to pass one of them. Ticket 725 passes the first test. Ticket 111 passes the second. Ticket 542 passes neither, so it is out.</a:t>
            </a:r>
          </a:p>
          <a:p/>
          <a:p>
            <a:r>
              <a:t>SOUNDBITE (say it last, slowly): $or: pass any one test.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5 of 6):</a:t>
            </a:r>
          </a:p>
          <a:p>
            <a:r>
              <a:t>Now three users, also practice data. Rhea earns 8,000 pesos, Mark earns exactly 10,000, and Liza earns 15,000.</a:t>
            </a:r>
          </a:p>
          <a:p/>
          <a:p>
            <a:r>
              <a:t>SOUNDBITE (say it last, slowly): 8,000 · 10,000 · 15,000 pesos.</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6 of 6):</a:t>
            </a:r>
          </a:p>
          <a:p>
            <a:r>
              <a:t>Dollar not returns the documents that do not match a condition. The handout's example finds employees whose salary is not greater than 10,000 pesos. On its own, dollar g t 10,000 would match only Liza. Dollar not flips it, so we get everyone else: Rhea and Mark. Mark is exactly 10,000, which is not greater, so he is in. To sum up: one key, many values, use dollar in. Many keys, any match, use dollar or. To flip a condition, use dollar not.</a:t>
            </a:r>
          </a:p>
          <a:p/>
          <a:p>
            <a:r>
              <a:t>SOUNDBITE (say it last, slowly): $not flips the condition.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 written in square brackets. We will insert arrays, then query them three ways.</a:t>
            </a:r>
          </a:p>
          <a:p/>
          <a:p>
            <a:r>
              <a:t>(Whole part: 257 words, about 1 min 59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2 of 7):</a:t>
            </a:r>
          </a:p>
          <a:p>
            <a:r>
              <a:t>We insert the handout's three fruit baskets. Each basket is a document, and its fruit field is an array of three elements. Before: the food collection is empty.</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3 of 7):</a:t>
            </a:r>
          </a:p>
          <a:p>
            <a:r>
              <a:t>We run three insertOne commands. The shell prints the reply of the last one: inserted I D 3.</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4 of 7):</a:t>
            </a:r>
          </a:p>
          <a:p>
            <a:r>
              <a:t>After: three baskets. Basket 1 has apple, banana, peach. Basket 2 has apple, kumquat, orange. Basket 3 has cherry, banana, apple. We use these three baskets for the rest of this part.</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5 of 7):</a:t>
            </a:r>
          </a:p>
          <a:p>
            <a:r>
              <a:t>The handout says querying an array is designed to behave like querying a single value, such as a string, a number or a date. So we simply ask for banana. Any basket with banana anywhere in its list matches. Baskets 1 and 3 come back. Basket 2 has no banana.</a:t>
            </a:r>
          </a:p>
          <a:p/>
          <a:p>
            <a:r>
              <a:t>SOUNDBITE (say it last, slowly): Ask for banana, get every basket with a banana.</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6 of 7):</a:t>
            </a:r>
          </a:p>
          <a:p>
            <a:r>
              <a:t>What if we need more than one element? The handout uses dollar all. It matches arrays that contain every element in the list. We ask for apple and banana. Baskets 1 and 3 have both. Basket 2 has apple but no banana, so it is out. Order does not matter: basket 3 has banana before apple, and it still matches.</a:t>
            </a:r>
          </a:p>
          <a:p/>
          <a:p>
            <a:r>
              <a:t>SOUNDBITE (say it last, slowly): $all: has them all, any order.</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7 of 7):</a:t>
            </a:r>
          </a:p>
          <a:p>
            <a:r>
              <a:t>Dollar size matches arrays with exactly that many elements. Every basket has 3 fruits, so dollar size 3 returns all three. A basket with 2 or 4 fruits would not match. Arrays answer like single values.</a:t>
            </a:r>
          </a:p>
          <a:p/>
          <a:p>
            <a:r>
              <a:t>SOUNDBITE (say it last, slowly): $size counts the elements.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 documents inside documents.</a:t>
            </a:r>
          </a:p>
          <a:p/>
          <a:p>
            <a:r>
              <a:t>(Whole part: 199 words, about 1 min 32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2 of 5):</a:t>
            </a:r>
          </a:p>
          <a:p>
            <a:r>
              <a:t>Dollar slice returns only part of an array. The handout's example is a blog post with many comments. Our practice post has 40 comments, named c1 to c40. Slice 10 returns the first 10: c1 to c10. The other 30 are still saved. We just do not show them.</a:t>
            </a:r>
          </a:p>
          <a:p/>
          <a:p>
            <a:r>
              <a:t>SOUNDBITE (say it last, slowly): Positive counts from the front.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3 of 5):</a:t>
            </a:r>
          </a:p>
          <a:p>
            <a:r>
              <a:t>Slice minus 10 returns the last 10: c31 to c40. Positive numbers count from the front. Negative numbers count from the back.</a:t>
            </a:r>
          </a:p>
          <a:p/>
          <a:p>
            <a:r>
              <a:t>SOUNDBITE (say it last, slowly):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4 of 5):</a:t>
            </a:r>
          </a:p>
          <a:p>
            <a:r>
              <a:t>Slice with two numbers gives a page from the middle. The first number, 23, means skip 23. The second number, 10, means take 10. So we get the 24th to the 33rd: c24 to c33. The handout adds: if there were fewer than 33 elements, it would return as many as possible.</a:t>
            </a:r>
          </a:p>
          <a:p/>
          <a:p>
            <a:r>
              <a:t>SOUNDBITE (say it last, slowly): Skip 23, take 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5 of 5):</a:t>
            </a:r>
          </a:p>
          <a:p>
            <a:r>
              <a:t>An embedded document is a document inside another document. Here, John's name field holds a whole document with first and last. To query inside it, use dot notation, in quotes: name dot first, and name dot last. Both must match, and John Escalona comes back. To sum up: trim what you see with slice, and reach inside with a dot.</a:t>
            </a:r>
          </a:p>
          <a:p/>
          <a:p>
            <a:r>
              <a:t>SOUNDBITE (say it last, slowly): Use the dot to reach inside.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SOUNDBITE (say it last, slowly): If it has the web, it has your data.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3 of 6):</a:t>
            </a:r>
          </a:p>
          <a:p>
            <a:r>
              <a:t>The implementation type depends on two things: where the infrastructure is, and who controls it. There are three types: public, private and hybrid.</a:t>
            </a:r>
          </a:p>
          <a:p/>
          <a:p>
            <a:r>
              <a:t>SOUNDBITE (say it last, slowly):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SOUNDBITE (say it last, slowly): Rent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5 of 6):</a:t>
            </a:r>
          </a:p>
          <a:p>
            <a:r>
              <a:t>A private cloud is built by an organization only for its own needs. Large organizations spread across many places use it to add agility and flexibility. Their own I T staff or an outside third party can manage it.</a:t>
            </a:r>
          </a:p>
          <a:p/>
          <a:p>
            <a:r>
              <a:t>SOUNDBITE (say it last, slowly): Own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SOUNDBITE (say it last, slowly):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2 of 7):</a:t>
            </a:r>
          </a:p>
          <a:p>
            <a:r>
              <a:t>Cloud services follow an a la carte model. You pick what you need, and services can build on each other. There are three: software, platform, and infrastructure as a service.</a:t>
            </a:r>
          </a:p>
          <a:p/>
          <a:p>
            <a:r>
              <a:t>SOUNDBITE (say it last, slowly): Use it, build on it, or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SOUNDBITE (say it last, slowly): Use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SOUNDBITE (say it last, slowly): Build on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SOUNDBITE (say it last, slowly):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SOUNDBITE (say it last, slowly): Scale up fast.</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7 of 7):</a:t>
            </a:r>
          </a:p>
          <a:p>
            <a:r>
              <a:t>Six, disaster recovery. Seven, high security. Eight, reduced carbon footprint. Nine, flexibility: any device, any place. Ten, enterprise collaboration: shared, central documents. Scale up fast, and pay for what you use.</a:t>
            </a:r>
          </a:p>
          <a:p/>
          <a:p>
            <a:r>
              <a:t>SOUNDBITE (say it last, slowly):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a:p/>
          <a:p>
            <a:r>
              <a:t>SOUNDBITE: Every command, one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20440"/>
            <a:ext cx="11368735" cy="64008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“Store it. Query it. Put it in the cloud.”</a:t>
            </a:r>
          </a:p>
        </p:txBody>
      </p:sp>
      <p:sp>
        <p:nvSpPr>
          <p:cNvPr id="6" name="TextBox 5"/>
          <p:cNvSpPr txBox="1"/>
          <p:nvPr/>
        </p:nvSpPr>
        <p:spPr>
          <a:xfrm>
            <a:off x="411480" y="4251960"/>
            <a:ext cx="11368735"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Based on the 07, 08 and 09 Handouts</a:t>
            </a:r>
          </a:p>
        </p:txBody>
      </p:sp>
      <p:sp>
        <p:nvSpPr>
          <p:cNvPr id="7" name="TextBox 6"/>
          <p:cNvSpPr txBox="1"/>
          <p:nvPr/>
        </p:nvSpPr>
        <p:spPr>
          <a:xfrm>
            <a:off x="411480" y="5623560"/>
            <a:ext cx="11368735" cy="640080"/>
          </a:xfrm>
          <a:prstGeom prst="rect">
            <a:avLst/>
          </a:prstGeom>
          <a:noFill/>
        </p:spPr>
        <p:txBody>
          <a:bodyPr wrap="square" anchor="t" lIns="0" rIns="0" tIns="0" bIns="0">
            <a:spAutoFit/>
          </a:bodyPr>
          <a:lstStyle/>
          <a:p>
            <a:pPr algn="l">
              <a:lnSpc>
                <a:spcPct val="100000"/>
              </a:lnSpc>
            </a:pPr>
            <a:r>
              <a:rPr sz="3200" b="1">
                <a:solidFill>
                  <a:srgbClr val="FFFFFF"/>
                </a:solidFill>
                <a:latin typeface="Arial"/>
              </a:rPr>
              <a:t>Section 3.1A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
        <p:nvSpPr>
          <p:cNvPr id="28" name="Rectangle 2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Six parts MongoDB. Two parts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1</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2 min 04 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db.movies.insertOne({"title" : "Stand by Me"})</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 ObjectId('6ae590867b507d5b5c544ca7') }</a:t>
            </a:r>
          </a:p>
        </p:txBody>
      </p:sp>
      <p:sp>
        <p:nvSpPr>
          <p:cNvPr id="8" name="Rectangle 7"/>
          <p:cNvSpPr/>
          <p:nvPr/>
        </p:nvSpPr>
        <p:spPr>
          <a:xfrm>
            <a:off x="411480" y="4120895"/>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123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 {"_id" : 0})</a:t>
            </a:r>
          </a:p>
          <a:p>
            <a:pPr algn="l">
              <a:lnSpc>
                <a:spcPts val="3200"/>
              </a:lnSpc>
            </a:pPr>
            <a:r>
              <a:rPr sz="2800" b="0">
                <a:solidFill>
                  <a:srgbClr val="9FE0C9"/>
                </a:solidFill>
                <a:latin typeface="Courier New"/>
              </a:rPr>
              <a:t>[ { title: 'Stand by Me' } ]</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REPLY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insertedIds: {</a:t>
            </a:r>
          </a:p>
          <a:p>
            <a:pPr algn="l">
              <a:lnSpc>
                <a:spcPts val="3200"/>
              </a:lnSpc>
            </a:pPr>
            <a:r>
              <a:rPr sz="2800" b="0">
                <a:solidFill>
                  <a:srgbClr val="9FE0C9"/>
                </a:solidFill>
                <a:latin typeface="Courier New"/>
              </a:rPr>
              <a:t>    '0': ObjectId('6ae59088cd1d7692c9544ca7'),</a:t>
            </a:r>
          </a:p>
          <a:p>
            <a:pPr algn="l">
              <a:lnSpc>
                <a:spcPts val="3200"/>
              </a:lnSpc>
            </a:pPr>
            <a:r>
              <a:rPr sz="2800" b="0">
                <a:solidFill>
                  <a:srgbClr val="9FE0C9"/>
                </a:solidFill>
                <a:latin typeface="Courier New"/>
              </a:rPr>
              <a:t>    '1': ObjectId('6ae59088cd1d7692c9544ca8'),</a:t>
            </a:r>
          </a:p>
          <a:p>
            <a:pPr algn="l">
              <a:lnSpc>
                <a:spcPts val="3200"/>
              </a:lnSpc>
            </a:pPr>
            <a:r>
              <a:rPr sz="2800" b="0">
                <a:solidFill>
                  <a:srgbClr val="9FE0C9"/>
                </a:solidFill>
                <a:latin typeface="Courier New"/>
              </a:rPr>
              <a:t>    '2': ObjectId('6ae59088cd1d7692c9544ca9')</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title: 'Stand by Me' },</a:t>
            </a:r>
          </a:p>
          <a:p>
            <a:pPr algn="l">
              <a:lnSpc>
                <a:spcPts val="32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adbs_part1.movies index: _id_ dup key: {</a:t>
            </a:r>
          </a:p>
          <a:p>
            <a:pPr algn="l">
              <a:lnSpc>
                <a:spcPts val="3200"/>
              </a:lnSpc>
            </a:pPr>
            <a:r>
              <a:rPr sz="2800" b="0">
                <a:solidFill>
                  <a:srgbClr val="FFB4A8"/>
                </a:solidFill>
                <a:latin typeface="Courier New"/>
              </a:rPr>
              <a:t>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db.ordered.find()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adbs_part1.ordered index: _id_ dup key:</a:t>
            </a:r>
          </a:p>
          <a:p>
            <a:pPr algn="l">
              <a:lnSpc>
                <a:spcPts val="3200"/>
              </a:lnSpc>
            </a:pPr>
            <a:r>
              <a:rPr sz="2800" b="0">
                <a:solidFill>
                  <a:srgbClr val="FFB4A8"/>
                </a:solidFill>
                <a:latin typeface="Courier New"/>
              </a:rPr>
              <a:t>{ 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db.ordered.find()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db.movies.deleteOne({"_id" : 4})</a:t>
            </a:r>
          </a:p>
          <a:p>
            <a:pPr algn="l">
              <a:lnSpc>
                <a:spcPts val="3200"/>
              </a:lnSpc>
            </a:pPr>
            <a:r>
              <a:rPr sz="2800" b="0">
                <a:solidFill>
                  <a:srgbClr val="9FE0C9"/>
                </a:solidFill>
                <a:latin typeface="Courier New"/>
              </a:rPr>
              <a:t>{ acknowledged: true, deletedCount: 1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the handout's three movies</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ts val="32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ts val="3200"/>
              </a:lnSpc>
            </a:pPr>
            <a:r>
              <a:rPr sz="2800" b="0">
                <a:solidFill>
                  <a:srgbClr val="9FE0C9"/>
                </a:solidFill>
                <a:latin typeface="Courier New"/>
              </a:rPr>
              <a:t>    year: 1985 },</a:t>
            </a:r>
          </a:p>
          <a:p>
            <a:pPr algn="l">
              <a:lnSpc>
                <a:spcPts val="3200"/>
              </a:lnSpc>
            </a:pPr>
            <a:r>
              <a:rPr sz="2800" b="0">
                <a:solidFill>
                  <a:srgbClr val="9FE0C9"/>
                </a:solidFill>
                <a:latin typeface="Courier New"/>
              </a:rPr>
              <a:t>  { _id: 3, title: 'Sixteen Candles', year: 1984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db.movies.deleteMany({"year" : 1985})</a:t>
            </a:r>
          </a:p>
          <a:p>
            <a:pPr algn="l">
              <a:lnSpc>
                <a:spcPts val="3200"/>
              </a:lnSpc>
            </a:pPr>
            <a:r>
              <a:rPr sz="2800" b="0">
                <a:solidFill>
                  <a:srgbClr val="9FE0C9"/>
                </a:solidFill>
                <a:latin typeface="Courier New"/>
              </a:rPr>
              <a:t>{ acknowledged: true, deletedCount: 2 }</a:t>
            </a:r>
          </a:p>
        </p:txBody>
      </p:sp>
      <p:sp>
        <p:nvSpPr>
          <p:cNvPr id="6" name="Rectangle 5"/>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a:t>
            </a:r>
          </a:p>
          <a:p>
            <a:pPr algn="l">
              <a:lnSpc>
                <a:spcPts val="3200"/>
              </a:lnSpc>
            </a:pPr>
            <a:r>
              <a:rPr sz="2800" b="0">
                <a:solidFill>
                  <a:srgbClr val="9FE0C9"/>
                </a:solidFill>
                <a:latin typeface="Courier New"/>
              </a:rPr>
              <a:t>[ { _id: 3, title: 'Sixteen Candles', year: 1984 }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2</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20 slides · about 2 min 18 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db.users.findOne({"name"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name: 'Joe',</a:t>
            </a:r>
          </a:p>
          <a:p>
            <a:pPr algn="l">
              <a:lnSpc>
                <a:spcPts val="3200"/>
              </a:lnSpc>
            </a:pPr>
            <a:r>
              <a:rPr sz="2800" b="0">
                <a:solidFill>
                  <a:srgbClr val="9FE0C9"/>
                </a:solidFill>
                <a:latin typeface="Courier New"/>
              </a:rPr>
              <a:t>  friends: 32,</a:t>
            </a:r>
          </a:p>
          <a:p>
            <a:pPr algn="l">
              <a:lnSpc>
                <a:spcPts val="3200"/>
              </a:lnSpc>
            </a:pPr>
            <a:r>
              <a:rPr sz="2800" b="0">
                <a:solidFill>
                  <a:srgbClr val="9FE0C9"/>
                </a:solidFill>
                <a:latin typeface="Courier New"/>
              </a:rPr>
              <a:t>  enemies: 2</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REPLY</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db.users.findOne({"username"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a:t>
            </a:r>
            <a:r>
              <a:rPr sz="2800" b="1" u="sng">
                <a:solidFill>
                  <a:srgbClr val="FFD27F"/>
                </a:solidFill>
                <a:latin typeface="Courier New"/>
              </a:rPr>
              <a:t>relationships: { friends: 32, enemies: 2 }</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username: 'Joe'</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a:t>
            </a:r>
            <a:r>
              <a:rPr sz="2800" b="1" u="sng">
                <a:solidFill>
                  <a:srgbClr val="FFD27F"/>
                </a:solidFill>
                <a:latin typeface="Courier New"/>
              </a:rPr>
              <a:t>'favorite book': 'Green Eggs and Ham'</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'favorite book': [ </a:t>
            </a:r>
            <a:r>
              <a:rPr sz="2800" b="1" u="sng">
                <a:solidFill>
                  <a:srgbClr val="FFD27F"/>
                </a:solidFill>
                <a:latin typeface="Courier New"/>
              </a:rPr>
              <a:t>"Cat's Cradle"</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'Foundation Trilogy'</a:t>
            </a:r>
            <a:r>
              <a:rPr sz="2800" b="0">
                <a:solidFill>
                  <a:srgbClr val="9FE0C9"/>
                </a:solidFill>
                <a:latin typeface="Courier New"/>
              </a:rPr>
              <a:t>, </a:t>
            </a:r>
            <a:r>
              <a:rPr sz="2800" b="1" u="sng">
                <a:solidFill>
                  <a:srgbClr val="FFD27F"/>
                </a:solidFill>
                <a:latin typeface="Courier New"/>
              </a:rPr>
              <a:t>"Ender's Game"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0" strike="sngStrike">
                <a:solidFill>
                  <a:srgbClr val="FFB4A8"/>
                </a:solidFill>
                <a:latin typeface="Courier New"/>
              </a:rPr>
              <a:t>name: 'Nicole'</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1" u="sng">
                <a:solidFill>
                  <a:srgbClr val="FFD27F"/>
                </a:solidFill>
                <a:latin typeface="Courier New"/>
              </a:rPr>
              <a:t>name: 'Nicole Tagayon'</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 },</a:t>
            </a:r>
          </a:p>
          <a:p>
            <a:pPr algn="l">
              <a:lnSpc>
                <a:spcPts val="3200"/>
              </a:lnSpc>
            </a:pPr>
            <a:r>
              <a:rPr sz="2800" b="0">
                <a:solidFill>
                  <a:srgbClr val="9FE0C9"/>
                </a:solidFill>
                <a:latin typeface="Courier New"/>
              </a:rPr>
              <a:t>  { _id: 2, birthday: '10/13/1978' },</a:t>
            </a:r>
          </a:p>
          <a:p>
            <a:pPr algn="l">
              <a:lnSpc>
                <a:spcPts val="3200"/>
              </a:lnSpc>
            </a:pPr>
            <a:r>
              <a:rPr sz="2800" b="0">
                <a:solidFill>
                  <a:srgbClr val="9FE0C9"/>
                </a:solidFill>
                <a:latin typeface="Courier New"/>
              </a:rPr>
              <a:t>  { _id: 3, birthday: '10/13/1978'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3, modifiedCount: 3,</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2,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3,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AF95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14202E"/>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14202E"/>
                </a:solidFill>
                <a:latin typeface="Arial"/>
              </a:rPr>
              <a:t>3</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38 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less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less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EEF1F4"/>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greater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greater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 : 18}})</a:t>
            </a:r>
          </a:p>
          <a:p>
            <a:pPr algn="l">
              <a:lnSpc>
                <a:spcPts val="3200"/>
              </a:lnSpc>
            </a:pPr>
            <a:r>
              <a:rPr sz="2800" b="0">
                <a:solidFill>
                  <a:srgbClr val="9FE0C9"/>
                </a:solidFill>
                <a:latin typeface="Courier New"/>
              </a:rPr>
              <a:t>[ { _id: 1, name: 'Ana', age: 17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{"$lte" : 18}})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 : 30}})</a:t>
            </a:r>
          </a:p>
          <a:p>
            <a:pPr algn="l">
              <a:lnSpc>
                <a:spcPts val="3200"/>
              </a:lnSpc>
            </a:pPr>
            <a:r>
              <a:rPr sz="2800" b="0">
                <a:solidFill>
                  <a:srgbClr val="9FE0C9"/>
                </a:solidFill>
                <a:latin typeface="Courier New"/>
              </a:rPr>
              <a:t>[ { _id: 5, name: 'Eli', age: 31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18, "$lte"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4</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key, many values. Many keys, any match.”</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2 min 22 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  { _id: 5, ticket_no: 222,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key.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  { _id: 3, name: 'Liza', salary: 15000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5</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inserting arrays · $all · $size</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59 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db.food.find()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a:p>
            <a:pPr algn="l">
              <a:lnSpc>
                <a:spcPts val="3200"/>
              </a:lnSpc>
            </a:pPr>
            <a:r>
              <a:rPr sz="2800" b="0">
                <a:solidFill>
                  <a:srgbClr val="8FA3B8"/>
                </a:solidFill>
                <a:latin typeface="Courier New"/>
              </a:rPr>
              <a:t>// the shell prints the reply of the last command</a:t>
            </a:r>
          </a:p>
          <a:p>
            <a:pPr algn="l">
              <a:lnSpc>
                <a:spcPts val="3200"/>
              </a:lnSpc>
            </a:pPr>
            <a:r>
              <a:rPr sz="2800" b="0">
                <a:solidFill>
                  <a:srgbClr val="9FE0C9"/>
                </a:solidFill>
                <a:latin typeface="Courier New"/>
              </a:rPr>
              <a:t>{ acknowledged: true, insertedId: 3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db.food.find()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a:t>
            </a:r>
            <a:r>
              <a:rPr sz="2800" b="1" u="sng">
                <a:solidFill>
                  <a:srgbClr val="FFD27F"/>
                </a:solidFill>
                <a:latin typeface="Courier New"/>
              </a:rPr>
              <a:t>fruit: [ 'apple', 'banana', 'peach' ]</a:t>
            </a:r>
            <a:r>
              <a:rPr sz="2800" b="0">
                <a:solidFill>
                  <a:srgbClr val="9FE0C9"/>
                </a:solidFill>
                <a:latin typeface="Courier New"/>
              </a:rPr>
              <a:t>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a:t>
            </a:r>
            <a:r>
              <a:rPr sz="2800" b="1" u="sng">
                <a:solidFill>
                  <a:srgbClr val="FFD27F"/>
                </a:solidFill>
                <a:latin typeface="Courier New"/>
              </a:rPr>
              <a:t>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a:t>
            </a:r>
            <a:r>
              <a:rPr sz="2800" b="1" u="sng">
                <a:solidFill>
                  <a:srgbClr val="FFD27F"/>
                </a:solidFill>
                <a:latin typeface="Courier New"/>
              </a:rPr>
              <a:t>fruit: [ 'cherry', 'banana', 'apple' ]</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{$all : ["apple",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{"$size" : 3}})</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AF95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14202E"/>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14202E"/>
                </a:solidFill>
                <a:latin typeface="Arial"/>
              </a:rPr>
              <a:t>6</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embedded documents</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5 slides · about 1 min 32 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'c1', 'c2', 'c3', 'c4', 'c5', 'c6',</a:t>
            </a:r>
          </a:p>
          <a:p>
            <a:pPr algn="l">
              <a:lnSpc>
                <a:spcPts val="3200"/>
              </a:lnSpc>
            </a:pPr>
            <a:r>
              <a:rPr sz="2800" b="0">
                <a:solidFill>
                  <a:srgbClr val="9FE0C9"/>
                </a:solidFill>
                <a:latin typeface="Courier New"/>
              </a:rPr>
              <a:t>    'c7', 'c8', 'c9', 'c10'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'c31', 'c32', 'c33', 'c34', 'c35',</a:t>
            </a:r>
          </a:p>
          <a:p>
            <a:pPr algn="l">
              <a:lnSpc>
                <a:spcPts val="3200"/>
              </a:lnSpc>
            </a:pPr>
            <a:r>
              <a:rPr sz="2800" b="0">
                <a:solidFill>
                  <a:srgbClr val="9FE0C9"/>
                </a:solidFill>
                <a:latin typeface="Courier New"/>
              </a:rPr>
              <a:t>    'c36', 'c37', 'c38', 'c39', 'c40'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'c24', 'c25', 'c26', 'c27', 'c28',</a:t>
            </a:r>
          </a:p>
          <a:p>
            <a:pPr algn="l">
              <a:lnSpc>
                <a:spcPts val="3200"/>
              </a:lnSpc>
            </a:pPr>
            <a:r>
              <a:rPr sz="2800" b="0">
                <a:solidFill>
                  <a:srgbClr val="9FE0C9"/>
                </a:solidFill>
                <a:latin typeface="Courier New"/>
              </a:rPr>
              <a:t>    'c29', 'c30', 'c31', 'c32', 'c33'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name: { first: 'John', last: 'Escalona' },</a:t>
            </a:r>
          </a:p>
          <a:p>
            <a:pPr algn="l">
              <a:lnSpc>
                <a:spcPts val="3200"/>
              </a:lnSpc>
            </a:pPr>
            <a:r>
              <a:rPr sz="2800" b="0">
                <a:solidFill>
                  <a:srgbClr val="9FE0C9"/>
                </a:solidFill>
                <a:latin typeface="Courier New"/>
              </a:rPr>
              <a:t>    age: 45</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7</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Delivery of services through the Internet: data storage, servers, databases, networking, software.</a:t>
            </a:r>
          </a:p>
          <a:p>
            <a:pPr algn="l">
              <a:lnSpc>
                <a:spcPct val="110000"/>
              </a:lnSpc>
            </a:pPr>
            <a:r>
              <a:rPr sz="3200" b="1">
                <a:solidFill>
                  <a:srgbClr val="C2410C"/>
                </a:solidFill>
                <a:latin typeface="Arial"/>
              </a:rPr>
              <a:t>▸  </a:t>
            </a:r>
            <a:r>
              <a:rPr sz="3200" b="0">
                <a:solidFill>
                  <a:srgbClr val="14202E"/>
                </a:solidFill>
                <a:latin typeface="Arial"/>
              </a:rPr>
              <a:t>Files are saved to a remote database, not a local hard drive.</a:t>
            </a:r>
          </a:p>
          <a:p>
            <a:pPr algn="l">
              <a:lnSpc>
                <a:spcPct val="110000"/>
              </a:lnSpc>
            </a:pPr>
            <a:r>
              <a:rPr sz="3200" b="1">
                <a:solidFill>
                  <a:srgbClr val="C2410C"/>
                </a:solidFill>
                <a:latin typeface="Arial"/>
              </a:rPr>
              <a:t>▸  </a:t>
            </a:r>
            <a:r>
              <a:rPr sz="3200" b="0">
                <a:solidFill>
                  <a:srgbClr val="14202E"/>
                </a:solidFill>
                <a:latin typeface="Arial"/>
              </a:rPr>
              <a:t>Any device with web access can reach the data and the programs.</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Built by a third party for the public</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Built by one organization for itself</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Private + public combined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third party, to sell to the general public</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Google Application Engine, Microsoft Azure</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Reliable, low cost, zero maintenance, scales on demand</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Not for sensitive data under strict security rules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An organization, only for its own needs</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Large, geographically dispersed organizations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Internal IT staff or an external third party</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private cloud and a public cloud combined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High-volume apps like emails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Sensitive assets like financials, data recovery</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Flexibility, with control over critical assets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8</a:t>
            </a:r>
          </a:p>
        </p:txBody>
      </p:sp>
      <p:sp>
        <p:nvSpPr>
          <p:cNvPr id="8" name="TextBox 7"/>
          <p:cNvSpPr txBox="1"/>
          <p:nvPr/>
        </p:nvSpPr>
        <p:spPr>
          <a:xfrm>
            <a:off x="4206240" y="41148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9" name="TextBox 8"/>
          <p:cNvSpPr txBox="1"/>
          <p:nvPr/>
        </p:nvSpPr>
        <p:spPr>
          <a:xfrm>
            <a:off x="4206240" y="265176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10" name="TextBox 9"/>
          <p:cNvSpPr txBox="1"/>
          <p:nvPr/>
        </p:nvSpPr>
        <p:spPr>
          <a:xfrm>
            <a:off x="4206240" y="3657600"/>
            <a:ext cx="7589520" cy="118872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11" name="EXEMPT_PROGRESS"/>
          <p:cNvSpPr txBox="1"/>
          <p:nvPr/>
        </p:nvSpPr>
        <p:spPr>
          <a:xfrm>
            <a:off x="4206240" y="507492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Use ready-made applications</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Build and run your own applications</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Rent storage, servers and more on demand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Turnkey applications that run in the cloud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Customize some aspects, not the app itself</a:t>
            </a:r>
          </a:p>
        </p:txBody>
      </p:sp>
      <p:sp>
        <p:nvSpPr>
          <p:cNvPr id="10" name="Rectangle 9"/>
          <p:cNvSpPr/>
          <p:nvPr/>
        </p:nvSpPr>
        <p:spPr>
          <a:xfrm>
            <a:off x="411480" y="2633472"/>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MS Office 365, Google Docs, TurboTax Online, SCALA digital signage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Tools, languages and interfaces to build and deploy your apps</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Manage the underlying infrastructure</a:t>
            </a:r>
          </a:p>
        </p:txBody>
      </p:sp>
      <p:sp>
        <p:nvSpPr>
          <p:cNvPr id="10" name="Rectangle 9"/>
          <p:cNvSpPr/>
          <p:nvPr/>
        </p:nvSpPr>
        <p:spPr>
          <a:xfrm>
            <a:off x="411480" y="306324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Microsoft Azure platform with .NET and Java</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Storage, servers, databases, processing, virtual desktops on demand</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Add or remove resources as needed</a:t>
            </a:r>
          </a:p>
        </p:txBody>
      </p:sp>
      <p:sp>
        <p:nvSpPr>
          <p:cNvPr id="10" name="Rectangle 9"/>
          <p:cNvSpPr/>
          <p:nvPr/>
        </p:nvSpPr>
        <p:spPr>
          <a:xfrm>
            <a:off x="411480" y="306324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server: Linux + Apache, 16 GB RAM, 160 GB storage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Instant scalability</a:t>
            </a:r>
          </a:p>
          <a:p>
            <a:pPr algn="l">
              <a:lnSpc>
                <a:spcPct val="100000"/>
              </a:lnSpc>
            </a:pPr>
            <a:r>
              <a:rPr sz="2800" b="0">
                <a:solidFill>
                  <a:srgbClr val="4A5868"/>
                </a:solidFill>
                <a:latin typeface="Arial"/>
              </a:rPr>
              <a:t>scale up or down to meet demand</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Anywhere accessibility</a:t>
            </a:r>
          </a:p>
          <a:p>
            <a:pPr algn="l">
              <a:lnSpc>
                <a:spcPct val="100000"/>
              </a:lnSpc>
            </a:pPr>
            <a:r>
              <a:rPr sz="2800" b="0">
                <a:solidFill>
                  <a:srgbClr val="4A5868"/>
                </a:solidFill>
                <a:latin typeface="Arial"/>
              </a:rPr>
              <a:t>serve customers across the globe</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Speed and operational agility</a:t>
            </a:r>
          </a:p>
          <a:p>
            <a:pPr algn="l">
              <a:lnSpc>
                <a:spcPct val="100000"/>
              </a:lnSpc>
            </a:pPr>
            <a:r>
              <a:rPr sz="2800" b="0">
                <a:solidFill>
                  <a:srgbClr val="4A5868"/>
                </a:solidFill>
                <a:latin typeface="Arial"/>
              </a:rPr>
              <a:t>add capacity with a click</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expenditure</a:t>
            </a:r>
          </a:p>
          <a:p>
            <a:pPr algn="l">
              <a:lnSpc>
                <a:spcPct val="100000"/>
              </a:lnSpc>
            </a:pPr>
            <a:r>
              <a:rPr sz="2800" b="0">
                <a:solidFill>
                  <a:srgbClr val="4A5868"/>
                </a:solidFill>
                <a:latin typeface="Arial"/>
              </a:rPr>
              <a:t>cost depends on use</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Automatic updates/patches</a:t>
            </a:r>
          </a:p>
          <a:p>
            <a:pPr algn="l">
              <a:lnSpc>
                <a:spcPct val="100000"/>
              </a:lnSpc>
            </a:pPr>
            <a:r>
              <a:rPr sz="2800" b="0">
                <a:solidFill>
                  <a:srgbClr val="4A5868"/>
                </a:solidFill>
                <a:latin typeface="Arial"/>
              </a:rPr>
              <a:t>the provider handles them</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Disaster recovery</a:t>
            </a:r>
          </a:p>
          <a:p>
            <a:pPr algn="l">
              <a:lnSpc>
                <a:spcPct val="100000"/>
              </a:lnSpc>
            </a:pPr>
            <a:r>
              <a:rPr sz="2800" b="0">
                <a:solidFill>
                  <a:srgbClr val="4A5868"/>
                </a:solidFill>
                <a:latin typeface="Arial"/>
              </a:rPr>
              <a:t>no costly on-premises setup</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High security</a:t>
            </a:r>
          </a:p>
          <a:p>
            <a:pPr algn="l">
              <a:lnSpc>
                <a:spcPct val="100000"/>
              </a:lnSpc>
            </a:pPr>
            <a:r>
              <a:rPr sz="2800" b="0">
                <a:solidFill>
                  <a:srgbClr val="4A5868"/>
                </a:solidFill>
                <a:latin typeface="Arial"/>
              </a:rPr>
              <a:t>advanced features reduce risk</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carbon footprint</a:t>
            </a:r>
          </a:p>
          <a:p>
            <a:pPr algn="l">
              <a:lnSpc>
                <a:spcPct val="100000"/>
              </a:lnSpc>
            </a:pPr>
            <a:r>
              <a:rPr sz="2800" b="0">
                <a:solidFill>
                  <a:srgbClr val="4A5868"/>
                </a:solidFill>
                <a:latin typeface="Arial"/>
              </a:rPr>
              <a:t>resources as per demand</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Flexibility</a:t>
            </a:r>
          </a:p>
          <a:p>
            <a:pPr algn="l">
              <a:lnSpc>
                <a:spcPct val="100000"/>
              </a:lnSpc>
            </a:pPr>
            <a:r>
              <a:rPr sz="2800" b="0">
                <a:solidFill>
                  <a:srgbClr val="4A5868"/>
                </a:solidFill>
                <a:latin typeface="Arial"/>
              </a:rPr>
              <a:t>any device, any location</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Enterprise collaboration</a:t>
            </a:r>
          </a:p>
          <a:p>
            <a:pPr algn="l">
              <a:lnSpc>
                <a:spcPct val="100000"/>
              </a:lnSpc>
            </a:pPr>
            <a:r>
              <a:rPr sz="2800" b="0">
                <a:solidFill>
                  <a:srgbClr val="4A5868"/>
                </a:solidFill>
                <a:latin typeface="Arial"/>
              </a:rPr>
              <a:t>centralized, shared documents</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581912"/>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8191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58191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066543"/>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066543"/>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066543"/>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551176"/>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5117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55117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035808"/>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035808"/>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520440"/>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52044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52044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005072"/>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00507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00507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489704"/>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489704"/>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489704"/>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$slice  "name.first"</a:t>
            </a:r>
          </a:p>
        </p:txBody>
      </p:sp>
      <p:sp>
        <p:nvSpPr>
          <p:cNvPr id="28" name="Rectangle 27"/>
          <p:cNvSpPr/>
          <p:nvPr/>
        </p:nvSpPr>
        <p:spPr>
          <a:xfrm>
            <a:off x="411480" y="4974336"/>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97433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497433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
        <p:nvSpPr>
          <p:cNvPr id="31" name="Rectangle 30"/>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Every command, one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