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[group name]. Our topic is MongoDB commands and cloud computing, from the 07, 08 and 09 handouts. Each of us has 3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Every slide shows the data before, the command, and the data after. Watch what changes.</a:t>
            </a:r>
          </a:p>
          <a:p/>
          <a:p>
            <a:r>
              <a:t>(Whole part: 292 words, about 2 min 15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14):</a:t>
            </a:r>
          </a:p>
          <a:p>
            <a:r>
              <a:t>insertOne adds one document. Before: the movies collection is empty, so nothing prints. We insert one movie, Stand by Me. We did not give an underscore I D, so MongoDB made one for us. After: the collection has Stand by Me. One document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14):</a:t>
            </a:r>
          </a:p>
          <a:p>
            <a:r>
              <a:t>insertMany adds many documents with one command. We pass an array, in square brackets. Before: only Stand by Me.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14):</a:t>
            </a:r>
          </a:p>
          <a:p>
            <a:r>
              <a:t>The reply lists three new I Ds.</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14):</a:t>
            </a:r>
          </a:p>
          <a:p>
            <a:r>
              <a:t>After: four movies. The three new ones are highlighted.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14):</a:t>
            </a:r>
          </a:p>
          <a:p>
            <a:r>
              <a:t>Now an error on purpose.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14):</a:t>
            </a:r>
          </a:p>
          <a:p>
            <a:r>
              <a:t>We insert four movies, but two of them use underscore I D 4. With ordered false, MongoDB tries every document, even after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14):</a:t>
            </a:r>
          </a:p>
          <a:p>
            <a:r>
              <a:t>After: 3, 4 and 5 are saved. Only the duplicate failed. Unordered keeps going.</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14):</a:t>
            </a:r>
          </a:p>
          <a:p>
            <a:r>
              <a:t>Same four movies, but ordered. Ordered is the default. The duplicate 4 causes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14):</a:t>
            </a:r>
          </a:p>
          <a:p>
            <a:r>
              <a:t>After: only 3 and 4 are saved. Scarface came after the error, so it never went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14):</a:t>
            </a:r>
          </a:p>
          <a:p>
            <a:r>
              <a:t>deleteOne removes one document that matches the filter. Before: 3, 4 and 5. We delete underscore I D 4. The reply says deleted count 1.</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14):</a:t>
            </a:r>
          </a:p>
          <a:p>
            <a:r>
              <a:t>After: only 3 and 5 are left.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14):</a:t>
            </a:r>
          </a:p>
          <a:p>
            <a:r>
              <a:t>deleteMany removes every match. We start from the handout's three movies: two from 1985 and one from 1984. We delete year 1985. Deleted count is 2.</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14):</a:t>
            </a:r>
          </a:p>
          <a:p>
            <a:r>
              <a:t>After: only Sixteen Candles, from 1984, is left. Documents in, documents out.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278 words, about 2 min 08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2 of 20):</a:t>
            </a:r>
          </a:p>
          <a:p>
            <a:r>
              <a:t>findOne returns one document that matches the filter. Here we find Joe. Joe has 32 friends and 2 enemies. Remember this shape. We change it next.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3 of 20):</a:t>
            </a:r>
          </a:p>
          <a:p>
            <a:r>
              <a:t>replaceOne swaps the whole document for a new 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4 of 20):</a:t>
            </a:r>
          </a:p>
          <a:p>
            <a:r>
              <a:t>The handout uses it for a big change. We load Joe into a variable, move friends and enemies into a new relationships field, copy name into username, delete the old fields, then save with replaceOne. The reply says matched 1, modified 1.</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5 of 20):</a:t>
            </a:r>
          </a:p>
          <a:p>
            <a:r>
              <a:t>After: Joe has relationships and username. The old fields are gone.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6 of 20):</a:t>
            </a:r>
          </a:p>
          <a:p>
            <a:r>
              <a:t>updateOne takes a filter, then a change. The dollar set operator sets a field. If the field does not exist yet, it is created. Before: John has no favorite book.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7 of 20):</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8 of 20):</a:t>
            </a:r>
          </a:p>
          <a:p>
            <a:r>
              <a:t>After: John has a favorite book, Green Eggs and Ham.</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9 of 20):</a:t>
            </a:r>
          </a:p>
          <a:p>
            <a:r>
              <a:t>Dollar set can even change the type of a field.</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10 of 20):</a:t>
            </a:r>
          </a:p>
          <a:p>
            <a:r>
              <a:t>Now favorite book becomes an array of three books.</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11 of 20):</a:t>
            </a:r>
          </a:p>
          <a:p>
            <a:r>
              <a:t>After: the single text value is replaced by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12 of 20):</a:t>
            </a:r>
          </a:p>
          <a:p>
            <a:r>
              <a:t>Dollar unset removes a field completely.</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13 of 20):</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14 of 20):</a:t>
            </a:r>
          </a:p>
          <a:p>
            <a:r>
              <a:t>After: favorite book is gone. The rest of John stays the same.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15 of 20):</a:t>
            </a:r>
          </a:p>
          <a:p>
            <a:r>
              <a:t>Dollar set can reach inside an embedded document.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16 of 20):</a:t>
            </a:r>
          </a:p>
          <a:p>
            <a:r>
              <a:t>Author is a document inside the book. We use author dot name, in quotes, to change only the name.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17 of 20):</a:t>
            </a:r>
          </a:p>
          <a:p>
            <a:r>
              <a:t>After: the name is Nicole Tagayon. The email did not change.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18 of 20):</a:t>
            </a:r>
          </a:p>
          <a:p>
            <a:r>
              <a:t>updateMany works like updateOne and takes the same parameters.</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19 of 20):</a:t>
            </a:r>
          </a:p>
          <a:p>
            <a:r>
              <a:t>The difference is how many documents can change. Three users share the birthday October 13, 1978. Matched 3, modified 3.</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20 of 20):</a:t>
            </a:r>
          </a:p>
          <a:p>
            <a:r>
              <a:t>After: all three have the gift Happy Birthday. Find it first, then change it.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2 of 6):</a:t>
            </a:r>
          </a:p>
          <a:p>
            <a:r>
              <a:t>Here are the four. Dollar L T is less than. Dollar L T E is less than or equal. Dollar G T is greater than. Dollar G T E is greater than or equal. Tip: the letter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3 of 6):</a:t>
            </a:r>
          </a:p>
          <a:p>
            <a:r>
              <a:t>This is our practice data. It is not from the handout. Five users: Ana is 17, Ben 18, Cara 24, Dan 30, and Eli 31. Keep these ages in mind.</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4 of 6):</a:t>
            </a:r>
          </a:p>
          <a:p>
            <a:r>
              <a:t>Read the first command as: find users where age is less than 18. We get only Ana, who is 17. The second is less than or equal to 18. We get Ana and Ben. Ben is exactly 18, so the E lets him in.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5 of 6):</a:t>
            </a:r>
          </a:p>
          <a:p>
            <a:r>
              <a:t>Greater than 30 gives only Eli, who is 31. Greater than or equal to 30 gives Dan and Eli. Dan is exactly 30, so he is in this time.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6 of 6):</a:t>
            </a:r>
          </a:p>
          <a:p>
            <a:r>
              <a:t>The handout finds users between 18 and 30. Put greater than or equal 18 and less than or equal 30 on the same field. Both must be true. The result is Ben, Cara and Dan. Remember: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a:t>
            </a:r>
          </a:p>
          <a:p/>
          <a:p>
            <a:r>
              <a:t>(Whole part: 178 words, about 1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2 of 6):</a:t>
            </a:r>
          </a:p>
          <a:p>
            <a:r>
              <a:t>This is the raffle. It is our practice data. There are five tickets. Ticket 111 is the only one where winner is true.</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3 of 6):</a:t>
            </a:r>
          </a:p>
          <a:p>
            <a:r>
              <a:t>Dollar in checks many values for one key. The handout's winning tickets are 725, 542 and 390. One query finds all three. Read it as: ticket number is in this list.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4 of 6):</a:t>
            </a:r>
          </a:p>
          <a:p>
            <a:r>
              <a:t>Dollar or is more general. Each condition can use a different key. We want ticket 725, or any ticket where winner is true. Ticket 725 passes the first test. Ticket 111 passes the second.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5 of 6):</a:t>
            </a:r>
          </a:p>
          <a:p>
            <a:r>
              <a:t>Now three users, also practice data. Rhea earns 8,000 pesos, Mark 10,000, and Liza 15,000.</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6 of 6):</a:t>
            </a:r>
          </a:p>
          <a:p>
            <a:r>
              <a:t>Dollar not returns the documents that do not match a condition. The handout finds salaries not greater than 10,000. Rhea and Mark come back. Mark is exactly 10,000, which is not greater, so he is in. Liza is out. To sum up: one field, many values, use dollar in. Many fields, any match, use dollar or.</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a:t>
            </a:r>
          </a:p>
          <a:p/>
          <a:p>
            <a:r>
              <a:t>(Whole part: 187 words, about 1 min 26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2 of 7):</a:t>
            </a:r>
          </a:p>
          <a:p>
            <a:r>
              <a:t>We insert the handout's three fruit baskets. Square brackets make an array. Before: the food collection is empty. The shell prints the reply of the last insertOne: inserted I 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3 of 7):</a:t>
            </a:r>
          </a:p>
          <a:p>
            <a:r>
              <a:t>After: three baskets. Basket 1 has apple, banana, peach. Basket 2 has apple, kumquat, orange. Basket 3 has cherry, banana,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4 of 7):</a:t>
            </a:r>
          </a:p>
          <a:p>
            <a:r>
              <a:t>Querying an array works like querying a single value. We ask for banana. Any basket with banana anywhere in its list matches: baskets 1 and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5 of 7):</a:t>
            </a:r>
          </a:p>
          <a:p>
            <a:r>
              <a:t>Dollar all needs every listed element. Apple and banana gives baskets 1 and 3. Basket 2 has no banana, so it is out. Order does not matter: basket 3 has banana before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6 of 7):</a:t>
            </a:r>
          </a:p>
          <a:p>
            <a:r>
              <a:t>To check one position, write the key, a dot, and the index. Counting starts at zero, so fruit dot 2 is the third fruit. Only basket 1 has peach in third place.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7 of 7):</a:t>
            </a:r>
          </a:p>
          <a:p>
            <a:r>
              <a:t>Dollar size matches arrays with exactly that many elements. Every basket has 3 fruits, so all three come back. Arrays answer like single values.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a:t>
            </a:r>
          </a:p>
          <a:p/>
          <a:p>
            <a:r>
              <a:t>(Whole part: 151 words, about 1 min 10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2 of 5):</a:t>
            </a:r>
          </a:p>
          <a:p>
            <a:r>
              <a:t>Dollar slice returns part of an array. Our practice blog post has 40 comments, c1 to c40. Slice 10 returns the first 10: c1 to c10.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3 of 5):</a:t>
            </a:r>
          </a:p>
          <a:p>
            <a:r>
              <a:t>Slice minus 10 returns the last 10: c31 to c40. Positive counts from the front.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4 of 5):</a:t>
            </a:r>
          </a:p>
          <a:p>
            <a:r>
              <a:t>Slice with two numbers gives a page from the middle. 23 means skip the first 23. 10 means take 10. So we get the 24th to the 33rd: c24 to c33. The handout notes: if there are fewer elements, it returns as many as it can.</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5 of 5):</a:t>
            </a:r>
          </a:p>
          <a:p>
            <a:r>
              <a:t>An embedded document is a document inside a document. John's name holds first and last. To query inside it, use dot notation, in quotes: name dot first, and name dot last. John Escalona comes back. Trim what you see with slice. Reach inside with a dot.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3 of 6):</a:t>
            </a:r>
          </a:p>
          <a:p>
            <a:r>
              <a:t>The implementation type depends on two things: where the infrastructure is, and who controls it. There are three types: public, private and hybrid.</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5 of 6):</a:t>
            </a:r>
          </a:p>
          <a:p>
            <a:r>
              <a:t>A private cloud is built by an organization only for its own needs. Large organizations spread across many places use it to add agility and flexibility. Their own I T staff or an outside third party can manage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2 of 7):</a:t>
            </a:r>
          </a:p>
          <a:p>
            <a:r>
              <a:t>Cloud services follow an a la carte model. You pick what you need, and services can build on each other. There are three: software, platform, and infrastructure as a service.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7 of 7):</a:t>
            </a:r>
          </a:p>
          <a:p>
            <a:r>
              <a:t>Six, disaster recovery. Seven, high security. Eight, reduced carbon footprint. Nine, flexibility: any device, any place. Ten, enterprise collaboration: shared, central documents. Scale up fast, and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66160"/>
            <a:ext cx="11368735" cy="128016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07, 08 and 09 Handouts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1</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14 slides · about 2 min 15 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db.movies.find()</a:t>
            </a:r>
          </a:p>
          <a:p>
            <a:pPr algn="l">
              <a:lnSpc>
                <a:spcPct val="100000"/>
              </a:lnSpc>
            </a:pPr>
            <a:r>
              <a:rPr sz="2800" b="0">
                <a:solidFill>
                  <a:srgbClr val="8FA3B8"/>
                </a:solidFill>
                <a:latin typeface="Courier New"/>
              </a:rPr>
              <a:t>// no output: the collection is empty</a:t>
            </a:r>
          </a:p>
        </p:txBody>
      </p:sp>
      <p:sp>
        <p:nvSpPr>
          <p:cNvPr id="6" name="Rectangle 5"/>
          <p:cNvSpPr/>
          <p:nvPr/>
        </p:nvSpPr>
        <p:spPr>
          <a:xfrm>
            <a:off x="411480" y="2212848"/>
            <a:ext cx="11368735" cy="18288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304288"/>
            <a:ext cx="11149279" cy="17190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db.movies.insertOne({"title" : "Stand by Me"})</a:t>
            </a:r>
          </a:p>
          <a:p>
            <a:pPr algn="l">
              <a:lnSpc>
                <a:spcPct val="100000"/>
              </a:lnSpc>
            </a:pPr>
            <a:r>
              <a:rPr sz="2800" b="0">
                <a:solidFill>
                  <a:srgbClr val="9FE0C9"/>
                </a:solidFill>
                <a:latin typeface="Courier New"/>
              </a:rPr>
              <a:t>{ acknowledged: true,</a:t>
            </a:r>
          </a:p>
          <a:p>
            <a:pPr algn="l">
              <a:lnSpc>
                <a:spcPct val="100000"/>
              </a:lnSpc>
            </a:pPr>
            <a:r>
              <a:rPr sz="2800" b="0">
                <a:solidFill>
                  <a:srgbClr val="9FE0C9"/>
                </a:solidFill>
                <a:latin typeface="Courier New"/>
              </a:rPr>
              <a:t>  insertedId: ObjectId('6ae590867b507d5b5c544ca7') }</a:t>
            </a:r>
          </a:p>
        </p:txBody>
      </p:sp>
      <p:sp>
        <p:nvSpPr>
          <p:cNvPr id="8" name="Rectangle 7"/>
          <p:cNvSpPr/>
          <p:nvPr/>
        </p:nvSpPr>
        <p:spPr>
          <a:xfrm>
            <a:off x="411480" y="4151376"/>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 y="4242816"/>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db.movies.find({}, {"_id" : 0})</a:t>
            </a:r>
          </a:p>
          <a:p>
            <a:pPr algn="l">
              <a:lnSpc>
                <a:spcPct val="100000"/>
              </a:lnSpc>
            </a:pPr>
            <a:r>
              <a:rPr sz="2800" b="0">
                <a:solidFill>
                  <a:srgbClr val="9FE0C9"/>
                </a:solidFill>
                <a:latin typeface="Courier New"/>
              </a:rPr>
              <a:t>[ { </a:t>
            </a:r>
            <a:r>
              <a:rPr sz="2800" b="1" u="sng">
                <a:solidFill>
                  <a:srgbClr val="FFD27F"/>
                </a:solidFill>
                <a:latin typeface="Courier New"/>
              </a:rPr>
              <a:t>title: 'Stand by Me'</a:t>
            </a:r>
            <a:r>
              <a:rPr sz="2800" b="0">
                <a:solidFill>
                  <a:srgbClr val="9FE0C9"/>
                </a:solidFill>
                <a:latin typeface="Courier New"/>
              </a:rPr>
              <a:t> } ]</a:t>
            </a:r>
          </a:p>
        </p:txBody>
      </p:sp>
      <p:sp>
        <p:nvSpPr>
          <p:cNvPr id="10" name="Rectangle 9"/>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11"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2"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3"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db.movies.find({}, {"_id" : 0})</a:t>
            </a:r>
          </a:p>
          <a:p>
            <a:pPr algn="l">
              <a:lnSpc>
                <a:spcPct val="100000"/>
              </a:lnSpc>
            </a:pPr>
            <a:r>
              <a:rPr sz="2800" b="0">
                <a:solidFill>
                  <a:srgbClr val="9FE0C9"/>
                </a:solidFill>
                <a:latin typeface="Courier New"/>
              </a:rPr>
              <a:t>[ { title: 'Stand by Me' }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51206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50109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db.movies.insertMany([{"title" : "Ghostbusters"},</a:t>
            </a:r>
          </a:p>
          <a:p>
            <a:pPr algn="l">
              <a:lnSpc>
                <a:spcPct val="100000"/>
              </a:lnSpc>
            </a:pPr>
            <a:r>
              <a:rPr sz="2800" b="0">
                <a:solidFill>
                  <a:srgbClr val="E6ECF2"/>
                </a:solidFill>
                <a:latin typeface="Courier New"/>
              </a:rPr>
              <a:t>  {"title" : "E.T."},</a:t>
            </a:r>
          </a:p>
          <a:p>
            <a:pPr algn="l">
              <a:lnSpc>
                <a:spcPct val="100000"/>
              </a:lnSpc>
            </a:pPr>
            <a:r>
              <a:rPr sz="2800" b="0">
                <a:solidFill>
                  <a:srgbClr val="E6ECF2"/>
                </a:solidFill>
                <a:latin typeface="Courier New"/>
              </a:rPr>
              <a:t>  {"title" : "Blade Runner"}])</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acknowledged: true,</a:t>
            </a:r>
          </a:p>
          <a:p>
            <a:pPr algn="l">
              <a:lnSpc>
                <a:spcPct val="100000"/>
              </a:lnSpc>
            </a:pPr>
            <a:r>
              <a:rPr sz="2800" b="0">
                <a:solidFill>
                  <a:srgbClr val="9FE0C9"/>
                </a:solidFill>
                <a:latin typeface="Courier New"/>
              </a:rPr>
              <a:t>  insertedIds: {</a:t>
            </a:r>
          </a:p>
          <a:p>
            <a:pPr algn="l">
              <a:lnSpc>
                <a:spcPct val="100000"/>
              </a:lnSpc>
            </a:pPr>
            <a:r>
              <a:rPr sz="2800" b="0">
                <a:solidFill>
                  <a:srgbClr val="9FE0C9"/>
                </a:solidFill>
                <a:latin typeface="Courier New"/>
              </a:rPr>
              <a:t>    '0': ObjectId('6ae59088cd1d7692c9544ca7'),</a:t>
            </a:r>
          </a:p>
          <a:p>
            <a:pPr algn="l">
              <a:lnSpc>
                <a:spcPct val="100000"/>
              </a:lnSpc>
            </a:pPr>
            <a:r>
              <a:rPr sz="2800" b="0">
                <a:solidFill>
                  <a:srgbClr val="9FE0C9"/>
                </a:solidFill>
                <a:latin typeface="Courier New"/>
              </a:rPr>
              <a:t>    '1': ObjectId('6ae59088cd1d7692c9544ca8'),</a:t>
            </a:r>
          </a:p>
          <a:p>
            <a:pPr algn="l">
              <a:lnSpc>
                <a:spcPct val="100000"/>
              </a:lnSpc>
            </a:pPr>
            <a:r>
              <a:rPr sz="2800" b="0">
                <a:solidFill>
                  <a:srgbClr val="9FE0C9"/>
                </a:solidFill>
                <a:latin typeface="Courier New"/>
              </a:rPr>
              <a:t>    '2': ObjectId('6ae59088cd1d7692c9544ca9')</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db.movies.find({},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title: 'Stand by Me' },</a:t>
            </a:r>
          </a:p>
          <a:p>
            <a:pPr algn="l">
              <a:lnSpc>
                <a:spcPct val="100000"/>
              </a:lnSpc>
            </a:pPr>
            <a:r>
              <a:rPr sz="2800" b="0">
                <a:solidFill>
                  <a:srgbClr val="9FE0C9"/>
                </a:solidFill>
                <a:latin typeface="Courier New"/>
              </a:rPr>
              <a:t>  { </a:t>
            </a:r>
            <a:r>
              <a:rPr sz="2800" b="1" u="sng">
                <a:solidFill>
                  <a:srgbClr val="FFD27F"/>
                </a:solidFill>
                <a:latin typeface="Courier New"/>
              </a:rPr>
              <a:t>title: 'Ghostbusters'</a:t>
            </a:r>
            <a:r>
              <a:rPr sz="2800" b="0">
                <a:solidFill>
                  <a:srgbClr val="9FE0C9"/>
                </a:solidFill>
                <a:latin typeface="Courier New"/>
              </a:rPr>
              <a:t> },</a:t>
            </a:r>
          </a:p>
          <a:p>
            <a:pPr algn="l">
              <a:lnSpc>
                <a:spcPct val="100000"/>
              </a:lnSpc>
            </a:pPr>
            <a:r>
              <a:rPr sz="2800" b="0">
                <a:solidFill>
                  <a:srgbClr val="9FE0C9"/>
                </a:solidFill>
                <a:latin typeface="Courier New"/>
              </a:rPr>
              <a:t>  { </a:t>
            </a:r>
            <a:r>
              <a:rPr sz="2800" b="1" u="sng">
                <a:solidFill>
                  <a:srgbClr val="FFD27F"/>
                </a:solidFill>
                <a:latin typeface="Courier New"/>
              </a:rPr>
              <a:t>title: 'E.T.'</a:t>
            </a:r>
            <a:r>
              <a:rPr sz="2800" b="0">
                <a:solidFill>
                  <a:srgbClr val="9FE0C9"/>
                </a:solidFill>
                <a:latin typeface="Courier New"/>
              </a:rPr>
              <a:t> },</a:t>
            </a:r>
          </a:p>
          <a:p>
            <a:pPr algn="l">
              <a:lnSpc>
                <a:spcPct val="100000"/>
              </a:lnSpc>
            </a:pPr>
            <a:r>
              <a:rPr sz="2800" b="0">
                <a:solidFill>
                  <a:srgbClr val="9FE0C9"/>
                </a:solidFill>
                <a:latin typeface="Courier New"/>
              </a:rPr>
              <a:t>  { </a:t>
            </a:r>
            <a:r>
              <a:rPr sz="2800" b="1" u="sng">
                <a:solidFill>
                  <a:srgbClr val="FFD27F"/>
                </a:solidFill>
                <a:latin typeface="Courier New"/>
              </a:rPr>
              <a:t>title: 'Blade Runner'</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db.movies.find({"_id" : {"$in" : [3, 4, 5]}})</a:t>
            </a:r>
          </a:p>
          <a:p>
            <a:pPr algn="l">
              <a:lnSpc>
                <a:spcPct val="100000"/>
              </a:lnSpc>
            </a:pPr>
            <a:r>
              <a:rPr sz="2800" b="0">
                <a:solidFill>
                  <a:srgbClr val="8FA3B8"/>
                </a:solidFill>
                <a:latin typeface="Courier New"/>
              </a:rPr>
              <a:t>// no output: the collection is empty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db.movies.insertMany([</a:t>
            </a:r>
          </a:p>
          <a:p>
            <a:pPr algn="l">
              <a:lnSpc>
                <a:spcPct val="100000"/>
              </a:lnSpc>
            </a:pPr>
            <a:r>
              <a:rPr sz="2800" b="0">
                <a:solidFill>
                  <a:srgbClr val="E6ECF2"/>
                </a:solidFill>
                <a:latin typeface="Courier New"/>
              </a:rPr>
              <a:t>  {"_id" : 3, "title" : "Sixteen Candles"},</a:t>
            </a:r>
          </a:p>
          <a:p>
            <a:pPr algn="l">
              <a:lnSpc>
                <a:spcPct val="100000"/>
              </a:lnSpc>
            </a:pPr>
            <a:r>
              <a:rPr sz="2800" b="0">
                <a:solidFill>
                  <a:srgbClr val="E6ECF2"/>
                </a:solidFill>
                <a:latin typeface="Courier New"/>
              </a:rPr>
              <a:t>  {"_id" : 4, "title" : "The Terminator"},</a:t>
            </a:r>
          </a:p>
          <a:p>
            <a:pPr algn="l">
              <a:lnSpc>
                <a:spcPct val="100000"/>
              </a:lnSpc>
            </a:pPr>
            <a:r>
              <a:rPr sz="2800" b="0">
                <a:solidFill>
                  <a:srgbClr val="E6ECF2"/>
                </a:solidFill>
                <a:latin typeface="Courier New"/>
              </a:rPr>
              <a:t>  {"_id" : 4, "title" : "The Princess Bride"},</a:t>
            </a:r>
          </a:p>
          <a:p>
            <a:pPr algn="l">
              <a:lnSpc>
                <a:spcPct val="100000"/>
              </a:lnSpc>
            </a:pPr>
            <a:r>
              <a:rPr sz="2800" b="0">
                <a:solidFill>
                  <a:srgbClr val="E6ECF2"/>
                </a:solidFill>
                <a:latin typeface="Courier New"/>
              </a:rPr>
              <a:t>  {"_id" : 5, "title" : "Scarface"}],</a:t>
            </a:r>
          </a:p>
          <a:p>
            <a:pPr algn="l">
              <a:lnSpc>
                <a:spcPct val="100000"/>
              </a:lnSpc>
            </a:pPr>
            <a:r>
              <a:rPr sz="2800" b="0">
                <a:solidFill>
                  <a:srgbClr val="E6ECF2"/>
                </a:solidFill>
                <a:latin typeface="Courier New"/>
              </a:rPr>
              <a:t>  {"ordered" : false})</a:t>
            </a:r>
          </a:p>
          <a:p>
            <a:pPr algn="l">
              <a:lnSpc>
                <a:spcPct val="100000"/>
              </a:lnSpc>
            </a:pPr>
            <a:r>
              <a:rPr sz="2800" b="0">
                <a:solidFill>
                  <a:srgbClr val="FFB4A8"/>
                </a:solidFill>
                <a:latin typeface="Courier New"/>
              </a:rPr>
              <a:t>MongoBulkWriteError: E11000 duplicate key error</a:t>
            </a:r>
          </a:p>
          <a:p>
            <a:pPr algn="l">
              <a:lnSpc>
                <a:spcPct val="100000"/>
              </a:lnSpc>
            </a:pPr>
            <a:r>
              <a:rPr sz="2800" b="0">
                <a:solidFill>
                  <a:srgbClr val="FFB4A8"/>
                </a:solidFill>
                <a:latin typeface="Courier New"/>
              </a:rPr>
              <a:t>collection: adbs_part1.movies index: _id_ dup key: {</a:t>
            </a:r>
          </a:p>
          <a:p>
            <a:pPr algn="l">
              <a:lnSpc>
                <a:spcPct val="100000"/>
              </a:lnSpc>
            </a:pPr>
            <a:r>
              <a:rPr sz="2800" b="0">
                <a:solidFill>
                  <a:srgbClr val="FFB4A8"/>
                </a:solidFill>
                <a:latin typeface="Courier New"/>
              </a:rPr>
              <a:t>_id: 4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db.movies.find({"_id" : {"$in" : [3, 4, 5]}})</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ct val="1000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ct val="100000"/>
              </a:lnSpc>
            </a:pPr>
            <a:r>
              <a:rPr sz="2800" b="0">
                <a:solidFill>
                  <a:srgbClr val="9FE0C9"/>
                </a:solidFill>
                <a:latin typeface="Courier New"/>
              </a:rPr>
              <a:t>  { </a:t>
            </a:r>
            <a:r>
              <a:rPr sz="2800" b="1" u="sng">
                <a:solidFill>
                  <a:srgbClr val="FFD27F"/>
                </a:solidFill>
                <a:latin typeface="Courier New"/>
              </a:rPr>
              <a:t>_id: 5, title: 'Scarface'</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db.ordered.find()</a:t>
            </a:r>
          </a:p>
          <a:p>
            <a:pPr algn="l">
              <a:lnSpc>
                <a:spcPct val="100000"/>
              </a:lnSpc>
            </a:pPr>
            <a:r>
              <a:rPr sz="2800" b="0">
                <a:solidFill>
                  <a:srgbClr val="8FA3B8"/>
                </a:solidFill>
                <a:latin typeface="Courier New"/>
              </a:rPr>
              <a:t>// no output: the collection is empty</a:t>
            </a:r>
          </a:p>
        </p:txBody>
      </p:sp>
      <p:sp>
        <p:nvSpPr>
          <p:cNvPr id="6" name="Rectangle 5"/>
          <p:cNvSpPr/>
          <p:nvPr/>
        </p:nvSpPr>
        <p:spPr>
          <a:xfrm>
            <a:off x="411480" y="2212848"/>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304288"/>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db.ordered.insertMany([</a:t>
            </a:r>
          </a:p>
          <a:p>
            <a:pPr algn="l">
              <a:lnSpc>
                <a:spcPct val="100000"/>
              </a:lnSpc>
            </a:pPr>
            <a:r>
              <a:rPr sz="2800" b="0">
                <a:solidFill>
                  <a:srgbClr val="E6ECF2"/>
                </a:solidFill>
                <a:latin typeface="Courier New"/>
              </a:rPr>
              <a:t>  {"_id" : 3, "title" : "Sixteen Candles"},</a:t>
            </a:r>
          </a:p>
          <a:p>
            <a:pPr algn="l">
              <a:lnSpc>
                <a:spcPct val="100000"/>
              </a:lnSpc>
            </a:pPr>
            <a:r>
              <a:rPr sz="2800" b="0">
                <a:solidFill>
                  <a:srgbClr val="E6ECF2"/>
                </a:solidFill>
                <a:latin typeface="Courier New"/>
              </a:rPr>
              <a:t>  {"_id" : 4, "title" : "The Terminator"},</a:t>
            </a:r>
          </a:p>
          <a:p>
            <a:pPr algn="l">
              <a:lnSpc>
                <a:spcPct val="100000"/>
              </a:lnSpc>
            </a:pPr>
            <a:r>
              <a:rPr sz="2800" b="0">
                <a:solidFill>
                  <a:srgbClr val="E6ECF2"/>
                </a:solidFill>
                <a:latin typeface="Courier New"/>
              </a:rPr>
              <a:t>  {"_id" : 4, "title" : "The Princess Bride"},</a:t>
            </a:r>
          </a:p>
          <a:p>
            <a:pPr algn="l">
              <a:lnSpc>
                <a:spcPct val="100000"/>
              </a:lnSpc>
            </a:pPr>
            <a:r>
              <a:rPr sz="2800" b="0">
                <a:solidFill>
                  <a:srgbClr val="E6ECF2"/>
                </a:solidFill>
                <a:latin typeface="Courier New"/>
              </a:rPr>
              <a:t>  {"_id" : 5, "title" : "Scarface"}])</a:t>
            </a:r>
          </a:p>
          <a:p>
            <a:pPr algn="l">
              <a:lnSpc>
                <a:spcPct val="100000"/>
              </a:lnSpc>
            </a:pPr>
            <a:r>
              <a:rPr sz="2800" b="0">
                <a:solidFill>
                  <a:srgbClr val="FFB4A8"/>
                </a:solidFill>
                <a:latin typeface="Courier New"/>
              </a:rPr>
              <a:t>MongoBulkWriteError: E11000 duplicate key error</a:t>
            </a:r>
          </a:p>
          <a:p>
            <a:pPr algn="l">
              <a:lnSpc>
                <a:spcPct val="100000"/>
              </a:lnSpc>
            </a:pPr>
            <a:r>
              <a:rPr sz="2800" b="0">
                <a:solidFill>
                  <a:srgbClr val="FFB4A8"/>
                </a:solidFill>
                <a:latin typeface="Courier New"/>
              </a:rPr>
              <a:t>collection: adbs_part1.ordered index: _id_ dup key:</a:t>
            </a:r>
          </a:p>
          <a:p>
            <a:pPr algn="l">
              <a:lnSpc>
                <a:spcPct val="100000"/>
              </a:lnSpc>
            </a:pPr>
            <a:r>
              <a:rPr sz="2800" b="0">
                <a:solidFill>
                  <a:srgbClr val="FFB4A8"/>
                </a:solidFill>
                <a:latin typeface="Courier New"/>
              </a:rPr>
              <a:t>{ _id: 4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2240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305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db.ordered.find()</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ct val="1000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db.movies.find({"_id" : {"$in" : [3, 4, 5]}})</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3, title: 'Sixteen Candles' },</a:t>
            </a:r>
          </a:p>
          <a:p>
            <a:pPr algn="l">
              <a:lnSpc>
                <a:spcPct val="100000"/>
              </a:lnSpc>
            </a:pPr>
            <a:r>
              <a:rPr sz="2800" b="0">
                <a:solidFill>
                  <a:srgbClr val="9FE0C9"/>
                </a:solidFill>
                <a:latin typeface="Courier New"/>
              </a:rPr>
              <a:t>  { </a:t>
            </a:r>
            <a:r>
              <a:rPr sz="2800" b="0" strike="sngStrike">
                <a:solidFill>
                  <a:srgbClr val="FFB4A8"/>
                </a:solidFill>
                <a:latin typeface="Courier New"/>
              </a:rPr>
              <a:t>_id: 4, title: 'The Terminator'</a:t>
            </a:r>
            <a:r>
              <a:rPr sz="2800" b="0">
                <a:solidFill>
                  <a:srgbClr val="9FE0C9"/>
                </a:solidFill>
                <a:latin typeface="Courier New"/>
              </a:rPr>
              <a:t> },</a:t>
            </a:r>
          </a:p>
          <a:p>
            <a:pPr algn="l">
              <a:lnSpc>
                <a:spcPct val="100000"/>
              </a:lnSpc>
            </a:pPr>
            <a:r>
              <a:rPr sz="2800" b="0">
                <a:solidFill>
                  <a:srgbClr val="9FE0C9"/>
                </a:solidFill>
                <a:latin typeface="Courier New"/>
              </a:rPr>
              <a:t>  { _id: 5, title: 'Scarface' }</a:t>
            </a:r>
          </a:p>
          <a:p>
            <a:pPr algn="l">
              <a:lnSpc>
                <a:spcPct val="100000"/>
              </a:lnSpc>
            </a:pPr>
            <a:r>
              <a:rPr sz="2800" b="0">
                <a:solidFill>
                  <a:srgbClr val="9FE0C9"/>
                </a:solidFill>
                <a:latin typeface="Courier New"/>
              </a:rPr>
              <a:t>]</a:t>
            </a:r>
          </a:p>
        </p:txBody>
      </p:sp>
      <p:sp>
        <p:nvSpPr>
          <p:cNvPr id="6" name="Rectangle 5"/>
          <p:cNvSpPr/>
          <p:nvPr/>
        </p:nvSpPr>
        <p:spPr>
          <a:xfrm>
            <a:off x="411480" y="4270248"/>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4361688"/>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db.movies.deleteOne({"_id" : 4})</a:t>
            </a:r>
          </a:p>
          <a:p>
            <a:pPr algn="l">
              <a:lnSpc>
                <a:spcPct val="100000"/>
              </a:lnSpc>
            </a:pPr>
            <a:r>
              <a:rPr sz="2800" b="0">
                <a:solidFill>
                  <a:srgbClr val="9FE0C9"/>
                </a:solidFill>
                <a:latin typeface="Courier New"/>
              </a:rPr>
              <a:t>{ acknowledged: true, deletedCount: 1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db.movies.find({"_id" : {"$in" : [3, 4, 5]}})</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3, title: 'Sixteen Candles' },</a:t>
            </a:r>
          </a:p>
          <a:p>
            <a:pPr algn="l">
              <a:lnSpc>
                <a:spcPct val="100000"/>
              </a:lnSpc>
            </a:pPr>
            <a:r>
              <a:rPr sz="2800" b="0">
                <a:solidFill>
                  <a:srgbClr val="9FE0C9"/>
                </a:solidFill>
                <a:latin typeface="Courier New"/>
              </a:rPr>
              <a:t>  { _id: 5, title: 'Scarface'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db.movies.find()</a:t>
            </a:r>
          </a:p>
          <a:p>
            <a:pPr algn="l">
              <a:lnSpc>
                <a:spcPct val="100000"/>
              </a:lnSpc>
            </a:pPr>
            <a:r>
              <a:rPr sz="2800" b="0">
                <a:solidFill>
                  <a:srgbClr val="8FA3B8"/>
                </a:solidFill>
                <a:latin typeface="Courier New"/>
              </a:rPr>
              <a:t>// the handout's three movies</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0, </a:t>
            </a:r>
            <a:r>
              <a:rPr sz="2800" b="0" strike="sngStrike">
                <a:solidFill>
                  <a:srgbClr val="FFB4A8"/>
                </a:solidFill>
                <a:latin typeface="Courier New"/>
              </a:rPr>
              <a:t>title: 'Top Gun'</a:t>
            </a:r>
            <a:r>
              <a:rPr sz="2800" b="0">
                <a:solidFill>
                  <a:srgbClr val="9FE0C9"/>
                </a:solidFill>
                <a:latin typeface="Courier New"/>
              </a:rPr>
              <a:t>, year: 1985 },</a:t>
            </a:r>
          </a:p>
          <a:p>
            <a:pPr algn="l">
              <a:lnSpc>
                <a:spcPct val="100000"/>
              </a:lnSpc>
            </a:pPr>
            <a:r>
              <a:rPr sz="2800" b="0">
                <a:solidFill>
                  <a:srgbClr val="9FE0C9"/>
                </a:solidFill>
                <a:latin typeface="Courier New"/>
              </a:rPr>
              <a:t>  { _id: 1, </a:t>
            </a:r>
            <a:r>
              <a:rPr sz="2800" b="0" strike="sngStrike">
                <a:solidFill>
                  <a:srgbClr val="FFB4A8"/>
                </a:solidFill>
                <a:latin typeface="Courier New"/>
              </a:rPr>
              <a:t>title: 'Back to the Future'</a:t>
            </a:r>
            <a:r>
              <a:rPr sz="2800" b="0">
                <a:solidFill>
                  <a:srgbClr val="9FE0C9"/>
                </a:solidFill>
                <a:latin typeface="Courier New"/>
              </a:rPr>
              <a:t>,</a:t>
            </a:r>
          </a:p>
          <a:p>
            <a:pPr algn="l">
              <a:lnSpc>
                <a:spcPct val="100000"/>
              </a:lnSpc>
            </a:pPr>
            <a:r>
              <a:rPr sz="2800" b="0">
                <a:solidFill>
                  <a:srgbClr val="9FE0C9"/>
                </a:solidFill>
                <a:latin typeface="Courier New"/>
              </a:rPr>
              <a:t>    year: 1985 },</a:t>
            </a:r>
          </a:p>
          <a:p>
            <a:pPr algn="l">
              <a:lnSpc>
                <a:spcPct val="100000"/>
              </a:lnSpc>
            </a:pPr>
            <a:r>
              <a:rPr sz="2800" b="0">
                <a:solidFill>
                  <a:srgbClr val="9FE0C9"/>
                </a:solidFill>
                <a:latin typeface="Courier New"/>
              </a:rPr>
              <a:t>  { _id: 3, title: 'Sixteen Candles', year: 1984 }</a:t>
            </a:r>
          </a:p>
          <a:p>
            <a:pPr algn="l">
              <a:lnSpc>
                <a:spcPct val="100000"/>
              </a:lnSpc>
            </a:pPr>
            <a:r>
              <a:rPr sz="2800" b="0">
                <a:solidFill>
                  <a:srgbClr val="9FE0C9"/>
                </a:solidFill>
                <a:latin typeface="Courier New"/>
              </a:rPr>
              <a:t>]</a:t>
            </a:r>
          </a:p>
        </p:txBody>
      </p:sp>
      <p:sp>
        <p:nvSpPr>
          <p:cNvPr id="6" name="Rectangle 5"/>
          <p:cNvSpPr/>
          <p:nvPr/>
        </p:nvSpPr>
        <p:spPr>
          <a:xfrm>
            <a:off x="411480" y="4681728"/>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4773168"/>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db.movies.deleteMany({"year" : 1985})</a:t>
            </a:r>
          </a:p>
          <a:p>
            <a:pPr algn="l">
              <a:lnSpc>
                <a:spcPct val="100000"/>
              </a:lnSpc>
            </a:pPr>
            <a:r>
              <a:rPr sz="2800" b="0">
                <a:solidFill>
                  <a:srgbClr val="9FE0C9"/>
                </a:solidFill>
                <a:latin typeface="Courier New"/>
              </a:rPr>
              <a:t>{ acknowledged: true, deletedCount: 2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db.movies.find()</a:t>
            </a:r>
          </a:p>
          <a:p>
            <a:pPr algn="l">
              <a:lnSpc>
                <a:spcPct val="100000"/>
              </a:lnSpc>
            </a:pPr>
            <a:r>
              <a:rPr sz="2800" b="0">
                <a:solidFill>
                  <a:srgbClr val="9FE0C9"/>
                </a:solidFill>
                <a:latin typeface="Courier New"/>
              </a:rPr>
              <a:t>[ { _id: 3, title: 'Sixteen Candles', year: 1984 }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2</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20 slides · about 2 min 08 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db.users.findOne({"name" : "Joe"})</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ObjectId('4b2b9f67a1f631733d917a7a'),</a:t>
            </a:r>
          </a:p>
          <a:p>
            <a:pPr algn="l">
              <a:lnSpc>
                <a:spcPct val="100000"/>
              </a:lnSpc>
            </a:pPr>
            <a:r>
              <a:rPr sz="2800" b="0">
                <a:solidFill>
                  <a:srgbClr val="9FE0C9"/>
                </a:solidFill>
                <a:latin typeface="Courier New"/>
              </a:rPr>
              <a:t>  name: 'Joe',</a:t>
            </a:r>
          </a:p>
          <a:p>
            <a:pPr algn="l">
              <a:lnSpc>
                <a:spcPct val="100000"/>
              </a:lnSpc>
            </a:pPr>
            <a:r>
              <a:rPr sz="2800" b="0">
                <a:solidFill>
                  <a:srgbClr val="9FE0C9"/>
                </a:solidFill>
                <a:latin typeface="Courier New"/>
              </a:rPr>
              <a:t>  friends: 32,</a:t>
            </a:r>
          </a:p>
          <a:p>
            <a:pPr algn="l">
              <a:lnSpc>
                <a:spcPct val="100000"/>
              </a:lnSpc>
            </a:pPr>
            <a:r>
              <a:rPr sz="2800" b="0">
                <a:solidFill>
                  <a:srgbClr val="9FE0C9"/>
                </a:solidFill>
                <a:latin typeface="Courier New"/>
              </a:rPr>
              <a:t>  enemies: 2</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db.users.findOne({"name" : "Joe"})</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ObjectId('4b2b9f67a1f631733d917a7a'),</a:t>
            </a:r>
          </a:p>
          <a:p>
            <a:pPr algn="l">
              <a:lnSpc>
                <a:spcPct val="100000"/>
              </a:lnSpc>
            </a:pPr>
            <a:r>
              <a:rPr sz="2800" b="0">
                <a:solidFill>
                  <a:srgbClr val="9FE0C9"/>
                </a:solidFill>
                <a:latin typeface="Courier New"/>
              </a:rPr>
              <a:t>  </a:t>
            </a:r>
            <a:r>
              <a:rPr sz="2800" b="0" strike="sngStrike">
                <a:solidFill>
                  <a:srgbClr val="FFB4A8"/>
                </a:solidFill>
                <a:latin typeface="Courier New"/>
              </a:rPr>
              <a:t>name: 'Joe'</a:t>
            </a:r>
            <a:r>
              <a:rPr sz="2800" b="0">
                <a:solidFill>
                  <a:srgbClr val="9FE0C9"/>
                </a:solidFill>
                <a:latin typeface="Courier New"/>
              </a:rPr>
              <a:t>,</a:t>
            </a:r>
          </a:p>
          <a:p>
            <a:pPr algn="l">
              <a:lnSpc>
                <a:spcPct val="100000"/>
              </a:lnSpc>
            </a:pPr>
            <a:r>
              <a:rPr sz="2800" b="0">
                <a:solidFill>
                  <a:srgbClr val="9FE0C9"/>
                </a:solidFill>
                <a:latin typeface="Courier New"/>
              </a:rPr>
              <a:t>  </a:t>
            </a:r>
            <a:r>
              <a:rPr sz="2800" b="0" strike="sngStrike">
                <a:solidFill>
                  <a:srgbClr val="FFB4A8"/>
                </a:solidFill>
                <a:latin typeface="Courier New"/>
              </a:rPr>
              <a:t>friends: 32</a:t>
            </a:r>
            <a:r>
              <a:rPr sz="2800" b="0">
                <a:solidFill>
                  <a:srgbClr val="9FE0C9"/>
                </a:solidFill>
                <a:latin typeface="Courier New"/>
              </a:rPr>
              <a:t>,</a:t>
            </a:r>
          </a:p>
          <a:p>
            <a:pPr algn="l">
              <a:lnSpc>
                <a:spcPct val="100000"/>
              </a:lnSpc>
            </a:pPr>
            <a:r>
              <a:rPr sz="2800" b="0">
                <a:solidFill>
                  <a:srgbClr val="9FE0C9"/>
                </a:solidFill>
                <a:latin typeface="Courier New"/>
              </a:rPr>
              <a:t>  </a:t>
            </a:r>
            <a:r>
              <a:rPr sz="2800" b="0" strike="sngStrike">
                <a:solidFill>
                  <a:srgbClr val="FFB4A8"/>
                </a:solidFill>
                <a:latin typeface="Courier New"/>
              </a:rPr>
              <a:t>enemies: 2</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47091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5994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var Joe = db.users.findOne({"name" : "Joe"});</a:t>
            </a:r>
          </a:p>
          <a:p>
            <a:pPr algn="l">
              <a:lnSpc>
                <a:spcPct val="100000"/>
              </a:lnSpc>
            </a:pPr>
            <a:r>
              <a:rPr sz="2800" b="0">
                <a:solidFill>
                  <a:srgbClr val="E6ECF2"/>
                </a:solidFill>
                <a:latin typeface="Courier New"/>
              </a:rPr>
              <a:t>Joe.relationships = {"friends" : Joe.friends,</a:t>
            </a:r>
          </a:p>
          <a:p>
            <a:pPr algn="l">
              <a:lnSpc>
                <a:spcPct val="100000"/>
              </a:lnSpc>
            </a:pPr>
            <a:r>
              <a:rPr sz="2800" b="0">
                <a:solidFill>
                  <a:srgbClr val="E6ECF2"/>
                </a:solidFill>
                <a:latin typeface="Courier New"/>
              </a:rPr>
              <a:t>  "enemies" : Joe.enemies};</a:t>
            </a:r>
          </a:p>
          <a:p>
            <a:pPr algn="l">
              <a:lnSpc>
                <a:spcPct val="100000"/>
              </a:lnSpc>
            </a:pPr>
            <a:r>
              <a:rPr sz="2800" b="0">
                <a:solidFill>
                  <a:srgbClr val="E6ECF2"/>
                </a:solidFill>
                <a:latin typeface="Courier New"/>
              </a:rPr>
              <a:t>Joe.username = Joe.name;</a:t>
            </a:r>
          </a:p>
          <a:p>
            <a:pPr algn="l">
              <a:lnSpc>
                <a:spcPct val="100000"/>
              </a:lnSpc>
            </a:pPr>
            <a:r>
              <a:rPr sz="2800" b="0">
                <a:solidFill>
                  <a:srgbClr val="E6ECF2"/>
                </a:solidFill>
                <a:latin typeface="Courier New"/>
              </a:rPr>
              <a:t>delete Joe.friends; delete Joe.enemies;</a:t>
            </a:r>
          </a:p>
          <a:p>
            <a:pPr algn="l">
              <a:lnSpc>
                <a:spcPct val="100000"/>
              </a:lnSpc>
            </a:pPr>
            <a:r>
              <a:rPr sz="2800" b="0">
                <a:solidFill>
                  <a:srgbClr val="E6ECF2"/>
                </a:solidFill>
                <a:latin typeface="Courier New"/>
              </a:rPr>
              <a:t>delete Joe.name;</a:t>
            </a:r>
          </a:p>
          <a:p>
            <a:pPr algn="l">
              <a:lnSpc>
                <a:spcPct val="100000"/>
              </a:lnSpc>
            </a:pPr>
            <a:r>
              <a:rPr sz="2800" b="0">
                <a:solidFill>
                  <a:srgbClr val="E6ECF2"/>
                </a:solidFill>
                <a:latin typeface="Courier New"/>
              </a:rPr>
              <a:t>db.users.replaceOne({"name" : "Joe"}, Joe)</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1, modifiedCount: 1,</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db.users.findOne({"username" : "Joe"})</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ObjectId('4b2b9f67a1f631733d917a7a'),</a:t>
            </a:r>
          </a:p>
          <a:p>
            <a:pPr algn="l">
              <a:lnSpc>
                <a:spcPct val="100000"/>
              </a:lnSpc>
            </a:pPr>
            <a:r>
              <a:rPr sz="2800" b="0">
                <a:solidFill>
                  <a:srgbClr val="9FE0C9"/>
                </a:solidFill>
                <a:latin typeface="Courier New"/>
              </a:rPr>
              <a:t>  </a:t>
            </a:r>
            <a:r>
              <a:rPr sz="2800" b="1" u="sng">
                <a:solidFill>
                  <a:srgbClr val="FFD27F"/>
                </a:solidFill>
                <a:latin typeface="Courier New"/>
              </a:rPr>
              <a:t>relationships: { friends: 32, enemies: 2 }</a:t>
            </a:r>
            <a:r>
              <a:rPr sz="2800" b="0">
                <a:solidFill>
                  <a:srgbClr val="9FE0C9"/>
                </a:solidFill>
                <a:latin typeface="Courier New"/>
              </a:rPr>
              <a:t>,</a:t>
            </a:r>
          </a:p>
          <a:p>
            <a:pPr algn="l">
              <a:lnSpc>
                <a:spcPct val="100000"/>
              </a:lnSpc>
            </a:pPr>
            <a:r>
              <a:rPr sz="2800" b="0">
                <a:solidFill>
                  <a:srgbClr val="9FE0C9"/>
                </a:solidFill>
                <a:latin typeface="Courier New"/>
              </a:rPr>
              <a:t>  </a:t>
            </a:r>
            <a:r>
              <a:rPr sz="2800" b="1" u="sng">
                <a:solidFill>
                  <a:srgbClr val="FFD27F"/>
                </a:solidFill>
                <a:latin typeface="Courier New"/>
              </a:rPr>
              <a:t>username: 'Joe'</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{"$set" : {"favorite book" :</a:t>
            </a:r>
          </a:p>
          <a:p>
            <a:pPr algn="l">
              <a:lnSpc>
                <a:spcPct val="100000"/>
              </a:lnSpc>
            </a:pPr>
            <a:r>
              <a:rPr sz="2800" b="0">
                <a:solidFill>
                  <a:srgbClr val="E6ECF2"/>
                </a:solidFill>
                <a:latin typeface="Courier New"/>
              </a:rPr>
              <a:t>    "Green Eggs and Ham"}})</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1, modifiedCount: 1,</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  </a:t>
            </a:r>
            <a:r>
              <a:rPr sz="2800" b="1" u="sng">
                <a:solidFill>
                  <a:srgbClr val="FFD27F"/>
                </a:solidFill>
                <a:latin typeface="Courier New"/>
              </a:rPr>
              <a:t>'favorite book': 'Green Eggs and Ham'</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  'favorite book': </a:t>
            </a:r>
            <a:r>
              <a:rPr sz="2800" b="0" strike="sngStrike">
                <a:solidFill>
                  <a:srgbClr val="FFB4A8"/>
                </a:solidFill>
                <a:latin typeface="Courier New"/>
              </a:rPr>
              <a:t>'Green Eggs and Ham'</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{"$set" : {"favorite book" :</a:t>
            </a:r>
          </a:p>
          <a:p>
            <a:pPr algn="l">
              <a:lnSpc>
                <a:spcPct val="100000"/>
              </a:lnSpc>
            </a:pPr>
            <a:r>
              <a:rPr sz="2800" b="0">
                <a:solidFill>
                  <a:srgbClr val="E6ECF2"/>
                </a:solidFill>
                <a:latin typeface="Courier New"/>
              </a:rPr>
              <a:t>  ["Cat's Cradle", "Foundation Trilogy",</a:t>
            </a:r>
          </a:p>
          <a:p>
            <a:pPr algn="l">
              <a:lnSpc>
                <a:spcPct val="100000"/>
              </a:lnSpc>
            </a:pPr>
            <a:r>
              <a:rPr sz="2800" b="0">
                <a:solidFill>
                  <a:srgbClr val="E6ECF2"/>
                </a:solidFill>
                <a:latin typeface="Courier New"/>
              </a:rPr>
              <a:t>   "Ender's Game"]}})</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1, modifiedCount: 1,</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20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  'favorite book': [ </a:t>
            </a:r>
            <a:r>
              <a:rPr sz="2800" b="1" u="sng">
                <a:solidFill>
                  <a:srgbClr val="FFD27F"/>
                </a:solidFill>
                <a:latin typeface="Courier New"/>
              </a:rPr>
              <a:t>"Cat's Cradle"</a:t>
            </a:r>
            <a:r>
              <a:rPr sz="2800" b="0">
                <a:solidFill>
                  <a:srgbClr val="9FE0C9"/>
                </a:solidFill>
                <a:latin typeface="Courier New"/>
              </a:rPr>
              <a:t>,</a:t>
            </a:r>
          </a:p>
          <a:p>
            <a:pPr algn="l">
              <a:lnSpc>
                <a:spcPct val="100000"/>
              </a:lnSpc>
            </a:pPr>
            <a:r>
              <a:rPr sz="2800" b="0">
                <a:solidFill>
                  <a:srgbClr val="9FE0C9"/>
                </a:solidFill>
                <a:latin typeface="Courier New"/>
              </a:rPr>
              <a:t>    </a:t>
            </a:r>
            <a:r>
              <a:rPr sz="2800" b="1" u="sng">
                <a:solidFill>
                  <a:srgbClr val="FFD27F"/>
                </a:solidFill>
                <a:latin typeface="Courier New"/>
              </a:rPr>
              <a:t>'Foundation Trilogy'</a:t>
            </a:r>
            <a:r>
              <a:rPr sz="2800" b="0">
                <a:solidFill>
                  <a:srgbClr val="9FE0C9"/>
                </a:solidFill>
                <a:latin typeface="Courier New"/>
              </a:rPr>
              <a:t>, </a:t>
            </a:r>
            <a:r>
              <a:rPr sz="2800" b="1" u="sng">
                <a:solidFill>
                  <a:srgbClr val="FFD27F"/>
                </a:solidFill>
                <a:latin typeface="Courier New"/>
              </a:rPr>
              <a:t>"Ender's Game"</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20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  </a:t>
            </a:r>
            <a:r>
              <a:rPr sz="2800" b="0" strike="sngStrike">
                <a:solidFill>
                  <a:srgbClr val="FFB4A8"/>
                </a:solidFill>
                <a:latin typeface="Courier New"/>
              </a:rPr>
              <a:t>'favorite book'</a:t>
            </a:r>
            <a:r>
              <a:rPr sz="2800" b="0">
                <a:solidFill>
                  <a:srgbClr val="9FE0C9"/>
                </a:solidFill>
                <a:latin typeface="Courier New"/>
              </a:rPr>
              <a:t>: [ </a:t>
            </a:r>
            <a:r>
              <a:rPr sz="2800" b="0" strike="sngStrike">
                <a:solidFill>
                  <a:srgbClr val="FFB4A8"/>
                </a:solidFill>
                <a:latin typeface="Courier New"/>
              </a:rPr>
              <a:t>"Cat's Cradle"</a:t>
            </a:r>
            <a:r>
              <a:rPr sz="2800" b="0">
                <a:solidFill>
                  <a:srgbClr val="9FE0C9"/>
                </a:solidFill>
                <a:latin typeface="Courier New"/>
              </a:rPr>
              <a:t>,</a:t>
            </a:r>
          </a:p>
          <a:p>
            <a:pPr algn="l">
              <a:lnSpc>
                <a:spcPct val="100000"/>
              </a:lnSpc>
            </a:pPr>
            <a:r>
              <a:rPr sz="2800" b="0">
                <a:solidFill>
                  <a:srgbClr val="9FE0C9"/>
                </a:solidFill>
                <a:latin typeface="Courier New"/>
              </a:rPr>
              <a:t>    </a:t>
            </a:r>
            <a:r>
              <a:rPr sz="2800" b="0" strike="sngStrike">
                <a:solidFill>
                  <a:srgbClr val="FFB4A8"/>
                </a:solidFill>
                <a:latin typeface="Courier New"/>
              </a:rPr>
              <a:t>'Foundation Trilogy'</a:t>
            </a:r>
            <a:r>
              <a:rPr sz="2800" b="0">
                <a:solidFill>
                  <a:srgbClr val="9FE0C9"/>
                </a:solidFill>
                <a:latin typeface="Courier New"/>
              </a:rPr>
              <a:t>, </a:t>
            </a:r>
            <a:r>
              <a:rPr sz="2800" b="0" strike="sngStrike">
                <a:solidFill>
                  <a:srgbClr val="FFB4A8"/>
                </a:solidFill>
                <a:latin typeface="Courier New"/>
              </a:rPr>
              <a:t>"Ender's Game"</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{"$unset" : {"favorite book" : 1}})</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1, modifiedCount: 1,</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db.books.findOne({},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title: 'MongoDB-2019',</a:t>
            </a:r>
          </a:p>
          <a:p>
            <a:pPr algn="l">
              <a:lnSpc>
                <a:spcPct val="100000"/>
              </a:lnSpc>
            </a:pPr>
            <a:r>
              <a:rPr sz="2800" b="0">
                <a:solidFill>
                  <a:srgbClr val="9FE0C9"/>
                </a:solidFill>
                <a:latin typeface="Courier New"/>
              </a:rPr>
              <a:t>  author: {</a:t>
            </a:r>
          </a:p>
          <a:p>
            <a:pPr algn="l">
              <a:lnSpc>
                <a:spcPct val="100000"/>
              </a:lnSpc>
            </a:pPr>
            <a:r>
              <a:rPr sz="2800" b="0">
                <a:solidFill>
                  <a:srgbClr val="9FE0C9"/>
                </a:solidFill>
                <a:latin typeface="Courier New"/>
              </a:rPr>
              <a:t>    </a:t>
            </a:r>
            <a:r>
              <a:rPr sz="2800" b="0" strike="sngStrike">
                <a:solidFill>
                  <a:srgbClr val="FFB4A8"/>
                </a:solidFill>
                <a:latin typeface="Courier New"/>
              </a:rPr>
              <a:t>name: 'Nicole'</a:t>
            </a:r>
            <a:r>
              <a:rPr sz="2800" b="0">
                <a:solidFill>
                  <a:srgbClr val="9FE0C9"/>
                </a:solidFill>
                <a:latin typeface="Courier New"/>
              </a:rPr>
              <a:t>,</a:t>
            </a:r>
          </a:p>
          <a:p>
            <a:pPr algn="l">
              <a:lnSpc>
                <a:spcPct val="100000"/>
              </a:lnSpc>
            </a:pPr>
            <a:r>
              <a:rPr sz="2800" b="0">
                <a:solidFill>
                  <a:srgbClr val="9FE0C9"/>
                </a:solidFill>
                <a:latin typeface="Courier New"/>
              </a:rPr>
              <a:t>    email: 'Nic@example.com'</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20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db.books.updateOne({"author.name" : "Nicole"},</a:t>
            </a:r>
          </a:p>
          <a:p>
            <a:pPr algn="l">
              <a:lnSpc>
                <a:spcPct val="100000"/>
              </a:lnSpc>
            </a:pPr>
            <a:r>
              <a:rPr sz="2800" b="0">
                <a:solidFill>
                  <a:srgbClr val="E6ECF2"/>
                </a:solidFill>
                <a:latin typeface="Courier New"/>
              </a:rPr>
              <a:t>  {"$set" : {"author.name" : "Nicole Tagayon"}})</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1, modifiedCount: 1,</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db.books.findOne({},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title: 'MongoDB-2019',</a:t>
            </a:r>
          </a:p>
          <a:p>
            <a:pPr algn="l">
              <a:lnSpc>
                <a:spcPct val="100000"/>
              </a:lnSpc>
            </a:pPr>
            <a:r>
              <a:rPr sz="2800" b="0">
                <a:solidFill>
                  <a:srgbClr val="9FE0C9"/>
                </a:solidFill>
                <a:latin typeface="Courier New"/>
              </a:rPr>
              <a:t>  author: {</a:t>
            </a:r>
          </a:p>
          <a:p>
            <a:pPr algn="l">
              <a:lnSpc>
                <a:spcPct val="100000"/>
              </a:lnSpc>
            </a:pPr>
            <a:r>
              <a:rPr sz="2800" b="0">
                <a:solidFill>
                  <a:srgbClr val="9FE0C9"/>
                </a:solidFill>
                <a:latin typeface="Courier New"/>
              </a:rPr>
              <a:t>    </a:t>
            </a:r>
            <a:r>
              <a:rPr sz="2800" b="1" u="sng">
                <a:solidFill>
                  <a:srgbClr val="FFD27F"/>
                </a:solidFill>
                <a:latin typeface="Courier New"/>
              </a:rPr>
              <a:t>name: 'Nicole Tagayon'</a:t>
            </a:r>
            <a:r>
              <a:rPr sz="2800" b="0">
                <a:solidFill>
                  <a:srgbClr val="9FE0C9"/>
                </a:solidFill>
                <a:latin typeface="Courier New"/>
              </a:rPr>
              <a:t>,</a:t>
            </a:r>
          </a:p>
          <a:p>
            <a:pPr algn="l">
              <a:lnSpc>
                <a:spcPct val="100000"/>
              </a:lnSpc>
            </a:pPr>
            <a:r>
              <a:rPr sz="2800" b="0">
                <a:solidFill>
                  <a:srgbClr val="9FE0C9"/>
                </a:solidFill>
                <a:latin typeface="Courier New"/>
              </a:rPr>
              <a:t>    email: 'Nic@example.com'</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db.users.find({"birthday" : "10/13/1978"})</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birthday: '10/13/1978' },</a:t>
            </a:r>
          </a:p>
          <a:p>
            <a:pPr algn="l">
              <a:lnSpc>
                <a:spcPct val="100000"/>
              </a:lnSpc>
            </a:pPr>
            <a:r>
              <a:rPr sz="2800" b="0">
                <a:solidFill>
                  <a:srgbClr val="9FE0C9"/>
                </a:solidFill>
                <a:latin typeface="Courier New"/>
              </a:rPr>
              <a:t>  { _id: 2, birthday: '10/13/1978' },</a:t>
            </a:r>
          </a:p>
          <a:p>
            <a:pPr algn="l">
              <a:lnSpc>
                <a:spcPct val="100000"/>
              </a:lnSpc>
            </a:pPr>
            <a:r>
              <a:rPr sz="2800" b="0">
                <a:solidFill>
                  <a:srgbClr val="9FE0C9"/>
                </a:solidFill>
                <a:latin typeface="Courier New"/>
              </a:rPr>
              <a:t>  { _id: 3, birthday: '10/13/1978' }</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20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db.users.updateMany({"birthday" : "10/13/1978"},</a:t>
            </a:r>
          </a:p>
          <a:p>
            <a:pPr algn="l">
              <a:lnSpc>
                <a:spcPct val="100000"/>
              </a:lnSpc>
            </a:pPr>
            <a:r>
              <a:rPr sz="2800" b="0">
                <a:solidFill>
                  <a:srgbClr val="E6ECF2"/>
                </a:solidFill>
                <a:latin typeface="Courier New"/>
              </a:rPr>
              <a:t>  {"$set" : {"gift" : "Happy Birthday!"}})</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3, modifiedCount: 3,</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19 of 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db.users.find({"birthday" : "10/13/1978"})</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birthday: '10/13/1978',</a:t>
            </a:r>
          </a:p>
          <a:p>
            <a:pPr algn="l">
              <a:lnSpc>
                <a:spcPct val="1000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ct val="100000"/>
              </a:lnSpc>
            </a:pPr>
            <a:r>
              <a:rPr sz="2800" b="0">
                <a:solidFill>
                  <a:srgbClr val="9FE0C9"/>
                </a:solidFill>
                <a:latin typeface="Courier New"/>
              </a:rPr>
              <a:t>  { _id: 2, birthday: '10/13/1978',</a:t>
            </a:r>
          </a:p>
          <a:p>
            <a:pPr algn="l">
              <a:lnSpc>
                <a:spcPct val="1000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ct val="100000"/>
              </a:lnSpc>
            </a:pPr>
            <a:r>
              <a:rPr sz="2800" b="0">
                <a:solidFill>
                  <a:srgbClr val="9FE0C9"/>
                </a:solidFill>
                <a:latin typeface="Courier New"/>
              </a:rPr>
              <a:t>  { _id: 3, birthday: '10/13/1978',</a:t>
            </a:r>
          </a:p>
          <a:p>
            <a:pPr algn="l">
              <a:lnSpc>
                <a:spcPct val="1000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20 of 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3</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38 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3566160"/>
        </p:xfrm>
        <a:graphic>
          <a:graphicData uri="http://schemas.openxmlformats.org/drawingml/2006/table">
            <a:tbl>
              <a:tblPr firstRow="1" bandRow="1">
                <a:tableStyleId>{5C22544A-7EE6-4342-B048-85BDC9FD1C3A}</a:tableStyleId>
              </a:tblPr>
              <a:tblGrid>
                <a:gridCol w="2743200"/>
                <a:gridCol w="5882335"/>
                <a:gridCol w="2743200"/>
              </a:tblGrid>
              <a:tr h="713232">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less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FFFFFF"/>
                    </a:solidFill>
                  </a:tcPr>
                </a:tc>
              </a:tr>
              <a:tr h="713232">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less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EEF1F4"/>
                    </a:solidFill>
                  </a:tcPr>
                </a:tc>
              </a:tr>
              <a:tr h="713232">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greater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FFFFFF"/>
                    </a:solidFill>
                  </a:tcPr>
                </a:tc>
              </a:tr>
              <a:tr h="713232">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greater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EEF1F4"/>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name: 'Ana', age: 17 },</a:t>
            </a:r>
          </a:p>
          <a:p>
            <a:pPr algn="l">
              <a:lnSpc>
                <a:spcPct val="100000"/>
              </a:lnSpc>
            </a:pPr>
            <a:r>
              <a:rPr sz="2800" b="0">
                <a:solidFill>
                  <a:srgbClr val="9FE0C9"/>
                </a:solidFill>
                <a:latin typeface="Courier New"/>
              </a:rPr>
              <a:t>  { _id: 2, name: 'Ben', age: 18 },</a:t>
            </a:r>
          </a:p>
          <a:p>
            <a:pPr algn="l">
              <a:lnSpc>
                <a:spcPct val="100000"/>
              </a:lnSpc>
            </a:pPr>
            <a:r>
              <a:rPr sz="2800" b="0">
                <a:solidFill>
                  <a:srgbClr val="9FE0C9"/>
                </a:solidFill>
                <a:latin typeface="Courier New"/>
              </a:rPr>
              <a:t>  { _id: 3, name: 'Cara', age: 24 },</a:t>
            </a:r>
          </a:p>
          <a:p>
            <a:pPr algn="l">
              <a:lnSpc>
                <a:spcPct val="100000"/>
              </a:lnSpc>
            </a:pPr>
            <a:r>
              <a:rPr sz="2800" b="0">
                <a:solidFill>
                  <a:srgbClr val="9FE0C9"/>
                </a:solidFill>
                <a:latin typeface="Courier New"/>
              </a:rPr>
              <a:t>  { _id: 4, name: 'Dan', age: 30 },</a:t>
            </a:r>
          </a:p>
          <a:p>
            <a:pPr algn="l">
              <a:lnSpc>
                <a:spcPct val="100000"/>
              </a:lnSpc>
            </a:pPr>
            <a:r>
              <a:rPr sz="2800" b="0">
                <a:solidFill>
                  <a:srgbClr val="9FE0C9"/>
                </a:solidFill>
                <a:latin typeface="Courier New"/>
              </a:rPr>
              <a:t>  { _id: 5, name: 'Eli', age: 31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db.users.find({"age" : {"$lt" : 18}})</a:t>
            </a:r>
          </a:p>
          <a:p>
            <a:pPr algn="l">
              <a:lnSpc>
                <a:spcPct val="100000"/>
              </a:lnSpc>
            </a:pPr>
            <a:r>
              <a:rPr sz="2800" b="0">
                <a:solidFill>
                  <a:srgbClr val="9FE0C9"/>
                </a:solidFill>
                <a:latin typeface="Courier New"/>
              </a:rPr>
              <a:t>[ { _id: 1, name: 'Ana', age: 17 } ]</a:t>
            </a:r>
          </a:p>
        </p:txBody>
      </p:sp>
      <p:sp>
        <p:nvSpPr>
          <p:cNvPr id="6" name="Rectangle 5"/>
          <p:cNvSpPr/>
          <p:nvPr/>
        </p:nvSpPr>
        <p:spPr>
          <a:xfrm>
            <a:off x="411480" y="2624328"/>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15768"/>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db.users.find({"age" : {"$lte" : 18}})</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name: 'Ana', age: 17 },</a:t>
            </a:r>
          </a:p>
          <a:p>
            <a:pPr algn="l">
              <a:lnSpc>
                <a:spcPct val="100000"/>
              </a:lnSpc>
            </a:pPr>
            <a:r>
              <a:rPr sz="2800" b="0">
                <a:solidFill>
                  <a:srgbClr val="9FE0C9"/>
                </a:solidFill>
                <a:latin typeface="Courier New"/>
              </a:rPr>
              <a:t>  { _id: 2, name: 'Ben', age: 18 }</a:t>
            </a:r>
          </a:p>
          <a:p>
            <a:pPr algn="l">
              <a:lnSpc>
                <a:spcPct val="1000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db.users.find({"age" : {"$gt" : 30}})</a:t>
            </a:r>
          </a:p>
          <a:p>
            <a:pPr algn="l">
              <a:lnSpc>
                <a:spcPct val="100000"/>
              </a:lnSpc>
            </a:pPr>
            <a:r>
              <a:rPr sz="2800" b="0">
                <a:solidFill>
                  <a:srgbClr val="9FE0C9"/>
                </a:solidFill>
                <a:latin typeface="Courier New"/>
              </a:rPr>
              <a:t>[ { _id: 5, name: 'Eli', age: 31 } ]</a:t>
            </a:r>
          </a:p>
        </p:txBody>
      </p:sp>
      <p:sp>
        <p:nvSpPr>
          <p:cNvPr id="6" name="Rectangle 5"/>
          <p:cNvSpPr/>
          <p:nvPr/>
        </p:nvSpPr>
        <p:spPr>
          <a:xfrm>
            <a:off x="411480" y="2624328"/>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15768"/>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db.users.find({"age" : {"$gte" : 30}})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4, name: 'Dan', age: 30 },</a:t>
            </a:r>
          </a:p>
          <a:p>
            <a:pPr algn="l">
              <a:lnSpc>
                <a:spcPct val="100000"/>
              </a:lnSpc>
            </a:pPr>
            <a:r>
              <a:rPr sz="2800" b="0">
                <a:solidFill>
                  <a:srgbClr val="9FE0C9"/>
                </a:solidFill>
                <a:latin typeface="Courier New"/>
              </a:rPr>
              <a:t>  { _id: 5, name: 'Eli', age: 31 }</a:t>
            </a:r>
          </a:p>
          <a:p>
            <a:pPr algn="l">
              <a:lnSpc>
                <a:spcPct val="1000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db.users.find({"age" : {"$gte" : 18, "$lte" : 30}})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2, name: 'Ben', age: 18 },</a:t>
            </a:r>
          </a:p>
          <a:p>
            <a:pPr algn="l">
              <a:lnSpc>
                <a:spcPct val="100000"/>
              </a:lnSpc>
            </a:pPr>
            <a:r>
              <a:rPr sz="2800" b="0">
                <a:solidFill>
                  <a:srgbClr val="9FE0C9"/>
                </a:solidFill>
                <a:latin typeface="Courier New"/>
              </a:rPr>
              <a:t>  { _id: 3, name: 'Cara', age: 24 },</a:t>
            </a:r>
          </a:p>
          <a:p>
            <a:pPr algn="l">
              <a:lnSpc>
                <a:spcPct val="100000"/>
              </a:lnSpc>
            </a:pPr>
            <a:r>
              <a:rPr sz="2800" b="0">
                <a:solidFill>
                  <a:srgbClr val="9FE0C9"/>
                </a:solidFill>
                <a:latin typeface="Courier New"/>
              </a:rPr>
              <a:t>  { _id: 4, name: 'Dan', age: 30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4</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field, many values. Many fields, any match.”</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22 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db.raffle.find()</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ticket_no: 725, winner: false },</a:t>
            </a:r>
          </a:p>
          <a:p>
            <a:pPr algn="l">
              <a:lnSpc>
                <a:spcPct val="100000"/>
              </a:lnSpc>
            </a:pPr>
            <a:r>
              <a:rPr sz="2800" b="0">
                <a:solidFill>
                  <a:srgbClr val="9FE0C9"/>
                </a:solidFill>
                <a:latin typeface="Courier New"/>
              </a:rPr>
              <a:t>  { _id: 2, ticket_no: 542, winner: false },</a:t>
            </a:r>
          </a:p>
          <a:p>
            <a:pPr algn="l">
              <a:lnSpc>
                <a:spcPct val="100000"/>
              </a:lnSpc>
            </a:pPr>
            <a:r>
              <a:rPr sz="2800" b="0">
                <a:solidFill>
                  <a:srgbClr val="9FE0C9"/>
                </a:solidFill>
                <a:latin typeface="Courier New"/>
              </a:rPr>
              <a:t>  { _id: 3, ticket_no: 390, winner: false },</a:t>
            </a:r>
          </a:p>
          <a:p>
            <a:pPr algn="l">
              <a:lnSpc>
                <a:spcPct val="100000"/>
              </a:lnSpc>
            </a:pPr>
            <a:r>
              <a:rPr sz="2800" b="0">
                <a:solidFill>
                  <a:srgbClr val="9FE0C9"/>
                </a:solidFill>
                <a:latin typeface="Courier New"/>
              </a:rPr>
              <a:t>  { _id: 4, ticket_no: 111, winner: true },</a:t>
            </a:r>
          </a:p>
          <a:p>
            <a:pPr algn="l">
              <a:lnSpc>
                <a:spcPct val="100000"/>
              </a:lnSpc>
            </a:pPr>
            <a:r>
              <a:rPr sz="2800" b="0">
                <a:solidFill>
                  <a:srgbClr val="9FE0C9"/>
                </a:solidFill>
                <a:latin typeface="Courier New"/>
              </a:rPr>
              <a:t>  { _id: 5, ticket_no: 222, winner: false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db.raffle.find({"ticket_no" :</a:t>
            </a:r>
          </a:p>
          <a:p>
            <a:pPr algn="l">
              <a:lnSpc>
                <a:spcPct val="100000"/>
              </a:lnSpc>
            </a:pPr>
            <a:r>
              <a:rPr sz="2800" b="0">
                <a:solidFill>
                  <a:srgbClr val="E6ECF2"/>
                </a:solidFill>
                <a:latin typeface="Courier New"/>
              </a:rPr>
              <a:t>  {"$in" : [725, 542, 390]}})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ticket_no: 725, winner: false },</a:t>
            </a:r>
          </a:p>
          <a:p>
            <a:pPr algn="l">
              <a:lnSpc>
                <a:spcPct val="100000"/>
              </a:lnSpc>
            </a:pPr>
            <a:r>
              <a:rPr sz="2800" b="0">
                <a:solidFill>
                  <a:srgbClr val="9FE0C9"/>
                </a:solidFill>
                <a:latin typeface="Courier New"/>
              </a:rPr>
              <a:t>  { _id: 2, ticket_no: 542, winner: false },</a:t>
            </a:r>
          </a:p>
          <a:p>
            <a:pPr algn="l">
              <a:lnSpc>
                <a:spcPct val="100000"/>
              </a:lnSpc>
            </a:pPr>
            <a:r>
              <a:rPr sz="2800" b="0">
                <a:solidFill>
                  <a:srgbClr val="9FE0C9"/>
                </a:solidFill>
                <a:latin typeface="Courier New"/>
              </a:rPr>
              <a:t>  { _id: 3, ticket_no: 390, winner: false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field.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db.raffle.find({"$or" : [{"ticket_no" : 725},</a:t>
            </a:r>
          </a:p>
          <a:p>
            <a:pPr algn="l">
              <a:lnSpc>
                <a:spcPct val="100000"/>
              </a:lnSpc>
            </a:pPr>
            <a:r>
              <a:rPr sz="2800" b="0">
                <a:solidFill>
                  <a:srgbClr val="E6ECF2"/>
                </a:solidFill>
                <a:latin typeface="Courier New"/>
              </a:rPr>
              <a:t>  {"winner" : true}]})</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ticket_no: 725, winner: false },</a:t>
            </a:r>
          </a:p>
          <a:p>
            <a:pPr algn="l">
              <a:lnSpc>
                <a:spcPct val="100000"/>
              </a:lnSpc>
            </a:pPr>
            <a:r>
              <a:rPr sz="2800" b="0">
                <a:solidFill>
                  <a:srgbClr val="9FE0C9"/>
                </a:solidFill>
                <a:latin typeface="Courier New"/>
              </a:rPr>
              <a:t>  { _id: 4, ticket_no: 111, winner: true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name: 'Rhea', salary: 8000 },</a:t>
            </a:r>
          </a:p>
          <a:p>
            <a:pPr algn="l">
              <a:lnSpc>
                <a:spcPct val="100000"/>
              </a:lnSpc>
            </a:pPr>
            <a:r>
              <a:rPr sz="2800" b="0">
                <a:solidFill>
                  <a:srgbClr val="9FE0C9"/>
                </a:solidFill>
                <a:latin typeface="Courier New"/>
              </a:rPr>
              <a:t>  { _id: 2, name: 'Mark', salary: 10000 },</a:t>
            </a:r>
          </a:p>
          <a:p>
            <a:pPr algn="l">
              <a:lnSpc>
                <a:spcPct val="100000"/>
              </a:lnSpc>
            </a:pPr>
            <a:r>
              <a:rPr sz="2800" b="0">
                <a:solidFill>
                  <a:srgbClr val="9FE0C9"/>
                </a:solidFill>
                <a:latin typeface="Courier New"/>
              </a:rPr>
              <a:t>  { _id: 3, name: 'Liza', salary: 15000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db.users.find({salary:</a:t>
            </a:r>
          </a:p>
          <a:p>
            <a:pPr algn="l">
              <a:lnSpc>
                <a:spcPct val="100000"/>
              </a:lnSpc>
            </a:pPr>
            <a:r>
              <a:rPr sz="2800" b="0">
                <a:solidFill>
                  <a:srgbClr val="E6ECF2"/>
                </a:solidFill>
                <a:latin typeface="Courier New"/>
              </a:rPr>
              <a:t>  {$not: {$gt: 10000}}}).pretty()</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name: 'Rhea', salary: 8000 },</a:t>
            </a:r>
          </a:p>
          <a:p>
            <a:pPr algn="l">
              <a:lnSpc>
                <a:spcPct val="100000"/>
              </a:lnSpc>
            </a:pPr>
            <a:r>
              <a:rPr sz="2800" b="0">
                <a:solidFill>
                  <a:srgbClr val="9FE0C9"/>
                </a:solidFill>
                <a:latin typeface="Courier New"/>
              </a:rPr>
              <a:t>  { _id: 2, name: 'Mark', salary: 10000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5</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arrays · $all · key.index · $size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26 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db.food.find()</a:t>
            </a:r>
          </a:p>
          <a:p>
            <a:pPr algn="l">
              <a:lnSpc>
                <a:spcPct val="100000"/>
              </a:lnSpc>
            </a:pPr>
            <a:r>
              <a:rPr sz="2800" b="0">
                <a:solidFill>
                  <a:srgbClr val="8FA3B8"/>
                </a:solidFill>
                <a:latin typeface="Courier New"/>
              </a:rPr>
              <a:t>// no output: the collection is empty</a:t>
            </a:r>
          </a:p>
        </p:txBody>
      </p:sp>
      <p:sp>
        <p:nvSpPr>
          <p:cNvPr id="6" name="Rectangle 5"/>
          <p:cNvSpPr/>
          <p:nvPr/>
        </p:nvSpPr>
        <p:spPr>
          <a:xfrm>
            <a:off x="411480" y="2212848"/>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304288"/>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db.food.insertOne({"_id" : 1,</a:t>
            </a:r>
          </a:p>
          <a:p>
            <a:pPr algn="l">
              <a:lnSpc>
                <a:spcPct val="100000"/>
              </a:lnSpc>
            </a:pPr>
            <a:r>
              <a:rPr sz="2800" b="0">
                <a:solidFill>
                  <a:srgbClr val="E6ECF2"/>
                </a:solidFill>
                <a:latin typeface="Courier New"/>
              </a:rPr>
              <a:t>  "fruit" : ["apple", "banana", "peach"]})</a:t>
            </a:r>
          </a:p>
          <a:p>
            <a:pPr algn="l">
              <a:lnSpc>
                <a:spcPct val="100000"/>
              </a:lnSpc>
            </a:pPr>
            <a:r>
              <a:rPr sz="2800" b="0">
                <a:solidFill>
                  <a:srgbClr val="E6ECF2"/>
                </a:solidFill>
                <a:latin typeface="Courier New"/>
              </a:rPr>
              <a:t>db.food.insertOne({"_id" : 2,</a:t>
            </a:r>
          </a:p>
          <a:p>
            <a:pPr algn="l">
              <a:lnSpc>
                <a:spcPct val="100000"/>
              </a:lnSpc>
            </a:pPr>
            <a:r>
              <a:rPr sz="2800" b="0">
                <a:solidFill>
                  <a:srgbClr val="E6ECF2"/>
                </a:solidFill>
                <a:latin typeface="Courier New"/>
              </a:rPr>
              <a:t>  "fruit" : ["apple", "kumquat", "orange"]})</a:t>
            </a:r>
          </a:p>
          <a:p>
            <a:pPr algn="l">
              <a:lnSpc>
                <a:spcPct val="100000"/>
              </a:lnSpc>
            </a:pPr>
            <a:r>
              <a:rPr sz="2800" b="0">
                <a:solidFill>
                  <a:srgbClr val="E6ECF2"/>
                </a:solidFill>
                <a:latin typeface="Courier New"/>
              </a:rPr>
              <a:t>db.food.insertOne({"_id" : 3,</a:t>
            </a:r>
          </a:p>
          <a:p>
            <a:pPr algn="l">
              <a:lnSpc>
                <a:spcPct val="100000"/>
              </a:lnSpc>
            </a:pPr>
            <a:r>
              <a:rPr sz="2800" b="0">
                <a:solidFill>
                  <a:srgbClr val="E6ECF2"/>
                </a:solidFill>
                <a:latin typeface="Courier New"/>
              </a:rPr>
              <a:t>  "fruit" : ["cherry", "banana", "apple"]})</a:t>
            </a:r>
          </a:p>
          <a:p>
            <a:pPr algn="l">
              <a:lnSpc>
                <a:spcPct val="100000"/>
              </a:lnSpc>
            </a:pPr>
            <a:r>
              <a:rPr sz="2800" b="0">
                <a:solidFill>
                  <a:srgbClr val="8FA3B8"/>
                </a:solidFill>
                <a:latin typeface="Courier New"/>
              </a:rPr>
              <a:t>// the shell prints the reply of the last command</a:t>
            </a:r>
          </a:p>
          <a:p>
            <a:pPr algn="l">
              <a:lnSpc>
                <a:spcPct val="100000"/>
              </a:lnSpc>
            </a:pPr>
            <a:r>
              <a:rPr sz="2800" b="0">
                <a:solidFill>
                  <a:srgbClr val="9FE0C9"/>
                </a:solidFill>
                <a:latin typeface="Courier New"/>
              </a:rPr>
              <a:t>{ acknowledged: true, insertedId: 3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db.food.find()</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a:t>
            </a:r>
            <a:r>
              <a:rPr sz="2800" b="1" u="sng">
                <a:solidFill>
                  <a:srgbClr val="FFD27F"/>
                </a:solidFill>
                <a:latin typeface="Courier New"/>
              </a:rPr>
              <a:t>fruit: [ 'apple', 'banana', 'peach' ]</a:t>
            </a:r>
            <a:r>
              <a:rPr sz="2800" b="0">
                <a:solidFill>
                  <a:srgbClr val="9FE0C9"/>
                </a:solidFill>
                <a:latin typeface="Courier New"/>
              </a:rPr>
              <a:t> },</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    _id: 2,</a:t>
            </a:r>
          </a:p>
          <a:p>
            <a:pPr algn="l">
              <a:lnSpc>
                <a:spcPct val="100000"/>
              </a:lnSpc>
            </a:pPr>
            <a:r>
              <a:rPr sz="2800" b="0">
                <a:solidFill>
                  <a:srgbClr val="9FE0C9"/>
                </a:solidFill>
                <a:latin typeface="Courier New"/>
              </a:rPr>
              <a:t>    </a:t>
            </a:r>
            <a:r>
              <a:rPr sz="2800" b="1" u="sng">
                <a:solidFill>
                  <a:srgbClr val="FFD27F"/>
                </a:solidFill>
                <a:latin typeface="Courier New"/>
              </a:rPr>
              <a:t>fruit: [ 'apple', 'kumquat', 'orange' ]</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  { _id: 3, </a:t>
            </a:r>
            <a:r>
              <a:rPr sz="2800" b="1" u="sng">
                <a:solidFill>
                  <a:srgbClr val="FFD27F"/>
                </a:solidFill>
                <a:latin typeface="Courier New"/>
              </a:rPr>
              <a:t>fruit: [ 'cherry', 'banana', 'apple' ]</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db.food.find({"fruit" : "banana"})</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fruit: [ 'apple', 'banana', 'peach' ] },</a:t>
            </a:r>
          </a:p>
          <a:p>
            <a:pPr algn="l">
              <a:lnSpc>
                <a:spcPct val="100000"/>
              </a:lnSpc>
            </a:pPr>
            <a:r>
              <a:rPr sz="2800" b="0">
                <a:solidFill>
                  <a:srgbClr val="9FE0C9"/>
                </a:solidFill>
                <a:latin typeface="Courier New"/>
              </a:rPr>
              <a:t>  { _id: 3, fruit: [ 'cherry', 'banana', 'apple' ]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db.food.find({fruit : {$all : ["apple", "banana"]}})</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fruit: [ 'apple', 'banana', 'peach' ] },</a:t>
            </a:r>
          </a:p>
          <a:p>
            <a:pPr algn="l">
              <a:lnSpc>
                <a:spcPct val="100000"/>
              </a:lnSpc>
            </a:pPr>
            <a:r>
              <a:rPr sz="2800" b="0">
                <a:solidFill>
                  <a:srgbClr val="9FE0C9"/>
                </a:solidFill>
                <a:latin typeface="Courier New"/>
              </a:rPr>
              <a:t>  { _id: 3, fruit: [ 'cherry', 'banana', 'apple' ]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One position: key.index</a:t>
            </a:r>
          </a:p>
        </p:txBody>
      </p:sp>
      <p:sp>
        <p:nvSpPr>
          <p:cNvPr id="4" name="Rectangle 3"/>
          <p:cNvSpPr/>
          <p:nvPr/>
        </p:nvSpPr>
        <p:spPr>
          <a:xfrm>
            <a:off x="411480" y="1097280"/>
            <a:ext cx="11368735" cy="2240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305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db.food.find({"fruit.2" : "peach"})</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fruit: [ 'apple', 'banana', 'peach' ]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Count from zero.</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db.food.find({"fruit" : {"$size" : 3}})</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fruit: [ 'apple', 'banana', 'peach' ] },</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    _id: 2,</a:t>
            </a:r>
          </a:p>
          <a:p>
            <a:pPr algn="l">
              <a:lnSpc>
                <a:spcPct val="100000"/>
              </a:lnSpc>
            </a:pPr>
            <a:r>
              <a:rPr sz="2800" b="0">
                <a:solidFill>
                  <a:srgbClr val="9FE0C9"/>
                </a:solidFill>
                <a:latin typeface="Courier New"/>
              </a:rPr>
              <a:t>    fruit: [ 'apple', 'kumquat', 'orange' ]</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  { _id: 3, fruit: [ 'cherry', 'banana', 'apple' ]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6</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dot notation</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5 slides · about 1 min 10 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8FA3B8"/>
                </a:solidFill>
                <a:latin typeface="Courier New"/>
              </a:rPr>
              <a:t>// practice post: 40 comments, c1 to c40</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10}})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1,</a:t>
            </a:r>
          </a:p>
          <a:p>
            <a:pPr algn="l">
              <a:lnSpc>
                <a:spcPct val="100000"/>
              </a:lnSpc>
            </a:pPr>
            <a:r>
              <a:rPr sz="2800" b="0">
                <a:solidFill>
                  <a:srgbClr val="9FE0C9"/>
                </a:solidFill>
                <a:latin typeface="Courier New"/>
              </a:rPr>
              <a:t>  title: 'ADBS',</a:t>
            </a:r>
          </a:p>
          <a:p>
            <a:pPr algn="l">
              <a:lnSpc>
                <a:spcPct val="100000"/>
              </a:lnSpc>
            </a:pPr>
            <a:r>
              <a:rPr sz="2800" b="0">
                <a:solidFill>
                  <a:srgbClr val="9FE0C9"/>
                </a:solidFill>
                <a:latin typeface="Courier New"/>
              </a:rPr>
              <a:t>  comments: [ 'c1', 'c2', 'c3', 'c4', 'c5', 'c6',</a:t>
            </a:r>
          </a:p>
          <a:p>
            <a:pPr algn="l">
              <a:lnSpc>
                <a:spcPct val="100000"/>
              </a:lnSpc>
            </a:pPr>
            <a:r>
              <a:rPr sz="2800" b="0">
                <a:solidFill>
                  <a:srgbClr val="9FE0C9"/>
                </a:solidFill>
                <a:latin typeface="Courier New"/>
              </a:rPr>
              <a:t>    'c7', 'c8', 'c9', 'c10'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-10}})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1,</a:t>
            </a:r>
          </a:p>
          <a:p>
            <a:pPr algn="l">
              <a:lnSpc>
                <a:spcPct val="100000"/>
              </a:lnSpc>
            </a:pPr>
            <a:r>
              <a:rPr sz="2800" b="0">
                <a:solidFill>
                  <a:srgbClr val="9FE0C9"/>
                </a:solidFill>
                <a:latin typeface="Courier New"/>
              </a:rPr>
              <a:t>  title: 'ADBS',</a:t>
            </a:r>
          </a:p>
          <a:p>
            <a:pPr algn="l">
              <a:lnSpc>
                <a:spcPct val="100000"/>
              </a:lnSpc>
            </a:pPr>
            <a:r>
              <a:rPr sz="2800" b="0">
                <a:solidFill>
                  <a:srgbClr val="9FE0C9"/>
                </a:solidFill>
                <a:latin typeface="Courier New"/>
              </a:rPr>
              <a:t>  comments: [ 'c31', 'c32', 'c33', 'c34', 'c35',</a:t>
            </a:r>
          </a:p>
          <a:p>
            <a:pPr algn="l">
              <a:lnSpc>
                <a:spcPct val="100000"/>
              </a:lnSpc>
            </a:pPr>
            <a:r>
              <a:rPr sz="2800" b="0">
                <a:solidFill>
                  <a:srgbClr val="9FE0C9"/>
                </a:solidFill>
                <a:latin typeface="Courier New"/>
              </a:rPr>
              <a:t>    'c36', 'c37', 'c38', 'c39', 'c40'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[23, 10]}})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1,</a:t>
            </a:r>
          </a:p>
          <a:p>
            <a:pPr algn="l">
              <a:lnSpc>
                <a:spcPct val="100000"/>
              </a:lnSpc>
            </a:pPr>
            <a:r>
              <a:rPr sz="2800" b="0">
                <a:solidFill>
                  <a:srgbClr val="9FE0C9"/>
                </a:solidFill>
                <a:latin typeface="Courier New"/>
              </a:rPr>
              <a:t>  title: 'ADBS',</a:t>
            </a:r>
          </a:p>
          <a:p>
            <a:pPr algn="l">
              <a:lnSpc>
                <a:spcPct val="100000"/>
              </a:lnSpc>
            </a:pPr>
            <a:r>
              <a:rPr sz="2800" b="0">
                <a:solidFill>
                  <a:srgbClr val="9FE0C9"/>
                </a:solidFill>
                <a:latin typeface="Courier New"/>
              </a:rPr>
              <a:t>  comments: [ 'c24', 'c25', 'c26', 'c27', 'c28',</a:t>
            </a:r>
          </a:p>
          <a:p>
            <a:pPr algn="l">
              <a:lnSpc>
                <a:spcPct val="100000"/>
              </a:lnSpc>
            </a:pPr>
            <a:r>
              <a:rPr sz="2800" b="0">
                <a:solidFill>
                  <a:srgbClr val="9FE0C9"/>
                </a:solidFill>
                <a:latin typeface="Courier New"/>
              </a:rPr>
              <a:t>    'c29', 'c30', 'c31', 'c32', 'c33'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db.people.find({"name.first" : "John",</a:t>
            </a:r>
          </a:p>
          <a:p>
            <a:pPr algn="l">
              <a:lnSpc>
                <a:spcPct val="100000"/>
              </a:lnSpc>
            </a:pPr>
            <a:r>
              <a:rPr sz="2800" b="0">
                <a:solidFill>
                  <a:srgbClr val="E6ECF2"/>
                </a:solidFill>
                <a:latin typeface="Courier New"/>
              </a:rPr>
              <a:t>  "name.last" : "Escalona"})</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    _id: 1,</a:t>
            </a:r>
          </a:p>
          <a:p>
            <a:pPr algn="l">
              <a:lnSpc>
                <a:spcPct val="100000"/>
              </a:lnSpc>
            </a:pPr>
            <a:r>
              <a:rPr sz="2800" b="0">
                <a:solidFill>
                  <a:srgbClr val="9FE0C9"/>
                </a:solidFill>
                <a:latin typeface="Courier New"/>
              </a:rPr>
              <a:t>    name: { first: 'John', last: 'Escalona' },</a:t>
            </a:r>
          </a:p>
          <a:p>
            <a:pPr algn="l">
              <a:lnSpc>
                <a:spcPct val="100000"/>
              </a:lnSpc>
            </a:pPr>
            <a:r>
              <a:rPr sz="2800" b="0">
                <a:solidFill>
                  <a:srgbClr val="9FE0C9"/>
                </a:solidFill>
                <a:latin typeface="Courier New"/>
              </a:rPr>
              <a:t>    age: 45</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7</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Delivery of services through the Internet: data storage, servers, databases, networking, software.</a:t>
            </a:r>
          </a:p>
          <a:p>
            <a:pPr algn="l">
              <a:lnSpc>
                <a:spcPct val="110000"/>
              </a:lnSpc>
            </a:pPr>
            <a:r>
              <a:rPr sz="3200" b="1">
                <a:solidFill>
                  <a:srgbClr val="C2410C"/>
                </a:solidFill>
                <a:latin typeface="Arial"/>
              </a:rPr>
              <a:t>▸  </a:t>
            </a:r>
            <a:r>
              <a:rPr sz="3200" b="0">
                <a:solidFill>
                  <a:srgbClr val="14202E"/>
                </a:solidFill>
                <a:latin typeface="Arial"/>
              </a:rPr>
              <a:t>Files are saved to a remote database, not a local hard drive.</a:t>
            </a:r>
          </a:p>
          <a:p>
            <a:pPr algn="l">
              <a:lnSpc>
                <a:spcPct val="110000"/>
              </a:lnSpc>
            </a:pPr>
            <a:r>
              <a:rPr sz="3200" b="1">
                <a:solidFill>
                  <a:srgbClr val="C2410C"/>
                </a:solidFill>
                <a:latin typeface="Arial"/>
              </a:rPr>
              <a:t>▸  </a:t>
            </a:r>
            <a:r>
              <a:rPr sz="3200" b="0">
                <a:solidFill>
                  <a:srgbClr val="14202E"/>
                </a:solidFill>
                <a:latin typeface="Arial"/>
              </a:rPr>
              <a:t>Any device with web access can reach the data and the programs.</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2852928"/>
        </p:xfrm>
        <a:graphic>
          <a:graphicData uri="http://schemas.openxmlformats.org/drawingml/2006/table">
            <a:tbl>
              <a:tblPr firstRow="1" bandRow="1">
                <a:tableStyleId>{5C22544A-7EE6-4342-B048-85BDC9FD1C3A}</a:tableStyleId>
              </a:tblPr>
              <a:tblGrid>
                <a:gridCol w="3291840"/>
                <a:gridCol w="8076895"/>
              </a:tblGrid>
              <a:tr h="713232">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Built by a third party for the public</a:t>
                      </a:r>
                    </a:p>
                  </a:txBody>
                  <a:tcPr>
                    <a:solidFill>
                      <a:srgbClr val="FFFFFF"/>
                    </a:solidFill>
                  </a:tcPr>
                </a:tc>
              </a:tr>
              <a:tr h="713232">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Built by one organization for itself</a:t>
                      </a:r>
                    </a:p>
                  </a:txBody>
                  <a:tcPr>
                    <a:solidFill>
                      <a:srgbClr val="EEF1F4"/>
                    </a:solidFill>
                  </a:tcPr>
                </a:tc>
              </a:tr>
              <a:tr h="713232">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Private + public combined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third party, to sell to the general public</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Google Application Engine, Microsoft Azure</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Reliable, low cost, zero maintenance, scales on demand</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Not for sensitive data under strict security rules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An organization, only for its own needs</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Large, geographically dispersed organizations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Internal IT staff or an external third party</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private cloud and a public cloud combined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High-volume apps like emails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Sensitive assets like financials, data recovery</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Flexibility, with control over critical assets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8</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2852928"/>
        </p:xfrm>
        <a:graphic>
          <a:graphicData uri="http://schemas.openxmlformats.org/drawingml/2006/table">
            <a:tbl>
              <a:tblPr firstRow="1" bandRow="1">
                <a:tableStyleId>{5C22544A-7EE6-4342-B048-85BDC9FD1C3A}</a:tableStyleId>
              </a:tblPr>
              <a:tblGrid>
                <a:gridCol w="3291840"/>
                <a:gridCol w="8076895"/>
              </a:tblGrid>
              <a:tr h="713232">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Use ready-made applications</a:t>
                      </a:r>
                    </a:p>
                  </a:txBody>
                  <a:tcPr>
                    <a:solidFill>
                      <a:srgbClr val="FFFFFF"/>
                    </a:solidFill>
                  </a:tcPr>
                </a:tc>
              </a:tr>
              <a:tr h="713232">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Build and run your own applications</a:t>
                      </a:r>
                    </a:p>
                  </a:txBody>
                  <a:tcPr>
                    <a:solidFill>
                      <a:srgbClr val="EEF1F4"/>
                    </a:solidFill>
                  </a:tcPr>
                </a:tc>
              </a:tr>
              <a:tr h="713232">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Rent storage, servers and more on demand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Turnkey applications that run in the cloud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Customize some aspects, not the app itself</a:t>
            </a:r>
          </a:p>
        </p:txBody>
      </p:sp>
      <p:sp>
        <p:nvSpPr>
          <p:cNvPr id="10" name="Rectangle 9"/>
          <p:cNvSpPr/>
          <p:nvPr/>
        </p:nvSpPr>
        <p:spPr>
          <a:xfrm>
            <a:off x="411480" y="2633472"/>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MS Office 365, Google Docs, TurboTax Online, SCALA digital signage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Tools, languages and interfaces to build and deploy your apps</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Manage the underlying infrastructure</a:t>
            </a:r>
          </a:p>
        </p:txBody>
      </p:sp>
      <p:sp>
        <p:nvSpPr>
          <p:cNvPr id="10" name="Rectangle 9"/>
          <p:cNvSpPr/>
          <p:nvPr/>
        </p:nvSpPr>
        <p:spPr>
          <a:xfrm>
            <a:off x="411480" y="306324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Microsoft Azure platform with .NET and Java</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Storage, servers, databases, processing, virtual desktops on demand</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Add or remove resources as needed</a:t>
            </a:r>
          </a:p>
        </p:txBody>
      </p:sp>
      <p:sp>
        <p:nvSpPr>
          <p:cNvPr id="10" name="Rectangle 9"/>
          <p:cNvSpPr/>
          <p:nvPr/>
        </p:nvSpPr>
        <p:spPr>
          <a:xfrm>
            <a:off x="411480" y="306324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server: Linux + Apache, 16 GB RAM, 160 GB storage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Instant scalability</a:t>
            </a:r>
          </a:p>
          <a:p>
            <a:pPr algn="l">
              <a:lnSpc>
                <a:spcPct val="100000"/>
              </a:lnSpc>
            </a:pPr>
            <a:r>
              <a:rPr sz="2800" b="0">
                <a:solidFill>
                  <a:srgbClr val="4A5868"/>
                </a:solidFill>
                <a:latin typeface="Arial"/>
              </a:rPr>
              <a:t>scale up or down to meet demand</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Anywhere accessibility</a:t>
            </a:r>
          </a:p>
          <a:p>
            <a:pPr algn="l">
              <a:lnSpc>
                <a:spcPct val="100000"/>
              </a:lnSpc>
            </a:pPr>
            <a:r>
              <a:rPr sz="2800" b="0">
                <a:solidFill>
                  <a:srgbClr val="4A5868"/>
                </a:solidFill>
                <a:latin typeface="Arial"/>
              </a:rPr>
              <a:t>serve customers across the globe</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Speed and operational agility</a:t>
            </a:r>
          </a:p>
          <a:p>
            <a:pPr algn="l">
              <a:lnSpc>
                <a:spcPct val="100000"/>
              </a:lnSpc>
            </a:pPr>
            <a:r>
              <a:rPr sz="2800" b="0">
                <a:solidFill>
                  <a:srgbClr val="4A5868"/>
                </a:solidFill>
                <a:latin typeface="Arial"/>
              </a:rPr>
              <a:t>add capacity with a click</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expenditure</a:t>
            </a:r>
          </a:p>
          <a:p>
            <a:pPr algn="l">
              <a:lnSpc>
                <a:spcPct val="100000"/>
              </a:lnSpc>
            </a:pPr>
            <a:r>
              <a:rPr sz="2800" b="0">
                <a:solidFill>
                  <a:srgbClr val="4A5868"/>
                </a:solidFill>
                <a:latin typeface="Arial"/>
              </a:rPr>
              <a:t>cost depends on use</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Automatic updates/patches</a:t>
            </a:r>
          </a:p>
          <a:p>
            <a:pPr algn="l">
              <a:lnSpc>
                <a:spcPct val="100000"/>
              </a:lnSpc>
            </a:pPr>
            <a:r>
              <a:rPr sz="2800" b="0">
                <a:solidFill>
                  <a:srgbClr val="4A5868"/>
                </a:solidFill>
                <a:latin typeface="Arial"/>
              </a:rPr>
              <a:t>the provider handles them</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Disaster recovery</a:t>
            </a:r>
          </a:p>
          <a:p>
            <a:pPr algn="l">
              <a:lnSpc>
                <a:spcPct val="100000"/>
              </a:lnSpc>
            </a:pPr>
            <a:r>
              <a:rPr sz="2800" b="0">
                <a:solidFill>
                  <a:srgbClr val="4A5868"/>
                </a:solidFill>
                <a:latin typeface="Arial"/>
              </a:rPr>
              <a:t>no costly on-premises setup</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High security</a:t>
            </a:r>
          </a:p>
          <a:p>
            <a:pPr algn="l">
              <a:lnSpc>
                <a:spcPct val="100000"/>
              </a:lnSpc>
            </a:pPr>
            <a:r>
              <a:rPr sz="2800" b="0">
                <a:solidFill>
                  <a:srgbClr val="4A5868"/>
                </a:solidFill>
                <a:latin typeface="Arial"/>
              </a:rPr>
              <a:t>advanced features reduce risk</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carbon footprint</a:t>
            </a:r>
          </a:p>
          <a:p>
            <a:pPr algn="l">
              <a:lnSpc>
                <a:spcPct val="100000"/>
              </a:lnSpc>
            </a:pPr>
            <a:r>
              <a:rPr sz="2800" b="0">
                <a:solidFill>
                  <a:srgbClr val="4A5868"/>
                </a:solidFill>
                <a:latin typeface="Arial"/>
              </a:rPr>
              <a:t>resources as per demand</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Flexibility</a:t>
            </a:r>
          </a:p>
          <a:p>
            <a:pPr algn="l">
              <a:lnSpc>
                <a:spcPct val="100000"/>
              </a:lnSpc>
            </a:pPr>
            <a:r>
              <a:rPr sz="2800" b="0">
                <a:solidFill>
                  <a:srgbClr val="4A5868"/>
                </a:solidFill>
                <a:latin typeface="Arial"/>
              </a:rPr>
              <a:t>any device, any location</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Enterprise collaboration</a:t>
            </a:r>
          </a:p>
          <a:p>
            <a:pPr algn="l">
              <a:lnSpc>
                <a:spcPct val="100000"/>
              </a:lnSpc>
            </a:pPr>
            <a:r>
              <a:rPr sz="2800" b="0">
                <a:solidFill>
                  <a:srgbClr val="4A5868"/>
                </a:solidFill>
                <a:latin typeface="Arial"/>
              </a:rPr>
              <a:t>centralized, shared documents</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609344"/>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934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60934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121408"/>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12140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12140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633472"/>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3347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63347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145536"/>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145536"/>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145536"/>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657600"/>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5760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65760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169664"/>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16966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16966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681728"/>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68172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68172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"fruit.2"  $slice</a:t>
            </a:r>
          </a:p>
        </p:txBody>
      </p:sp>
      <p:sp>
        <p:nvSpPr>
          <p:cNvPr id="28" name="Rectangle 27"/>
          <p:cNvSpPr/>
          <p:nvPr/>
        </p:nvSpPr>
        <p:spPr>
          <a:xfrm>
            <a:off x="411480" y="5193792"/>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19379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519379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