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292 words, about 2 min 15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First, four words. In SQL we say table, row and column. In MongoDB we say collection, document and field. A collection is like a table with a flexible schema. A document is one record. Every document has a unique underscore I D.</a:t>
            </a:r>
          </a:p>
          <a:p/>
          <a:p>
            <a:r>
              <a:t>Source: 07 Handout p.2-3, Table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insertOne adds one document. Before: the movies collection is empty, so nothing prints. We insert one movie, Stand by Me. We did not give an underscore I D, so MongoDB made one for us. 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insertMany adds many documents with one command. We pass an array, in square brackets. Before: only Stand by Me.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Now an error on purpose.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We delete year 1985. Deleted count is 2. 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299 words, about 2 min 18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 of 18):</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3 of 18):</a:t>
            </a:r>
          </a:p>
          <a:p>
            <a:r>
              <a:t>replaceOne swaps the whole document for a new one. Before: Joe, as on the last slide.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4 of 18):</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5 of 18):</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6 of 18):</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7 of 18):</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8 of 18):</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9 of 18):</a:t>
            </a:r>
          </a:p>
          <a:p>
            <a:r>
              <a:t>Dollar set can even change the type of a field. Before: John, as on the last slide. 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10 of 18):</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11 of 18):</a:t>
            </a:r>
          </a:p>
          <a:p>
            <a:r>
              <a:t>Dollar unset removes a field completely. Before: John, as on the last slide.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12 of 18):</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13 of 18):</a:t>
            </a:r>
          </a:p>
          <a:p>
            <a:r>
              <a:t>Dollar set can reach inside an embedded document.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14 of 18):</a:t>
            </a:r>
          </a:p>
          <a:p>
            <a:r>
              <a:t>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15 of 18):</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16 of 18):</a:t>
            </a:r>
          </a:p>
          <a:p>
            <a:r>
              <a:t>updateMany works like updateOne and takes the same parameters.</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17 of 18):</a:t>
            </a:r>
          </a:p>
          <a:p>
            <a:r>
              <a:t>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18 of 18):</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2 of 6):</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3 of 6):</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4 of 6):</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5 of 6):</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6 of 6):</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 The handout says there are two ways to do an OR query in MongoDB. The first is dollar in. The second is dollar or. After those, dollar not.</a:t>
            </a:r>
          </a:p>
          <a:p/>
          <a:p>
            <a:r>
              <a:t>(Whole part: 308 words, about 2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2 of 6):</a:t>
            </a:r>
          </a:p>
          <a:p>
            <a:r>
              <a:t>This is the raffle. It is our practice data, built around the handout's winning tickets. There are five tickets: 725, 542, 390, 111 and 222. Ticket 111 is the only one where winner is true. Keep this list in mind for the next two slides.</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3 of 6):</a:t>
            </a:r>
          </a:p>
          <a:p>
            <a:r>
              <a:t>Dollar in checks many values for one key. The handout's winning tickets are 725, 542 and 390. Read the command as: find tickets where the ticket number is in this list. One query returns all three. Tickets 111 and 222 are not in the list, so they do not come back.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4 of 6):</a:t>
            </a:r>
          </a:p>
          <a:p>
            <a:r>
              <a:t>Dollar or is more general. The handout says it takes an array of possible criteria, and each one can use a different key. Here the array has two conditions: ticket number 725, or winner is true. A document only needs to pass one of them. Ticket 725 passes the first test. Ticket 111 passes the second. Ticket 542 passes neither, so it is out.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5 of 6):</a:t>
            </a:r>
          </a:p>
          <a:p>
            <a:r>
              <a:t>Now three users, also practice data. Rhea earns 8,000 pesos, Mark earns exactly 10,000, and Liza earns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6 of 6):</a:t>
            </a:r>
          </a:p>
          <a:p>
            <a:r>
              <a:t>Dollar not returns the documents that do not match a condition. The handout's example finds employees whose salary is not greater than 10,000 pesos. On its own, dollar g t 10,000 would match only Liza. Dollar not flips it, so we get everyone else: Rhea and Mark. Mark is exactly 10,000, which is not greater, so he is in. To sum up: one key, many values, use dollar in. Many keys, any match, use dollar or. To flip a condition, use dollar not.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 written in square brackets. We will insert arrays, then query them four ways.</a:t>
            </a:r>
          </a:p>
          <a:p/>
          <a:p>
            <a:r>
              <a:t>(Whole part: 305 words, about 2 min 21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2 of 7):</a:t>
            </a:r>
          </a:p>
          <a:p>
            <a:r>
              <a:t>We insert the handout's three fruit baskets. Each basket is a document, and its fruit field is an array of three elements. Before: the food collection is empty. We run three insertOne commands. The shell prints the reply of the last 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3 of 7):</a:t>
            </a:r>
          </a:p>
          <a:p>
            <a:r>
              <a:t>After: three baskets. Basket 1 has apple, banana, peach. Basket 2 has apple, kumquat, orange. Basket 3 has cherry, banana, apple. We use these three baskets for the rest of this part.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4 of 7):</a:t>
            </a:r>
          </a:p>
          <a:p>
            <a:r>
              <a:t>The handout says querying an array is designed to behave like querying a single value, such as a string, a number or a date. So we simply ask for banana. Any basket with banana anywhere in its list matches. Baskets 1 and 3 come back. Basket 2 has no banana.</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5 of 7):</a:t>
            </a:r>
          </a:p>
          <a:p>
            <a:r>
              <a:t>What if we need more than one element? The handout uses dollar all. It matches arrays that contain every element in the list. We ask for apple and banana. Baskets 1 and 3 have both. Basket 2 has apple but no banana, so it is out. Order does not matter: basket 3 has banana before apple, and it still matches.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6 of 7):</a:t>
            </a:r>
          </a:p>
          <a:p>
            <a:r>
              <a:t>To check one exact position, write the key, a dot, and the index number. Counting starts at zero, so fruit dot 0 is the first fruit and fruit dot 2 is the third. We ask for peach in position 2.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7 of 7):</a:t>
            </a:r>
          </a:p>
          <a:p>
            <a:r>
              <a:t>Dollar size matches arrays with exactly that many elements. Every basket has 3 fruits, so dollar size 3 returns all three. A basket with 2 or 4 fruits would not match.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 documents inside documents.</a:t>
            </a:r>
          </a:p>
          <a:p/>
          <a:p>
            <a:r>
              <a:t>(Whole part: 255 words, about 1 min 58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2 of 6):</a:t>
            </a:r>
          </a:p>
          <a:p>
            <a:r>
              <a:t>Dollar slice returns only part of an array. The handout's example is a blog post with many comments. Our practice post has 40 comments, named c1 to c40. Slice 10 returns the first 10: c1 to c10. The other 30 are still saved. We just do not show them.</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3 of 6):</a:t>
            </a:r>
          </a:p>
          <a:p>
            <a:r>
              <a:t>Slice minus 10 returns the last 10: c31 to c40. Positive numbers count from the front. Negative numbers count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4 of 6):</a:t>
            </a:r>
          </a:p>
          <a:p>
            <a:r>
              <a:t>Slice with two numbers gives a page from the middle. The first number, 23, means skip 23. The second number, 10, means take 10. So we get the 24th to the 33rd: c24 to c33. The handout adds: if there were fewer than 33 elements, it would return as many as possible.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5 of 6):</a:t>
            </a:r>
          </a:p>
          <a:p>
            <a:r>
              <a:t>An embedded document is a document inside another document. Here, John's name field holds a whole document with first and last. To query inside it, use dot notation, in quotes: name dot first, and name dot last. Both must match, and John Escalona comes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6 of 6):</a:t>
            </a:r>
          </a:p>
          <a:p>
            <a:r>
              <a:t>Why embed at all? The handout's data model section explains. Embedded documents keep related data together in one document. This is called a denormalized model. The benefit: an application can read and change related data in a single database operation. The other option is references, which link one document to another. That is a normalized model. To sum up: trim what you see with slice, and reach inside with a dot.</a:t>
            </a:r>
          </a:p>
          <a:p/>
          <a:p>
            <a:r>
              <a:t>Source: 08 Handout p.4-5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07, 08 and 09 Handouts</a:t>
            </a:r>
          </a:p>
        </p:txBody>
      </p:sp>
      <p:sp>
        <p:nvSpPr>
          <p:cNvPr id="6" name="TextBox 5"/>
          <p:cNvSpPr txBox="1"/>
          <p:nvPr/>
        </p:nvSpPr>
        <p:spPr>
          <a:xfrm>
            <a:off x="411480" y="5623560"/>
            <a:ext cx="11368735" cy="640080"/>
          </a:xfrm>
          <a:prstGeom prst="rect">
            <a:avLst/>
          </a:prstGeom>
          <a:noFill/>
        </p:spPr>
        <p:txBody>
          <a:bodyPr wrap="square" anchor="t" lIns="0" rIns="0" tIns="0" bIns="0">
            <a:spAutoFit/>
          </a:bodyPr>
          <a:lstStyle/>
          <a:p>
            <a:pPr algn="l">
              <a:lnSpc>
                <a:spcPct val="100000"/>
              </a:lnSpc>
            </a:pPr>
            <a:r>
              <a:rPr sz="3200" b="1">
                <a:solidFill>
                  <a:srgbClr val="FFFFFF"/>
                </a:solidFill>
                <a:latin typeface="Arial"/>
              </a:rPr>
              <a:t>Section 3.1A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15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Tables are collections. Rows are documents.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3291840"/>
                <a:gridCol w="8076895"/>
              </a:tblGrid>
              <a:tr h="870508">
                <a:tc>
                  <a:txBody>
                    <a:bodyPr wrap="square" anchor="ctr" lIns="109728" rIns="109728" tIns="109728" bIns="109728"/>
                    <a:lstStyle/>
                    <a:p>
                      <a:pPr algn="l">
                        <a:lnSpc>
                          <a:spcPct val="100000"/>
                        </a:lnSpc>
                      </a:pPr>
                      <a:r>
                        <a:rPr sz="2800" b="1">
                          <a:solidFill>
                            <a:srgbClr val="FFFFFF"/>
                          </a:solidFill>
                          <a:latin typeface="Arial"/>
                        </a:rPr>
                        <a:t>SQL</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MongoDB</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Arial"/>
                        </a:rPr>
                        <a:t>Database</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Database</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Arial"/>
                        </a:rPr>
                        <a:t>Table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Collection</a:t>
                      </a:r>
                    </a:p>
                  </a:txBody>
                  <a:tcPr>
                    <a:solidFill>
                      <a:srgbClr val="EEF1F4"/>
                    </a:solidFill>
                  </a:tcPr>
                </a:tc>
              </a:tr>
              <a:tr h="870508">
                <a:tc>
                  <a:txBody>
                    <a:bodyPr wrap="square" anchor="ctr" lIns="109728" rIns="109728" tIns="109728" bIns="109728"/>
                    <a:lstStyle/>
                    <a:p>
                      <a:pPr algn="l">
                        <a:lnSpc>
                          <a:spcPct val="100000"/>
                        </a:lnSpc>
                      </a:pPr>
                      <a:r>
                        <a:rPr sz="3000" b="1">
                          <a:solidFill>
                            <a:srgbClr val="14202E"/>
                          </a:solidFill>
                          <a:latin typeface="Arial"/>
                        </a:rPr>
                        <a:t>Row</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Document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Arial"/>
                        </a:rPr>
                        <a:t>Column</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Field</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Same idea, new words.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07 Handout p.2-3, Table 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5059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9499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4234688"/>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326128"/>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18 slides · about 2 min 18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db.users.findOne({"name"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name: 'Joe',</a:t>
            </a:r>
          </a:p>
          <a:p>
            <a:pPr algn="l">
              <a:lnSpc>
                <a:spcPts val="3200"/>
              </a:lnSpc>
            </a:pPr>
            <a:r>
              <a:rPr sz="2800" b="0">
                <a:solidFill>
                  <a:srgbClr val="9FE0C9"/>
                </a:solidFill>
                <a:latin typeface="Courier New"/>
              </a:rPr>
              <a:t>  friends: 32,</a:t>
            </a:r>
          </a:p>
          <a:p>
            <a:pPr algn="l">
              <a:lnSpc>
                <a:spcPts val="3200"/>
              </a:lnSpc>
            </a:pPr>
            <a:r>
              <a:rPr sz="2800" b="0">
                <a:solidFill>
                  <a:srgbClr val="9FE0C9"/>
                </a:solidFill>
                <a:latin typeface="Courier New"/>
              </a:rPr>
              <a:t>  enemies: 2</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4653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543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db.users.findOne({"username"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a:t>
            </a:r>
            <a:r>
              <a:rPr sz="2800" b="1" u="sng">
                <a:solidFill>
                  <a:srgbClr val="FFD27F"/>
                </a:solidFill>
                <a:latin typeface="Courier New"/>
              </a:rPr>
              <a:t>relationships: { friends: 32, enemies: 2 }</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username: 'Joe'</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a:t>
            </a:r>
            <a:r>
              <a:rPr sz="2800" b="1" u="sng">
                <a:solidFill>
                  <a:srgbClr val="FFD27F"/>
                </a:solidFill>
                <a:latin typeface="Courier New"/>
              </a:rPr>
              <a:t>'favorite book': 'Green Eggs and Ham'</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'favorite book': [ </a:t>
            </a:r>
            <a:r>
              <a:rPr sz="2800" b="1" u="sng">
                <a:solidFill>
                  <a:srgbClr val="FFD27F"/>
                </a:solidFill>
                <a:latin typeface="Courier New"/>
              </a:rPr>
              <a:t>"Cat's Cradle"</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'Foundation Trilogy'</a:t>
            </a:r>
            <a:r>
              <a:rPr sz="2800" b="0">
                <a:solidFill>
                  <a:srgbClr val="9FE0C9"/>
                </a:solidFill>
                <a:latin typeface="Courier New"/>
              </a:rPr>
              <a:t>, </a:t>
            </a:r>
            <a:r>
              <a:rPr sz="2800" b="1" u="sng">
                <a:solidFill>
                  <a:srgbClr val="FFD27F"/>
                </a:solidFill>
                <a:latin typeface="Courier New"/>
              </a:rPr>
              <a:t>"Ender's Game"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8" name="TextBox 7"/>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18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18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0" strike="sngStrike">
                <a:solidFill>
                  <a:srgbClr val="FFB4A8"/>
                </a:solidFill>
                <a:latin typeface="Courier New"/>
              </a:rPr>
              <a:t>name: 'Nicole'</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18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1" u="sng">
                <a:solidFill>
                  <a:srgbClr val="FFD27F"/>
                </a:solidFill>
                <a:latin typeface="Courier New"/>
              </a:rPr>
              <a:t>name: 'Nicole Tagayon'</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 },</a:t>
            </a:r>
          </a:p>
          <a:p>
            <a:pPr algn="l">
              <a:lnSpc>
                <a:spcPts val="3200"/>
              </a:lnSpc>
            </a:pPr>
            <a:r>
              <a:rPr sz="2800" b="0">
                <a:solidFill>
                  <a:srgbClr val="9FE0C9"/>
                </a:solidFill>
                <a:latin typeface="Courier New"/>
              </a:rPr>
              <a:t>  { _id: 2, birthday: '10/13/1978' },</a:t>
            </a:r>
          </a:p>
          <a:p>
            <a:pPr algn="l">
              <a:lnSpc>
                <a:spcPts val="3200"/>
              </a:lnSpc>
            </a:pPr>
            <a:r>
              <a:rPr sz="2800" b="0">
                <a:solidFill>
                  <a:srgbClr val="9FE0C9"/>
                </a:solidFill>
                <a:latin typeface="Courier New"/>
              </a:rPr>
              <a:t>  { _id: 3, birthday: '10/13/1978'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18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3, modifiedCount: 3,</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18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2,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3,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18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38 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less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less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EEF1F4"/>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greater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greater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 : 18}})</a:t>
            </a:r>
          </a:p>
          <a:p>
            <a:pPr algn="l">
              <a:lnSpc>
                <a:spcPts val="3200"/>
              </a:lnSpc>
            </a:pPr>
            <a:r>
              <a:rPr sz="2800" b="0">
                <a:solidFill>
                  <a:srgbClr val="9FE0C9"/>
                </a:solidFill>
                <a:latin typeface="Courier New"/>
              </a:rPr>
              <a:t>[ { _id: 1, name: 'Ana', age: 17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{"$lte" : 18}})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 : 30}})</a:t>
            </a:r>
          </a:p>
          <a:p>
            <a:pPr algn="l">
              <a:lnSpc>
                <a:spcPts val="3200"/>
              </a:lnSpc>
            </a:pPr>
            <a:r>
              <a:rPr sz="2800" b="0">
                <a:solidFill>
                  <a:srgbClr val="9FE0C9"/>
                </a:solidFill>
                <a:latin typeface="Courier New"/>
              </a:rPr>
              <a:t>[ { _id: 5, name: 'Eli', age: 31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18, "$lte"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key, many values. Many keys,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2 min 22 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  { _id: 5, ticket_no: 222,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key.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  { _id: 3, name: 'Liza', salary: 15000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inserting 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2 min 21 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db.food.find()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a:p>
            <a:pPr algn="l">
              <a:lnSpc>
                <a:spcPts val="3200"/>
              </a:lnSpc>
            </a:pPr>
            <a:r>
              <a:rPr sz="2800" b="0">
                <a:solidFill>
                  <a:srgbClr val="8FA3B8"/>
                </a:solidFill>
                <a:latin typeface="Courier New"/>
              </a:rPr>
              <a:t>// the shell prints the reply of the last command</a:t>
            </a:r>
          </a:p>
          <a:p>
            <a:pPr algn="l">
              <a:lnSpc>
                <a:spcPts val="3200"/>
              </a:lnSpc>
            </a:pPr>
            <a:r>
              <a:rPr sz="2800" b="0">
                <a:solidFill>
                  <a:srgbClr val="9FE0C9"/>
                </a:solidFill>
                <a:latin typeface="Courier New"/>
              </a:rPr>
              <a:t>{ acknowledged: true, insertedId: 3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db.food.find()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a:t>
            </a:r>
            <a:r>
              <a:rPr sz="2800" b="1" u="sng">
                <a:solidFill>
                  <a:srgbClr val="FFD27F"/>
                </a:solidFill>
                <a:latin typeface="Courier New"/>
              </a:rPr>
              <a:t>fruit: [ 'apple', 'banana', 'peach' ]</a:t>
            </a:r>
            <a:r>
              <a:rPr sz="2800" b="0">
                <a:solidFill>
                  <a:srgbClr val="9FE0C9"/>
                </a:solidFill>
                <a:latin typeface="Courier New"/>
              </a:rPr>
              <a:t>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a:t>
            </a:r>
            <a:r>
              <a:rPr sz="2800" b="1" u="sng">
                <a:solidFill>
                  <a:srgbClr val="FFD27F"/>
                </a:solidFill>
                <a:latin typeface="Courier New"/>
              </a:rPr>
              <a:t>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a:t>
            </a:r>
            <a:r>
              <a:rPr sz="2800" b="1" u="sng">
                <a:solidFill>
                  <a:srgbClr val="FFD27F"/>
                </a:solidFill>
                <a:latin typeface="Courier New"/>
              </a:rPr>
              <a:t>fruit: [ 'cherry', 'banana', 'apple' ]</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{$all : ["apple",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db.food.find({"fruit.2" : "peach"})</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{"$size" : 3}})</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 · embedded data</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58 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'c1', 'c2', 'c3', 'c4', 'c5', 'c6',</a:t>
            </a:r>
          </a:p>
          <a:p>
            <a:pPr algn="l">
              <a:lnSpc>
                <a:spcPts val="3200"/>
              </a:lnSpc>
            </a:pPr>
            <a:r>
              <a:rPr sz="2800" b="0">
                <a:solidFill>
                  <a:srgbClr val="9FE0C9"/>
                </a:solidFill>
                <a:latin typeface="Courier New"/>
              </a:rPr>
              <a:t>    'c7', 'c8', 'c9', 'c10'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'c31', 'c32', 'c33', 'c34', 'c35',</a:t>
            </a:r>
          </a:p>
          <a:p>
            <a:pPr algn="l">
              <a:lnSpc>
                <a:spcPts val="3200"/>
              </a:lnSpc>
            </a:pPr>
            <a:r>
              <a:rPr sz="2800" b="0">
                <a:solidFill>
                  <a:srgbClr val="9FE0C9"/>
                </a:solidFill>
                <a:latin typeface="Courier New"/>
              </a:rPr>
              <a:t>    'c36', 'c37', 'c38', 'c39', 'c40'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'c24', 'c25', 'c26', 'c27', 'c28',</a:t>
            </a:r>
          </a:p>
          <a:p>
            <a:pPr algn="l">
              <a:lnSpc>
                <a:spcPts val="3200"/>
              </a:lnSpc>
            </a:pPr>
            <a:r>
              <a:rPr sz="2800" b="0">
                <a:solidFill>
                  <a:srgbClr val="9FE0C9"/>
                </a:solidFill>
                <a:latin typeface="Courier New"/>
              </a:rPr>
              <a:t>    'c29', 'c30', 'c31', 'c32', 'c33'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name: { first: 'John', last: 'Escalona' },</a:t>
            </a:r>
          </a:p>
          <a:p>
            <a:pPr algn="l">
              <a:lnSpc>
                <a:spcPts val="3200"/>
              </a:lnSpc>
            </a:pPr>
            <a:r>
              <a:rPr sz="2800" b="0">
                <a:solidFill>
                  <a:srgbClr val="9FE0C9"/>
                </a:solidFill>
                <a:latin typeface="Courier New"/>
              </a:rPr>
              <a:t>    age: 45</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Embedded data vs references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Embedded: related data in one document (denormalized).</a:t>
            </a:r>
          </a:p>
          <a:p>
            <a:pPr algn="l">
              <a:lnSpc>
                <a:spcPct val="110000"/>
              </a:lnSpc>
            </a:pPr>
            <a:r>
              <a:rPr sz="3200" b="1">
                <a:solidFill>
                  <a:srgbClr val="C2410C"/>
                </a:solidFill>
                <a:latin typeface="Arial"/>
              </a:rPr>
              <a:t>▸  </a:t>
            </a:r>
            <a:r>
              <a:rPr sz="3200" b="0">
                <a:solidFill>
                  <a:srgbClr val="14202E"/>
                </a:solidFill>
                <a:latin typeface="Arial"/>
              </a:rPr>
              <a:t>One database operation reads or changes it all.</a:t>
            </a:r>
          </a:p>
          <a:p>
            <a:pPr algn="l">
              <a:lnSpc>
                <a:spcPct val="110000"/>
              </a:lnSpc>
            </a:pPr>
            <a:r>
              <a:rPr sz="3200" b="1">
                <a:solidFill>
                  <a:srgbClr val="C2410C"/>
                </a:solidFill>
                <a:latin typeface="Arial"/>
              </a:rPr>
              <a:t>▸  </a:t>
            </a:r>
            <a:r>
              <a:rPr sz="3200" b="0">
                <a:solidFill>
                  <a:srgbClr val="14202E"/>
                </a:solidFill>
                <a:latin typeface="Arial"/>
              </a:rPr>
              <a:t>References: links between documents (normalized).</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Embed together, or link apart.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p.4-5</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Delivery of services through the Internet: data storage, servers, databases, networking, software.</a:t>
            </a:r>
          </a:p>
          <a:p>
            <a:pPr algn="l">
              <a:lnSpc>
                <a:spcPct val="110000"/>
              </a:lnSpc>
            </a:pPr>
            <a:r>
              <a:rPr sz="3200" b="1">
                <a:solidFill>
                  <a:srgbClr val="C2410C"/>
                </a:solidFill>
                <a:latin typeface="Arial"/>
              </a:rPr>
              <a:t>▸  </a:t>
            </a:r>
            <a:r>
              <a:rPr sz="3200" b="0">
                <a:solidFill>
                  <a:srgbClr val="14202E"/>
                </a:solidFill>
                <a:latin typeface="Arial"/>
              </a:rPr>
              <a:t>Files are saved to a remote database, not a local hard drive.</a:t>
            </a:r>
          </a:p>
          <a:p>
            <a:pPr algn="l">
              <a:lnSpc>
                <a:spcPct val="110000"/>
              </a:lnSpc>
            </a:pPr>
            <a:r>
              <a:rPr sz="3200" b="1">
                <a:solidFill>
                  <a:srgbClr val="C2410C"/>
                </a:solidFill>
                <a:latin typeface="Arial"/>
              </a:rPr>
              <a:t>▸  </a:t>
            </a:r>
            <a:r>
              <a:rPr sz="3200" b="0">
                <a:solidFill>
                  <a:srgbClr val="14202E"/>
                </a:solidFill>
                <a:latin typeface="Arial"/>
              </a:rPr>
              <a:t>Any device with web access can reach the data and the programs.</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Built by a third party for the public</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Built by one organization for itself</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Private + public combined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third party, to sell to the general public</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Google Application Engine, Microsoft Azure</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Reliable, low cost, zero maintenance, scales on demand</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Not for sensitive data under strict security rules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An organization, only for its own needs</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Large, geographically dispersed organizations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Internal IT staff or an external third party</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private cloud and a public cloud combined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High-volume apps like emails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Sensitive assets like financials, data recovery</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Flexibility, with control over critical assets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Use ready-made applications</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Build and run your own applications</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Rent storage, servers and more on demand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Turnkey applications that run in the cloud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Customize some aspects, not the app itself</a:t>
            </a:r>
          </a:p>
        </p:txBody>
      </p:sp>
      <p:sp>
        <p:nvSpPr>
          <p:cNvPr id="10" name="Rectangle 9"/>
          <p:cNvSpPr/>
          <p:nvPr/>
        </p:nvSpPr>
        <p:spPr>
          <a:xfrm>
            <a:off x="411480" y="2633472"/>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MS Office 365, Google Docs, TurboTax Online, SCALA digital signage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Tools, languages and interfaces to build and deploy your apps</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Manage the underlying infrastructure</a:t>
            </a:r>
          </a:p>
        </p:txBody>
      </p:sp>
      <p:sp>
        <p:nvSpPr>
          <p:cNvPr id="10" name="Rectangle 9"/>
          <p:cNvSpPr/>
          <p:nvPr/>
        </p:nvSpPr>
        <p:spPr>
          <a:xfrm>
            <a:off x="411480" y="306324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Microsoft Azure platform with .NET and Java</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Storage, servers, databases, processing, virtual desktops on demand</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Add or remove resources as needed</a:t>
            </a:r>
          </a:p>
        </p:txBody>
      </p:sp>
      <p:sp>
        <p:nvSpPr>
          <p:cNvPr id="10" name="Rectangle 9"/>
          <p:cNvSpPr/>
          <p:nvPr/>
        </p:nvSpPr>
        <p:spPr>
          <a:xfrm>
            <a:off x="411480" y="306324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server: Linux + Apache, 16 GB RAM, 160 GB storage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Instant scalability</a:t>
            </a:r>
          </a:p>
          <a:p>
            <a:pPr algn="l">
              <a:lnSpc>
                <a:spcPct val="100000"/>
              </a:lnSpc>
            </a:pPr>
            <a:r>
              <a:rPr sz="2800" b="0">
                <a:solidFill>
                  <a:srgbClr val="4A5868"/>
                </a:solidFill>
                <a:latin typeface="Arial"/>
              </a:rPr>
              <a:t>scale up or down to meet demand</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Anywhere accessibility</a:t>
            </a:r>
          </a:p>
          <a:p>
            <a:pPr algn="l">
              <a:lnSpc>
                <a:spcPct val="100000"/>
              </a:lnSpc>
            </a:pPr>
            <a:r>
              <a:rPr sz="2800" b="0">
                <a:solidFill>
                  <a:srgbClr val="4A5868"/>
                </a:solidFill>
                <a:latin typeface="Arial"/>
              </a:rPr>
              <a:t>serve customers across the globe</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Speed and operational agility</a:t>
            </a:r>
          </a:p>
          <a:p>
            <a:pPr algn="l">
              <a:lnSpc>
                <a:spcPct val="100000"/>
              </a:lnSpc>
            </a:pPr>
            <a:r>
              <a:rPr sz="2800" b="0">
                <a:solidFill>
                  <a:srgbClr val="4A5868"/>
                </a:solidFill>
                <a:latin typeface="Arial"/>
              </a:rPr>
              <a:t>add capacity with a click</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expenditure</a:t>
            </a:r>
          </a:p>
          <a:p>
            <a:pPr algn="l">
              <a:lnSpc>
                <a:spcPct val="100000"/>
              </a:lnSpc>
            </a:pPr>
            <a:r>
              <a:rPr sz="2800" b="0">
                <a:solidFill>
                  <a:srgbClr val="4A5868"/>
                </a:solidFill>
                <a:latin typeface="Arial"/>
              </a:rPr>
              <a:t>cost depends on use</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Automatic updates/patches</a:t>
            </a:r>
          </a:p>
          <a:p>
            <a:pPr algn="l">
              <a:lnSpc>
                <a:spcPct val="100000"/>
              </a:lnSpc>
            </a:pPr>
            <a:r>
              <a:rPr sz="2800" b="0">
                <a:solidFill>
                  <a:srgbClr val="4A5868"/>
                </a:solidFill>
                <a:latin typeface="Arial"/>
              </a:rPr>
              <a:t>the provider handles them</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Disaster recovery</a:t>
            </a:r>
          </a:p>
          <a:p>
            <a:pPr algn="l">
              <a:lnSpc>
                <a:spcPct val="100000"/>
              </a:lnSpc>
            </a:pPr>
            <a:r>
              <a:rPr sz="2800" b="0">
                <a:solidFill>
                  <a:srgbClr val="4A5868"/>
                </a:solidFill>
                <a:latin typeface="Arial"/>
              </a:rPr>
              <a:t>no costly on-premises setup</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High security</a:t>
            </a:r>
          </a:p>
          <a:p>
            <a:pPr algn="l">
              <a:lnSpc>
                <a:spcPct val="100000"/>
              </a:lnSpc>
            </a:pPr>
            <a:r>
              <a:rPr sz="2800" b="0">
                <a:solidFill>
                  <a:srgbClr val="4A5868"/>
                </a:solidFill>
                <a:latin typeface="Arial"/>
              </a:rPr>
              <a:t>advanced features reduce risk</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carbon footprint</a:t>
            </a:r>
          </a:p>
          <a:p>
            <a:pPr algn="l">
              <a:lnSpc>
                <a:spcPct val="100000"/>
              </a:lnSpc>
            </a:pPr>
            <a:r>
              <a:rPr sz="2800" b="0">
                <a:solidFill>
                  <a:srgbClr val="4A5868"/>
                </a:solidFill>
                <a:latin typeface="Arial"/>
              </a:rPr>
              <a:t>resources as per demand</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Flexibility</a:t>
            </a:r>
          </a:p>
          <a:p>
            <a:pPr algn="l">
              <a:lnSpc>
                <a:spcPct val="100000"/>
              </a:lnSpc>
            </a:pPr>
            <a:r>
              <a:rPr sz="2800" b="0">
                <a:solidFill>
                  <a:srgbClr val="4A5868"/>
                </a:solidFill>
                <a:latin typeface="Arial"/>
              </a:rPr>
              <a:t>any device, any location</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Enterprise collaboration</a:t>
            </a:r>
          </a:p>
          <a:p>
            <a:pPr algn="l">
              <a:lnSpc>
                <a:spcPct val="100000"/>
              </a:lnSpc>
            </a:pPr>
            <a:r>
              <a:rPr sz="2800" b="0">
                <a:solidFill>
                  <a:srgbClr val="4A5868"/>
                </a:solidFill>
                <a:latin typeface="Arial"/>
              </a:rPr>
              <a:t>centralized, shared documents</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