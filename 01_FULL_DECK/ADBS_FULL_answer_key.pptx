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Section 3.1A. Our topic is MongoDB commands and cloud computing, from the 07, 08 and 09 handouts. Each of us has 3 minutes.</a:t>
            </a:r>
          </a:p>
          <a:p/>
          <a:p>
            <a:r>
              <a:t>SOUNDBITE (say it last, slowly): Store it. Query it. Put it in the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a:p/>
          <a:p>
            <a:r>
              <a:t>SOUNDBITE (say it last, slowly): Six parts MongoDB. Two parts cloud.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First, two words: in MongoDB, a table is called a collection, and a row is called a document. Every slide shows the data before, the command, and the data after. Watch what changes.</a:t>
            </a:r>
          </a:p>
          <a:p/>
          <a:p>
            <a:r>
              <a:t>(Whole part: 268 words, about 2 min 04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 After: the collection has Stand by Me. One document in.</a:t>
            </a:r>
          </a:p>
          <a:p/>
          <a:p>
            <a:r>
              <a:t>SOUNDBITE (say it last, slowly): One document in. MongoDB adds the _id.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insertMany adds many documents with one command. We pass an array, in square brackets. Before: only Stand by Me. The reply lists three new I Ds.</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(No new words. Let the class read this slide, then click.)</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After: four movies. The three new ones are highlighted.</a:t>
            </a:r>
          </a:p>
          <a:p/>
          <a:p>
            <a:r>
              <a:t>SOUNDBITE (say it last, slowly): Many documents, one command.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Now an error on purpose.</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We insert four movies, but two of them use underscore I D 4. With ordered false, MongoDB tries every document, even after an error.</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After: 3, 4 and 5 are saved. Only the duplicate failed. Unordered keeps going.</a:t>
            </a:r>
          </a:p>
          <a:p/>
          <a:p>
            <a:r>
              <a:t>SOUNDBITE (say it last, slowly): Unordered: tries every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Same four movies, but ordered.</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Ordered is the default. The duplicate 4 causes an error.</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SOUNDBITE (say it last, slowly): Ordered (the default): stops at the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We delete underscore I D 4. The reply says deleted count 1. After: only 3 and 5 are left.</a:t>
            </a:r>
          </a:p>
          <a:p/>
          <a:p>
            <a:r>
              <a:t>SOUNDBITE (say it last, slowly): deleteOne removes one.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We delete year 1985. Deleted count is 2. After: only Sixteen Candles, from 1984, is left. Documents in, documents out.</a:t>
            </a:r>
          </a:p>
          <a:p/>
          <a:p>
            <a:r>
              <a:t>SOUNDBITE (say it last, slowly): deleteMany removes every match.</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299 words, about 2 min 18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SOUNDBITE (say it last, slowly): findOne brings back one document.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 Before: Joe, as on the last slide.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(No new words. Let the class read this slide, then click.)</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After: Joe has relationships and username. The old fields are gone.</a:t>
            </a:r>
          </a:p>
          <a:p/>
          <a:p>
            <a:r>
              <a:t>SOUNDBITE (say it last, slowly): replaceOne replaces everything.</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updateOne takes a filter, then a change. The dollar set operator sets a field. If the field does not exist yet, it is created. Before: John has no favorite book.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(No new words. Let the class read this slide, then click.)</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After: John has a favorite book, Green Eggs and Ham.</a:t>
            </a:r>
          </a:p>
          <a:p/>
          <a:p>
            <a:r>
              <a:t>SOUNDBITE (say it last, slowly): $set: add it or change it.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Dollar set can even change the type of a field. Before: John, as on the last slide.</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Now favorite book becomes an array of three books.</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After: the single text value is replaced by a list.</a:t>
            </a:r>
          </a:p>
          <a:p/>
          <a:p>
            <a:r>
              <a:t>SOUNDBITE (say it last, slowly): Text becomes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Dollar unset removes a field completely. Before: John, as on the last slide.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SOUNDBITE (say it last, slowly): $unset: the field is gone.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SOUNDBITE (say it last, slowly): Use the dot to reach inside.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SOUNDBITE (say it last, slowly): One rule, every match.</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SOUNDBITE (say it last, slowly):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SOUNDBITE (say it last, slowly): Ages 17, 18, 24, 30, 31.</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SOUNDBITE (say it last, slowly): 18 is out with $lt, in with $lte.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SOUNDBITE (say it last, slowly): 30 is out with $gt, in with $gte.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SOUNDBITE (say it last, slowly): Two operators, one field, one range.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 The handout says there are two ways to do an OR query in MongoDB. The first is dollar in. The second is dollar or. After those, dollar not.</a:t>
            </a:r>
          </a:p>
          <a:p/>
          <a:p>
            <a:r>
              <a:t>(Whole part: 308 words, about 2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built around the handout's winning tickets. There are five tickets: 725, 542, 390, 111 and 222. Ticket 111 is the only one where winner is true. Keep this list in mind for the next two slides.</a:t>
            </a:r>
          </a:p>
          <a:p/>
          <a:p>
            <a:r>
              <a:t>SOUNDBITE (say it last, slowly): Five tickets. Only 111 is a winner.</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Read the command as: find tickets where the ticket number is in this list. One query returns all three. Tickets 111 and 222 are not in the list, so they do not come back.</a:t>
            </a:r>
          </a:p>
          <a:p/>
          <a:p>
            <a:r>
              <a:t>SOUNDBITE (say it last, slowly): $in is a guest list for one key.</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The handout says it takes an array of possible criteria, and each one can use a different key. Here the array has two conditions: ticket number 725, or winner is true. A document only needs to pass one of them. Ticket 725 passes the first test. Ticket 111 passes the second. Ticket 542 passes neither, so it is out.</a:t>
            </a:r>
          </a:p>
          <a:p/>
          <a:p>
            <a:r>
              <a:t>SOUNDBITE (say it last, slowly): $or: pass any one test.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earns exactly 10,000, and Liza earns 15,000.</a:t>
            </a:r>
          </a:p>
          <a:p/>
          <a:p>
            <a:r>
              <a:t>SOUNDBITE (say it last, slowly): 8,000 · 10,000 · 15,000 pesos.</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handout's example finds employees whose salary is not greater than 10,000 pesos. On its own, dollar g t 10,000 would match only Liza. Dollar not flips it, so we get everyone else: Rhea and Mark. Mark is exactly 10,000, which is not greater, so he is in. To sum up: one key, many values, use dollar in. Many keys, any match, use dollar or. To flip a condition, use dollar not.</a:t>
            </a:r>
          </a:p>
          <a:p/>
          <a:p>
            <a:r>
              <a:t>SOUNDBITE (say it last, slowly): $not flips the condition.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 written in square brackets. We will insert arrays, then query them three ways.</a:t>
            </a:r>
          </a:p>
          <a:p/>
          <a:p>
            <a:r>
              <a:t>(Whole part: 257 words, about 1 min 59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Each basket is a document, and its fruit field is an array of three elements. Before: the food collection is empty.</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We run three insertOne commands. The shell prints the reply of the last one: inserted I D 3.</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After: three baskets. Basket 1 has apple, banana, peach. Basket 2 has apple, kumquat, orange. Basket 3 has cherry, banana, apple. We use these three baskets for the rest of this part.</a:t>
            </a:r>
          </a:p>
          <a:p/>
          <a:p>
            <a:r>
              <a:t>SOUNDBITE (say it last, slowly): Square brackets make an array.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The handout says querying an array is designed to behave like querying a single value, such as a string, a number or a date. So we simply ask for banana. Any basket with banana anywhere in its list matches. Baskets 1 and 3 come back. Basket 2 has no banana.</a:t>
            </a:r>
          </a:p>
          <a:p/>
          <a:p>
            <a:r>
              <a:t>SOUNDBITE (say it last, slowly): Ask for banana, get every basket with a banana.</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What if we need more than one element? The handout uses dollar all. It matches arrays that contain every element in the list. We ask for apple and banana. Baskets 1 and 3 have both. Basket 2 has apple but no banana, so it is out. Order does not matter: basket 3 has banana before apple, and it still matches.</a:t>
            </a:r>
          </a:p>
          <a:p/>
          <a:p>
            <a:r>
              <a:t>SOUNDBITE (say it last, slowly): $all: has them all, any order.</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dollar size 3 returns all three. A basket with 2 or 4 fruits would not match. Arrays answer like single values.</a:t>
            </a:r>
          </a:p>
          <a:p/>
          <a:p>
            <a:r>
              <a:t>SOUNDBITE (say it last, slowly): $size counts the elements.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 documents inside documents.</a:t>
            </a:r>
          </a:p>
          <a:p/>
          <a:p>
            <a:r>
              <a:t>(Whole part: 199 words, about 1 min 32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only part of an array. The handout's example is a blog post with many comments. Our practice post has 40 comments, named c1 to c40. Slice 10 returns the first 10: c1 to c10. The other 30 are still saved. We just do not show them.</a:t>
            </a:r>
          </a:p>
          <a:p/>
          <a:p>
            <a:r>
              <a:t>SOUNDBITE (say it last, slowly): Positive counts from the front.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numbers count from the front. Negative numbers count from the back.</a:t>
            </a:r>
          </a:p>
          <a:p/>
          <a:p>
            <a:r>
              <a:t>SOUNDBITE (say it last, slowly):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The first number, 23, means skip 23. The second number, 10, means take 10. So we get the 24th to the 33rd: c24 to c33. The handout adds: if there were fewer than 33 elements, it would return as many as possible.</a:t>
            </a:r>
          </a:p>
          <a:p/>
          <a:p>
            <a:r>
              <a:t>SOUNDBITE (say it last, slowly): Skip 23, take 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another document. Here, John's name field holds a whole document with first and last. To query inside it, use dot notation, in quotes: name dot first, and name dot last. Both must match, and John Escalona comes back. To sum up: trim what you see with slice, and reach inside with a dot.</a:t>
            </a:r>
          </a:p>
          <a:p/>
          <a:p>
            <a:r>
              <a:t>SOUNDBITE (say it last, slowly): Use the dot to reach inside.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SOUNDBITE (say it last, slowly): If it has the web, it has your data.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SOUNDBITE (say it last, slowly):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SOUNDBITE (say it last, slowly): Rent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SOUNDBITE (say it last, slowly): Own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SOUNDBITE (say it last, slowly):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SOUNDBITE (say it last, slowly): Use it, build on it, or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SOUNDBITE (say it last, slowly): Use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SOUNDBITE (say it last, slowly): Build on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SOUNDBITE (say it last, slowly): Rent the machine.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SOUNDBITE (say it last, slowly): Scale up fast.</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SOUNDBITE (say it last, slowly):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a:p/>
          <a:p>
            <a:r>
              <a:t>SOUNDBITE: Every command, one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20440"/>
            <a:ext cx="11368735" cy="64008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“Store it. Query it. Put it in the cloud.”</a:t>
            </a:r>
          </a:p>
        </p:txBody>
      </p:sp>
      <p:sp>
        <p:nvSpPr>
          <p:cNvPr id="6" name="TextBox 5"/>
          <p:cNvSpPr txBox="1"/>
          <p:nvPr/>
        </p:nvSpPr>
        <p:spPr>
          <a:xfrm>
            <a:off x="411480" y="4251960"/>
            <a:ext cx="11368735"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Based on the 07, 08 and 09 Handouts</a:t>
            </a:r>
          </a:p>
        </p:txBody>
      </p:sp>
      <p:sp>
        <p:nvSpPr>
          <p:cNvPr id="7" name="TextBox 6"/>
          <p:cNvSpPr txBox="1"/>
          <p:nvPr/>
        </p:nvSpPr>
        <p:spPr>
          <a:xfrm>
            <a:off x="411480" y="5623560"/>
            <a:ext cx="11368735" cy="640080"/>
          </a:xfrm>
          <a:prstGeom prst="rect">
            <a:avLst/>
          </a:prstGeom>
          <a:noFill/>
        </p:spPr>
        <p:txBody>
          <a:bodyPr wrap="square" anchor="t" lIns="0" rIns="0" tIns="0" bIns="0">
            <a:spAutoFit/>
          </a:bodyPr>
          <a:lstStyle/>
          <a:p>
            <a:pPr algn="l">
              <a:lnSpc>
                <a:spcPct val="100000"/>
              </a:lnSpc>
            </a:pPr>
            <a:r>
              <a:rPr sz="3200" b="1">
                <a:solidFill>
                  <a:srgbClr val="FFFFFF"/>
                </a:solidFill>
                <a:latin typeface="Arial"/>
              </a:rPr>
              <a:t>Section 3.1A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19456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19456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19456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291839"/>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91839"/>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291839"/>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389120"/>
            <a:ext cx="5577840" cy="987552"/>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389120"/>
            <a:ext cx="822960" cy="987552"/>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389120"/>
            <a:ext cx="4526280" cy="987552"/>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
        <p:nvSpPr>
          <p:cNvPr id="28" name="Rectangle 2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Six parts MongoDB. Two parts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04 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18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db.users.findOne({"name"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name: 'Joe',</a:t>
            </a:r>
          </a:p>
          <a:p>
            <a:pPr algn="l">
              <a:lnSpc>
                <a:spcPts val="3200"/>
              </a:lnSpc>
            </a:pPr>
            <a:r>
              <a:rPr sz="2800" b="0">
                <a:solidFill>
                  <a:srgbClr val="9FE0C9"/>
                </a:solidFill>
                <a:latin typeface="Courier New"/>
              </a:rPr>
              <a:t>  friends: 32,</a:t>
            </a:r>
          </a:p>
          <a:p>
            <a:pPr algn="l">
              <a:lnSpc>
                <a:spcPts val="3200"/>
              </a:lnSpc>
            </a:pPr>
            <a:r>
              <a:rPr sz="2800" b="0">
                <a:solidFill>
                  <a:srgbClr val="9FE0C9"/>
                </a:solidFill>
                <a:latin typeface="Courier New"/>
              </a:rPr>
              <a:t>  enemies: 2</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REPLY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db.users.findOne({"username" : "Joe"})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ObjectId('4b2b9f67a1f631733d917a7a'),</a:t>
            </a:r>
          </a:p>
          <a:p>
            <a:pPr algn="l">
              <a:lnSpc>
                <a:spcPts val="32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username: 'Joe'</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ts val="32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 same as the last slide</a:t>
            </a:r>
          </a:p>
        </p:txBody>
      </p:sp>
      <p:sp>
        <p:nvSpPr>
          <p:cNvPr id="6" name="Rectangle 5"/>
          <p:cNvSpPr/>
          <p:nvPr/>
        </p:nvSpPr>
        <p:spPr>
          <a:xfrm>
            <a:off x="411480" y="22026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db.users.findOne({"name" : "John"},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name: 'John',</a:t>
            </a:r>
          </a:p>
          <a:p>
            <a:pPr algn="l">
              <a:lnSpc>
                <a:spcPts val="3200"/>
              </a:lnSpc>
            </a:pPr>
            <a:r>
              <a:rPr sz="2800" b="0">
                <a:solidFill>
                  <a:srgbClr val="9FE0C9"/>
                </a:solidFill>
                <a:latin typeface="Courier New"/>
              </a:rPr>
              <a:t>  age: 24,</a:t>
            </a:r>
          </a:p>
          <a:p>
            <a:pPr algn="l">
              <a:lnSpc>
                <a:spcPts val="3200"/>
              </a:lnSpc>
            </a:pPr>
            <a:r>
              <a:rPr sz="2800" b="0">
                <a:solidFill>
                  <a:srgbClr val="9FE0C9"/>
                </a:solidFill>
                <a:latin typeface="Courier New"/>
              </a:rPr>
              <a:t>  sex: 'male',</a:t>
            </a:r>
          </a:p>
          <a:p>
            <a:pPr algn="l">
              <a:lnSpc>
                <a:spcPts val="3200"/>
              </a:lnSpc>
            </a:pPr>
            <a:r>
              <a:rPr sz="2800" b="0">
                <a:solidFill>
                  <a:srgbClr val="9FE0C9"/>
                </a:solidFill>
                <a:latin typeface="Courier New"/>
              </a:rPr>
              <a:t>  location: 'Taytay'</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1, modifiedCount: 1,</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db.books.findOne({},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title: 'MongoDB-2019',</a:t>
            </a:r>
          </a:p>
          <a:p>
            <a:pPr algn="l">
              <a:lnSpc>
                <a:spcPts val="3200"/>
              </a:lnSpc>
            </a:pPr>
            <a:r>
              <a:rPr sz="2800" b="0">
                <a:solidFill>
                  <a:srgbClr val="9FE0C9"/>
                </a:solidFill>
                <a:latin typeface="Courier New"/>
              </a:rPr>
              <a:t>  author: {</a:t>
            </a:r>
          </a:p>
          <a:p>
            <a:pPr algn="l">
              <a:lnSpc>
                <a:spcPts val="32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ts val="3200"/>
              </a:lnSpc>
            </a:pPr>
            <a:r>
              <a:rPr sz="2800" b="0">
                <a:solidFill>
                  <a:srgbClr val="9FE0C9"/>
                </a:solidFill>
                <a:latin typeface="Courier New"/>
              </a:rPr>
              <a:t>    email: 'Nic@example.com'</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 },</a:t>
            </a:r>
          </a:p>
          <a:p>
            <a:pPr algn="l">
              <a:lnSpc>
                <a:spcPts val="3200"/>
              </a:lnSpc>
            </a:pPr>
            <a:r>
              <a:rPr sz="2800" b="0">
                <a:solidFill>
                  <a:srgbClr val="9FE0C9"/>
                </a:solidFill>
                <a:latin typeface="Courier New"/>
              </a:rPr>
              <a:t>  { _id: 2, birthday: '10/13/1978' },</a:t>
            </a:r>
          </a:p>
          <a:p>
            <a:pPr algn="l">
              <a:lnSpc>
                <a:spcPts val="3200"/>
              </a:lnSpc>
            </a:pPr>
            <a:r>
              <a:rPr sz="2800" b="0">
                <a:solidFill>
                  <a:srgbClr val="9FE0C9"/>
                </a:solidFill>
                <a:latin typeface="Courier New"/>
              </a:rPr>
              <a:t>  { _id: 3, birthday: '10/13/1978'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a:p>
            <a:pPr algn="l">
              <a:lnSpc>
                <a:spcPts val="3200"/>
              </a:lnSpc>
            </a:pPr>
            <a:r>
              <a:rPr sz="2800" b="0">
                <a:solidFill>
                  <a:srgbClr val="9FE0C9"/>
                </a:solidFill>
                <a:latin typeface="Courier New"/>
              </a:rPr>
              <a:t>{ acknowledged: true, insertedId: null,</a:t>
            </a:r>
          </a:p>
          <a:p>
            <a:pPr algn="l">
              <a:lnSpc>
                <a:spcPts val="3200"/>
              </a:lnSpc>
            </a:pPr>
            <a:r>
              <a:rPr sz="2800" b="0">
                <a:solidFill>
                  <a:srgbClr val="9FE0C9"/>
                </a:solidFill>
                <a:latin typeface="Courier New"/>
              </a:rPr>
              <a:t>  matchedCount: 3, modifiedCount: 3,</a:t>
            </a:r>
          </a:p>
          <a:p>
            <a:pPr algn="l">
              <a:lnSpc>
                <a:spcPts val="3200"/>
              </a:lnSpc>
            </a:pPr>
            <a:r>
              <a:rPr sz="2800" b="0">
                <a:solidFill>
                  <a:srgbClr val="9FE0C9"/>
                </a:solidFill>
                <a:latin typeface="Courier New"/>
              </a:rPr>
              <a:t>  upsertedCount: 0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db.users.find({"birthday" : "10/13/1978"})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2,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  { _id: 3, birthday: '10/13/1978',</a:t>
            </a:r>
          </a:p>
          <a:p>
            <a:pPr algn="l">
              <a:lnSpc>
                <a:spcPts val="32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 : 18}})</a:t>
            </a:r>
          </a:p>
          <a:p>
            <a:pPr algn="l">
              <a:lnSpc>
                <a:spcPts val="3200"/>
              </a:lnSpc>
            </a:pPr>
            <a:r>
              <a:rPr sz="2800" b="0">
                <a:solidFill>
                  <a:srgbClr val="9FE0C9"/>
                </a:solidFill>
                <a:latin typeface="Courier New"/>
              </a:rPr>
              <a:t>[ { _id: 1, name: 'Ana', age: 17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{"$lte" : 18}})</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'Ana', age: 17 },</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 : 30}})</a:t>
            </a:r>
          </a:p>
          <a:p>
            <a:pPr algn="l">
              <a:lnSpc>
                <a:spcPts val="3200"/>
              </a:lnSpc>
            </a:pPr>
            <a:r>
              <a:rPr sz="2800" b="0">
                <a:solidFill>
                  <a:srgbClr val="9FE0C9"/>
                </a:solidFill>
                <a:latin typeface="Courier New"/>
              </a:rPr>
              <a:t>[ { _id: 5, name: 'Eli', age: 31 } ]</a:t>
            </a:r>
          </a:p>
        </p:txBody>
      </p:sp>
      <p:sp>
        <p:nvSpPr>
          <p:cNvPr id="6" name="Rectangle 5"/>
          <p:cNvSpPr/>
          <p:nvPr/>
        </p:nvSpPr>
        <p:spPr>
          <a:xfrm>
            <a:off x="411480" y="2609088"/>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  { _id: 5, name: 'Eli', age: 31 }</a:t>
            </a:r>
          </a:p>
          <a:p>
            <a:pPr algn="l">
              <a:lnSpc>
                <a:spcPts val="32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db.users.find({"age" : {"$gte" : 18, "$lte" : 30}})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2, name: 'Ben', age: 18 },</a:t>
            </a:r>
          </a:p>
          <a:p>
            <a:pPr algn="l">
              <a:lnSpc>
                <a:spcPts val="3200"/>
              </a:lnSpc>
            </a:pPr>
            <a:r>
              <a:rPr sz="2800" b="0">
                <a:solidFill>
                  <a:srgbClr val="9FE0C9"/>
                </a:solidFill>
                <a:latin typeface="Courier New"/>
              </a:rPr>
              <a:t>  { _id: 3, name: 'Cara', age: 24 },</a:t>
            </a:r>
          </a:p>
          <a:p>
            <a:pPr algn="l">
              <a:lnSpc>
                <a:spcPts val="3200"/>
              </a:lnSpc>
            </a:pPr>
            <a:r>
              <a:rPr sz="2800" b="0">
                <a:solidFill>
                  <a:srgbClr val="9FE0C9"/>
                </a:solidFill>
                <a:latin typeface="Courier New"/>
              </a:rPr>
              <a:t>  { _id: 4, name: 'Dan', age: 30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key, many values. Many keys,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2 min 22 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  { _id: 5, ticket_no: 222,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2, ticket_no: 542, winner: false },</a:t>
            </a:r>
          </a:p>
          <a:p>
            <a:pPr algn="l">
              <a:lnSpc>
                <a:spcPts val="3200"/>
              </a:lnSpc>
            </a:pPr>
            <a:r>
              <a:rPr sz="2800" b="0">
                <a:solidFill>
                  <a:srgbClr val="9FE0C9"/>
                </a:solidFill>
                <a:latin typeface="Courier New"/>
              </a:rPr>
              <a:t>  { _id: 3, ticket_no: 390, winner: false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key.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ticket_no: 725, winner: false },</a:t>
            </a:r>
          </a:p>
          <a:p>
            <a:pPr algn="l">
              <a:lnSpc>
                <a:spcPts val="3200"/>
              </a:lnSpc>
            </a:pPr>
            <a:r>
              <a:rPr sz="2800" b="0">
                <a:solidFill>
                  <a:srgbClr val="9FE0C9"/>
                </a:solidFill>
                <a:latin typeface="Courier New"/>
              </a:rPr>
              <a:t>  { _id: 4, ticket_no: 111, winner: true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  { _id: 3, name: 'Liza', salary: 15000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name: 'Rhea', salary: 8000 },</a:t>
            </a:r>
          </a:p>
          <a:p>
            <a:pPr algn="l">
              <a:lnSpc>
                <a:spcPts val="3200"/>
              </a:lnSpc>
            </a:pPr>
            <a:r>
              <a:rPr sz="2800" b="0">
                <a:solidFill>
                  <a:srgbClr val="9FE0C9"/>
                </a:solidFill>
                <a:latin typeface="Courier New"/>
              </a:rPr>
              <a:t>  { _id: 2, name: 'Mark', salary: 10000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inserting arrays · $all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59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db.food.find()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a:p>
            <a:pPr algn="l">
              <a:lnSpc>
                <a:spcPts val="3200"/>
              </a:lnSpc>
            </a:pPr>
            <a:r>
              <a:rPr sz="2800" b="0">
                <a:solidFill>
                  <a:srgbClr val="8FA3B8"/>
                </a:solidFill>
                <a:latin typeface="Courier New"/>
              </a:rPr>
              <a:t>// the shell prints the reply of the last command</a:t>
            </a:r>
          </a:p>
          <a:p>
            <a:pPr algn="l">
              <a:lnSpc>
                <a:spcPts val="3200"/>
              </a:lnSpc>
            </a:pPr>
            <a:r>
              <a:rPr sz="2800" b="0">
                <a:solidFill>
                  <a:srgbClr val="9FE0C9"/>
                </a:solidFill>
                <a:latin typeface="Courier New"/>
              </a:rPr>
              <a:t>{ acknowledged: true, insertedId: 3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elements in an array</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db.food.find()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a:t>
            </a:r>
            <a:r>
              <a:rPr sz="2800" b="1" u="sng">
                <a:solidFill>
                  <a:srgbClr val="FFD27F"/>
                </a:solidFill>
                <a:latin typeface="Courier New"/>
              </a:rPr>
              <a:t>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{$all : ["apple", "banana"]}})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db.food.find({"fruit" : {"$size" : 3}})</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1, fruit: [ 'apple', 'banana', 'peach' ]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2,</a:t>
            </a:r>
          </a:p>
          <a:p>
            <a:pPr algn="l">
              <a:lnSpc>
                <a:spcPts val="3200"/>
              </a:lnSpc>
            </a:pPr>
            <a:r>
              <a:rPr sz="2800" b="0">
                <a:solidFill>
                  <a:srgbClr val="9FE0C9"/>
                </a:solidFill>
                <a:latin typeface="Courier New"/>
              </a:rPr>
              <a:t>    fruit: [ 'apple', 'kumquat', 'orange' ]</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 _id: 3, fruit: [ 'cherry', 'banana', 'apple' ]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embedded documents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32 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'c1', 'c2', 'c3', 'c4', 'c5', 'c6',</a:t>
            </a:r>
          </a:p>
          <a:p>
            <a:pPr algn="l">
              <a:lnSpc>
                <a:spcPts val="3200"/>
              </a:lnSpc>
            </a:pPr>
            <a:r>
              <a:rPr sz="2800" b="0">
                <a:solidFill>
                  <a:srgbClr val="9FE0C9"/>
                </a:solidFill>
                <a:latin typeface="Courier New"/>
              </a:rPr>
              <a:t>    'c7', 'c8', 'c9', 'c10'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'c31', 'c32', 'c33', 'c34', 'c35',</a:t>
            </a:r>
          </a:p>
          <a:p>
            <a:pPr algn="l">
              <a:lnSpc>
                <a:spcPts val="3200"/>
              </a:lnSpc>
            </a:pPr>
            <a:r>
              <a:rPr sz="2800" b="0">
                <a:solidFill>
                  <a:srgbClr val="9FE0C9"/>
                </a:solidFill>
                <a:latin typeface="Courier New"/>
              </a:rPr>
              <a:t>    'c36', 'c37', 'c38', 'c39', 'c40'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title: 'ADBS',</a:t>
            </a:r>
          </a:p>
          <a:p>
            <a:pPr algn="l">
              <a:lnSpc>
                <a:spcPts val="3200"/>
              </a:lnSpc>
            </a:pPr>
            <a:r>
              <a:rPr sz="2800" b="0">
                <a:solidFill>
                  <a:srgbClr val="9FE0C9"/>
                </a:solidFill>
                <a:latin typeface="Courier New"/>
              </a:rPr>
              <a:t>  comments: [ 'c24', 'c25', 'c26', 'c27', 'c28',</a:t>
            </a:r>
          </a:p>
          <a:p>
            <a:pPr algn="l">
              <a:lnSpc>
                <a:spcPts val="3200"/>
              </a:lnSpc>
            </a:pPr>
            <a:r>
              <a:rPr sz="2800" b="0">
                <a:solidFill>
                  <a:srgbClr val="9FE0C9"/>
                </a:solidFill>
                <a:latin typeface="Courier New"/>
              </a:rPr>
              <a:t>    'c29', 'c30', 'c31', 'c32', 'c33'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 → RESULT</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    _id: 1,</a:t>
            </a:r>
          </a:p>
          <a:p>
            <a:pPr algn="l">
              <a:lnSpc>
                <a:spcPts val="3200"/>
              </a:lnSpc>
            </a:pPr>
            <a:r>
              <a:rPr sz="2800" b="0">
                <a:solidFill>
                  <a:srgbClr val="9FE0C9"/>
                </a:solidFill>
                <a:latin typeface="Courier New"/>
              </a:rPr>
              <a:t>    name: { first: 'John', last: 'Escalona' },</a:t>
            </a:r>
          </a:p>
          <a:p>
            <a:pPr algn="l">
              <a:lnSpc>
                <a:spcPts val="3200"/>
              </a:lnSpc>
            </a:pPr>
            <a:r>
              <a:rPr sz="2800" b="0">
                <a:solidFill>
                  <a:srgbClr val="9FE0C9"/>
                </a:solidFill>
                <a:latin typeface="Courier New"/>
              </a:rPr>
              <a:t>    age: 45</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581912"/>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8191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58191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066543"/>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066543"/>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066543"/>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551176"/>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5117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55117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035808"/>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035808"/>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520440"/>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520440"/>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520440"/>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005072"/>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005072"/>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005072"/>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489704"/>
            <a:ext cx="11368735" cy="457200"/>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489704"/>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489704"/>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$slice  "name.first"</a:t>
            </a:r>
          </a:p>
        </p:txBody>
      </p:sp>
      <p:sp>
        <p:nvSpPr>
          <p:cNvPr id="28" name="Rectangle 27"/>
          <p:cNvSpPr/>
          <p:nvPr/>
        </p:nvSpPr>
        <p:spPr>
          <a:xfrm>
            <a:off x="411480" y="4974336"/>
            <a:ext cx="11368735" cy="457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974336"/>
            <a:ext cx="2377440" cy="4572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4974336"/>
            <a:ext cx="8625535" cy="457200"/>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
        <p:nvSpPr>
          <p:cNvPr id="31" name="Rectangle 30"/>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Every command, one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