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group and the topic: MongoDB commands from the 07 and 08 handouts, and cloud computing from the 09 handout.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each presenter's name.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Parts 1 to 6 are MongoDB commands from the 07 and 08 handouts. Parts 7 and 8 are cloud computing from the 09 handout.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Create &amp; Delete. Soundbite: Documents in, documents 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07 Handout's Table 2 maps SQL words to MongoDB words: tables are called collections, rows are called documents, columns are called fields. A collection can be thought of as a table with a dynamic schema. A document is the basic unit of data, roughly a row but more expressive. Every document has a special key, _id, that is unique in its collection. Say: Tables are collections. Rows are documents.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insertOne is the basic way to add one document. We did not give an _id, so insertOne added one automatically; it shows in the output as an ObjectId. Say: One document in. MongoDB adds the _id.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insert multiple documents, use insertMany and pass an array. Three movies went in with one command, and the output shows three new ids. Say: Many documents,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08 Handout: if a document halfway through insertMany causes an error, what happens depends on ordered or unordered. Ordered is the default: no documents after the error are inserted. Unordered, with ordered false: MongoDB tries to insert all documents, even if some fail. Same four movies, same duplicate _id 4. Unordered saved 3, 4 and 5. Ordered saved only 3 and 4. Say: Ordered stops at the error. Unordered keeps going.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provides deleteOne and deleteMany for removing documents. The handout deletes the document with _id 4 using deleteOne. The output says deletedCount 1, and checking again shows only 3 and 5 are left. Say: deleteOne removes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delete all documents that match a filter, use deleteMany. The handout shows three movies: two from 1985 and one from 1984. deleteMany with year 1985 removes both 1985 movies, so deletedCount is 2 and only Sixteen Candles stays. Say: deleteMany removes every match.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Find, Replace &amp; Update. Soundbite: Find it first. Then change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findOne returns a single matching document. In the handout, findOne loads Joe's document so it can be reshaped. Joe has friends 32 and enemies 2. Say: findOne brings back one document.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replaceOne fully replaces a matching document with a new one. The handout says this is useful for a dramatic schema migration. Friends and enemies move into a relationships subdocument, name becomes username, the old fields are deleted, then replaceOne saves it. Say: replaceOne swaps the whole document.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updateOne takes a filter first and a modifier second. The $set operator sets the value of a field; if the field does not exist yet, it is created. John gets a favorite book. The handout then shows $set can even change the type of the key: favorite book becomes an array of three books. Say: $set adds or changes a field.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remove the favorite book key altogether, the handout uses the $unset operator. After it runs, John's document no longer has a favorite book. Say: $unset removes a field.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can also reach in and change embedded documents. The book's author is a subdocument with name and email. Using author.name in quotes changes only the name to Nicole Tagayon; the email stays. Say: Use the dot to reach inside.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updateMany follows the same semantics as updateOne and takes the same parameters. The key difference is how many documents might be changed. Three users share the birthday 10/13/1978, so all three get the gift Happy Birthday. matchedCount and modifiedCount are both 3. Say: One rule, every match.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Query Selectors: Comparison. Soundbite: Less, less-or-equal, greater, greater-or-equal.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handout says $lt, $lte, $gt and $gte are comparison operators, corresponding to less than, less than or equal, greater than, and greater than or equal. The practice ages are our own data, used to show real results. Say: The e means equal is allowed.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 18 means less than 18: only Ana, 17. $lte 18 means less than or equal: Ana and Ben, who is exactly 18. Say: 18 is out with lt, in with lte.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30 means greater than 30: only Eli, 31. $gte 30 means greater than or equal: Dan, exactly 30, and Eli. Say: 30 is out with gt, in with gte.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handout looks for users between the ages of 18 and 30 by putting $gte 18 and $lte 30 on the same field. Both must be true: Ben, Cara and Dan. Say: Two operators, one field, one range.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Query Selectors: $in, $or, $not. Soundbite: One field, many values. Many fields, any match.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handout gives two ways to do an OR query. $in is used to query a variety of values for a single key. The raffle's winning tickets are 725, 542 and 390, and one $in query finds all three. Say: $in is a guest list for one field.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 is more general: it takes an array of possible criteria, and each can be on a different key. We want ticket 725 or any winner true. Ticket 725 matches the first; ticket 111 matches the second. Say: $or, pass any one test.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finds all documents that don't match a given pattern. The handout's example retrieves employees whose salary is not greater than 10,000 pesos. Rhea at 8,000 and Mark at exactly 10,000 come back; Liza at 15,000 does not. The salaries are our practice data. Say: $not flips the condition.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Querying Arrays. Soundbite: Arrays answer like single values.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handout inserts three documents whose fruit field is an array, written in square brackets. Basket 1 has apple, banana, peach. Basket 2 has apple, kumquat, orange. Basket 3 has cherry, banana, apple. Say: Square brackets make an array.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handout says querying for elements of an array is designed to behave the way querying for scalars does. Asking for fruit banana matches baskets 1 and 3, because each has banana somewhere in the array. Say: Ask for banana, get every basket with a banana.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need to match arrays by more than one element, use $all. Baskets with both apple and banana: 1 and 3. Basket 2 has no banana. Order does not matter: basket 3 has banana before apple. Say: $all, has them all, any order.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query a specific element of an array, specify an index with the syntax key dot index. fruit.2 is the third element, because counting starts at zero. Only basket 1 has peach in that position. Say: Count from zero.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matches any array with the number of elements given. Every basket has exactly three fruits, so $size 3 returns all three. Say: $size counts the elements.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$slice &amp; Embedded Documents. Soundbite: Trim what you see. Reach inside with a dot.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$slice returns a subset of elements for an array key. The handout's blog post example returns the first 10 comments with 10, and the last 10 with minus 10. Our practice post has 40 comments, c1 to c40. Say: Positive from the front, negative from the back.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$slice can return pages from the middle by taking an offset and a number of elements. [23, 10] skips the first 23 and returns the 24th through 33rd: c24 to c33. The handout notes that with fewer than 33 elements, it returns as many as possible. Say: Skip 23, take 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Embedded or nested documents are documents that contain a document inside another document. John's name holds first and last. You query embedded keys using dot notation, in quotes: name.first and name.last. Say: Use the dot to reach inside.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7: Cloud Computing &amp; Implementation Types. Soundbite: Cloud type = where it lives + who controls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Handout definition: cloud computing is the delivery of different services through the Internet, including data storage, servers, databases, networking and software. Rather than keeping files on a proprietary hard drive or local storage device, cloud storage saves them to a remote database. As long as a device has web access, it has access to the data and the programs to run it. Say: If it has the web, it has your data.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type is defined by where the infrastructure resides and who controls it. Public cloud: built by a third party to sell to the general public; the most common type; examples AWS, Google Application Engine and Microsoft Azure; high reliability, lower costs, zero maintenance, on-demand scalability, but not suitable for organizations with sensitive information under stringent security rules. Private cloud: built by an organization for its own needs, often large, geographically dispersed organizations; managed by internal IT staff or an external third party. Hybrid cloud: private plus public; for example, public cloud for high-volume apps like emails, private cloud for sensitive assets like financials and data recovery. Say: Rent it, own it, or mix both.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8: Cloud Service Types &amp; Benefits. Soundbite: Use it, build on it, or rent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services follow an a la carte model and can build on top of each other. SaaS: the provider offers turnkey applications that run in the cloud, such as MS Office 365, Google Docs, Intuit's TurboTax Online and SCALA digital signage; consumers can customize certain aspects but cannot change the application itself. PaaS: the provider offers the capability to build and deploy consumer-created applications with its tools, languages and interfaces, such as the Microsoft Azure platform with .NET and Java; the consumer does not manage the underlying infrastructure. IaaS: consumers provision their own resources on demand, such as an AWS server running Linux and Apache with 16 GB RAM and 160 GB storage. Say: SaaS, use it. PaaS, build on it. IaaS, rent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handout lists ten benefits, in this order: instant scalability; anywhere accessibility; increased speed and operational agility; reduced expenditure, since cloud costs depend on consumption, a variable expense; automatic updates and patches; disaster recovery; high security; reduced carbon footprint; flexibility; enterprise collaboration. Say: Scale up fast. Pay for what you use.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the three handouts and the references they cite.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Rectangle 1"/>
          <p:cNvSpPr/>
          <p:nvPr/>
        </p:nvSpPr>
        <p:spPr>
          <a:xfrm>
            <a:off x="0" y="5394960"/>
            <a:ext cx="12191695" cy="109728"/>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0972800" cy="457200"/>
          </a:xfrm>
          <a:prstGeom prst="rect">
            <a:avLst/>
          </a:prstGeom>
          <a:noFill/>
        </p:spPr>
        <p:txBody>
          <a:bodyPr wrap="square" anchor="t" lIns="73152" rIns="73152" tIns="73152" bIns="73152">
            <a:spAutoFit/>
          </a:bodyPr>
          <a:lstStyle/>
          <a:p>
            <a:pPr algn="l">
              <a:lnSpc>
                <a:spcPct val="110000"/>
              </a:lnSpc>
            </a:pPr>
            <a:r>
              <a:rPr sz="1600" b="1">
                <a:solidFill>
                  <a:srgbClr val="F2B27A"/>
                </a:solidFill>
                <a:latin typeface="Arial"/>
              </a:rPr>
              <a:t>IT2003 · ADVANCED DATABASE SYSTEMS</a:t>
            </a:r>
          </a:p>
        </p:txBody>
      </p:sp>
      <p:sp>
        <p:nvSpPr>
          <p:cNvPr id="4" name="TextBox 3"/>
          <p:cNvSpPr txBox="1"/>
          <p:nvPr/>
        </p:nvSpPr>
        <p:spPr>
          <a:xfrm>
            <a:off x="548640" y="1645920"/>
            <a:ext cx="10972800" cy="2011680"/>
          </a:xfrm>
          <a:prstGeom prst="rect">
            <a:avLst/>
          </a:prstGeom>
          <a:noFill/>
        </p:spPr>
        <p:txBody>
          <a:bodyPr wrap="square" anchor="t" lIns="73152" rIns="73152" tIns="73152" bIns="73152">
            <a:spAutoFit/>
          </a:bodyPr>
          <a:lstStyle/>
          <a:p>
            <a:pPr algn="l">
              <a:lnSpc>
                <a:spcPct val="95000"/>
              </a:lnSpc>
            </a:pPr>
            <a:r>
              <a:rPr sz="6000" b="1">
                <a:solidFill>
                  <a:srgbClr val="FFFFFF"/>
                </a:solidFill>
                <a:latin typeface="Arial"/>
              </a:rPr>
              <a:t>MongoDB Commands</a:t>
            </a:r>
          </a:p>
          <a:p>
            <a:pPr algn="l">
              <a:lnSpc>
                <a:spcPct val="95000"/>
              </a:lnSpc>
            </a:pPr>
            <a:r>
              <a:rPr sz="6000" b="1">
                <a:solidFill>
                  <a:srgbClr val="FFFFFF"/>
                </a:solidFill>
                <a:latin typeface="Arial"/>
              </a:rPr>
              <a:t>&amp; Cloud Computing</a:t>
            </a:r>
          </a:p>
        </p:txBody>
      </p:sp>
      <p:sp>
        <p:nvSpPr>
          <p:cNvPr id="5" name="TextBox 4"/>
          <p:cNvSpPr txBox="1"/>
          <p:nvPr/>
        </p:nvSpPr>
        <p:spPr>
          <a:xfrm>
            <a:off x="548640" y="3794760"/>
            <a:ext cx="10515600" cy="1097280"/>
          </a:xfrm>
          <a:prstGeom prst="rect">
            <a:avLst/>
          </a:prstGeom>
          <a:noFill/>
        </p:spPr>
        <p:txBody>
          <a:bodyPr wrap="square" anchor="t" lIns="73152" rIns="73152" tIns="73152" bIns="73152">
            <a:spAutoFit/>
          </a:bodyPr>
          <a:lstStyle/>
          <a:p>
            <a:pPr algn="l">
              <a:lnSpc>
                <a:spcPct val="110000"/>
              </a:lnSpc>
            </a:pPr>
            <a:r>
              <a:rPr sz="2200" b="0">
                <a:solidFill>
                  <a:srgbClr val="E6ECF2"/>
                </a:solidFill>
                <a:latin typeface="Arial"/>
              </a:rPr>
              <a:t>07, 08 and 09 Handouts</a:t>
            </a:r>
          </a:p>
        </p:txBody>
      </p:sp>
      <p:sp>
        <p:nvSpPr>
          <p:cNvPr id="6" name="TextBox 5"/>
          <p:cNvSpPr txBox="1"/>
          <p:nvPr/>
        </p:nvSpPr>
        <p:spPr>
          <a:xfrm>
            <a:off x="548640" y="5715000"/>
            <a:ext cx="10972800" cy="822960"/>
          </a:xfrm>
          <a:prstGeom prst="rect">
            <a:avLst/>
          </a:prstGeom>
          <a:noFill/>
        </p:spPr>
        <p:txBody>
          <a:bodyPr wrap="square" anchor="t" lIns="73152" rIns="73152" tIns="73152" bIns="73152">
            <a:spAutoFit/>
          </a:bodyPr>
          <a:lstStyle/>
          <a:p>
            <a:pPr algn="l">
              <a:lnSpc>
                <a:spcPct val="110000"/>
              </a:lnSpc>
            </a:pPr>
            <a:r>
              <a:rPr sz="1600" b="0">
                <a:solidFill>
                  <a:srgbClr val="E6ECF2"/>
                </a:solidFill>
                <a:latin typeface="Arial"/>
              </a:rPr>
              <a:t>Group: ____________________    Section: ________    Date: 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Who presents what</a:t>
            </a:r>
          </a:p>
        </p:txBody>
      </p:sp>
      <p:graphicFrame>
        <p:nvGraphicFramePr>
          <p:cNvPr id="4" name="Table 3"/>
          <p:cNvGraphicFramePr>
            <a:graphicFrameLocks noGrp="1"/>
          </p:cNvGraphicFramePr>
          <p:nvPr/>
        </p:nvGraphicFramePr>
        <p:xfrm>
          <a:off x="548640" y="1325880"/>
          <a:ext cx="11064240" cy="4754880"/>
        </p:xfrm>
        <a:graphic>
          <a:graphicData uri="http://schemas.openxmlformats.org/drawingml/2006/table">
            <a:tbl>
              <a:tblPr firstRow="1" bandRow="1">
                <a:tableStyleId>{5C22544A-7EE6-4342-B048-85BDC9FD1C3A}</a:tableStyleId>
              </a:tblPr>
              <a:tblGrid>
                <a:gridCol w="822960"/>
                <a:gridCol w="7040880"/>
                <a:gridCol w="3200400"/>
              </a:tblGrid>
              <a:tr h="528320">
                <a:tc>
                  <a:txBody>
                    <a:bodyPr/>
                    <a:lstStyle/>
                    <a:p>
                      <a:r>
                        <a:rPr sz="1600" b="1">
                          <a:solidFill>
                            <a:srgbClr val="FFFFFF"/>
                          </a:solidFill>
                          <a:latin typeface="Arial"/>
                        </a:rPr>
                        <a:t>Part</a:t>
                      </a:r>
                    </a:p>
                  </a:txBody>
                  <a:tcPr>
                    <a:solidFill>
                      <a:srgbClr val="14202E"/>
                    </a:solidFill>
                  </a:tcPr>
                </a:tc>
                <a:tc>
                  <a:txBody>
                    <a:bodyPr/>
                    <a:lstStyle/>
                    <a:p>
                      <a:r>
                        <a:rPr sz="1600" b="1">
                          <a:solidFill>
                            <a:srgbClr val="FFFFFF"/>
                          </a:solidFill>
                          <a:latin typeface="Arial"/>
                        </a:rPr>
                        <a:t>Topic</a:t>
                      </a:r>
                    </a:p>
                  </a:txBody>
                  <a:tcPr>
                    <a:solidFill>
                      <a:srgbClr val="14202E"/>
                    </a:solidFill>
                  </a:tcPr>
                </a:tc>
                <a:tc>
                  <a:txBody>
                    <a:bodyPr/>
                    <a:lstStyle/>
                    <a:p>
                      <a:r>
                        <a:rPr sz="1600" b="1">
                          <a:solidFill>
                            <a:srgbClr val="FFFFFF"/>
                          </a:solidFill>
                          <a:latin typeface="Arial"/>
                        </a:rPr>
                        <a:t>Presenter</a:t>
                      </a:r>
                    </a:p>
                  </a:txBody>
                  <a:tcPr>
                    <a:solidFill>
                      <a:srgbClr val="14202E"/>
                    </a:solidFill>
                  </a:tcPr>
                </a:tc>
              </a:tr>
              <a:tr h="528320">
                <a:tc>
                  <a:txBody>
                    <a:bodyPr/>
                    <a:lstStyle/>
                    <a:p>
                      <a:r>
                        <a:rPr sz="1400">
                          <a:solidFill>
                            <a:srgbClr val="14202E"/>
                          </a:solidFill>
                          <a:latin typeface="Arial"/>
                        </a:rPr>
                        <a:t>1</a:t>
                      </a:r>
                    </a:p>
                  </a:txBody>
                  <a:tcPr>
                    <a:solidFill>
                      <a:srgbClr val="FFFFFF"/>
                    </a:solidFill>
                  </a:tcPr>
                </a:tc>
                <a:tc>
                  <a:txBody>
                    <a:bodyPr/>
                    <a:lstStyle/>
                    <a:p>
                      <a:r>
                        <a:rPr sz="1400">
                          <a:solidFill>
                            <a:srgbClr val="14202E"/>
                          </a:solidFill>
                          <a:latin typeface="Arial"/>
                        </a:rPr>
                        <a:t>Create &amp; Delete  ·  insertOne · insertMany · deleteOne · deleteMany</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2</a:t>
                      </a:r>
                    </a:p>
                  </a:txBody>
                  <a:tcPr>
                    <a:solidFill>
                      <a:srgbClr val="F6F8FA"/>
                    </a:solidFill>
                  </a:tcPr>
                </a:tc>
                <a:tc>
                  <a:txBody>
                    <a:bodyPr/>
                    <a:lstStyle/>
                    <a:p>
                      <a:r>
                        <a:rPr sz="1400">
                          <a:solidFill>
                            <a:srgbClr val="14202E"/>
                          </a:solidFill>
                          <a:latin typeface="Arial"/>
                        </a:rPr>
                        <a:t>Find, Replace &amp; Update  ·  findOne · replaceOne · updateOne · updateMany</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3</a:t>
                      </a:r>
                    </a:p>
                  </a:txBody>
                  <a:tcPr>
                    <a:solidFill>
                      <a:srgbClr val="FFFFFF"/>
                    </a:solidFill>
                  </a:tcPr>
                </a:tc>
                <a:tc>
                  <a:txBody>
                    <a:bodyPr/>
                    <a:lstStyle/>
                    <a:p>
                      <a:r>
                        <a:rPr sz="1400">
                          <a:solidFill>
                            <a:srgbClr val="14202E"/>
                          </a:solidFill>
                          <a:latin typeface="Arial"/>
                        </a:rPr>
                        <a:t>Query Selectors: Comparison  ·  $lt · $lte · $gt · $gte</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4</a:t>
                      </a:r>
                    </a:p>
                  </a:txBody>
                  <a:tcPr>
                    <a:solidFill>
                      <a:srgbClr val="F6F8FA"/>
                    </a:solidFill>
                  </a:tcPr>
                </a:tc>
                <a:tc>
                  <a:txBody>
                    <a:bodyPr/>
                    <a:lstStyle/>
                    <a:p>
                      <a:r>
                        <a:rPr sz="1400">
                          <a:solidFill>
                            <a:srgbClr val="14202E"/>
                          </a:solidFill>
                          <a:latin typeface="Arial"/>
                        </a:rPr>
                        <a:t>Query Selectors: $in, $or, $not  ·  $in · $or · $not</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5</a:t>
                      </a:r>
                    </a:p>
                  </a:txBody>
                  <a:tcPr>
                    <a:solidFill>
                      <a:srgbClr val="FFFFFF"/>
                    </a:solidFill>
                  </a:tcPr>
                </a:tc>
                <a:tc>
                  <a:txBody>
                    <a:bodyPr/>
                    <a:lstStyle/>
                    <a:p>
                      <a:r>
                        <a:rPr sz="1400">
                          <a:solidFill>
                            <a:srgbClr val="14202E"/>
                          </a:solidFill>
                          <a:latin typeface="Arial"/>
                        </a:rPr>
                        <a:t>Querying Arrays  ·  inserting arrays · array match · $all · $size</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6</a:t>
                      </a:r>
                    </a:p>
                  </a:txBody>
                  <a:tcPr>
                    <a:solidFill>
                      <a:srgbClr val="F6F8FA"/>
                    </a:solidFill>
                  </a:tcPr>
                </a:tc>
                <a:tc>
                  <a:txBody>
                    <a:bodyPr/>
                    <a:lstStyle/>
                    <a:p>
                      <a:r>
                        <a:rPr sz="1400">
                          <a:solidFill>
                            <a:srgbClr val="14202E"/>
                          </a:solidFill>
                          <a:latin typeface="Arial"/>
                        </a:rPr>
                        <a:t>$slice &amp; Embedded Documents  ·  $slice · dot notation · embedded documents</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r h="528320">
                <a:tc>
                  <a:txBody>
                    <a:bodyPr/>
                    <a:lstStyle/>
                    <a:p>
                      <a:r>
                        <a:rPr sz="1400">
                          <a:solidFill>
                            <a:srgbClr val="14202E"/>
                          </a:solidFill>
                          <a:latin typeface="Arial"/>
                        </a:rPr>
                        <a:t>7</a:t>
                      </a:r>
                    </a:p>
                  </a:txBody>
                  <a:tcPr>
                    <a:solidFill>
                      <a:srgbClr val="FFFFFF"/>
                    </a:solidFill>
                  </a:tcPr>
                </a:tc>
                <a:tc>
                  <a:txBody>
                    <a:bodyPr/>
                    <a:lstStyle/>
                    <a:p>
                      <a:r>
                        <a:rPr sz="1400">
                          <a:solidFill>
                            <a:srgbClr val="14202E"/>
                          </a:solidFill>
                          <a:latin typeface="Arial"/>
                        </a:rPr>
                        <a:t>Cloud Computing &amp; Implementation Types  ·  public · private · hybrid</a:t>
                      </a:r>
                    </a:p>
                  </a:txBody>
                  <a:tcPr>
                    <a:solidFill>
                      <a:srgbClr val="FFFFFF"/>
                    </a:solidFill>
                  </a:tcPr>
                </a:tc>
                <a:tc>
                  <a:txBody>
                    <a:bodyPr/>
                    <a:lstStyle/>
                    <a:p>
                      <a:r>
                        <a:rPr sz="1400">
                          <a:solidFill>
                            <a:srgbClr val="14202E"/>
                          </a:solidFill>
                          <a:latin typeface="Arial"/>
                        </a:rPr>
                        <a:t>____________________</a:t>
                      </a:r>
                    </a:p>
                  </a:txBody>
                  <a:tcPr>
                    <a:solidFill>
                      <a:srgbClr val="FFFFFF"/>
                    </a:solidFill>
                  </a:tcPr>
                </a:tc>
              </a:tr>
              <a:tr h="528320">
                <a:tc>
                  <a:txBody>
                    <a:bodyPr/>
                    <a:lstStyle/>
                    <a:p>
                      <a:r>
                        <a:rPr sz="1400">
                          <a:solidFill>
                            <a:srgbClr val="14202E"/>
                          </a:solidFill>
                          <a:latin typeface="Arial"/>
                        </a:rPr>
                        <a:t>8</a:t>
                      </a:r>
                    </a:p>
                  </a:txBody>
                  <a:tcPr>
                    <a:solidFill>
                      <a:srgbClr val="F6F8FA"/>
                    </a:solidFill>
                  </a:tcPr>
                </a:tc>
                <a:tc>
                  <a:txBody>
                    <a:bodyPr/>
                    <a:lstStyle/>
                    <a:p>
                      <a:r>
                        <a:rPr sz="1400">
                          <a:solidFill>
                            <a:srgbClr val="14202E"/>
                          </a:solidFill>
                          <a:latin typeface="Arial"/>
                        </a:rPr>
                        <a:t>Cloud Service Types &amp; Benefits  ·  SaaS · PaaS · IaaS · 10 benefits</a:t>
                      </a:r>
                    </a:p>
                  </a:txBody>
                  <a:tcPr>
                    <a:solidFill>
                      <a:srgbClr val="F6F8FA"/>
                    </a:solidFill>
                  </a:tcPr>
                </a:tc>
                <a:tc>
                  <a:txBody>
                    <a:bodyPr/>
                    <a:lstStyle/>
                    <a:p>
                      <a:r>
                        <a:rPr sz="1400">
                          <a:solidFill>
                            <a:srgbClr val="14202E"/>
                          </a:solidFill>
                          <a:latin typeface="Arial"/>
                        </a:rPr>
                        <a:t>____________________</a:t>
                      </a:r>
                    </a:p>
                  </a:txBody>
                  <a:tcPr>
                    <a:solidFill>
                      <a:srgbClr val="F6F8FA"/>
                    </a:solidFill>
                  </a:tcPr>
                </a:tc>
              </a:tr>
            </a:tbl>
          </a:graphicData>
        </a:graphic>
      </p:graphicFrame>
      <p:sp>
        <p:nvSpPr>
          <p:cNvPr id="5" name="TextBox 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Eight parts</a:t>
            </a:r>
          </a:p>
        </p:txBody>
      </p:sp>
      <p:sp>
        <p:nvSpPr>
          <p:cNvPr id="4" name="Rectangle 3"/>
          <p:cNvSpPr/>
          <p:nvPr/>
        </p:nvSpPr>
        <p:spPr>
          <a:xfrm>
            <a:off x="548640" y="1417320"/>
            <a:ext cx="5394960" cy="1060704"/>
          </a:xfrm>
          <a:prstGeom prst="rect">
            <a:avLst/>
          </a:prstGeom>
          <a:solidFill>
            <a:srgbClr val="FFFFFF"/>
          </a:solidFill>
          <a:ln w="1905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90472"/>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1</a:t>
            </a:r>
          </a:p>
        </p:txBody>
      </p:sp>
      <p:sp>
        <p:nvSpPr>
          <p:cNvPr id="6" name="TextBox 5"/>
          <p:cNvSpPr txBox="1"/>
          <p:nvPr/>
        </p:nvSpPr>
        <p:spPr>
          <a:xfrm>
            <a:off x="1417320" y="1508760"/>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Create &amp; Delete</a:t>
            </a:r>
          </a:p>
        </p:txBody>
      </p:sp>
      <p:sp>
        <p:nvSpPr>
          <p:cNvPr id="7" name="TextBox 6"/>
          <p:cNvSpPr txBox="1"/>
          <p:nvPr/>
        </p:nvSpPr>
        <p:spPr>
          <a:xfrm>
            <a:off x="1417320" y="1920240"/>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urier New"/>
              </a:rPr>
              <a:t>insertOne · insertMany · deleteOne · deleteMany</a:t>
            </a:r>
          </a:p>
        </p:txBody>
      </p:sp>
      <p:sp>
        <p:nvSpPr>
          <p:cNvPr id="8" name="Rectangle 7"/>
          <p:cNvSpPr/>
          <p:nvPr/>
        </p:nvSpPr>
        <p:spPr>
          <a:xfrm>
            <a:off x="548640" y="2624328"/>
            <a:ext cx="5394960" cy="1060704"/>
          </a:xfrm>
          <a:prstGeom prst="rect">
            <a:avLst/>
          </a:prstGeom>
          <a:solidFill>
            <a:srgbClr val="FFFFFF"/>
          </a:solidFill>
          <a:ln w="1905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97480"/>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2</a:t>
            </a:r>
          </a:p>
        </p:txBody>
      </p:sp>
      <p:sp>
        <p:nvSpPr>
          <p:cNvPr id="10" name="TextBox 9"/>
          <p:cNvSpPr txBox="1"/>
          <p:nvPr/>
        </p:nvSpPr>
        <p:spPr>
          <a:xfrm>
            <a:off x="1417320" y="2715768"/>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Find, Replace &amp; Update</a:t>
            </a:r>
          </a:p>
        </p:txBody>
      </p:sp>
      <p:sp>
        <p:nvSpPr>
          <p:cNvPr id="11" name="TextBox 10"/>
          <p:cNvSpPr txBox="1"/>
          <p:nvPr/>
        </p:nvSpPr>
        <p:spPr>
          <a:xfrm>
            <a:off x="1417320" y="3127248"/>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urier New"/>
              </a:rPr>
              <a:t>findOne · replaceOne · updateOne · updateMany</a:t>
            </a:r>
          </a:p>
        </p:txBody>
      </p:sp>
      <p:sp>
        <p:nvSpPr>
          <p:cNvPr id="12" name="Rectangle 11"/>
          <p:cNvSpPr/>
          <p:nvPr/>
        </p:nvSpPr>
        <p:spPr>
          <a:xfrm>
            <a:off x="548640" y="3831336"/>
            <a:ext cx="5394960" cy="1060704"/>
          </a:xfrm>
          <a:prstGeom prst="rect">
            <a:avLst/>
          </a:prstGeom>
          <a:solidFill>
            <a:srgbClr val="FFFFFF"/>
          </a:solidFill>
          <a:ln w="1905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904488"/>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3</a:t>
            </a:r>
          </a:p>
        </p:txBody>
      </p:sp>
      <p:sp>
        <p:nvSpPr>
          <p:cNvPr id="14" name="TextBox 13"/>
          <p:cNvSpPr txBox="1"/>
          <p:nvPr/>
        </p:nvSpPr>
        <p:spPr>
          <a:xfrm>
            <a:off x="1417320" y="3922776"/>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Query Selectors: Comparison</a:t>
            </a:r>
          </a:p>
        </p:txBody>
      </p:sp>
      <p:sp>
        <p:nvSpPr>
          <p:cNvPr id="15" name="TextBox 14"/>
          <p:cNvSpPr txBox="1"/>
          <p:nvPr/>
        </p:nvSpPr>
        <p:spPr>
          <a:xfrm>
            <a:off x="1417320" y="4334256"/>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urier New"/>
              </a:rPr>
              <a:t>$lt · $lte · $gt · $gte</a:t>
            </a:r>
          </a:p>
        </p:txBody>
      </p:sp>
      <p:sp>
        <p:nvSpPr>
          <p:cNvPr id="16" name="Rectangle 15"/>
          <p:cNvSpPr/>
          <p:nvPr/>
        </p:nvSpPr>
        <p:spPr>
          <a:xfrm>
            <a:off x="548640" y="5038344"/>
            <a:ext cx="5394960" cy="1060704"/>
          </a:xfrm>
          <a:prstGeom prst="rect">
            <a:avLst/>
          </a:prstGeom>
          <a:solidFill>
            <a:srgbClr val="FFFFFF"/>
          </a:solidFill>
          <a:ln w="1905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111496"/>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4</a:t>
            </a:r>
          </a:p>
        </p:txBody>
      </p:sp>
      <p:sp>
        <p:nvSpPr>
          <p:cNvPr id="18" name="TextBox 17"/>
          <p:cNvSpPr txBox="1"/>
          <p:nvPr/>
        </p:nvSpPr>
        <p:spPr>
          <a:xfrm>
            <a:off x="1417320" y="5129784"/>
            <a:ext cx="4434840" cy="457200"/>
          </a:xfrm>
          <a:prstGeom prst="rect">
            <a:avLst/>
          </a:prstGeom>
          <a:noFill/>
        </p:spPr>
        <p:txBody>
          <a:bodyPr wrap="square" anchor="t" lIns="73152" rIns="73152" tIns="73152" bIns="73152">
            <a:spAutoFit/>
          </a:bodyPr>
          <a:lstStyle/>
          <a:p>
            <a:pPr algn="l">
              <a:lnSpc>
                <a:spcPct val="110000"/>
              </a:lnSpc>
            </a:pPr>
            <a:r>
              <a:rPr sz="1600" b="1">
                <a:solidFill>
                  <a:srgbClr val="14202E"/>
                </a:solidFill>
                <a:latin typeface="Arial"/>
              </a:rPr>
              <a:t>Query Selectors: $in, $or, $not</a:t>
            </a:r>
          </a:p>
        </p:txBody>
      </p:sp>
      <p:sp>
        <p:nvSpPr>
          <p:cNvPr id="19" name="TextBox 18"/>
          <p:cNvSpPr txBox="1"/>
          <p:nvPr/>
        </p:nvSpPr>
        <p:spPr>
          <a:xfrm>
            <a:off x="1417320" y="5541264"/>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urier New"/>
              </a:rPr>
              <a:t>$in · $or · $not</a:t>
            </a:r>
          </a:p>
        </p:txBody>
      </p:sp>
      <p:sp>
        <p:nvSpPr>
          <p:cNvPr id="20" name="Rectangle 19"/>
          <p:cNvSpPr/>
          <p:nvPr/>
        </p:nvSpPr>
        <p:spPr>
          <a:xfrm>
            <a:off x="6217920" y="1417320"/>
            <a:ext cx="5394960" cy="1060704"/>
          </a:xfrm>
          <a:prstGeom prst="rect">
            <a:avLst/>
          </a:prstGeom>
          <a:solidFill>
            <a:srgbClr val="FFFFFF"/>
          </a:solidFill>
          <a:ln w="1905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490472"/>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5</a:t>
            </a:r>
          </a:p>
        </p:txBody>
      </p:sp>
      <p:sp>
        <p:nvSpPr>
          <p:cNvPr id="22" name="TextBox 21"/>
          <p:cNvSpPr txBox="1"/>
          <p:nvPr/>
        </p:nvSpPr>
        <p:spPr>
          <a:xfrm>
            <a:off x="7086600" y="1508760"/>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Querying Arrays</a:t>
            </a:r>
          </a:p>
        </p:txBody>
      </p:sp>
      <p:sp>
        <p:nvSpPr>
          <p:cNvPr id="23" name="TextBox 22"/>
          <p:cNvSpPr txBox="1"/>
          <p:nvPr/>
        </p:nvSpPr>
        <p:spPr>
          <a:xfrm>
            <a:off x="7086600" y="1920240"/>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urier New"/>
              </a:rPr>
              <a:t>inserting arrays · array match · $all · $size</a:t>
            </a:r>
          </a:p>
        </p:txBody>
      </p:sp>
      <p:sp>
        <p:nvSpPr>
          <p:cNvPr id="24" name="Rectangle 23"/>
          <p:cNvSpPr/>
          <p:nvPr/>
        </p:nvSpPr>
        <p:spPr>
          <a:xfrm>
            <a:off x="6217920" y="2624328"/>
            <a:ext cx="5394960" cy="1060704"/>
          </a:xfrm>
          <a:prstGeom prst="rect">
            <a:avLst/>
          </a:prstGeom>
          <a:solidFill>
            <a:srgbClr val="FFFFFF"/>
          </a:solidFill>
          <a:ln w="1905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697480"/>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6</a:t>
            </a:r>
          </a:p>
        </p:txBody>
      </p:sp>
      <p:sp>
        <p:nvSpPr>
          <p:cNvPr id="26" name="TextBox 25"/>
          <p:cNvSpPr txBox="1"/>
          <p:nvPr/>
        </p:nvSpPr>
        <p:spPr>
          <a:xfrm>
            <a:off x="7086600" y="2715768"/>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$slice &amp; Embedded Documents</a:t>
            </a:r>
          </a:p>
        </p:txBody>
      </p:sp>
      <p:sp>
        <p:nvSpPr>
          <p:cNvPr id="27" name="TextBox 26"/>
          <p:cNvSpPr txBox="1"/>
          <p:nvPr/>
        </p:nvSpPr>
        <p:spPr>
          <a:xfrm>
            <a:off x="7086600" y="3127248"/>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urier New"/>
              </a:rPr>
              <a:t>$slice · dot notation · embedded documents</a:t>
            </a:r>
          </a:p>
        </p:txBody>
      </p:sp>
      <p:sp>
        <p:nvSpPr>
          <p:cNvPr id="28" name="Rectangle 27"/>
          <p:cNvSpPr/>
          <p:nvPr/>
        </p:nvSpPr>
        <p:spPr>
          <a:xfrm>
            <a:off x="6217920" y="3831336"/>
            <a:ext cx="5394960" cy="1060704"/>
          </a:xfrm>
          <a:prstGeom prst="rect">
            <a:avLst/>
          </a:prstGeom>
          <a:solidFill>
            <a:srgbClr val="FFFFFF"/>
          </a:solidFill>
          <a:ln w="1905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3904488"/>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7</a:t>
            </a:r>
          </a:p>
        </p:txBody>
      </p:sp>
      <p:sp>
        <p:nvSpPr>
          <p:cNvPr id="30" name="TextBox 29"/>
          <p:cNvSpPr txBox="1"/>
          <p:nvPr/>
        </p:nvSpPr>
        <p:spPr>
          <a:xfrm>
            <a:off x="7086600" y="3922776"/>
            <a:ext cx="4434840" cy="457200"/>
          </a:xfrm>
          <a:prstGeom prst="rect">
            <a:avLst/>
          </a:prstGeom>
          <a:noFill/>
        </p:spPr>
        <p:txBody>
          <a:bodyPr wrap="square" anchor="t" lIns="73152" rIns="73152" tIns="73152" bIns="73152">
            <a:spAutoFit/>
          </a:bodyPr>
          <a:lstStyle/>
          <a:p>
            <a:pPr algn="l">
              <a:lnSpc>
                <a:spcPct val="110000"/>
              </a:lnSpc>
            </a:pPr>
            <a:r>
              <a:rPr sz="1600" b="1">
                <a:solidFill>
                  <a:srgbClr val="14202E"/>
                </a:solidFill>
                <a:latin typeface="Arial"/>
              </a:rPr>
              <a:t>Cloud Computing &amp; Implementation Types</a:t>
            </a:r>
          </a:p>
        </p:txBody>
      </p:sp>
      <p:sp>
        <p:nvSpPr>
          <p:cNvPr id="31" name="TextBox 30"/>
          <p:cNvSpPr txBox="1"/>
          <p:nvPr/>
        </p:nvSpPr>
        <p:spPr>
          <a:xfrm>
            <a:off x="7086600" y="4334256"/>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urier New"/>
              </a:rPr>
              <a:t>public · private · hybrid</a:t>
            </a:r>
          </a:p>
        </p:txBody>
      </p:sp>
      <p:sp>
        <p:nvSpPr>
          <p:cNvPr id="32" name="Rectangle 31"/>
          <p:cNvSpPr/>
          <p:nvPr/>
        </p:nvSpPr>
        <p:spPr>
          <a:xfrm>
            <a:off x="6217920" y="5038344"/>
            <a:ext cx="5394960" cy="1060704"/>
          </a:xfrm>
          <a:prstGeom prst="rect">
            <a:avLst/>
          </a:prstGeom>
          <a:solidFill>
            <a:srgbClr val="FFFFFF"/>
          </a:solidFill>
          <a:ln w="1905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5111496"/>
            <a:ext cx="731520" cy="914400"/>
          </a:xfrm>
          <a:prstGeom prst="rect">
            <a:avLst/>
          </a:prstGeom>
          <a:noFill/>
        </p:spPr>
        <p:txBody>
          <a:bodyPr wrap="square" anchor="t" lIns="73152" rIns="73152" tIns="73152" bIns="73152">
            <a:spAutoFit/>
          </a:bodyPr>
          <a:lstStyle/>
          <a:p>
            <a:pPr algn="l">
              <a:lnSpc>
                <a:spcPct val="110000"/>
              </a:lnSpc>
            </a:pPr>
            <a:r>
              <a:rPr sz="4000" b="1">
                <a:solidFill>
                  <a:srgbClr val="D9480F"/>
                </a:solidFill>
                <a:latin typeface="Arial"/>
              </a:rPr>
              <a:t>8</a:t>
            </a:r>
          </a:p>
        </p:txBody>
      </p:sp>
      <p:sp>
        <p:nvSpPr>
          <p:cNvPr id="34" name="TextBox 33"/>
          <p:cNvSpPr txBox="1"/>
          <p:nvPr/>
        </p:nvSpPr>
        <p:spPr>
          <a:xfrm>
            <a:off x="7086600" y="5129784"/>
            <a:ext cx="4434840" cy="45720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Cloud Service Types &amp; Benefits</a:t>
            </a:r>
          </a:p>
        </p:txBody>
      </p:sp>
      <p:sp>
        <p:nvSpPr>
          <p:cNvPr id="35" name="TextBox 34"/>
          <p:cNvSpPr txBox="1"/>
          <p:nvPr/>
        </p:nvSpPr>
        <p:spPr>
          <a:xfrm>
            <a:off x="7086600" y="5541264"/>
            <a:ext cx="4434840" cy="502920"/>
          </a:xfrm>
          <a:prstGeom prst="rect">
            <a:avLst/>
          </a:prstGeom>
          <a:noFill/>
        </p:spPr>
        <p:txBody>
          <a:bodyPr wrap="square" anchor="t" lIns="73152" rIns="73152" tIns="73152" bIns="73152">
            <a:spAutoFit/>
          </a:bodyPr>
          <a:lstStyle/>
          <a:p>
            <a:pPr algn="l">
              <a:lnSpc>
                <a:spcPct val="110000"/>
              </a:lnSpc>
            </a:pPr>
            <a:r>
              <a:rPr sz="1300" b="0">
                <a:solidFill>
                  <a:srgbClr val="4A5868"/>
                </a:solidFill>
                <a:latin typeface="Courier New"/>
              </a:rPr>
              <a:t>SaaS · PaaS · IaaS · 10 benefits</a:t>
            </a:r>
          </a:p>
        </p:txBody>
      </p:sp>
      <p:sp>
        <p:nvSpPr>
          <p:cNvPr id="36" name="TextBox 35"/>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08, 09 Handouts</a:t>
            </a:r>
          </a:p>
        </p:txBody>
      </p:sp>
      <p:sp>
        <p:nvSpPr>
          <p:cNvPr id="37" name="TextBox 3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1</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Create &amp; Delete</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urier New"/>
              </a:rPr>
              <a:t>insertOne · insertMany · deleteOne · deleteMany</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“Documents in, documents out.”</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Tables are collections, rows are documents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Tables are collections. Rows are documents.</a:t>
            </a:r>
          </a:p>
        </p:txBody>
      </p:sp>
      <p:graphicFrame>
        <p:nvGraphicFramePr>
          <p:cNvPr id="6" name="Table 5"/>
          <p:cNvGraphicFramePr>
            <a:graphicFrameLocks noGrp="1"/>
          </p:cNvGraphicFramePr>
          <p:nvPr/>
        </p:nvGraphicFramePr>
        <p:xfrm>
          <a:off x="548640" y="1828800"/>
          <a:ext cx="11094415" cy="3200400"/>
        </p:xfrm>
        <a:graphic>
          <a:graphicData uri="http://schemas.openxmlformats.org/drawingml/2006/table">
            <a:tbl>
              <a:tblPr firstRow="1" bandRow="1">
                <a:tableStyleId>{5C22544A-7EE6-4342-B048-85BDC9FD1C3A}</a:tableStyleId>
              </a:tblPr>
              <a:tblGrid>
                <a:gridCol w="5547207"/>
                <a:gridCol w="5547208"/>
              </a:tblGrid>
              <a:tr h="640080">
                <a:tc>
                  <a:txBody>
                    <a:bodyPr/>
                    <a:lstStyle/>
                    <a:p>
                      <a:r>
                        <a:rPr sz="1800" b="1">
                          <a:solidFill>
                            <a:srgbClr val="FFFFFF"/>
                          </a:solidFill>
                          <a:latin typeface="Arial"/>
                        </a:rPr>
                        <a:t>SQL</a:t>
                      </a:r>
                    </a:p>
                  </a:txBody>
                  <a:tcPr>
                    <a:solidFill>
                      <a:srgbClr val="14202E"/>
                    </a:solidFill>
                  </a:tcPr>
                </a:tc>
                <a:tc>
                  <a:txBody>
                    <a:bodyPr/>
                    <a:lstStyle/>
                    <a:p>
                      <a:r>
                        <a:rPr sz="1800" b="1">
                          <a:solidFill>
                            <a:srgbClr val="FFFFFF"/>
                          </a:solidFill>
                          <a:latin typeface="Arial"/>
                        </a:rPr>
                        <a:t>MongoDB</a:t>
                      </a:r>
                    </a:p>
                  </a:txBody>
                  <a:tcPr>
                    <a:solidFill>
                      <a:srgbClr val="14202E"/>
                    </a:solidFill>
                  </a:tcPr>
                </a:tc>
              </a:tr>
              <a:tr h="640080">
                <a:tc>
                  <a:txBody>
                    <a:bodyPr/>
                    <a:lstStyle/>
                    <a:p>
                      <a:r>
                        <a:rPr sz="2200" b="1">
                          <a:solidFill>
                            <a:srgbClr val="14202E"/>
                          </a:solidFill>
                          <a:latin typeface="Arial"/>
                        </a:rPr>
                        <a:t>Database</a:t>
                      </a:r>
                    </a:p>
                  </a:txBody>
                  <a:tcPr anchor="ctr">
                    <a:solidFill>
                      <a:srgbClr val="FFFFFF"/>
                    </a:solidFill>
                  </a:tcPr>
                </a:tc>
                <a:tc>
                  <a:txBody>
                    <a:bodyPr/>
                    <a:lstStyle/>
                    <a:p>
                      <a:r>
                        <a:rPr sz="2200" b="0">
                          <a:solidFill>
                            <a:srgbClr val="14202E"/>
                          </a:solidFill>
                          <a:latin typeface="Arial"/>
                        </a:rPr>
                        <a:t>Database</a:t>
                      </a:r>
                    </a:p>
                  </a:txBody>
                  <a:tcPr anchor="ctr">
                    <a:solidFill>
                      <a:srgbClr val="FFFFFF"/>
                    </a:solidFill>
                  </a:tcPr>
                </a:tc>
              </a:tr>
              <a:tr h="640080">
                <a:tc>
                  <a:txBody>
                    <a:bodyPr/>
                    <a:lstStyle/>
                    <a:p>
                      <a:r>
                        <a:rPr sz="2200" b="1">
                          <a:solidFill>
                            <a:srgbClr val="14202E"/>
                          </a:solidFill>
                          <a:latin typeface="Arial"/>
                        </a:rPr>
                        <a:t>Tables</a:t>
                      </a:r>
                    </a:p>
                  </a:txBody>
                  <a:tcPr anchor="ctr">
                    <a:solidFill>
                      <a:srgbClr val="F6F8FA"/>
                    </a:solidFill>
                  </a:tcPr>
                </a:tc>
                <a:tc>
                  <a:txBody>
                    <a:bodyPr/>
                    <a:lstStyle/>
                    <a:p>
                      <a:r>
                        <a:rPr sz="2200" b="0">
                          <a:solidFill>
                            <a:srgbClr val="14202E"/>
                          </a:solidFill>
                          <a:latin typeface="Arial"/>
                        </a:rPr>
                        <a:t>Collections</a:t>
                      </a:r>
                    </a:p>
                  </a:txBody>
                  <a:tcPr anchor="ctr">
                    <a:solidFill>
                      <a:srgbClr val="F6F8FA"/>
                    </a:solidFill>
                  </a:tcPr>
                </a:tc>
              </a:tr>
              <a:tr h="640080">
                <a:tc>
                  <a:txBody>
                    <a:bodyPr/>
                    <a:lstStyle/>
                    <a:p>
                      <a:r>
                        <a:rPr sz="2200" b="1">
                          <a:solidFill>
                            <a:srgbClr val="14202E"/>
                          </a:solidFill>
                          <a:latin typeface="Arial"/>
                        </a:rPr>
                        <a:t>Rows</a:t>
                      </a:r>
                    </a:p>
                  </a:txBody>
                  <a:tcPr anchor="ctr">
                    <a:solidFill>
                      <a:srgbClr val="FFFFFF"/>
                    </a:solidFill>
                  </a:tcPr>
                </a:tc>
                <a:tc>
                  <a:txBody>
                    <a:bodyPr/>
                    <a:lstStyle/>
                    <a:p>
                      <a:r>
                        <a:rPr sz="2200" b="0">
                          <a:solidFill>
                            <a:srgbClr val="14202E"/>
                          </a:solidFill>
                          <a:latin typeface="Arial"/>
                        </a:rPr>
                        <a:t>Documents</a:t>
                      </a:r>
                    </a:p>
                  </a:txBody>
                  <a:tcPr anchor="ctr">
                    <a:solidFill>
                      <a:srgbClr val="FFFFFF"/>
                    </a:solidFill>
                  </a:tcPr>
                </a:tc>
              </a:tr>
              <a:tr h="640080">
                <a:tc>
                  <a:txBody>
                    <a:bodyPr/>
                    <a:lstStyle/>
                    <a:p>
                      <a:r>
                        <a:rPr sz="2200" b="1">
                          <a:solidFill>
                            <a:srgbClr val="14202E"/>
                          </a:solidFill>
                          <a:latin typeface="Arial"/>
                        </a:rPr>
                        <a:t>Columns</a:t>
                      </a:r>
                    </a:p>
                  </a:txBody>
                  <a:tcPr anchor="ctr">
                    <a:solidFill>
                      <a:srgbClr val="F6F8FA"/>
                    </a:solidFill>
                  </a:tcPr>
                </a:tc>
                <a:tc>
                  <a:txBody>
                    <a:bodyPr/>
                    <a:lstStyle/>
                    <a:p>
                      <a:r>
                        <a:rPr sz="2200" b="0">
                          <a:solidFill>
                            <a:srgbClr val="14202E"/>
                          </a:solidFill>
                          <a:latin typeface="Arial"/>
                        </a:rPr>
                        <a:t>Fields</a:t>
                      </a:r>
                    </a:p>
                  </a:txBody>
                  <a:tcPr anchor="ctr">
                    <a:solidFill>
                      <a:srgbClr val="F6F8FA"/>
                    </a:solidFill>
                  </a:tcPr>
                </a:tc>
              </a:tr>
            </a:tbl>
          </a:graphicData>
        </a:graphic>
      </p:graphicFrame>
      <p:sp>
        <p:nvSpPr>
          <p:cNvPr id="7" name="TextBox 6"/>
          <p:cNvSpPr txBox="1"/>
          <p:nvPr/>
        </p:nvSpPr>
        <p:spPr>
          <a:xfrm>
            <a:off x="548640" y="525780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Collection: like a table with a dynamic schema.</a:t>
            </a:r>
          </a:p>
          <a:p>
            <a:pPr algn="l">
              <a:lnSpc>
                <a:spcPct val="115000"/>
              </a:lnSpc>
            </a:pPr>
            <a:r>
              <a:rPr sz="1700" b="1">
                <a:solidFill>
                  <a:srgbClr val="D9480F"/>
                </a:solidFill>
                <a:latin typeface="Arial"/>
              </a:rPr>
              <a:t>▸  </a:t>
            </a:r>
            <a:r>
              <a:rPr sz="1700" b="0">
                <a:solidFill>
                  <a:srgbClr val="14202E"/>
                </a:solidFill>
                <a:latin typeface="Arial"/>
              </a:rPr>
              <a:t>Document: the basic unit of data. Every document has a unique "_id".</a:t>
            </a:r>
          </a:p>
        </p:txBody>
      </p:sp>
      <p:sp>
        <p:nvSpPr>
          <p:cNvPr id="8" name="TextBox 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Handout p.2-3, Table 2</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insertOne: add one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One document in. MongoDB adds the _id.</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db.movies.insertOne({"title" : "Stand by Me"})</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747" b="0">
                <a:solidFill>
                  <a:srgbClr val="9FE0C9"/>
                </a:solidFill>
                <a:latin typeface="Courier New"/>
              </a:rPr>
              <a:t>{</a:t>
            </a:r>
          </a:p>
          <a:p>
            <a:pPr algn="l">
              <a:lnSpc>
                <a:spcPct val="100000"/>
              </a:lnSpc>
            </a:pPr>
            <a:r>
              <a:rPr sz="1747" b="0">
                <a:solidFill>
                  <a:srgbClr val="9FE0C9"/>
                </a:solidFill>
                <a:latin typeface="Courier New"/>
              </a:rPr>
              <a:t>  acknowledged: true,</a:t>
            </a:r>
          </a:p>
          <a:p>
            <a:pPr algn="l">
              <a:lnSpc>
                <a:spcPct val="100000"/>
              </a:lnSpc>
            </a:pPr>
            <a:r>
              <a:rPr sz="1747" b="0">
                <a:solidFill>
                  <a:srgbClr val="9FE0C9"/>
                </a:solidFill>
                <a:latin typeface="Courier New"/>
              </a:rPr>
              <a:t>  insertedId: ObjectId('6ae46b1b82cee3acaf544ca7')</a:t>
            </a:r>
          </a:p>
          <a:p>
            <a:pPr algn="l">
              <a:lnSpc>
                <a:spcPct val="100000"/>
              </a:lnSpc>
            </a:pPr>
            <a:r>
              <a:rPr sz="1747"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insertOne adds a single document.</a:t>
            </a:r>
          </a:p>
          <a:p>
            <a:pPr algn="l">
              <a:lnSpc>
                <a:spcPct val="115000"/>
              </a:lnSpc>
            </a:pPr>
            <a:r>
              <a:rPr sz="1800" b="1">
                <a:solidFill>
                  <a:srgbClr val="D9480F"/>
                </a:solidFill>
                <a:latin typeface="Arial"/>
              </a:rPr>
              <a:t>▸  </a:t>
            </a:r>
            <a:r>
              <a:rPr sz="1800" b="0">
                <a:solidFill>
                  <a:srgbClr val="14202E"/>
                </a:solidFill>
                <a:latin typeface="Arial"/>
              </a:rPr>
              <a:t>No "_id" given, so MongoDB added one automatically.</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insertMany: add several at once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Many documents, one command.</a:t>
            </a:r>
          </a:p>
        </p:txBody>
      </p:sp>
      <p:sp>
        <p:nvSpPr>
          <p:cNvPr id="6" name="Rectangle 5"/>
          <p:cNvSpPr/>
          <p:nvPr/>
        </p:nvSpPr>
        <p:spPr>
          <a:xfrm>
            <a:off x="548640" y="1737360"/>
            <a:ext cx="7040880" cy="1033271"/>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704087"/>
          </a:xfrm>
          <a:prstGeom prst="rect">
            <a:avLst/>
          </a:prstGeom>
          <a:noFill/>
        </p:spPr>
        <p:txBody>
          <a:bodyPr wrap="square" anchor="t" lIns="73152" rIns="73152" tIns="73152" bIns="73152">
            <a:spAutoFit/>
          </a:bodyPr>
          <a:lstStyle/>
          <a:p>
            <a:pPr algn="l">
              <a:lnSpc>
                <a:spcPct val="100000"/>
              </a:lnSpc>
            </a:pPr>
            <a:r>
              <a:rPr sz="1105" b="0">
                <a:solidFill>
                  <a:srgbClr val="E6ECF2"/>
                </a:solidFill>
                <a:latin typeface="Courier New"/>
              </a:rPr>
              <a:t>&gt; db.movies.insertMany([{"title" : "Ghostbusters"},</a:t>
            </a:r>
          </a:p>
          <a:p>
            <a:pPr algn="l">
              <a:lnSpc>
                <a:spcPct val="100000"/>
              </a:lnSpc>
            </a:pPr>
            <a:r>
              <a:rPr sz="1105" b="0">
                <a:solidFill>
                  <a:srgbClr val="E6ECF2"/>
                </a:solidFill>
                <a:latin typeface="Courier New"/>
              </a:rPr>
              <a:t>    {"title" : "E.T."},</a:t>
            </a:r>
          </a:p>
          <a:p>
            <a:pPr algn="l">
              <a:lnSpc>
                <a:spcPct val="100000"/>
              </a:lnSpc>
            </a:pPr>
            <a:r>
              <a:rPr sz="1105" b="0">
                <a:solidFill>
                  <a:srgbClr val="E6ECF2"/>
                </a:solidFill>
                <a:latin typeface="Courier New"/>
              </a:rPr>
              <a:t>    {"title" : "Blade Runner"}])</a:t>
            </a:r>
          </a:p>
        </p:txBody>
      </p:sp>
      <p:sp>
        <p:nvSpPr>
          <p:cNvPr id="9" name="Rectangle 8"/>
          <p:cNvSpPr/>
          <p:nvPr/>
        </p:nvSpPr>
        <p:spPr>
          <a:xfrm>
            <a:off x="548640" y="2862071"/>
            <a:ext cx="7040880" cy="344728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62071"/>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3154679"/>
            <a:ext cx="6931152" cy="3118105"/>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acknowledged: true,</a:t>
            </a:r>
          </a:p>
          <a:p>
            <a:pPr algn="l">
              <a:lnSpc>
                <a:spcPct val="100000"/>
              </a:lnSpc>
            </a:pPr>
            <a:r>
              <a:rPr sz="1800" b="0">
                <a:solidFill>
                  <a:srgbClr val="9FE0C9"/>
                </a:solidFill>
                <a:latin typeface="Courier New"/>
              </a:rPr>
              <a:t>  insertedIds: {</a:t>
            </a:r>
          </a:p>
          <a:p>
            <a:pPr algn="l">
              <a:lnSpc>
                <a:spcPct val="100000"/>
              </a:lnSpc>
            </a:pPr>
            <a:r>
              <a:rPr sz="1800" b="0">
                <a:solidFill>
                  <a:srgbClr val="9FE0C9"/>
                </a:solidFill>
                <a:latin typeface="Courier New"/>
              </a:rPr>
              <a:t>    '0': ObjectId('6ae46b1c6105fbbbe9544ca7'),</a:t>
            </a:r>
          </a:p>
          <a:p>
            <a:pPr algn="l">
              <a:lnSpc>
                <a:spcPct val="100000"/>
              </a:lnSpc>
            </a:pPr>
            <a:r>
              <a:rPr sz="1800" b="0">
                <a:solidFill>
                  <a:srgbClr val="9FE0C9"/>
                </a:solidFill>
                <a:latin typeface="Courier New"/>
              </a:rPr>
              <a:t>    '1': ObjectId('6ae46b1c6105fbbbe9544ca8'),</a:t>
            </a:r>
          </a:p>
          <a:p>
            <a:pPr algn="l">
              <a:lnSpc>
                <a:spcPct val="100000"/>
              </a:lnSpc>
            </a:pPr>
            <a:r>
              <a:rPr sz="1800" b="0">
                <a:solidFill>
                  <a:srgbClr val="9FE0C9"/>
                </a:solidFill>
                <a:latin typeface="Courier New"/>
              </a:rPr>
              <a:t>    '2': ObjectId('6ae46b1c6105fbbbe9544ca9')</a:t>
            </a:r>
          </a:p>
          <a:p>
            <a:pPr algn="l">
              <a:lnSpc>
                <a:spcPct val="100000"/>
              </a:lnSpc>
            </a:pPr>
            <a:r>
              <a:rPr sz="1800" b="0">
                <a:solidFill>
                  <a:srgbClr val="9FE0C9"/>
                </a:solidFill>
                <a:latin typeface="Courier New"/>
              </a:rPr>
              <a:t>  }</a:t>
            </a:r>
          </a:p>
          <a:p>
            <a:pPr algn="l">
              <a:lnSpc>
                <a:spcPct val="100000"/>
              </a:lnSpc>
            </a:pPr>
            <a:r>
              <a:rPr sz="180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insertMany takes an array [ ] of documents.</a:t>
            </a:r>
          </a:p>
          <a:p>
            <a:pPr algn="l">
              <a:lnSpc>
                <a:spcPct val="115000"/>
              </a:lnSpc>
            </a:pPr>
            <a:r>
              <a:rPr sz="1800" b="1">
                <a:solidFill>
                  <a:srgbClr val="D9480F"/>
                </a:solidFill>
                <a:latin typeface="Arial"/>
              </a:rPr>
              <a:t>▸  </a:t>
            </a:r>
            <a:r>
              <a:rPr sz="1800" b="0">
                <a:solidFill>
                  <a:srgbClr val="14202E"/>
                </a:solidFill>
                <a:latin typeface="Arial"/>
              </a:rPr>
              <a:t>The output lists one _id per document.</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Ordered vs unordered insertMany</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Ordered stops at the error. Unordered keeps going.</a:t>
            </a:r>
          </a:p>
        </p:txBody>
      </p:sp>
      <p:sp>
        <p:nvSpPr>
          <p:cNvPr id="6" name="Rectangle 5"/>
          <p:cNvSpPr/>
          <p:nvPr/>
        </p:nvSpPr>
        <p:spPr>
          <a:xfrm>
            <a:off x="548640" y="1737360"/>
            <a:ext cx="5486400" cy="16733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1344168"/>
          </a:xfrm>
          <a:prstGeom prst="rect">
            <a:avLst/>
          </a:prstGeom>
          <a:noFill/>
        </p:spPr>
        <p:txBody>
          <a:bodyPr wrap="square" anchor="t" lIns="73152" rIns="73152" tIns="73152" bIns="73152">
            <a:spAutoFit/>
          </a:bodyPr>
          <a:lstStyle/>
          <a:p>
            <a:pPr algn="l">
              <a:lnSpc>
                <a:spcPct val="100000"/>
              </a:lnSpc>
            </a:pPr>
            <a:r>
              <a:rPr sz="1031" b="0">
                <a:solidFill>
                  <a:srgbClr val="7F91A4"/>
                </a:solidFill>
                <a:latin typeface="Courier New"/>
              </a:rPr>
              <a:t>  // unordered: duplicate _id 4 in the middle</a:t>
            </a:r>
          </a:p>
          <a:p>
            <a:pPr algn="l">
              <a:lnSpc>
                <a:spcPct val="100000"/>
              </a:lnSpc>
            </a:pPr>
            <a:r>
              <a:rPr sz="1031" b="0">
                <a:solidFill>
                  <a:srgbClr val="E6ECF2"/>
                </a:solidFill>
                <a:latin typeface="Courier New"/>
              </a:rPr>
              <a:t>&gt; db.movies.insertMany([{"_id" : 3, "title" : "Sixteen Candles"},</a:t>
            </a:r>
          </a:p>
          <a:p>
            <a:pPr algn="l">
              <a:lnSpc>
                <a:spcPct val="100000"/>
              </a:lnSpc>
            </a:pPr>
            <a:r>
              <a:rPr sz="1031" b="0">
                <a:solidFill>
                  <a:srgbClr val="E6ECF2"/>
                </a:solidFill>
                <a:latin typeface="Courier New"/>
              </a:rPr>
              <a:t>    {"_id" : 4, "title" : "The Terminator"},</a:t>
            </a:r>
          </a:p>
          <a:p>
            <a:pPr algn="l">
              <a:lnSpc>
                <a:spcPct val="100000"/>
              </a:lnSpc>
            </a:pPr>
            <a:r>
              <a:rPr sz="1031" b="0">
                <a:solidFill>
                  <a:srgbClr val="E6ECF2"/>
                </a:solidFill>
                <a:latin typeface="Courier New"/>
              </a:rPr>
              <a:t>    {"_id" : 4, "title" : "The Princess Bride"},</a:t>
            </a:r>
          </a:p>
          <a:p>
            <a:pPr algn="l">
              <a:lnSpc>
                <a:spcPct val="100000"/>
              </a:lnSpc>
            </a:pPr>
            <a:r>
              <a:rPr sz="1031" b="0">
                <a:solidFill>
                  <a:srgbClr val="E6ECF2"/>
                </a:solidFill>
                <a:latin typeface="Courier New"/>
              </a:rPr>
              <a:t>    {"_id" : 5, "title" : "Scarface"}],</a:t>
            </a:r>
          </a:p>
          <a:p>
            <a:pPr algn="l">
              <a:lnSpc>
                <a:spcPct val="100000"/>
              </a:lnSpc>
            </a:pPr>
            <a:r>
              <a:rPr sz="1031" b="0">
                <a:solidFill>
                  <a:srgbClr val="E6ECF2"/>
                </a:solidFill>
                <a:latin typeface="Courier New"/>
              </a:rPr>
              <a:t>    {"ordered" : false})</a:t>
            </a:r>
          </a:p>
          <a:p>
            <a:pPr algn="l">
              <a:lnSpc>
                <a:spcPct val="100000"/>
              </a:lnSpc>
            </a:pPr>
            <a:r>
              <a:rPr sz="1031" b="0">
                <a:solidFill>
                  <a:srgbClr val="E6ECF2"/>
                </a:solidFill>
                <a:latin typeface="Courier New"/>
              </a:rPr>
              <a:t>&gt; db.movies.find({"_id" : {"$in" : [3, 4, 5]}})</a:t>
            </a:r>
          </a:p>
        </p:txBody>
      </p:sp>
      <p:sp>
        <p:nvSpPr>
          <p:cNvPr id="9" name="Rectangle 8"/>
          <p:cNvSpPr/>
          <p:nvPr/>
        </p:nvSpPr>
        <p:spPr>
          <a:xfrm>
            <a:off x="548640" y="3502152"/>
            <a:ext cx="5486400" cy="28072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02152"/>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3794760"/>
            <a:ext cx="5376672" cy="2478024"/>
          </a:xfrm>
          <a:prstGeom prst="rect">
            <a:avLst/>
          </a:prstGeom>
          <a:noFill/>
        </p:spPr>
        <p:txBody>
          <a:bodyPr wrap="square" anchor="t" lIns="73152" rIns="73152" tIns="73152" bIns="73152">
            <a:spAutoFit/>
          </a:bodyPr>
          <a:lstStyle/>
          <a:p>
            <a:pPr algn="l">
              <a:lnSpc>
                <a:spcPct val="100000"/>
              </a:lnSpc>
            </a:pPr>
            <a:r>
              <a:rPr sz="900" b="0">
                <a:solidFill>
                  <a:srgbClr val="FFA99E"/>
                </a:solidFill>
                <a:latin typeface="Courier New"/>
              </a:rPr>
              <a:t>MongoBulkWriteError:</a:t>
            </a:r>
          </a:p>
          <a:p>
            <a:pPr algn="l">
              <a:lnSpc>
                <a:spcPct val="100000"/>
              </a:lnSpc>
            </a:pPr>
            <a:r>
              <a:rPr sz="900" b="0">
                <a:solidFill>
                  <a:srgbClr val="9FE0C9"/>
                </a:solidFill>
                <a:latin typeface="Courier New"/>
              </a:rPr>
              <a:t>E11000 duplicate key error collection: adbs_part1.movies index: _id_ dup key: { _id: 4 }</a:t>
            </a:r>
          </a:p>
          <a:p>
            <a:pPr algn="l">
              <a:lnSpc>
                <a:spcPct val="100000"/>
              </a:lnSpc>
            </a:pPr>
            <a:r>
              <a:rPr sz="900" b="0">
                <a:solidFill>
                  <a:srgbClr val="9FE0C9"/>
                </a:solidFill>
                <a:latin typeface="Courier New"/>
              </a:rPr>
              <a:t> </a:t>
            </a:r>
          </a:p>
          <a:p>
            <a:pPr algn="l">
              <a:lnSpc>
                <a:spcPct val="100000"/>
              </a:lnSpc>
            </a:pPr>
            <a:r>
              <a:rPr sz="900" b="0">
                <a:solidFill>
                  <a:srgbClr val="9FE0C9"/>
                </a:solidFill>
                <a:latin typeface="Courier New"/>
              </a:rPr>
              <a:t>[</a:t>
            </a:r>
          </a:p>
          <a:p>
            <a:pPr algn="l">
              <a:lnSpc>
                <a:spcPct val="100000"/>
              </a:lnSpc>
            </a:pPr>
            <a:r>
              <a:rPr sz="900" b="0">
                <a:solidFill>
                  <a:srgbClr val="9FE0C9"/>
                </a:solidFill>
                <a:latin typeface="Courier New"/>
              </a:rPr>
              <a:t>  { _id: 3, title: 'Sixteen Candles' },</a:t>
            </a:r>
          </a:p>
          <a:p>
            <a:pPr algn="l">
              <a:lnSpc>
                <a:spcPct val="100000"/>
              </a:lnSpc>
            </a:pPr>
            <a:r>
              <a:rPr sz="900" b="0">
                <a:solidFill>
                  <a:srgbClr val="9FE0C9"/>
                </a:solidFill>
                <a:latin typeface="Courier New"/>
              </a:rPr>
              <a:t>  { _id: 4, title: 'The Terminator' },</a:t>
            </a:r>
          </a:p>
          <a:p>
            <a:pPr algn="l">
              <a:lnSpc>
                <a:spcPct val="100000"/>
              </a:lnSpc>
            </a:pPr>
            <a:r>
              <a:rPr sz="900" b="0">
                <a:solidFill>
                  <a:srgbClr val="9FE0C9"/>
                </a:solidFill>
                <a:latin typeface="Courier New"/>
              </a:rPr>
              <a:t>  { _id: 5, title: 'Scarface' }</a:t>
            </a:r>
          </a:p>
          <a:p>
            <a:pPr algn="l">
              <a:lnSpc>
                <a:spcPct val="100000"/>
              </a:lnSpc>
            </a:pPr>
            <a:r>
              <a:rPr sz="900" b="0">
                <a:solidFill>
                  <a:srgbClr val="9FE0C9"/>
                </a:solidFill>
                <a:latin typeface="Courier New"/>
              </a:rPr>
              <a:t>]</a:t>
            </a:r>
          </a:p>
          <a:p>
            <a:pPr algn="l">
              <a:lnSpc>
                <a:spcPct val="100000"/>
              </a:lnSpc>
            </a:pPr>
            <a:r>
              <a:rPr sz="900" b="0">
                <a:solidFill>
                  <a:srgbClr val="9FE0C9"/>
                </a:solidFill>
                <a:latin typeface="Courier New"/>
              </a:rPr>
              <a:t/>
            </a:r>
            <a:r>
              <a:rPr sz="900" b="0">
                <a:solidFill>
                  <a:srgbClr val="F2B27A"/>
                </a:solidFill>
                <a:latin typeface="Courier New"/>
              </a:rPr>
              <a:t>&lt;- 3, 4 and 5 were all inserted</a:t>
            </a:r>
          </a:p>
        </p:txBody>
      </p:sp>
      <p:sp>
        <p:nvSpPr>
          <p:cNvPr id="12" name="Rectangle 11"/>
          <p:cNvSpPr/>
          <p:nvPr/>
        </p:nvSpPr>
        <p:spPr>
          <a:xfrm>
            <a:off x="6153912" y="1737360"/>
            <a:ext cx="5486400" cy="167335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1344168"/>
          </a:xfrm>
          <a:prstGeom prst="rect">
            <a:avLst/>
          </a:prstGeom>
          <a:noFill/>
        </p:spPr>
        <p:txBody>
          <a:bodyPr wrap="square" anchor="t" lIns="73152" rIns="73152" tIns="73152" bIns="73152">
            <a:spAutoFit/>
          </a:bodyPr>
          <a:lstStyle/>
          <a:p>
            <a:pPr algn="l">
              <a:lnSpc>
                <a:spcPct val="100000"/>
              </a:lnSpc>
            </a:pPr>
            <a:r>
              <a:rPr sz="1015" b="0">
                <a:solidFill>
                  <a:srgbClr val="7F91A4"/>
                </a:solidFill>
                <a:latin typeface="Courier New"/>
              </a:rPr>
              <a:t>  // ordered (the default): same documents</a:t>
            </a:r>
          </a:p>
          <a:p>
            <a:pPr algn="l">
              <a:lnSpc>
                <a:spcPct val="100000"/>
              </a:lnSpc>
            </a:pPr>
            <a:r>
              <a:rPr sz="1015" b="0">
                <a:solidFill>
                  <a:srgbClr val="E6ECF2"/>
                </a:solidFill>
                <a:latin typeface="Courier New"/>
              </a:rPr>
              <a:t>&gt; db.ordered.insertMany([{"_id" : 3, "title" : "Sixteen Candles"},</a:t>
            </a:r>
          </a:p>
          <a:p>
            <a:pPr algn="l">
              <a:lnSpc>
                <a:spcPct val="100000"/>
              </a:lnSpc>
            </a:pPr>
            <a:r>
              <a:rPr sz="1015" b="0">
                <a:solidFill>
                  <a:srgbClr val="E6ECF2"/>
                </a:solidFill>
                <a:latin typeface="Courier New"/>
              </a:rPr>
              <a:t>    {"_id" : 4, "title" : "The Terminator"},</a:t>
            </a:r>
          </a:p>
          <a:p>
            <a:pPr algn="l">
              <a:lnSpc>
                <a:spcPct val="100000"/>
              </a:lnSpc>
            </a:pPr>
            <a:r>
              <a:rPr sz="1015" b="0">
                <a:solidFill>
                  <a:srgbClr val="E6ECF2"/>
                </a:solidFill>
                <a:latin typeface="Courier New"/>
              </a:rPr>
              <a:t>    {"_id" : 4, "title" : "The Princess Bride"},</a:t>
            </a:r>
          </a:p>
          <a:p>
            <a:pPr algn="l">
              <a:lnSpc>
                <a:spcPct val="100000"/>
              </a:lnSpc>
            </a:pPr>
            <a:r>
              <a:rPr sz="1015" b="0">
                <a:solidFill>
                  <a:srgbClr val="E6ECF2"/>
                </a:solidFill>
                <a:latin typeface="Courier New"/>
              </a:rPr>
              <a:t>    {"_id" : 5, "title" : "Scarface"}])</a:t>
            </a:r>
          </a:p>
          <a:p>
            <a:pPr algn="l">
              <a:lnSpc>
                <a:spcPct val="100000"/>
              </a:lnSpc>
            </a:pPr>
            <a:r>
              <a:rPr sz="1015" b="0">
                <a:solidFill>
                  <a:srgbClr val="E6ECF2"/>
                </a:solidFill>
                <a:latin typeface="Courier New"/>
              </a:rPr>
              <a:t>&gt; db.ordered.find()</a:t>
            </a:r>
          </a:p>
        </p:txBody>
      </p:sp>
      <p:sp>
        <p:nvSpPr>
          <p:cNvPr id="15" name="Rectangle 14"/>
          <p:cNvSpPr/>
          <p:nvPr/>
        </p:nvSpPr>
        <p:spPr>
          <a:xfrm>
            <a:off x="6153912" y="3502152"/>
            <a:ext cx="5486400" cy="280720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3502152"/>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7" name="TextBox 16"/>
          <p:cNvSpPr txBox="1"/>
          <p:nvPr/>
        </p:nvSpPr>
        <p:spPr>
          <a:xfrm>
            <a:off x="6208776" y="3794760"/>
            <a:ext cx="5376672" cy="2478024"/>
          </a:xfrm>
          <a:prstGeom prst="rect">
            <a:avLst/>
          </a:prstGeom>
          <a:noFill/>
        </p:spPr>
        <p:txBody>
          <a:bodyPr wrap="square" anchor="t" lIns="73152" rIns="73152" tIns="73152" bIns="73152">
            <a:spAutoFit/>
          </a:bodyPr>
          <a:lstStyle/>
          <a:p>
            <a:pPr algn="l">
              <a:lnSpc>
                <a:spcPct val="100000"/>
              </a:lnSpc>
            </a:pPr>
            <a:r>
              <a:rPr sz="900" b="0">
                <a:solidFill>
                  <a:srgbClr val="FFA99E"/>
                </a:solidFill>
                <a:latin typeface="Courier New"/>
              </a:rPr>
              <a:t>MongoBulkWriteError:</a:t>
            </a:r>
          </a:p>
          <a:p>
            <a:pPr algn="l">
              <a:lnSpc>
                <a:spcPct val="100000"/>
              </a:lnSpc>
            </a:pPr>
            <a:r>
              <a:rPr sz="900" b="0">
                <a:solidFill>
                  <a:srgbClr val="9FE0C9"/>
                </a:solidFill>
                <a:latin typeface="Courier New"/>
              </a:rPr>
              <a:t>E11000 duplicate key error collection: adbs_part1.ordered index: _id_ dup key: { _id: 4 }</a:t>
            </a:r>
          </a:p>
          <a:p>
            <a:pPr algn="l">
              <a:lnSpc>
                <a:spcPct val="100000"/>
              </a:lnSpc>
            </a:pPr>
            <a:r>
              <a:rPr sz="900" b="0">
                <a:solidFill>
                  <a:srgbClr val="9FE0C9"/>
                </a:solidFill>
                <a:latin typeface="Courier New"/>
              </a:rPr>
              <a:t> </a:t>
            </a:r>
          </a:p>
          <a:p>
            <a:pPr algn="l">
              <a:lnSpc>
                <a:spcPct val="100000"/>
              </a:lnSpc>
            </a:pPr>
            <a:r>
              <a:rPr sz="900" b="0">
                <a:solidFill>
                  <a:srgbClr val="9FE0C9"/>
                </a:solidFill>
                <a:latin typeface="Courier New"/>
              </a:rPr>
              <a:t>[</a:t>
            </a:r>
          </a:p>
          <a:p>
            <a:pPr algn="l">
              <a:lnSpc>
                <a:spcPct val="100000"/>
              </a:lnSpc>
            </a:pPr>
            <a:r>
              <a:rPr sz="900" b="0">
                <a:solidFill>
                  <a:srgbClr val="9FE0C9"/>
                </a:solidFill>
                <a:latin typeface="Courier New"/>
              </a:rPr>
              <a:t>  { _id: 3, title: 'Sixteen Candles' },</a:t>
            </a:r>
          </a:p>
          <a:p>
            <a:pPr algn="l">
              <a:lnSpc>
                <a:spcPct val="100000"/>
              </a:lnSpc>
            </a:pPr>
            <a:r>
              <a:rPr sz="900" b="0">
                <a:solidFill>
                  <a:srgbClr val="9FE0C9"/>
                </a:solidFill>
                <a:latin typeface="Courier New"/>
              </a:rPr>
              <a:t>  { _id: 4, title: 'The Terminator' }</a:t>
            </a:r>
          </a:p>
          <a:p>
            <a:pPr algn="l">
              <a:lnSpc>
                <a:spcPct val="100000"/>
              </a:lnSpc>
            </a:pPr>
            <a:r>
              <a:rPr sz="900" b="0">
                <a:solidFill>
                  <a:srgbClr val="9FE0C9"/>
                </a:solidFill>
                <a:latin typeface="Courier New"/>
              </a:rPr>
              <a:t>]</a:t>
            </a:r>
          </a:p>
          <a:p>
            <a:pPr algn="l">
              <a:lnSpc>
                <a:spcPct val="100000"/>
              </a:lnSpc>
            </a:pPr>
            <a:r>
              <a:rPr sz="900" b="0">
                <a:solidFill>
                  <a:srgbClr val="9FE0C9"/>
                </a:solidFill>
                <a:latin typeface="Courier New"/>
              </a:rPr>
              <a:t/>
            </a:r>
            <a:r>
              <a:rPr sz="900" b="0">
                <a:solidFill>
                  <a:srgbClr val="F2B27A"/>
                </a:solidFill>
                <a:latin typeface="Courier New"/>
              </a:rPr>
              <a:t>&lt;- stopped at the error; Scarface never went in</a:t>
            </a:r>
          </a:p>
        </p:txBody>
      </p:sp>
      <p:sp>
        <p:nvSpPr>
          <p:cNvPr id="18" name="TextBox 1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9" name="TextBox 18"/>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deleteOne: remove one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deleteOne removes one.</a:t>
            </a:r>
          </a:p>
        </p:txBody>
      </p:sp>
      <p:sp>
        <p:nvSpPr>
          <p:cNvPr id="6" name="Rectangle 5"/>
          <p:cNvSpPr/>
          <p:nvPr/>
        </p:nvSpPr>
        <p:spPr>
          <a:xfrm>
            <a:off x="548640" y="1737360"/>
            <a:ext cx="5486400" cy="6309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301752"/>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db.movies.deleteOne({"_id" : 4})</a:t>
            </a:r>
          </a:p>
        </p:txBody>
      </p:sp>
      <p:sp>
        <p:nvSpPr>
          <p:cNvPr id="9" name="Rectangle 8"/>
          <p:cNvSpPr/>
          <p:nvPr/>
        </p:nvSpPr>
        <p:spPr>
          <a:xfrm>
            <a:off x="548640" y="2459736"/>
            <a:ext cx="5486400" cy="38496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59736"/>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52344"/>
            <a:ext cx="5376672" cy="3520440"/>
          </a:xfrm>
          <a:prstGeom prst="rect">
            <a:avLst/>
          </a:prstGeom>
          <a:noFill/>
        </p:spPr>
        <p:txBody>
          <a:bodyPr wrap="square" anchor="t" lIns="73152" rIns="73152" tIns="73152" bIns="73152">
            <a:spAutoFit/>
          </a:bodyPr>
          <a:lstStyle/>
          <a:p>
            <a:pPr algn="l">
              <a:lnSpc>
                <a:spcPct val="100000"/>
              </a:lnSpc>
            </a:pPr>
            <a:r>
              <a:rPr sz="1719" b="0">
                <a:solidFill>
                  <a:srgbClr val="9FE0C9"/>
                </a:solidFill>
                <a:latin typeface="Courier New"/>
              </a:rPr>
              <a:t>{ acknowledged: true, deletedCount: 1 }</a:t>
            </a:r>
          </a:p>
        </p:txBody>
      </p:sp>
      <p:sp>
        <p:nvSpPr>
          <p:cNvPr id="12" name="Rectangle 11"/>
          <p:cNvSpPr/>
          <p:nvPr/>
        </p:nvSpPr>
        <p:spPr>
          <a:xfrm>
            <a:off x="6153912" y="1737360"/>
            <a:ext cx="5486400" cy="6309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301752"/>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db.movies.find({"_id" : {"$in" : [3, 4, 5]}})</a:t>
            </a:r>
          </a:p>
        </p:txBody>
      </p:sp>
      <p:sp>
        <p:nvSpPr>
          <p:cNvPr id="15" name="Rectangle 14"/>
          <p:cNvSpPr/>
          <p:nvPr/>
        </p:nvSpPr>
        <p:spPr>
          <a:xfrm>
            <a:off x="6153912" y="2459736"/>
            <a:ext cx="5486400" cy="38496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2459736"/>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7" name="TextBox 16"/>
          <p:cNvSpPr txBox="1"/>
          <p:nvPr/>
        </p:nvSpPr>
        <p:spPr>
          <a:xfrm>
            <a:off x="6208776" y="2752344"/>
            <a:ext cx="5376672" cy="3520440"/>
          </a:xfrm>
          <a:prstGeom prst="rect">
            <a:avLst/>
          </a:prstGeom>
          <a:noFill/>
        </p:spPr>
        <p:txBody>
          <a:bodyPr wrap="square" anchor="t" lIns="73152" rIns="73152" tIns="73152" bIns="73152">
            <a:spAutoFit/>
          </a:bodyPr>
          <a:lstStyle/>
          <a:p>
            <a:pPr algn="l">
              <a:lnSpc>
                <a:spcPct val="100000"/>
              </a:lnSpc>
            </a:pPr>
            <a:r>
              <a:rPr sz="944" b="0">
                <a:solidFill>
                  <a:srgbClr val="9FE0C9"/>
                </a:solidFill>
                <a:latin typeface="Courier New"/>
              </a:rPr>
              <a:t>[ { _id: 3, title: 'Sixteen Candles' }, { _id: 5, title: 'Scarface' } ]</a:t>
            </a:r>
          </a:p>
          <a:p>
            <a:pPr algn="l">
              <a:lnSpc>
                <a:spcPct val="100000"/>
              </a:lnSpc>
            </a:pPr>
            <a:r>
              <a:rPr sz="944" b="0">
                <a:solidFill>
                  <a:srgbClr val="9FE0C9"/>
                </a:solidFill>
                <a:latin typeface="Courier New"/>
              </a:rPr>
              <a:t/>
            </a:r>
            <a:r>
              <a:rPr sz="944" b="0">
                <a:solidFill>
                  <a:srgbClr val="F2B27A"/>
                </a:solidFill>
                <a:latin typeface="Courier New"/>
              </a:rPr>
              <a:t>&lt;- _id 4 is gone</a:t>
            </a:r>
          </a:p>
        </p:txBody>
      </p:sp>
      <p:sp>
        <p:nvSpPr>
          <p:cNvPr id="18" name="TextBox 1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9" name="TextBox 18"/>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1  ·  CREATE &amp; DELETE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deleteMany: remove every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deleteMany removes every match.</a:t>
            </a:r>
          </a:p>
        </p:txBody>
      </p:sp>
      <p:sp>
        <p:nvSpPr>
          <p:cNvPr id="6" name="Rectangle 5"/>
          <p:cNvSpPr/>
          <p:nvPr/>
        </p:nvSpPr>
        <p:spPr>
          <a:xfrm>
            <a:off x="548640" y="1737360"/>
            <a:ext cx="5486400" cy="8046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475488"/>
          </a:xfrm>
          <a:prstGeom prst="rect">
            <a:avLst/>
          </a:prstGeom>
          <a:noFill/>
        </p:spPr>
        <p:txBody>
          <a:bodyPr wrap="square" anchor="t" lIns="73152" rIns="73152" tIns="73152" bIns="73152">
            <a:spAutoFit/>
          </a:bodyPr>
          <a:lstStyle/>
          <a:p>
            <a:pPr algn="l">
              <a:lnSpc>
                <a:spcPct val="100000"/>
              </a:lnSpc>
            </a:pPr>
            <a:r>
              <a:rPr sz="900" b="0">
                <a:solidFill>
                  <a:srgbClr val="7F91A4"/>
                </a:solidFill>
                <a:latin typeface="Courier New"/>
              </a:rPr>
              <a:t>  // before: the handout's movies</a:t>
            </a:r>
          </a:p>
          <a:p>
            <a:pPr algn="l">
              <a:lnSpc>
                <a:spcPct val="100000"/>
              </a:lnSpc>
            </a:pPr>
            <a:r>
              <a:rPr sz="900" b="0">
                <a:solidFill>
                  <a:srgbClr val="E6ECF2"/>
                </a:solidFill>
                <a:latin typeface="Courier New"/>
              </a:rPr>
              <a:t>&gt; db.movies.find()</a:t>
            </a:r>
          </a:p>
        </p:txBody>
      </p:sp>
      <p:sp>
        <p:nvSpPr>
          <p:cNvPr id="9" name="Rectangle 8"/>
          <p:cNvSpPr/>
          <p:nvPr/>
        </p:nvSpPr>
        <p:spPr>
          <a:xfrm>
            <a:off x="548640" y="2633472"/>
            <a:ext cx="5486400" cy="367588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33472"/>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926080"/>
            <a:ext cx="5376672" cy="3346704"/>
          </a:xfrm>
          <a:prstGeom prst="rect">
            <a:avLst/>
          </a:prstGeom>
          <a:noFill/>
        </p:spPr>
        <p:txBody>
          <a:bodyPr wrap="square" anchor="t" lIns="73152" rIns="73152" tIns="73152" bIns="73152">
            <a:spAutoFit/>
          </a:bodyPr>
          <a:lstStyle/>
          <a:p>
            <a:pPr algn="l">
              <a:lnSpc>
                <a:spcPct val="100000"/>
              </a:lnSpc>
            </a:pPr>
            <a:r>
              <a:rPr sz="1241" b="0">
                <a:solidFill>
                  <a:srgbClr val="9FE0C9"/>
                </a:solidFill>
                <a:latin typeface="Courier New"/>
              </a:rPr>
              <a:t>[</a:t>
            </a:r>
          </a:p>
          <a:p>
            <a:pPr algn="l">
              <a:lnSpc>
                <a:spcPct val="100000"/>
              </a:lnSpc>
            </a:pPr>
            <a:r>
              <a:rPr sz="1241" b="0">
                <a:solidFill>
                  <a:srgbClr val="9FE0C9"/>
                </a:solidFill>
                <a:latin typeface="Courier New"/>
              </a:rPr>
              <a:t>  { _id: 0, title: 'Top Gun', year: 1985 },</a:t>
            </a:r>
          </a:p>
          <a:p>
            <a:pPr algn="l">
              <a:lnSpc>
                <a:spcPct val="100000"/>
              </a:lnSpc>
            </a:pPr>
            <a:r>
              <a:rPr sz="1241" b="0">
                <a:solidFill>
                  <a:srgbClr val="9FE0C9"/>
                </a:solidFill>
                <a:latin typeface="Courier New"/>
              </a:rPr>
              <a:t>  { _id: 1, title: 'Back to the Future', year: 1985 },</a:t>
            </a:r>
          </a:p>
          <a:p>
            <a:pPr algn="l">
              <a:lnSpc>
                <a:spcPct val="100000"/>
              </a:lnSpc>
            </a:pPr>
            <a:r>
              <a:rPr sz="1241" b="0">
                <a:solidFill>
                  <a:srgbClr val="9FE0C9"/>
                </a:solidFill>
                <a:latin typeface="Courier New"/>
              </a:rPr>
              <a:t>  { _id: 3, title: 'Sixteen Candles', year: 1984 }</a:t>
            </a:r>
          </a:p>
          <a:p>
            <a:pPr algn="l">
              <a:lnSpc>
                <a:spcPct val="100000"/>
              </a:lnSpc>
            </a:pPr>
            <a:r>
              <a:rPr sz="1241" b="0">
                <a:solidFill>
                  <a:srgbClr val="9FE0C9"/>
                </a:solidFill>
                <a:latin typeface="Courier New"/>
              </a:rPr>
              <a:t>]</a:t>
            </a:r>
          </a:p>
        </p:txBody>
      </p:sp>
      <p:sp>
        <p:nvSpPr>
          <p:cNvPr id="12" name="Rectangle 11"/>
          <p:cNvSpPr/>
          <p:nvPr/>
        </p:nvSpPr>
        <p:spPr>
          <a:xfrm>
            <a:off x="6153912" y="1737360"/>
            <a:ext cx="5486400" cy="8046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475488"/>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db.movies.deleteMany({"year" : 1985})</a:t>
            </a:r>
          </a:p>
          <a:p>
            <a:pPr algn="l">
              <a:lnSpc>
                <a:spcPct val="100000"/>
              </a:lnSpc>
            </a:pPr>
            <a:r>
              <a:rPr sz="900" b="0">
                <a:solidFill>
                  <a:srgbClr val="E6ECF2"/>
                </a:solidFill>
                <a:latin typeface="Courier New"/>
              </a:rPr>
              <a:t>&gt; db.movies.find()</a:t>
            </a:r>
          </a:p>
        </p:txBody>
      </p:sp>
      <p:sp>
        <p:nvSpPr>
          <p:cNvPr id="15" name="Rectangle 14"/>
          <p:cNvSpPr/>
          <p:nvPr/>
        </p:nvSpPr>
        <p:spPr>
          <a:xfrm>
            <a:off x="6153912" y="2633472"/>
            <a:ext cx="5486400" cy="367588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2633472"/>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7" name="TextBox 16"/>
          <p:cNvSpPr txBox="1"/>
          <p:nvPr/>
        </p:nvSpPr>
        <p:spPr>
          <a:xfrm>
            <a:off x="6208776" y="2926080"/>
            <a:ext cx="5376672" cy="3346704"/>
          </a:xfrm>
          <a:prstGeom prst="rect">
            <a:avLst/>
          </a:prstGeom>
          <a:noFill/>
        </p:spPr>
        <p:txBody>
          <a:bodyPr wrap="square" anchor="t" lIns="73152" rIns="73152" tIns="73152" bIns="73152">
            <a:spAutoFit/>
          </a:bodyPr>
          <a:lstStyle/>
          <a:p>
            <a:pPr algn="l">
              <a:lnSpc>
                <a:spcPct val="100000"/>
              </a:lnSpc>
            </a:pPr>
            <a:r>
              <a:rPr sz="1289" b="0">
                <a:solidFill>
                  <a:srgbClr val="9FE0C9"/>
                </a:solidFill>
                <a:latin typeface="Courier New"/>
              </a:rPr>
              <a:t>{ acknowledged: true, deletedCount: 2 }</a:t>
            </a:r>
          </a:p>
          <a:p>
            <a:pPr algn="l">
              <a:lnSpc>
                <a:spcPct val="100000"/>
              </a:lnSpc>
            </a:pPr>
            <a:r>
              <a:rPr sz="1289" b="0">
                <a:solidFill>
                  <a:srgbClr val="9FE0C9"/>
                </a:solidFill>
                <a:latin typeface="Courier New"/>
              </a:rPr>
              <a:t> </a:t>
            </a:r>
          </a:p>
          <a:p>
            <a:pPr algn="l">
              <a:lnSpc>
                <a:spcPct val="100000"/>
              </a:lnSpc>
            </a:pPr>
            <a:r>
              <a:rPr sz="1289" b="0">
                <a:solidFill>
                  <a:srgbClr val="9FE0C9"/>
                </a:solidFill>
                <a:latin typeface="Courier New"/>
              </a:rPr>
              <a:t>[ { _id: 3, title: 'Sixteen Candles', year: 1984 } ]</a:t>
            </a:r>
          </a:p>
          <a:p>
            <a:pPr algn="l">
              <a:lnSpc>
                <a:spcPct val="100000"/>
              </a:lnSpc>
            </a:pPr>
            <a:r>
              <a:rPr sz="1289" b="0">
                <a:solidFill>
                  <a:srgbClr val="9FE0C9"/>
                </a:solidFill>
                <a:latin typeface="Courier New"/>
              </a:rPr>
              <a:t/>
            </a:r>
            <a:r>
              <a:rPr sz="1289" b="0">
                <a:solidFill>
                  <a:srgbClr val="F2B27A"/>
                </a:solidFill>
                <a:latin typeface="Courier New"/>
              </a:rPr>
              <a:t>&lt;- only the 1984 movie is left</a:t>
            </a:r>
          </a:p>
        </p:txBody>
      </p:sp>
      <p:sp>
        <p:nvSpPr>
          <p:cNvPr id="18" name="TextBox 1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9" name="TextBox 18"/>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2</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Find, Replace &amp; Update</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urier New"/>
              </a:rPr>
              <a:t>findOne · replaceOne · updateOne · updateMany</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“Find it first. Then change it.”</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findOne: get one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findOne brings back one document.</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db.users.findOne({"name" : "Joe"})</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_id: ObjectId('4b2b9f67a1f631733d917a7a'),</a:t>
            </a:r>
          </a:p>
          <a:p>
            <a:pPr algn="l">
              <a:lnSpc>
                <a:spcPct val="100000"/>
              </a:lnSpc>
            </a:pPr>
            <a:r>
              <a:rPr sz="1800" b="0">
                <a:solidFill>
                  <a:srgbClr val="9FE0C9"/>
                </a:solidFill>
                <a:latin typeface="Courier New"/>
              </a:rPr>
              <a:t>  name: 'Joe',</a:t>
            </a:r>
          </a:p>
          <a:p>
            <a:pPr algn="l">
              <a:lnSpc>
                <a:spcPct val="100000"/>
              </a:lnSpc>
            </a:pPr>
            <a:r>
              <a:rPr sz="1800" b="0">
                <a:solidFill>
                  <a:srgbClr val="9FE0C9"/>
                </a:solidFill>
                <a:latin typeface="Courier New"/>
              </a:rPr>
              <a:t>  friends: 32,</a:t>
            </a:r>
          </a:p>
          <a:p>
            <a:pPr algn="l">
              <a:lnSpc>
                <a:spcPct val="100000"/>
              </a:lnSpc>
            </a:pPr>
            <a:r>
              <a:rPr sz="1800" b="0">
                <a:solidFill>
                  <a:srgbClr val="9FE0C9"/>
                </a:solidFill>
                <a:latin typeface="Courier New"/>
              </a:rPr>
              <a:t>  enemies: 2</a:t>
            </a:r>
          </a:p>
          <a:p>
            <a:pPr algn="l">
              <a:lnSpc>
                <a:spcPct val="100000"/>
              </a:lnSpc>
            </a:pPr>
            <a:r>
              <a:rPr sz="180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findOne returns one document that matches the filter.</a:t>
            </a:r>
          </a:p>
          <a:p>
            <a:pPr algn="l">
              <a:lnSpc>
                <a:spcPct val="115000"/>
              </a:lnSpc>
            </a:pPr>
            <a:r>
              <a:rPr sz="1800" b="1">
                <a:solidFill>
                  <a:srgbClr val="D9480F"/>
                </a:solidFill>
                <a:latin typeface="Arial"/>
              </a:rPr>
              <a:t>▸  </a:t>
            </a:r>
            <a:r>
              <a:rPr sz="1800" b="0">
                <a:solidFill>
                  <a:srgbClr val="14202E"/>
                </a:solidFill>
                <a:latin typeface="Arial"/>
              </a:rPr>
              <a:t>The handout uses it to load Joe before changing him.</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replaceOne: replace the whole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replaceOne swaps the whole document.</a:t>
            </a:r>
          </a:p>
        </p:txBody>
      </p:sp>
      <p:sp>
        <p:nvSpPr>
          <p:cNvPr id="6" name="Rectangle 5"/>
          <p:cNvSpPr/>
          <p:nvPr/>
        </p:nvSpPr>
        <p:spPr>
          <a:xfrm>
            <a:off x="548640" y="1737360"/>
            <a:ext cx="7040880" cy="141732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1088136"/>
          </a:xfrm>
          <a:prstGeom prst="rect">
            <a:avLst/>
          </a:prstGeom>
          <a:noFill/>
        </p:spPr>
        <p:txBody>
          <a:bodyPr wrap="square" anchor="t" lIns="73152" rIns="73152" tIns="73152" bIns="73152">
            <a:spAutoFit/>
          </a:bodyPr>
          <a:lstStyle/>
          <a:p>
            <a:pPr algn="l">
              <a:lnSpc>
                <a:spcPct val="100000"/>
              </a:lnSpc>
            </a:pPr>
            <a:r>
              <a:rPr sz="1175" b="0">
                <a:solidFill>
                  <a:srgbClr val="E6ECF2"/>
                </a:solidFill>
                <a:latin typeface="Courier New"/>
              </a:rPr>
              <a:t>&gt; var Joe = db.users.findOne({"name" : "Joe"});</a:t>
            </a:r>
          </a:p>
          <a:p>
            <a:pPr algn="l">
              <a:lnSpc>
                <a:spcPct val="100000"/>
              </a:lnSpc>
            </a:pPr>
            <a:r>
              <a:rPr sz="1175" b="0">
                <a:solidFill>
                  <a:srgbClr val="E6ECF2"/>
                </a:solidFill>
                <a:latin typeface="Courier New"/>
              </a:rPr>
              <a:t>  Joe.relationships = {"friends" : Joe.friends, "enemies" : Joe.enemies};</a:t>
            </a:r>
          </a:p>
          <a:p>
            <a:pPr algn="l">
              <a:lnSpc>
                <a:spcPct val="100000"/>
              </a:lnSpc>
            </a:pPr>
            <a:r>
              <a:rPr sz="1175" b="0">
                <a:solidFill>
                  <a:srgbClr val="E6ECF2"/>
                </a:solidFill>
                <a:latin typeface="Courier New"/>
              </a:rPr>
              <a:t>  Joe.username = Joe.name;</a:t>
            </a:r>
          </a:p>
          <a:p>
            <a:pPr algn="l">
              <a:lnSpc>
                <a:spcPct val="100000"/>
              </a:lnSpc>
            </a:pPr>
            <a:r>
              <a:rPr sz="1175" b="0">
                <a:solidFill>
                  <a:srgbClr val="E6ECF2"/>
                </a:solidFill>
                <a:latin typeface="Courier New"/>
              </a:rPr>
              <a:t>  delete Joe.friends; delete Joe.enemies; delete Joe.name;</a:t>
            </a:r>
          </a:p>
          <a:p>
            <a:pPr algn="l">
              <a:lnSpc>
                <a:spcPct val="100000"/>
              </a:lnSpc>
            </a:pPr>
            <a:r>
              <a:rPr sz="1175" b="0">
                <a:solidFill>
                  <a:srgbClr val="E6ECF2"/>
                </a:solidFill>
                <a:latin typeface="Courier New"/>
              </a:rPr>
              <a:t>  db.users.replaceOne({"name" : "Joe"}, Joe)</a:t>
            </a:r>
          </a:p>
        </p:txBody>
      </p:sp>
      <p:sp>
        <p:nvSpPr>
          <p:cNvPr id="9" name="Rectangle 8"/>
          <p:cNvSpPr/>
          <p:nvPr/>
        </p:nvSpPr>
        <p:spPr>
          <a:xfrm>
            <a:off x="548640" y="3246120"/>
            <a:ext cx="7040880" cy="306324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3538728"/>
            <a:ext cx="6931152" cy="2734056"/>
          </a:xfrm>
          <a:prstGeom prst="rect">
            <a:avLst/>
          </a:prstGeom>
          <a:noFill/>
        </p:spPr>
        <p:txBody>
          <a:bodyPr wrap="square" anchor="t" lIns="73152" rIns="73152" tIns="73152" bIns="73152">
            <a:spAutoFit/>
          </a:bodyPr>
          <a:lstStyle/>
          <a:p>
            <a:pPr algn="l">
              <a:lnSpc>
                <a:spcPct val="100000"/>
              </a:lnSpc>
            </a:pPr>
            <a:r>
              <a:rPr sz="1648" b="0">
                <a:solidFill>
                  <a:srgbClr val="9FE0C9"/>
                </a:solidFill>
                <a:latin typeface="Courier New"/>
              </a:rPr>
              <a:t>{acknowledged: true, insertedId: null,</a:t>
            </a:r>
          </a:p>
          <a:p>
            <a:pPr algn="l">
              <a:lnSpc>
                <a:spcPct val="100000"/>
              </a:lnSpc>
            </a:pPr>
            <a:r>
              <a:rPr sz="1648" b="0">
                <a:solidFill>
                  <a:srgbClr val="9FE0C9"/>
                </a:solidFill>
                <a:latin typeface="Courier New"/>
              </a:rPr>
              <a:t> matchedCount: 1, modifiedCount: 1, upsertedCount: 0}</a:t>
            </a:r>
          </a:p>
          <a:p>
            <a:pPr algn="l">
              <a:lnSpc>
                <a:spcPct val="100000"/>
              </a:lnSpc>
            </a:pPr>
            <a:r>
              <a:rPr sz="1648" b="0">
                <a:solidFill>
                  <a:srgbClr val="9FE0C9"/>
                </a:solidFill>
                <a:latin typeface="Courier New"/>
              </a:rPr>
              <a:t> </a:t>
            </a:r>
          </a:p>
          <a:p>
            <a:pPr algn="l">
              <a:lnSpc>
                <a:spcPct val="100000"/>
              </a:lnSpc>
            </a:pPr>
            <a:r>
              <a:rPr sz="1648" b="0">
                <a:solidFill>
                  <a:srgbClr val="7F91A4"/>
                </a:solidFill>
                <a:latin typeface="Courier New"/>
              </a:rPr>
              <a:t>// db.users.findOne({"username" : "Joe"})</a:t>
            </a:r>
          </a:p>
          <a:p>
            <a:pPr algn="l">
              <a:lnSpc>
                <a:spcPct val="100000"/>
              </a:lnSpc>
            </a:pPr>
            <a:r>
              <a:rPr sz="1648" b="0">
                <a:solidFill>
                  <a:srgbClr val="9FE0C9"/>
                </a:solidFill>
                <a:latin typeface="Courier New"/>
              </a:rPr>
              <a:t>{</a:t>
            </a:r>
          </a:p>
          <a:p>
            <a:pPr algn="l">
              <a:lnSpc>
                <a:spcPct val="100000"/>
              </a:lnSpc>
            </a:pPr>
            <a:r>
              <a:rPr sz="1648" b="0">
                <a:solidFill>
                  <a:srgbClr val="9FE0C9"/>
                </a:solidFill>
                <a:latin typeface="Courier New"/>
              </a:rPr>
              <a:t>  _id: ObjectId('4b2b9f67a1f631733d917a7a'),</a:t>
            </a:r>
          </a:p>
          <a:p>
            <a:pPr algn="l">
              <a:lnSpc>
                <a:spcPct val="100000"/>
              </a:lnSpc>
            </a:pPr>
            <a:r>
              <a:rPr sz="1648" b="0">
                <a:solidFill>
                  <a:srgbClr val="9FE0C9"/>
                </a:solidFill>
                <a:latin typeface="Courier New"/>
              </a:rPr>
              <a:t>  relationships: { friends: 32, enemies: 2 },</a:t>
            </a:r>
          </a:p>
          <a:p>
            <a:pPr algn="l">
              <a:lnSpc>
                <a:spcPct val="100000"/>
              </a:lnSpc>
            </a:pPr>
            <a:r>
              <a:rPr sz="1648" b="0">
                <a:solidFill>
                  <a:srgbClr val="9FE0C9"/>
                </a:solidFill>
                <a:latin typeface="Courier New"/>
              </a:rPr>
              <a:t>  username: 'Joe'</a:t>
            </a:r>
          </a:p>
          <a:p>
            <a:pPr algn="l">
              <a:lnSpc>
                <a:spcPct val="100000"/>
              </a:lnSpc>
            </a:pPr>
            <a:r>
              <a:rPr sz="1648"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replaceOne fully replaces a matching document with a new one.</a:t>
            </a:r>
          </a:p>
          <a:p>
            <a:pPr algn="l">
              <a:lnSpc>
                <a:spcPct val="115000"/>
              </a:lnSpc>
            </a:pPr>
            <a:r>
              <a:rPr sz="1800" b="1">
                <a:solidFill>
                  <a:srgbClr val="D9480F"/>
                </a:solidFill>
                <a:latin typeface="Arial"/>
              </a:rPr>
              <a:t>▸  </a:t>
            </a:r>
            <a:r>
              <a:rPr sz="1800" b="0">
                <a:solidFill>
                  <a:srgbClr val="14202E"/>
                </a:solidFill>
                <a:latin typeface="Arial"/>
              </a:rPr>
              <a:t>Handout use: a big schema change ("relationships" subdocument).</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p.1-2</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updateOne with $set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$set adds or changes a field.</a:t>
            </a:r>
          </a:p>
        </p:txBody>
      </p:sp>
      <p:sp>
        <p:nvSpPr>
          <p:cNvPr id="6" name="Rectangle 5"/>
          <p:cNvSpPr/>
          <p:nvPr/>
        </p:nvSpPr>
        <p:spPr>
          <a:xfrm>
            <a:off x="548640" y="1737360"/>
            <a:ext cx="5486400" cy="115214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822960"/>
          </a:xfrm>
          <a:prstGeom prst="rect">
            <a:avLst/>
          </a:prstGeom>
          <a:noFill/>
        </p:spPr>
        <p:txBody>
          <a:bodyPr wrap="square" anchor="t" lIns="73152" rIns="73152" tIns="73152" bIns="73152">
            <a:spAutoFit/>
          </a:bodyPr>
          <a:lstStyle/>
          <a:p>
            <a:pPr algn="l">
              <a:lnSpc>
                <a:spcPct val="100000"/>
              </a:lnSpc>
            </a:pPr>
            <a:r>
              <a:rPr sz="1197" b="0">
                <a:solidFill>
                  <a:srgbClr val="E6ECF2"/>
                </a:solidFill>
                <a:latin typeface="Courier New"/>
              </a:rPr>
              <a:t>&gt; db.users.updateOne({"name" : "John"},</a:t>
            </a:r>
          </a:p>
          <a:p>
            <a:pPr algn="l">
              <a:lnSpc>
                <a:spcPct val="100000"/>
              </a:lnSpc>
            </a:pPr>
            <a:r>
              <a:rPr sz="1197" b="0">
                <a:solidFill>
                  <a:srgbClr val="E6ECF2"/>
                </a:solidFill>
                <a:latin typeface="Courier New"/>
              </a:rPr>
              <a:t>    {"$set" : {"favorite book" : "Green Eggs and Ham"}})</a:t>
            </a:r>
          </a:p>
        </p:txBody>
      </p:sp>
      <p:sp>
        <p:nvSpPr>
          <p:cNvPr id="9" name="Rectangle 8"/>
          <p:cNvSpPr/>
          <p:nvPr/>
        </p:nvSpPr>
        <p:spPr>
          <a:xfrm>
            <a:off x="548640" y="2980944"/>
            <a:ext cx="5486400" cy="332841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80944"/>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3273552"/>
            <a:ext cx="5376672" cy="2999232"/>
          </a:xfrm>
          <a:prstGeom prst="rect">
            <a:avLst/>
          </a:prstGeom>
          <a:noFill/>
        </p:spPr>
        <p:txBody>
          <a:bodyPr wrap="square" anchor="t" lIns="73152" rIns="73152" tIns="73152" bIns="73152">
            <a:spAutoFit/>
          </a:bodyPr>
          <a:lstStyle/>
          <a:p>
            <a:pPr algn="l">
              <a:lnSpc>
                <a:spcPct val="100000"/>
              </a:lnSpc>
            </a:pPr>
            <a:r>
              <a:rPr sz="1264" b="0">
                <a:solidFill>
                  <a:srgbClr val="9FE0C9"/>
                </a:solidFill>
                <a:latin typeface="Courier New"/>
              </a:rPr>
              <a:t>{acknowledged: true, insertedId: null,</a:t>
            </a:r>
          </a:p>
          <a:p>
            <a:pPr algn="l">
              <a:lnSpc>
                <a:spcPct val="100000"/>
              </a:lnSpc>
            </a:pPr>
            <a:r>
              <a:rPr sz="1264" b="0">
                <a:solidFill>
                  <a:srgbClr val="9FE0C9"/>
                </a:solidFill>
                <a:latin typeface="Courier New"/>
              </a:rPr>
              <a:t> matchedCount: 1, modifiedCount: 1, upsertedCount: 0}</a:t>
            </a:r>
          </a:p>
          <a:p>
            <a:pPr algn="l">
              <a:lnSpc>
                <a:spcPct val="100000"/>
              </a:lnSpc>
            </a:pPr>
            <a:r>
              <a:rPr sz="1264" b="0">
                <a:solidFill>
                  <a:srgbClr val="9FE0C9"/>
                </a:solidFill>
                <a:latin typeface="Courier New"/>
              </a:rPr>
              <a:t> </a:t>
            </a:r>
          </a:p>
          <a:p>
            <a:pPr algn="l">
              <a:lnSpc>
                <a:spcPct val="100000"/>
              </a:lnSpc>
            </a:pPr>
            <a:r>
              <a:rPr sz="1264" b="0">
                <a:solidFill>
                  <a:srgbClr val="7F91A4"/>
                </a:solidFill>
                <a:latin typeface="Courier New"/>
              </a:rPr>
              <a:t>// findOne({"name" : "John"})</a:t>
            </a:r>
          </a:p>
          <a:p>
            <a:pPr algn="l">
              <a:lnSpc>
                <a:spcPct val="100000"/>
              </a:lnSpc>
            </a:pPr>
            <a:r>
              <a:rPr sz="1264" b="0">
                <a:solidFill>
                  <a:srgbClr val="9FE0C9"/>
                </a:solidFill>
                <a:latin typeface="Courier New"/>
              </a:rPr>
              <a:t>{</a:t>
            </a:r>
          </a:p>
          <a:p>
            <a:pPr algn="l">
              <a:lnSpc>
                <a:spcPct val="100000"/>
              </a:lnSpc>
            </a:pPr>
            <a:r>
              <a:rPr sz="1264" b="0">
                <a:solidFill>
                  <a:srgbClr val="9FE0C9"/>
                </a:solidFill>
                <a:latin typeface="Courier New"/>
              </a:rPr>
              <a:t>  _id: ObjectId('4b253b067525f35f94b60a31'),</a:t>
            </a:r>
          </a:p>
          <a:p>
            <a:pPr algn="l">
              <a:lnSpc>
                <a:spcPct val="100000"/>
              </a:lnSpc>
            </a:pPr>
            <a:r>
              <a:rPr sz="1264" b="0">
                <a:solidFill>
                  <a:srgbClr val="9FE0C9"/>
                </a:solidFill>
                <a:latin typeface="Courier New"/>
              </a:rPr>
              <a:t>  name: 'John',</a:t>
            </a:r>
          </a:p>
          <a:p>
            <a:pPr algn="l">
              <a:lnSpc>
                <a:spcPct val="100000"/>
              </a:lnSpc>
            </a:pPr>
            <a:r>
              <a:rPr sz="1264" b="0">
                <a:solidFill>
                  <a:srgbClr val="9FE0C9"/>
                </a:solidFill>
                <a:latin typeface="Courier New"/>
              </a:rPr>
              <a:t>  age: 24,</a:t>
            </a:r>
          </a:p>
          <a:p>
            <a:pPr algn="l">
              <a:lnSpc>
                <a:spcPct val="100000"/>
              </a:lnSpc>
            </a:pPr>
            <a:r>
              <a:rPr sz="1264" b="0">
                <a:solidFill>
                  <a:srgbClr val="9FE0C9"/>
                </a:solidFill>
                <a:latin typeface="Courier New"/>
              </a:rPr>
              <a:t>  sex: 'male',</a:t>
            </a:r>
          </a:p>
          <a:p>
            <a:pPr algn="l">
              <a:lnSpc>
                <a:spcPct val="100000"/>
              </a:lnSpc>
            </a:pPr>
            <a:r>
              <a:rPr sz="1264" b="0">
                <a:solidFill>
                  <a:srgbClr val="9FE0C9"/>
                </a:solidFill>
                <a:latin typeface="Courier New"/>
              </a:rPr>
              <a:t>  location: 'Taytay',</a:t>
            </a:r>
          </a:p>
          <a:p>
            <a:pPr algn="l">
              <a:lnSpc>
                <a:spcPct val="100000"/>
              </a:lnSpc>
            </a:pPr>
            <a:r>
              <a:rPr sz="1264" b="0">
                <a:solidFill>
                  <a:srgbClr val="9FE0C9"/>
                </a:solidFill>
                <a:latin typeface="Courier New"/>
              </a:rPr>
              <a:t>  'favorite book': 'Green Eggs and Ham'</a:t>
            </a:r>
          </a:p>
          <a:p>
            <a:pPr algn="l">
              <a:lnSpc>
                <a:spcPct val="100000"/>
              </a:lnSpc>
            </a:pPr>
            <a:r>
              <a:rPr sz="1264" b="0">
                <a:solidFill>
                  <a:srgbClr val="9FE0C9"/>
                </a:solidFill>
                <a:latin typeface="Courier New"/>
              </a:rPr>
              <a:t>}</a:t>
            </a:r>
          </a:p>
        </p:txBody>
      </p:sp>
      <p:sp>
        <p:nvSpPr>
          <p:cNvPr id="12" name="Rectangle 11"/>
          <p:cNvSpPr/>
          <p:nvPr/>
        </p:nvSpPr>
        <p:spPr>
          <a:xfrm>
            <a:off x="6153912" y="1737360"/>
            <a:ext cx="5486400" cy="115214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822960"/>
          </a:xfrm>
          <a:prstGeom prst="rect">
            <a:avLst/>
          </a:prstGeom>
          <a:noFill/>
        </p:spPr>
        <p:txBody>
          <a:bodyPr wrap="square" anchor="t" lIns="73152" rIns="73152" tIns="73152" bIns="73152">
            <a:spAutoFit/>
          </a:bodyPr>
          <a:lstStyle/>
          <a:p>
            <a:pPr algn="l">
              <a:lnSpc>
                <a:spcPct val="100000"/>
              </a:lnSpc>
            </a:pPr>
            <a:r>
              <a:rPr sz="1027" b="0">
                <a:solidFill>
                  <a:srgbClr val="7F91A4"/>
                </a:solidFill>
                <a:latin typeface="Courier New"/>
              </a:rPr>
              <a:t>  // $set can even change the type</a:t>
            </a:r>
          </a:p>
          <a:p>
            <a:pPr algn="l">
              <a:lnSpc>
                <a:spcPct val="100000"/>
              </a:lnSpc>
            </a:pPr>
            <a:r>
              <a:rPr sz="1027" b="0">
                <a:solidFill>
                  <a:srgbClr val="E6ECF2"/>
                </a:solidFill>
                <a:latin typeface="Courier New"/>
              </a:rPr>
              <a:t>&gt; db.users.updateOne({"name" : "John"},</a:t>
            </a:r>
          </a:p>
          <a:p>
            <a:pPr algn="l">
              <a:lnSpc>
                <a:spcPct val="100000"/>
              </a:lnSpc>
            </a:pPr>
            <a:r>
              <a:rPr sz="1027" b="0">
                <a:solidFill>
                  <a:srgbClr val="E6ECF2"/>
                </a:solidFill>
                <a:latin typeface="Courier New"/>
              </a:rPr>
              <a:t>    {"$set" : {"favorite book" :</a:t>
            </a:r>
          </a:p>
          <a:p>
            <a:pPr algn="l">
              <a:lnSpc>
                <a:spcPct val="100000"/>
              </a:lnSpc>
            </a:pPr>
            <a:r>
              <a:rPr sz="1027" b="0">
                <a:solidFill>
                  <a:srgbClr val="E6ECF2"/>
                </a:solidFill>
                <a:latin typeface="Courier New"/>
              </a:rPr>
              <a:t>    ["Cat's Cradle", "Foundation Trilogy", "Ender's Game"]}})</a:t>
            </a:r>
          </a:p>
        </p:txBody>
      </p:sp>
      <p:sp>
        <p:nvSpPr>
          <p:cNvPr id="15" name="Rectangle 14"/>
          <p:cNvSpPr/>
          <p:nvPr/>
        </p:nvSpPr>
        <p:spPr>
          <a:xfrm>
            <a:off x="6153912" y="2980944"/>
            <a:ext cx="5486400" cy="332841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2980944"/>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7" name="TextBox 16"/>
          <p:cNvSpPr txBox="1"/>
          <p:nvPr/>
        </p:nvSpPr>
        <p:spPr>
          <a:xfrm>
            <a:off x="6208776" y="3273552"/>
            <a:ext cx="5376672" cy="2999232"/>
          </a:xfrm>
          <a:prstGeom prst="rect">
            <a:avLst/>
          </a:prstGeom>
          <a:noFill/>
        </p:spPr>
        <p:txBody>
          <a:bodyPr wrap="square" anchor="t" lIns="73152" rIns="73152" tIns="73152" bIns="73152">
            <a:spAutoFit/>
          </a:bodyPr>
          <a:lstStyle/>
          <a:p>
            <a:pPr algn="l">
              <a:lnSpc>
                <a:spcPct val="100000"/>
              </a:lnSpc>
            </a:pPr>
            <a:r>
              <a:rPr sz="900" b="0">
                <a:solidFill>
                  <a:srgbClr val="9FE0C9"/>
                </a:solidFill>
                <a:latin typeface="Courier New"/>
              </a:rPr>
              <a:t>{acknowledged: true, insertedId: null,</a:t>
            </a:r>
          </a:p>
          <a:p>
            <a:pPr algn="l">
              <a:lnSpc>
                <a:spcPct val="100000"/>
              </a:lnSpc>
            </a:pPr>
            <a:r>
              <a:rPr sz="900" b="0">
                <a:solidFill>
                  <a:srgbClr val="9FE0C9"/>
                </a:solidFill>
                <a:latin typeface="Courier New"/>
              </a:rPr>
              <a:t> matchedCount: 1, modifiedCount: 1, upsertedCount: 0}</a:t>
            </a:r>
          </a:p>
          <a:p>
            <a:pPr algn="l">
              <a:lnSpc>
                <a:spcPct val="100000"/>
              </a:lnSpc>
            </a:pPr>
            <a:r>
              <a:rPr sz="900" b="0">
                <a:solidFill>
                  <a:srgbClr val="9FE0C9"/>
                </a:solidFill>
                <a:latin typeface="Courier New"/>
              </a:rPr>
              <a:t> </a:t>
            </a:r>
          </a:p>
          <a:p>
            <a:pPr algn="l">
              <a:lnSpc>
                <a:spcPct val="100000"/>
              </a:lnSpc>
            </a:pPr>
            <a:r>
              <a:rPr sz="900" b="0">
                <a:solidFill>
                  <a:srgbClr val="7F91A4"/>
                </a:solidFill>
                <a:latin typeface="Courier New"/>
              </a:rPr>
              <a:t>// findOne({"name" : "John"})</a:t>
            </a:r>
          </a:p>
          <a:p>
            <a:pPr algn="l">
              <a:lnSpc>
                <a:spcPct val="100000"/>
              </a:lnSpc>
            </a:pPr>
            <a:r>
              <a:rPr sz="900" b="0">
                <a:solidFill>
                  <a:srgbClr val="9FE0C9"/>
                </a:solidFill>
                <a:latin typeface="Courier New"/>
              </a:rPr>
              <a:t>{</a:t>
            </a:r>
          </a:p>
          <a:p>
            <a:pPr algn="l">
              <a:lnSpc>
                <a:spcPct val="100000"/>
              </a:lnSpc>
            </a:pPr>
            <a:r>
              <a:rPr sz="900" b="0">
                <a:solidFill>
                  <a:srgbClr val="9FE0C9"/>
                </a:solidFill>
                <a:latin typeface="Courier New"/>
              </a:rPr>
              <a:t>  _id: ObjectId('4b253b067525f35f94b60a31'),</a:t>
            </a:r>
          </a:p>
          <a:p>
            <a:pPr algn="l">
              <a:lnSpc>
                <a:spcPct val="100000"/>
              </a:lnSpc>
            </a:pPr>
            <a:r>
              <a:rPr sz="900" b="0">
                <a:solidFill>
                  <a:srgbClr val="9FE0C9"/>
                </a:solidFill>
                <a:latin typeface="Courier New"/>
              </a:rPr>
              <a:t>  name: 'John',</a:t>
            </a:r>
          </a:p>
          <a:p>
            <a:pPr algn="l">
              <a:lnSpc>
                <a:spcPct val="100000"/>
              </a:lnSpc>
            </a:pPr>
            <a:r>
              <a:rPr sz="900" b="0">
                <a:solidFill>
                  <a:srgbClr val="9FE0C9"/>
                </a:solidFill>
                <a:latin typeface="Courier New"/>
              </a:rPr>
              <a:t>  age: 24,</a:t>
            </a:r>
          </a:p>
          <a:p>
            <a:pPr algn="l">
              <a:lnSpc>
                <a:spcPct val="100000"/>
              </a:lnSpc>
            </a:pPr>
            <a:r>
              <a:rPr sz="900" b="0">
                <a:solidFill>
                  <a:srgbClr val="9FE0C9"/>
                </a:solidFill>
                <a:latin typeface="Courier New"/>
              </a:rPr>
              <a:t>  sex: 'male',</a:t>
            </a:r>
          </a:p>
          <a:p>
            <a:pPr algn="l">
              <a:lnSpc>
                <a:spcPct val="100000"/>
              </a:lnSpc>
            </a:pPr>
            <a:r>
              <a:rPr sz="900" b="0">
                <a:solidFill>
                  <a:srgbClr val="9FE0C9"/>
                </a:solidFill>
                <a:latin typeface="Courier New"/>
              </a:rPr>
              <a:t>  location: 'Taytay',</a:t>
            </a:r>
          </a:p>
          <a:p>
            <a:pPr algn="l">
              <a:lnSpc>
                <a:spcPct val="100000"/>
              </a:lnSpc>
            </a:pPr>
            <a:r>
              <a:rPr sz="900" b="0">
                <a:solidFill>
                  <a:srgbClr val="9FE0C9"/>
                </a:solidFill>
                <a:latin typeface="Courier New"/>
              </a:rPr>
              <a:t>  'favorite book': [ "Cat's Cradle", 'Foundation Trilogy', "Ender's Game" ]</a:t>
            </a:r>
          </a:p>
          <a:p>
            <a:pPr algn="l">
              <a:lnSpc>
                <a:spcPct val="100000"/>
              </a:lnSpc>
            </a:pPr>
            <a:r>
              <a:rPr sz="900" b="0">
                <a:solidFill>
                  <a:srgbClr val="9FE0C9"/>
                </a:solidFill>
                <a:latin typeface="Courier New"/>
              </a:rPr>
              <a:t>}</a:t>
            </a:r>
          </a:p>
        </p:txBody>
      </p:sp>
      <p:sp>
        <p:nvSpPr>
          <p:cNvPr id="18" name="TextBox 1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p.2</a:t>
            </a:r>
          </a:p>
        </p:txBody>
      </p:sp>
      <p:sp>
        <p:nvSpPr>
          <p:cNvPr id="19" name="TextBox 18"/>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updateOne with $unset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$unset removes a field.</a:t>
            </a:r>
          </a:p>
        </p:txBody>
      </p:sp>
      <p:sp>
        <p:nvSpPr>
          <p:cNvPr id="6" name="Rectangle 5"/>
          <p:cNvSpPr/>
          <p:nvPr/>
        </p:nvSpPr>
        <p:spPr>
          <a:xfrm>
            <a:off x="548640" y="1737360"/>
            <a:ext cx="7040880" cy="841247"/>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512063"/>
          </a:xfrm>
          <a:prstGeom prst="rect">
            <a:avLst/>
          </a:prstGeom>
          <a:noFill/>
        </p:spPr>
        <p:txBody>
          <a:bodyPr wrap="square" anchor="t" lIns="73152" rIns="73152" tIns="73152" bIns="73152">
            <a:spAutoFit/>
          </a:bodyPr>
          <a:lstStyle/>
          <a:p>
            <a:pPr algn="l">
              <a:lnSpc>
                <a:spcPct val="100000"/>
              </a:lnSpc>
            </a:pPr>
            <a:r>
              <a:rPr sz="1016" b="0">
                <a:solidFill>
                  <a:srgbClr val="E6ECF2"/>
                </a:solidFill>
                <a:latin typeface="Courier New"/>
              </a:rPr>
              <a:t>&gt; db.users.updateOne({"name" : "John"},</a:t>
            </a:r>
          </a:p>
          <a:p>
            <a:pPr algn="l">
              <a:lnSpc>
                <a:spcPct val="100000"/>
              </a:lnSpc>
            </a:pPr>
            <a:r>
              <a:rPr sz="1016" b="0">
                <a:solidFill>
                  <a:srgbClr val="E6ECF2"/>
                </a:solidFill>
                <a:latin typeface="Courier New"/>
              </a:rPr>
              <a:t>    {"$unset" : {"favorite book" : 1}})</a:t>
            </a:r>
          </a:p>
        </p:txBody>
      </p:sp>
      <p:sp>
        <p:nvSpPr>
          <p:cNvPr id="9" name="Rectangle 8"/>
          <p:cNvSpPr/>
          <p:nvPr/>
        </p:nvSpPr>
        <p:spPr>
          <a:xfrm>
            <a:off x="548640" y="2670047"/>
            <a:ext cx="7040880" cy="3639313"/>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70047"/>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962655"/>
            <a:ext cx="6931152" cy="3310129"/>
          </a:xfrm>
          <a:prstGeom prst="rect">
            <a:avLst/>
          </a:prstGeom>
          <a:noFill/>
        </p:spPr>
        <p:txBody>
          <a:bodyPr wrap="square" anchor="t" lIns="73152" rIns="73152" tIns="73152" bIns="73152">
            <a:spAutoFit/>
          </a:bodyPr>
          <a:lstStyle/>
          <a:p>
            <a:pPr algn="l">
              <a:lnSpc>
                <a:spcPct val="100000"/>
              </a:lnSpc>
            </a:pPr>
            <a:r>
              <a:rPr sz="1648" b="0">
                <a:solidFill>
                  <a:srgbClr val="9FE0C9"/>
                </a:solidFill>
                <a:latin typeface="Courier New"/>
              </a:rPr>
              <a:t>{acknowledged: true, insertedId: null,</a:t>
            </a:r>
          </a:p>
          <a:p>
            <a:pPr algn="l">
              <a:lnSpc>
                <a:spcPct val="100000"/>
              </a:lnSpc>
            </a:pPr>
            <a:r>
              <a:rPr sz="1648" b="0">
                <a:solidFill>
                  <a:srgbClr val="9FE0C9"/>
                </a:solidFill>
                <a:latin typeface="Courier New"/>
              </a:rPr>
              <a:t> matchedCount: 1, modifiedCount: 1, upsertedCount: 0}</a:t>
            </a:r>
          </a:p>
          <a:p>
            <a:pPr algn="l">
              <a:lnSpc>
                <a:spcPct val="100000"/>
              </a:lnSpc>
            </a:pPr>
            <a:r>
              <a:rPr sz="1648" b="0">
                <a:solidFill>
                  <a:srgbClr val="9FE0C9"/>
                </a:solidFill>
                <a:latin typeface="Courier New"/>
              </a:rPr>
              <a:t> </a:t>
            </a:r>
          </a:p>
          <a:p>
            <a:pPr algn="l">
              <a:lnSpc>
                <a:spcPct val="100000"/>
              </a:lnSpc>
            </a:pPr>
            <a:r>
              <a:rPr sz="1648" b="0">
                <a:solidFill>
                  <a:srgbClr val="7F91A4"/>
                </a:solidFill>
                <a:latin typeface="Courier New"/>
              </a:rPr>
              <a:t>// findOne({"name" : "John"})</a:t>
            </a:r>
          </a:p>
          <a:p>
            <a:pPr algn="l">
              <a:lnSpc>
                <a:spcPct val="100000"/>
              </a:lnSpc>
            </a:pPr>
            <a:r>
              <a:rPr sz="1648" b="0">
                <a:solidFill>
                  <a:srgbClr val="9FE0C9"/>
                </a:solidFill>
                <a:latin typeface="Courier New"/>
              </a:rPr>
              <a:t>{</a:t>
            </a:r>
          </a:p>
          <a:p>
            <a:pPr algn="l">
              <a:lnSpc>
                <a:spcPct val="100000"/>
              </a:lnSpc>
            </a:pPr>
            <a:r>
              <a:rPr sz="1648" b="0">
                <a:solidFill>
                  <a:srgbClr val="9FE0C9"/>
                </a:solidFill>
                <a:latin typeface="Courier New"/>
              </a:rPr>
              <a:t>  _id: ObjectId('4b253b067525f35f94b60a31'),</a:t>
            </a:r>
          </a:p>
          <a:p>
            <a:pPr algn="l">
              <a:lnSpc>
                <a:spcPct val="100000"/>
              </a:lnSpc>
            </a:pPr>
            <a:r>
              <a:rPr sz="1648" b="0">
                <a:solidFill>
                  <a:srgbClr val="9FE0C9"/>
                </a:solidFill>
                <a:latin typeface="Courier New"/>
              </a:rPr>
              <a:t>  name: 'John',</a:t>
            </a:r>
          </a:p>
          <a:p>
            <a:pPr algn="l">
              <a:lnSpc>
                <a:spcPct val="100000"/>
              </a:lnSpc>
            </a:pPr>
            <a:r>
              <a:rPr sz="1648" b="0">
                <a:solidFill>
                  <a:srgbClr val="9FE0C9"/>
                </a:solidFill>
                <a:latin typeface="Courier New"/>
              </a:rPr>
              <a:t>  age: 24,</a:t>
            </a:r>
          </a:p>
          <a:p>
            <a:pPr algn="l">
              <a:lnSpc>
                <a:spcPct val="100000"/>
              </a:lnSpc>
            </a:pPr>
            <a:r>
              <a:rPr sz="1648" b="0">
                <a:solidFill>
                  <a:srgbClr val="9FE0C9"/>
                </a:solidFill>
                <a:latin typeface="Courier New"/>
              </a:rPr>
              <a:t>  sex: 'male',</a:t>
            </a:r>
          </a:p>
          <a:p>
            <a:pPr algn="l">
              <a:lnSpc>
                <a:spcPct val="100000"/>
              </a:lnSpc>
            </a:pPr>
            <a:r>
              <a:rPr sz="1648" b="0">
                <a:solidFill>
                  <a:srgbClr val="9FE0C9"/>
                </a:solidFill>
                <a:latin typeface="Courier New"/>
              </a:rPr>
              <a:t>  location: 'Taytay'</a:t>
            </a:r>
          </a:p>
          <a:p>
            <a:pPr algn="l">
              <a:lnSpc>
                <a:spcPct val="100000"/>
              </a:lnSpc>
            </a:pPr>
            <a:r>
              <a:rPr sz="1648"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$unset removes the key altogether.</a:t>
            </a:r>
          </a:p>
          <a:p>
            <a:pPr algn="l">
              <a:lnSpc>
                <a:spcPct val="115000"/>
              </a:lnSpc>
            </a:pPr>
            <a:r>
              <a:rPr sz="1800" b="1">
                <a:solidFill>
                  <a:srgbClr val="D9480F"/>
                </a:solidFill>
                <a:latin typeface="Arial"/>
              </a:rPr>
              <a:t>▸  </a:t>
            </a:r>
            <a:r>
              <a:rPr sz="1800" b="0">
                <a:solidFill>
                  <a:srgbClr val="14202E"/>
                </a:solidFill>
                <a:latin typeface="Arial"/>
              </a:rPr>
              <a:t>"favorite book" is gone; the rest of John stays.</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p.2</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$set inside an embedded document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Use the dot to reach inside.</a:t>
            </a:r>
          </a:p>
        </p:txBody>
      </p:sp>
      <p:sp>
        <p:nvSpPr>
          <p:cNvPr id="6" name="Rectangle 5"/>
          <p:cNvSpPr/>
          <p:nvPr/>
        </p:nvSpPr>
        <p:spPr>
          <a:xfrm>
            <a:off x="548640" y="1737360"/>
            <a:ext cx="7040880" cy="841247"/>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512063"/>
          </a:xfrm>
          <a:prstGeom prst="rect">
            <a:avLst/>
          </a:prstGeom>
          <a:noFill/>
        </p:spPr>
        <p:txBody>
          <a:bodyPr wrap="square" anchor="t" lIns="73152" rIns="73152" tIns="73152" bIns="73152">
            <a:spAutoFit/>
          </a:bodyPr>
          <a:lstStyle/>
          <a:p>
            <a:pPr algn="l">
              <a:lnSpc>
                <a:spcPct val="100000"/>
              </a:lnSpc>
            </a:pPr>
            <a:r>
              <a:rPr sz="1016" b="0">
                <a:solidFill>
                  <a:srgbClr val="E6ECF2"/>
                </a:solidFill>
                <a:latin typeface="Courier New"/>
              </a:rPr>
              <a:t>&gt; db.books.updateOne({"author.name" : "Nicole"},</a:t>
            </a:r>
          </a:p>
          <a:p>
            <a:pPr algn="l">
              <a:lnSpc>
                <a:spcPct val="100000"/>
              </a:lnSpc>
            </a:pPr>
            <a:r>
              <a:rPr sz="1016" b="0">
                <a:solidFill>
                  <a:srgbClr val="E6ECF2"/>
                </a:solidFill>
                <a:latin typeface="Courier New"/>
              </a:rPr>
              <a:t>    {"$set" : {"author.name" : "Nicole Tagayon"}})</a:t>
            </a:r>
          </a:p>
        </p:txBody>
      </p:sp>
      <p:sp>
        <p:nvSpPr>
          <p:cNvPr id="9" name="Rectangle 8"/>
          <p:cNvSpPr/>
          <p:nvPr/>
        </p:nvSpPr>
        <p:spPr>
          <a:xfrm>
            <a:off x="548640" y="2670047"/>
            <a:ext cx="7040880" cy="3639313"/>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70047"/>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962655"/>
            <a:ext cx="6931152" cy="3310129"/>
          </a:xfrm>
          <a:prstGeom prst="rect">
            <a:avLst/>
          </a:prstGeom>
          <a:noFill/>
        </p:spPr>
        <p:txBody>
          <a:bodyPr wrap="square" anchor="t" lIns="73152" rIns="73152" tIns="73152" bIns="73152">
            <a:spAutoFit/>
          </a:bodyPr>
          <a:lstStyle/>
          <a:p>
            <a:pPr algn="l">
              <a:lnSpc>
                <a:spcPct val="100000"/>
              </a:lnSpc>
            </a:pPr>
            <a:r>
              <a:rPr sz="1409" b="0">
                <a:solidFill>
                  <a:srgbClr val="9FE0C9"/>
                </a:solidFill>
                <a:latin typeface="Courier New"/>
              </a:rPr>
              <a:t>{acknowledged: true, insertedId: null,</a:t>
            </a:r>
          </a:p>
          <a:p>
            <a:pPr algn="l">
              <a:lnSpc>
                <a:spcPct val="100000"/>
              </a:lnSpc>
            </a:pPr>
            <a:r>
              <a:rPr sz="1409" b="0">
                <a:solidFill>
                  <a:srgbClr val="9FE0C9"/>
                </a:solidFill>
                <a:latin typeface="Courier New"/>
              </a:rPr>
              <a:t> matchedCount: 1, modifiedCount: 1, upsertedCount: 0}</a:t>
            </a:r>
          </a:p>
          <a:p>
            <a:pPr algn="l">
              <a:lnSpc>
                <a:spcPct val="100000"/>
              </a:lnSpc>
            </a:pPr>
            <a:r>
              <a:rPr sz="1409" b="0">
                <a:solidFill>
                  <a:srgbClr val="9FE0C9"/>
                </a:solidFill>
                <a:latin typeface="Courier New"/>
              </a:rPr>
              <a:t> </a:t>
            </a:r>
          </a:p>
          <a:p>
            <a:pPr algn="l">
              <a:lnSpc>
                <a:spcPct val="100000"/>
              </a:lnSpc>
            </a:pPr>
            <a:r>
              <a:rPr sz="1409" b="0">
                <a:solidFill>
                  <a:srgbClr val="7F91A4"/>
                </a:solidFill>
                <a:latin typeface="Courier New"/>
              </a:rPr>
              <a:t>// db.books.findOne()</a:t>
            </a:r>
          </a:p>
          <a:p>
            <a:pPr algn="l">
              <a:lnSpc>
                <a:spcPct val="100000"/>
              </a:lnSpc>
            </a:pPr>
            <a:r>
              <a:rPr sz="1409" b="0">
                <a:solidFill>
                  <a:srgbClr val="9FE0C9"/>
                </a:solidFill>
                <a:latin typeface="Courier New"/>
              </a:rPr>
              <a:t>{</a:t>
            </a:r>
          </a:p>
          <a:p>
            <a:pPr algn="l">
              <a:lnSpc>
                <a:spcPct val="100000"/>
              </a:lnSpc>
            </a:pPr>
            <a:r>
              <a:rPr sz="1409" b="0">
                <a:solidFill>
                  <a:srgbClr val="9FE0C9"/>
                </a:solidFill>
                <a:latin typeface="Courier New"/>
              </a:rPr>
              <a:t>  _id: ObjectId('4b253b067525f35f94b60a31'),</a:t>
            </a:r>
          </a:p>
          <a:p>
            <a:pPr algn="l">
              <a:lnSpc>
                <a:spcPct val="100000"/>
              </a:lnSpc>
            </a:pPr>
            <a:r>
              <a:rPr sz="1409" b="0">
                <a:solidFill>
                  <a:srgbClr val="9FE0C9"/>
                </a:solidFill>
                <a:latin typeface="Courier New"/>
              </a:rPr>
              <a:t>  title: 'MongoDB-2019',</a:t>
            </a:r>
          </a:p>
          <a:p>
            <a:pPr algn="l">
              <a:lnSpc>
                <a:spcPct val="100000"/>
              </a:lnSpc>
            </a:pPr>
            <a:r>
              <a:rPr sz="1409" b="0">
                <a:solidFill>
                  <a:srgbClr val="9FE0C9"/>
                </a:solidFill>
                <a:latin typeface="Courier New"/>
              </a:rPr>
              <a:t>  author: { name: 'Nicole Tagayon', email: 'Nic@example.com' }</a:t>
            </a:r>
          </a:p>
          <a:p>
            <a:pPr algn="l">
              <a:lnSpc>
                <a:spcPct val="100000"/>
              </a:lnSpc>
            </a:pPr>
            <a:r>
              <a:rPr sz="1409"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"author.name" reaches inside the author subdocument.</a:t>
            </a:r>
          </a:p>
          <a:p>
            <a:pPr algn="l">
              <a:lnSpc>
                <a:spcPct val="115000"/>
              </a:lnSpc>
            </a:pPr>
            <a:r>
              <a:rPr sz="1800" b="1">
                <a:solidFill>
                  <a:srgbClr val="D9480F"/>
                </a:solidFill>
                <a:latin typeface="Arial"/>
              </a:rPr>
              <a:t>▸  </a:t>
            </a:r>
            <a:r>
              <a:rPr sz="1800" b="0">
                <a:solidFill>
                  <a:srgbClr val="14202E"/>
                </a:solidFill>
                <a:latin typeface="Arial"/>
              </a:rPr>
              <a:t>Only the name changed; the email stayed.</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p.2</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2  ·  FIND, REPLACE &amp; UPDATE</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updateMany: update every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One rule, every match.</a:t>
            </a:r>
          </a:p>
        </p:txBody>
      </p:sp>
      <p:sp>
        <p:nvSpPr>
          <p:cNvPr id="6" name="Rectangle 5"/>
          <p:cNvSpPr/>
          <p:nvPr/>
        </p:nvSpPr>
        <p:spPr>
          <a:xfrm>
            <a:off x="548640" y="1737360"/>
            <a:ext cx="7040880" cy="841247"/>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512063"/>
          </a:xfrm>
          <a:prstGeom prst="rect">
            <a:avLst/>
          </a:prstGeom>
          <a:noFill/>
        </p:spPr>
        <p:txBody>
          <a:bodyPr wrap="square" anchor="t" lIns="73152" rIns="73152" tIns="73152" bIns="73152">
            <a:spAutoFit/>
          </a:bodyPr>
          <a:lstStyle/>
          <a:p>
            <a:pPr algn="l">
              <a:lnSpc>
                <a:spcPct val="100000"/>
              </a:lnSpc>
            </a:pPr>
            <a:r>
              <a:rPr sz="1016" b="0">
                <a:solidFill>
                  <a:srgbClr val="E6ECF2"/>
                </a:solidFill>
                <a:latin typeface="Courier New"/>
              </a:rPr>
              <a:t>&gt; db.users.updateMany({"birthday" : "10/13/1978"},</a:t>
            </a:r>
          </a:p>
          <a:p>
            <a:pPr algn="l">
              <a:lnSpc>
                <a:spcPct val="100000"/>
              </a:lnSpc>
            </a:pPr>
            <a:r>
              <a:rPr sz="1016" b="0">
                <a:solidFill>
                  <a:srgbClr val="E6ECF2"/>
                </a:solidFill>
                <a:latin typeface="Courier New"/>
              </a:rPr>
              <a:t>    {"$set" : {"gift" : "Happy Birthday!"}})</a:t>
            </a:r>
          </a:p>
        </p:txBody>
      </p:sp>
      <p:sp>
        <p:nvSpPr>
          <p:cNvPr id="9" name="Rectangle 8"/>
          <p:cNvSpPr/>
          <p:nvPr/>
        </p:nvSpPr>
        <p:spPr>
          <a:xfrm>
            <a:off x="548640" y="2670047"/>
            <a:ext cx="7040880" cy="3639313"/>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70047"/>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962655"/>
            <a:ext cx="6931152" cy="3310129"/>
          </a:xfrm>
          <a:prstGeom prst="rect">
            <a:avLst/>
          </a:prstGeom>
          <a:noFill/>
        </p:spPr>
        <p:txBody>
          <a:bodyPr wrap="square" anchor="t" lIns="73152" rIns="73152" tIns="73152" bIns="73152">
            <a:spAutoFit/>
          </a:bodyPr>
          <a:lstStyle/>
          <a:p>
            <a:pPr algn="l">
              <a:lnSpc>
                <a:spcPct val="100000"/>
              </a:lnSpc>
            </a:pPr>
            <a:r>
              <a:rPr sz="1409" b="0">
                <a:solidFill>
                  <a:srgbClr val="9FE0C9"/>
                </a:solidFill>
                <a:latin typeface="Courier New"/>
              </a:rPr>
              <a:t>{acknowledged: true, insertedId: null,</a:t>
            </a:r>
          </a:p>
          <a:p>
            <a:pPr algn="l">
              <a:lnSpc>
                <a:spcPct val="100000"/>
              </a:lnSpc>
            </a:pPr>
            <a:r>
              <a:rPr sz="1409" b="0">
                <a:solidFill>
                  <a:srgbClr val="9FE0C9"/>
                </a:solidFill>
                <a:latin typeface="Courier New"/>
              </a:rPr>
              <a:t> matchedCount: 3, modifiedCount: 3, upsertedCount: 0}</a:t>
            </a:r>
          </a:p>
          <a:p>
            <a:pPr algn="l">
              <a:lnSpc>
                <a:spcPct val="100000"/>
              </a:lnSpc>
            </a:pPr>
            <a:r>
              <a:rPr sz="1409" b="0">
                <a:solidFill>
                  <a:srgbClr val="9FE0C9"/>
                </a:solidFill>
                <a:latin typeface="Courier New"/>
              </a:rPr>
              <a:t> </a:t>
            </a:r>
          </a:p>
          <a:p>
            <a:pPr algn="l">
              <a:lnSpc>
                <a:spcPct val="100000"/>
              </a:lnSpc>
            </a:pPr>
            <a:r>
              <a:rPr sz="1409" b="0">
                <a:solidFill>
                  <a:srgbClr val="7F91A4"/>
                </a:solidFill>
                <a:latin typeface="Courier New"/>
              </a:rPr>
              <a:t>// db.users.find({"birthday" : "10/13/1978"})</a:t>
            </a:r>
          </a:p>
          <a:p>
            <a:pPr algn="l">
              <a:lnSpc>
                <a:spcPct val="100000"/>
              </a:lnSpc>
            </a:pPr>
            <a:r>
              <a:rPr sz="1409" b="0">
                <a:solidFill>
                  <a:srgbClr val="9FE0C9"/>
                </a:solidFill>
                <a:latin typeface="Courier New"/>
              </a:rPr>
              <a:t>[</a:t>
            </a:r>
          </a:p>
          <a:p>
            <a:pPr algn="l">
              <a:lnSpc>
                <a:spcPct val="100000"/>
              </a:lnSpc>
            </a:pPr>
            <a:r>
              <a:rPr sz="1409" b="0">
                <a:solidFill>
                  <a:srgbClr val="9FE0C9"/>
                </a:solidFill>
                <a:latin typeface="Courier New"/>
              </a:rPr>
              <a:t>  { _id: 1, birthday: '10/13/1978', gift: 'Happy Birthday!' },</a:t>
            </a:r>
          </a:p>
          <a:p>
            <a:pPr algn="l">
              <a:lnSpc>
                <a:spcPct val="100000"/>
              </a:lnSpc>
            </a:pPr>
            <a:r>
              <a:rPr sz="1409" b="0">
                <a:solidFill>
                  <a:srgbClr val="9FE0C9"/>
                </a:solidFill>
                <a:latin typeface="Courier New"/>
              </a:rPr>
              <a:t>  { _id: 2, birthday: '10/13/1978', gift: 'Happy Birthday!' },</a:t>
            </a:r>
          </a:p>
          <a:p>
            <a:pPr algn="l">
              <a:lnSpc>
                <a:spcPct val="100000"/>
              </a:lnSpc>
            </a:pPr>
            <a:r>
              <a:rPr sz="1409" b="0">
                <a:solidFill>
                  <a:srgbClr val="9FE0C9"/>
                </a:solidFill>
                <a:latin typeface="Courier New"/>
              </a:rPr>
              <a:t>  { _id: 3, birthday: '10/13/1978', gift: 'Happy Birthday!' }</a:t>
            </a:r>
          </a:p>
          <a:p>
            <a:pPr algn="l">
              <a:lnSpc>
                <a:spcPct val="100000"/>
              </a:lnSpc>
            </a:pPr>
            <a:r>
              <a:rPr sz="1409"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Same parameters as updateOne.</a:t>
            </a:r>
          </a:p>
          <a:p>
            <a:pPr algn="l">
              <a:lnSpc>
                <a:spcPct val="115000"/>
              </a:lnSpc>
            </a:pPr>
            <a:r>
              <a:rPr sz="1800" b="1">
                <a:solidFill>
                  <a:srgbClr val="D9480F"/>
                </a:solidFill>
                <a:latin typeface="Arial"/>
              </a:rPr>
              <a:t>▸  </a:t>
            </a:r>
            <a:r>
              <a:rPr sz="1800" b="0">
                <a:solidFill>
                  <a:srgbClr val="14202E"/>
                </a:solidFill>
                <a:latin typeface="Arial"/>
              </a:rPr>
              <a:t>Difference: how many documents can change (3 here).</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3</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 Selectors: Comparison</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urier New"/>
              </a:rPr>
              <a:t>$lt · $lte · $gt · $gte</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“Less, less-or-equal, greater, greater-or-equal.”</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Four comparison operators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The e means equal is allowed.</a:t>
            </a:r>
          </a:p>
        </p:txBody>
      </p:sp>
      <p:graphicFrame>
        <p:nvGraphicFramePr>
          <p:cNvPr id="6" name="Table 5"/>
          <p:cNvGraphicFramePr>
            <a:graphicFrameLocks noGrp="1"/>
          </p:cNvGraphicFramePr>
          <p:nvPr/>
        </p:nvGraphicFramePr>
        <p:xfrm>
          <a:off x="548640" y="1828800"/>
          <a:ext cx="11094415" cy="3200400"/>
        </p:xfrm>
        <a:graphic>
          <a:graphicData uri="http://schemas.openxmlformats.org/drawingml/2006/table">
            <a:tbl>
              <a:tblPr firstRow="1" bandRow="1">
                <a:tableStyleId>{5C22544A-7EE6-4342-B048-85BDC9FD1C3A}</a:tableStyleId>
              </a:tblPr>
              <a:tblGrid>
                <a:gridCol w="3698138"/>
                <a:gridCol w="3698138"/>
                <a:gridCol w="3698139"/>
              </a:tblGrid>
              <a:tr h="640080">
                <a:tc>
                  <a:txBody>
                    <a:bodyPr/>
                    <a:lstStyle/>
                    <a:p>
                      <a:r>
                        <a:rPr sz="1800" b="1">
                          <a:solidFill>
                            <a:srgbClr val="FFFFFF"/>
                          </a:solidFill>
                          <a:latin typeface="Arial"/>
                        </a:rPr>
                        <a:t>Operator</a:t>
                      </a:r>
                    </a:p>
                  </a:txBody>
                  <a:tcPr>
                    <a:solidFill>
                      <a:srgbClr val="14202E"/>
                    </a:solidFill>
                  </a:tcPr>
                </a:tc>
                <a:tc>
                  <a:txBody>
                    <a:bodyPr/>
                    <a:lstStyle/>
                    <a:p>
                      <a:r>
                        <a:rPr sz="1800" b="1">
                          <a:solidFill>
                            <a:srgbClr val="FFFFFF"/>
                          </a:solidFill>
                          <a:latin typeface="Arial"/>
                        </a:rPr>
                        <a:t>Means</a:t>
                      </a:r>
                    </a:p>
                  </a:txBody>
                  <a:tcPr>
                    <a:solidFill>
                      <a:srgbClr val="14202E"/>
                    </a:solidFill>
                  </a:tcPr>
                </a:tc>
                <a:tc>
                  <a:txBody>
                    <a:bodyPr/>
                    <a:lstStyle/>
                    <a:p>
                      <a:r>
                        <a:rPr sz="1800" b="1">
                          <a:solidFill>
                            <a:srgbClr val="FFFFFF"/>
                          </a:solidFill>
                          <a:latin typeface="Arial"/>
                        </a:rPr>
                        <a:t>Symbol</a:t>
                      </a:r>
                    </a:p>
                  </a:txBody>
                  <a:tcPr>
                    <a:solidFill>
                      <a:srgbClr val="14202E"/>
                    </a:solidFill>
                  </a:tcPr>
                </a:tc>
              </a:tr>
              <a:tr h="640080">
                <a:tc>
                  <a:txBody>
                    <a:bodyPr/>
                    <a:lstStyle/>
                    <a:p>
                      <a:r>
                        <a:rPr sz="2200" b="1">
                          <a:solidFill>
                            <a:srgbClr val="D9480F"/>
                          </a:solidFill>
                          <a:latin typeface="Courier New"/>
                        </a:rPr>
                        <a:t>$lt</a:t>
                      </a:r>
                    </a:p>
                  </a:txBody>
                  <a:tcPr anchor="ctr">
                    <a:solidFill>
                      <a:srgbClr val="FFFFFF"/>
                    </a:solidFill>
                  </a:tcPr>
                </a:tc>
                <a:tc>
                  <a:txBody>
                    <a:bodyPr/>
                    <a:lstStyle/>
                    <a:p>
                      <a:r>
                        <a:rPr sz="2200" b="0">
                          <a:solidFill>
                            <a:srgbClr val="14202E"/>
                          </a:solidFill>
                          <a:latin typeface="Arial"/>
                        </a:rPr>
                        <a:t>less than</a:t>
                      </a:r>
                    </a:p>
                  </a:txBody>
                  <a:tcPr anchor="ctr">
                    <a:solidFill>
                      <a:srgbClr val="FFFFFF"/>
                    </a:solidFill>
                  </a:tcPr>
                </a:tc>
                <a:tc>
                  <a:txBody>
                    <a:bodyPr/>
                    <a:lstStyle/>
                    <a:p>
                      <a:r>
                        <a:rPr sz="2200" b="0">
                          <a:solidFill>
                            <a:srgbClr val="14202E"/>
                          </a:solidFill>
                          <a:latin typeface="Arial"/>
                        </a:rPr>
                        <a:t>&lt;</a:t>
                      </a:r>
                    </a:p>
                  </a:txBody>
                  <a:tcPr anchor="ctr">
                    <a:solidFill>
                      <a:srgbClr val="FFFFFF"/>
                    </a:solidFill>
                  </a:tcPr>
                </a:tc>
              </a:tr>
              <a:tr h="640080">
                <a:tc>
                  <a:txBody>
                    <a:bodyPr/>
                    <a:lstStyle/>
                    <a:p>
                      <a:r>
                        <a:rPr sz="2200" b="1">
                          <a:solidFill>
                            <a:srgbClr val="D9480F"/>
                          </a:solidFill>
                          <a:latin typeface="Courier New"/>
                        </a:rPr>
                        <a:t>$lte</a:t>
                      </a:r>
                    </a:p>
                  </a:txBody>
                  <a:tcPr anchor="ctr">
                    <a:solidFill>
                      <a:srgbClr val="F6F8FA"/>
                    </a:solidFill>
                  </a:tcPr>
                </a:tc>
                <a:tc>
                  <a:txBody>
                    <a:bodyPr/>
                    <a:lstStyle/>
                    <a:p>
                      <a:r>
                        <a:rPr sz="2200" b="0">
                          <a:solidFill>
                            <a:srgbClr val="14202E"/>
                          </a:solidFill>
                          <a:latin typeface="Arial"/>
                        </a:rPr>
                        <a:t>less than or equal</a:t>
                      </a:r>
                    </a:p>
                  </a:txBody>
                  <a:tcPr anchor="ctr">
                    <a:solidFill>
                      <a:srgbClr val="F6F8FA"/>
                    </a:solidFill>
                  </a:tcPr>
                </a:tc>
                <a:tc>
                  <a:txBody>
                    <a:bodyPr/>
                    <a:lstStyle/>
                    <a:p>
                      <a:r>
                        <a:rPr sz="2200" b="0">
                          <a:solidFill>
                            <a:srgbClr val="14202E"/>
                          </a:solidFill>
                          <a:latin typeface="Arial"/>
                        </a:rPr>
                        <a:t>&lt;=</a:t>
                      </a:r>
                    </a:p>
                  </a:txBody>
                  <a:tcPr anchor="ctr">
                    <a:solidFill>
                      <a:srgbClr val="F6F8FA"/>
                    </a:solidFill>
                  </a:tcPr>
                </a:tc>
              </a:tr>
              <a:tr h="640080">
                <a:tc>
                  <a:txBody>
                    <a:bodyPr/>
                    <a:lstStyle/>
                    <a:p>
                      <a:r>
                        <a:rPr sz="2200" b="1">
                          <a:solidFill>
                            <a:srgbClr val="D9480F"/>
                          </a:solidFill>
                          <a:latin typeface="Courier New"/>
                        </a:rPr>
                        <a:t>$gt</a:t>
                      </a:r>
                    </a:p>
                  </a:txBody>
                  <a:tcPr anchor="ctr">
                    <a:solidFill>
                      <a:srgbClr val="FFFFFF"/>
                    </a:solidFill>
                  </a:tcPr>
                </a:tc>
                <a:tc>
                  <a:txBody>
                    <a:bodyPr/>
                    <a:lstStyle/>
                    <a:p>
                      <a:r>
                        <a:rPr sz="2200" b="0">
                          <a:solidFill>
                            <a:srgbClr val="14202E"/>
                          </a:solidFill>
                          <a:latin typeface="Arial"/>
                        </a:rPr>
                        <a:t>greater than</a:t>
                      </a:r>
                    </a:p>
                  </a:txBody>
                  <a:tcPr anchor="ctr">
                    <a:solidFill>
                      <a:srgbClr val="FFFFFF"/>
                    </a:solidFill>
                  </a:tcPr>
                </a:tc>
                <a:tc>
                  <a:txBody>
                    <a:bodyPr/>
                    <a:lstStyle/>
                    <a:p>
                      <a:r>
                        <a:rPr sz="2200" b="0">
                          <a:solidFill>
                            <a:srgbClr val="14202E"/>
                          </a:solidFill>
                          <a:latin typeface="Arial"/>
                        </a:rPr>
                        <a:t>&gt;</a:t>
                      </a:r>
                    </a:p>
                  </a:txBody>
                  <a:tcPr anchor="ctr">
                    <a:solidFill>
                      <a:srgbClr val="FFFFFF"/>
                    </a:solidFill>
                  </a:tcPr>
                </a:tc>
              </a:tr>
              <a:tr h="640080">
                <a:tc>
                  <a:txBody>
                    <a:bodyPr/>
                    <a:lstStyle/>
                    <a:p>
                      <a:r>
                        <a:rPr sz="2200" b="1">
                          <a:solidFill>
                            <a:srgbClr val="D9480F"/>
                          </a:solidFill>
                          <a:latin typeface="Courier New"/>
                        </a:rPr>
                        <a:t>$gte</a:t>
                      </a:r>
                    </a:p>
                  </a:txBody>
                  <a:tcPr anchor="ctr">
                    <a:solidFill>
                      <a:srgbClr val="F6F8FA"/>
                    </a:solidFill>
                  </a:tcPr>
                </a:tc>
                <a:tc>
                  <a:txBody>
                    <a:bodyPr/>
                    <a:lstStyle/>
                    <a:p>
                      <a:r>
                        <a:rPr sz="2200" b="0">
                          <a:solidFill>
                            <a:srgbClr val="14202E"/>
                          </a:solidFill>
                          <a:latin typeface="Arial"/>
                        </a:rPr>
                        <a:t>greater than or equal</a:t>
                      </a:r>
                    </a:p>
                  </a:txBody>
                  <a:tcPr anchor="ctr">
                    <a:solidFill>
                      <a:srgbClr val="F6F8FA"/>
                    </a:solidFill>
                  </a:tcPr>
                </a:tc>
                <a:tc>
                  <a:txBody>
                    <a:bodyPr/>
                    <a:lstStyle/>
                    <a:p>
                      <a:r>
                        <a:rPr sz="2200" b="0">
                          <a:solidFill>
                            <a:srgbClr val="14202E"/>
                          </a:solidFill>
                          <a:latin typeface="Arial"/>
                        </a:rPr>
                        <a:t>&gt;=</a:t>
                      </a:r>
                    </a:p>
                  </a:txBody>
                  <a:tcPr anchor="ctr">
                    <a:solidFill>
                      <a:srgbClr val="F6F8FA"/>
                    </a:solidFill>
                  </a:tcPr>
                </a:tc>
              </a:tr>
            </a:tbl>
          </a:graphicData>
        </a:graphic>
      </p:graphicFrame>
      <p:sp>
        <p:nvSpPr>
          <p:cNvPr id="7" name="TextBox 6"/>
          <p:cNvSpPr txBox="1"/>
          <p:nvPr/>
        </p:nvSpPr>
        <p:spPr>
          <a:xfrm>
            <a:off x="548640" y="525780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Practice ages (ours, not from the handout): Ana 17, Ben 18, Cara 24, Dan 30, Eli 31.</a:t>
            </a:r>
          </a:p>
        </p:txBody>
      </p:sp>
      <p:sp>
        <p:nvSpPr>
          <p:cNvPr id="8" name="TextBox 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$lt and $lte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18 is out with $lt, in with $lte.</a:t>
            </a:r>
          </a:p>
        </p:txBody>
      </p:sp>
      <p:sp>
        <p:nvSpPr>
          <p:cNvPr id="6" name="Rectangle 5"/>
          <p:cNvSpPr/>
          <p:nvPr/>
        </p:nvSpPr>
        <p:spPr>
          <a:xfrm>
            <a:off x="548640" y="1737360"/>
            <a:ext cx="5486400" cy="6309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301752"/>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db.users.find({"age" : {"$lt" : 18}})</a:t>
            </a:r>
          </a:p>
        </p:txBody>
      </p:sp>
      <p:sp>
        <p:nvSpPr>
          <p:cNvPr id="9" name="Rectangle 8"/>
          <p:cNvSpPr/>
          <p:nvPr/>
        </p:nvSpPr>
        <p:spPr>
          <a:xfrm>
            <a:off x="548640" y="2459736"/>
            <a:ext cx="5486400" cy="38496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59736"/>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52344"/>
            <a:ext cx="5376672" cy="3520440"/>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 { _id: 1, name: 'Ana', age: 17 } ]</a:t>
            </a:r>
          </a:p>
        </p:txBody>
      </p:sp>
      <p:sp>
        <p:nvSpPr>
          <p:cNvPr id="12" name="Rectangle 11"/>
          <p:cNvSpPr/>
          <p:nvPr/>
        </p:nvSpPr>
        <p:spPr>
          <a:xfrm>
            <a:off x="6153912" y="1737360"/>
            <a:ext cx="5486400" cy="6309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301752"/>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db.users.find({"age" : {"$lte" : 18}})</a:t>
            </a:r>
          </a:p>
        </p:txBody>
      </p:sp>
      <p:sp>
        <p:nvSpPr>
          <p:cNvPr id="15" name="Rectangle 14"/>
          <p:cNvSpPr/>
          <p:nvPr/>
        </p:nvSpPr>
        <p:spPr>
          <a:xfrm>
            <a:off x="6153912" y="2459736"/>
            <a:ext cx="5486400" cy="38496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2459736"/>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7" name="TextBox 16"/>
          <p:cNvSpPr txBox="1"/>
          <p:nvPr/>
        </p:nvSpPr>
        <p:spPr>
          <a:xfrm>
            <a:off x="6208776" y="2752344"/>
            <a:ext cx="5376672" cy="3520440"/>
          </a:xfrm>
          <a:prstGeom prst="rect">
            <a:avLst/>
          </a:prstGeom>
          <a:noFill/>
        </p:spPr>
        <p:txBody>
          <a:bodyPr wrap="square" anchor="t" lIns="73152" rIns="73152" tIns="73152" bIns="73152">
            <a:spAutoFit/>
          </a:bodyPr>
          <a:lstStyle/>
          <a:p>
            <a:pPr algn="l">
              <a:lnSpc>
                <a:spcPct val="100000"/>
              </a:lnSpc>
            </a:pPr>
            <a:r>
              <a:rPr sz="957" b="0">
                <a:solidFill>
                  <a:srgbClr val="9FE0C9"/>
                </a:solidFill>
                <a:latin typeface="Courier New"/>
              </a:rPr>
              <a:t>[ { _id: 1, name: 'Ana', age: 17 }, { _id: 2, name: 'Ben', age: 18 } ]</a:t>
            </a:r>
          </a:p>
        </p:txBody>
      </p:sp>
      <p:sp>
        <p:nvSpPr>
          <p:cNvPr id="18" name="TextBox 1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9" name="TextBox 18"/>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$gt and $gte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30 is out with $gt, in with $gte.</a:t>
            </a:r>
          </a:p>
        </p:txBody>
      </p:sp>
      <p:sp>
        <p:nvSpPr>
          <p:cNvPr id="6" name="Rectangle 5"/>
          <p:cNvSpPr/>
          <p:nvPr/>
        </p:nvSpPr>
        <p:spPr>
          <a:xfrm>
            <a:off x="548640" y="1737360"/>
            <a:ext cx="5486400" cy="6309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301752"/>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db.users.find({"age" : {"$gt" : 30}})</a:t>
            </a:r>
          </a:p>
        </p:txBody>
      </p:sp>
      <p:sp>
        <p:nvSpPr>
          <p:cNvPr id="9" name="Rectangle 8"/>
          <p:cNvSpPr/>
          <p:nvPr/>
        </p:nvSpPr>
        <p:spPr>
          <a:xfrm>
            <a:off x="548640" y="2459736"/>
            <a:ext cx="5486400" cy="38496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59736"/>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52344"/>
            <a:ext cx="5376672" cy="3520440"/>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 { _id: 5, name: 'Eli', age: 31 } ]</a:t>
            </a:r>
          </a:p>
        </p:txBody>
      </p:sp>
      <p:sp>
        <p:nvSpPr>
          <p:cNvPr id="12" name="Rectangle 11"/>
          <p:cNvSpPr/>
          <p:nvPr/>
        </p:nvSpPr>
        <p:spPr>
          <a:xfrm>
            <a:off x="6153912" y="1737360"/>
            <a:ext cx="5486400" cy="6309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301752"/>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db.users.find({"age" : {"$gte" : 30}})</a:t>
            </a:r>
          </a:p>
        </p:txBody>
      </p:sp>
      <p:sp>
        <p:nvSpPr>
          <p:cNvPr id="15" name="Rectangle 14"/>
          <p:cNvSpPr/>
          <p:nvPr/>
        </p:nvSpPr>
        <p:spPr>
          <a:xfrm>
            <a:off x="6153912" y="2459736"/>
            <a:ext cx="5486400" cy="38496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2459736"/>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7" name="TextBox 16"/>
          <p:cNvSpPr txBox="1"/>
          <p:nvPr/>
        </p:nvSpPr>
        <p:spPr>
          <a:xfrm>
            <a:off x="6208776" y="2752344"/>
            <a:ext cx="5376672" cy="3520440"/>
          </a:xfrm>
          <a:prstGeom prst="rect">
            <a:avLst/>
          </a:prstGeom>
          <a:noFill/>
        </p:spPr>
        <p:txBody>
          <a:bodyPr wrap="square" anchor="t" lIns="73152" rIns="73152" tIns="73152" bIns="73152">
            <a:spAutoFit/>
          </a:bodyPr>
          <a:lstStyle/>
          <a:p>
            <a:pPr algn="l">
              <a:lnSpc>
                <a:spcPct val="100000"/>
              </a:lnSpc>
            </a:pPr>
            <a:r>
              <a:rPr sz="957" b="0">
                <a:solidFill>
                  <a:srgbClr val="9FE0C9"/>
                </a:solidFill>
                <a:latin typeface="Courier New"/>
              </a:rPr>
              <a:t>[ { _id: 4, name: 'Dan', age: 30 }, { _id: 5, name: 'Eli', age: 31 } ]</a:t>
            </a:r>
          </a:p>
        </p:txBody>
      </p:sp>
      <p:sp>
        <p:nvSpPr>
          <p:cNvPr id="18" name="TextBox 1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9" name="TextBox 18"/>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3  ·  QUERY SELECTORS: COMPARISON</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Combine them: ages 18 to 30</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Two operators, one field, one range.</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db.users.find({"age" : {"$gte" : 18, "$lte" : 30}})</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 _id: 2, name: 'Ben', age: 18 },</a:t>
            </a:r>
          </a:p>
          <a:p>
            <a:pPr algn="l">
              <a:lnSpc>
                <a:spcPct val="100000"/>
              </a:lnSpc>
            </a:pPr>
            <a:r>
              <a:rPr sz="1800" b="0">
                <a:solidFill>
                  <a:srgbClr val="9FE0C9"/>
                </a:solidFill>
                <a:latin typeface="Courier New"/>
              </a:rPr>
              <a:t>  { _id: 3, name: 'Cara', age: 24 },</a:t>
            </a:r>
          </a:p>
          <a:p>
            <a:pPr algn="l">
              <a:lnSpc>
                <a:spcPct val="100000"/>
              </a:lnSpc>
            </a:pPr>
            <a:r>
              <a:rPr sz="1800" b="0">
                <a:solidFill>
                  <a:srgbClr val="9FE0C9"/>
                </a:solidFill>
                <a:latin typeface="Courier New"/>
              </a:rPr>
              <a:t>  { _id: 4, name: 'Dan', age: 30 }</a:t>
            </a:r>
          </a:p>
          <a:p>
            <a:pPr algn="l">
              <a:lnSpc>
                <a:spcPct val="100000"/>
              </a:lnSpc>
            </a:pPr>
            <a:r>
              <a:rPr sz="180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The handout's example: users between 18 and 30.</a:t>
            </a:r>
          </a:p>
          <a:p>
            <a:pPr algn="l">
              <a:lnSpc>
                <a:spcPct val="115000"/>
              </a:lnSpc>
            </a:pPr>
            <a:r>
              <a:rPr sz="1800" b="1">
                <a:solidFill>
                  <a:srgbClr val="D9480F"/>
                </a:solidFill>
                <a:latin typeface="Arial"/>
              </a:rPr>
              <a:t>▸  </a:t>
            </a:r>
            <a:r>
              <a:rPr sz="1800" b="0">
                <a:solidFill>
                  <a:srgbClr val="14202E"/>
                </a:solidFill>
                <a:latin typeface="Arial"/>
              </a:rPr>
              <a:t>Both conditions must be true.</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4</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 Selectors: $in, $or, $not</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urier New"/>
              </a:rPr>
              <a:t>$in · $or · $not</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“One field, many values. Many fields, any match.”</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$NOT</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 many values for one key</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$in is a guest list for one field.</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db.raffle.find({"ticket_no" : {"$in" : [725, 542, 390]}})</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 _id: 1, ticket_no: 725, winner: false },</a:t>
            </a:r>
          </a:p>
          <a:p>
            <a:pPr algn="l">
              <a:lnSpc>
                <a:spcPct val="100000"/>
              </a:lnSpc>
            </a:pPr>
            <a:r>
              <a:rPr sz="1800" b="0">
                <a:solidFill>
                  <a:srgbClr val="9FE0C9"/>
                </a:solidFill>
                <a:latin typeface="Courier New"/>
              </a:rPr>
              <a:t>  { _id: 2, ticket_no: 542, winner: false },</a:t>
            </a:r>
          </a:p>
          <a:p>
            <a:pPr algn="l">
              <a:lnSpc>
                <a:spcPct val="100000"/>
              </a:lnSpc>
            </a:pPr>
            <a:r>
              <a:rPr sz="1800" b="0">
                <a:solidFill>
                  <a:srgbClr val="9FE0C9"/>
                </a:solidFill>
                <a:latin typeface="Courier New"/>
              </a:rPr>
              <a:t>  { _id: 3, ticket_no: 390, winner: false }</a:t>
            </a:r>
          </a:p>
          <a:p>
            <a:pPr algn="l">
              <a:lnSpc>
                <a:spcPct val="100000"/>
              </a:lnSpc>
            </a:pPr>
            <a:r>
              <a:rPr sz="180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$in queries a variety of values for a single key.</a:t>
            </a:r>
          </a:p>
          <a:p>
            <a:pPr algn="l">
              <a:lnSpc>
                <a:spcPct val="115000"/>
              </a:lnSpc>
            </a:pPr>
            <a:r>
              <a:rPr sz="1800" b="1">
                <a:solidFill>
                  <a:srgbClr val="D9480F"/>
                </a:solidFill>
                <a:latin typeface="Arial"/>
              </a:rPr>
              <a:t>▸  </a:t>
            </a:r>
            <a:r>
              <a:rPr sz="1800" b="0">
                <a:solidFill>
                  <a:srgbClr val="14202E"/>
                </a:solidFill>
                <a:latin typeface="Arial"/>
              </a:rPr>
              <a:t>Handout raffle: winning tickets 725, 542 and 390.</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$NOT</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$or: any condition, across keys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$or: pass any one test.</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db.raffle.find({"$or" : [{"ticket_no" : 725}, {"winner" : true}]})</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 _id: 1, ticket_no: 725, winner: false },</a:t>
            </a:r>
          </a:p>
          <a:p>
            <a:pPr algn="l">
              <a:lnSpc>
                <a:spcPct val="100000"/>
              </a:lnSpc>
            </a:pPr>
            <a:r>
              <a:rPr sz="1800" b="0">
                <a:solidFill>
                  <a:srgbClr val="9FE0C9"/>
                </a:solidFill>
                <a:latin typeface="Courier New"/>
              </a:rPr>
              <a:t>  { _id: 4, ticket_no: 111, winner: true }</a:t>
            </a:r>
          </a:p>
          <a:p>
            <a:pPr algn="l">
              <a:lnSpc>
                <a:spcPct val="100000"/>
              </a:lnSpc>
            </a:pPr>
            <a:r>
              <a:rPr sz="180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$or is more general: conditions can use different keys.</a:t>
            </a:r>
          </a:p>
          <a:p>
            <a:pPr algn="l">
              <a:lnSpc>
                <a:spcPct val="115000"/>
              </a:lnSpc>
            </a:pPr>
            <a:r>
              <a:rPr sz="1800" b="1">
                <a:solidFill>
                  <a:srgbClr val="D9480F"/>
                </a:solidFill>
                <a:latin typeface="Arial"/>
              </a:rPr>
              <a:t>▸  </a:t>
            </a:r>
            <a:r>
              <a:rPr sz="1800" b="0">
                <a:solidFill>
                  <a:srgbClr val="14202E"/>
                </a:solidFill>
                <a:latin typeface="Arial"/>
              </a:rPr>
              <a:t>Ticket 725, or any document where winner is true.</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4  ·  QUERY SELECTORS: $IN, $OR, $NOT</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$not: everything that does NOT match</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$not flips the condition.</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db.users.find({salary: {$not: {$gt: 10000}}}).pretty()</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 _id: 1, name: 'Rhea', salary: 8000 },</a:t>
            </a:r>
          </a:p>
          <a:p>
            <a:pPr algn="l">
              <a:lnSpc>
                <a:spcPct val="100000"/>
              </a:lnSpc>
            </a:pPr>
            <a:r>
              <a:rPr sz="1800" b="0">
                <a:solidFill>
                  <a:srgbClr val="9FE0C9"/>
                </a:solidFill>
                <a:latin typeface="Courier New"/>
              </a:rPr>
              <a:t>  { _id: 2, name: 'Mark', salary: 10000 }</a:t>
            </a:r>
          </a:p>
          <a:p>
            <a:pPr algn="l">
              <a:lnSpc>
                <a:spcPct val="100000"/>
              </a:lnSpc>
            </a:pPr>
            <a:r>
              <a:rPr sz="180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Handout: salary not greater than ₱10,000.</a:t>
            </a:r>
          </a:p>
          <a:p>
            <a:pPr algn="l">
              <a:lnSpc>
                <a:spcPct val="115000"/>
              </a:lnSpc>
            </a:pPr>
            <a:r>
              <a:rPr sz="1800" b="1">
                <a:solidFill>
                  <a:srgbClr val="D9480F"/>
                </a:solidFill>
                <a:latin typeface="Arial"/>
              </a:rPr>
              <a:t>▸  </a:t>
            </a:r>
            <a:r>
              <a:rPr sz="1800" b="0">
                <a:solidFill>
                  <a:srgbClr val="14202E"/>
                </a:solidFill>
                <a:latin typeface="Arial"/>
              </a:rPr>
              <a:t>Mark (exactly ₱10,000) is included; Liza (₱15,000) is not.</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p.3</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5</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Querying Arrays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urier New"/>
              </a:rPr>
              <a:t>inserting arrays · array match · $all · $size</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“Arrays answer like single values.”</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Inserting arrays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Square brackets make an array.</a:t>
            </a:r>
          </a:p>
        </p:txBody>
      </p:sp>
      <p:sp>
        <p:nvSpPr>
          <p:cNvPr id="6" name="Rectangle 5"/>
          <p:cNvSpPr/>
          <p:nvPr/>
        </p:nvSpPr>
        <p:spPr>
          <a:xfrm>
            <a:off x="548640" y="1737360"/>
            <a:ext cx="7040880" cy="1225295"/>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896111"/>
          </a:xfrm>
          <a:prstGeom prst="rect">
            <a:avLst/>
          </a:prstGeom>
          <a:noFill/>
        </p:spPr>
        <p:txBody>
          <a:bodyPr wrap="square" anchor="t" lIns="73152" rIns="73152" tIns="73152" bIns="73152">
            <a:spAutoFit/>
          </a:bodyPr>
          <a:lstStyle/>
          <a:p>
            <a:pPr algn="l">
              <a:lnSpc>
                <a:spcPct val="100000"/>
              </a:lnSpc>
            </a:pPr>
            <a:r>
              <a:rPr sz="1149" b="0">
                <a:solidFill>
                  <a:srgbClr val="E6ECF2"/>
                </a:solidFill>
                <a:latin typeface="Courier New"/>
              </a:rPr>
              <a:t>&gt; db.food.insertOne({"_id" : 1, "fruit" : ["apple", "banana", "peach"]})</a:t>
            </a:r>
          </a:p>
          <a:p>
            <a:pPr algn="l">
              <a:lnSpc>
                <a:spcPct val="100000"/>
              </a:lnSpc>
            </a:pPr>
            <a:r>
              <a:rPr sz="1149" b="0">
                <a:solidFill>
                  <a:srgbClr val="E6ECF2"/>
                </a:solidFill>
                <a:latin typeface="Courier New"/>
              </a:rPr>
              <a:t>&gt; db.food.insertOne({"_id" : 2, "fruit" : ["apple", "kumquat", "orange"]})</a:t>
            </a:r>
          </a:p>
          <a:p>
            <a:pPr algn="l">
              <a:lnSpc>
                <a:spcPct val="100000"/>
              </a:lnSpc>
            </a:pPr>
            <a:r>
              <a:rPr sz="1149" b="0">
                <a:solidFill>
                  <a:srgbClr val="E6ECF2"/>
                </a:solidFill>
                <a:latin typeface="Courier New"/>
              </a:rPr>
              <a:t>&gt; db.food.insertOne({"_id" : 3, "fruit" : ["cherry", "banana", "apple"]})</a:t>
            </a:r>
          </a:p>
          <a:p>
            <a:pPr algn="l">
              <a:lnSpc>
                <a:spcPct val="100000"/>
              </a:lnSpc>
            </a:pPr>
            <a:r>
              <a:rPr sz="1149" b="0">
                <a:solidFill>
                  <a:srgbClr val="E6ECF2"/>
                </a:solidFill>
                <a:latin typeface="Courier New"/>
              </a:rPr>
              <a:t>&gt; db.food.find()</a:t>
            </a:r>
          </a:p>
        </p:txBody>
      </p:sp>
      <p:sp>
        <p:nvSpPr>
          <p:cNvPr id="9" name="Rectangle 8"/>
          <p:cNvSpPr/>
          <p:nvPr/>
        </p:nvSpPr>
        <p:spPr>
          <a:xfrm>
            <a:off x="548640" y="3054095"/>
            <a:ext cx="7040880" cy="3255265"/>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54095"/>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3346703"/>
            <a:ext cx="6931152" cy="2926081"/>
          </a:xfrm>
          <a:prstGeom prst="rect">
            <a:avLst/>
          </a:prstGeom>
          <a:noFill/>
        </p:spPr>
        <p:txBody>
          <a:bodyPr wrap="square" anchor="t" lIns="73152" rIns="73152" tIns="73152" bIns="73152">
            <a:spAutoFit/>
          </a:bodyPr>
          <a:lstStyle/>
          <a:p>
            <a:pPr algn="l">
              <a:lnSpc>
                <a:spcPct val="100000"/>
              </a:lnSpc>
            </a:pPr>
            <a:r>
              <a:rPr sz="1618" b="0">
                <a:solidFill>
                  <a:srgbClr val="9FE0C9"/>
                </a:solidFill>
                <a:latin typeface="Courier New"/>
              </a:rPr>
              <a:t>[</a:t>
            </a:r>
          </a:p>
          <a:p>
            <a:pPr algn="l">
              <a:lnSpc>
                <a:spcPct val="100000"/>
              </a:lnSpc>
            </a:pPr>
            <a:r>
              <a:rPr sz="1618" b="0">
                <a:solidFill>
                  <a:srgbClr val="9FE0C9"/>
                </a:solidFill>
                <a:latin typeface="Courier New"/>
              </a:rPr>
              <a:t>  { _id: 1, fruit: [ 'apple', 'banana', 'peach' ] },</a:t>
            </a:r>
          </a:p>
          <a:p>
            <a:pPr algn="l">
              <a:lnSpc>
                <a:spcPct val="100000"/>
              </a:lnSpc>
            </a:pPr>
            <a:r>
              <a:rPr sz="1618" b="0">
                <a:solidFill>
                  <a:srgbClr val="9FE0C9"/>
                </a:solidFill>
                <a:latin typeface="Courier New"/>
              </a:rPr>
              <a:t>  { _id: 2, fruit: [ 'apple', 'kumquat', 'orange' ] },</a:t>
            </a:r>
          </a:p>
          <a:p>
            <a:pPr algn="l">
              <a:lnSpc>
                <a:spcPct val="100000"/>
              </a:lnSpc>
            </a:pPr>
            <a:r>
              <a:rPr sz="1618" b="0">
                <a:solidFill>
                  <a:srgbClr val="9FE0C9"/>
                </a:solidFill>
                <a:latin typeface="Courier New"/>
              </a:rPr>
              <a:t>  { _id: 3, fruit: [ 'cherry', 'banana', 'apple' ] }</a:t>
            </a:r>
          </a:p>
          <a:p>
            <a:pPr algn="l">
              <a:lnSpc>
                <a:spcPct val="100000"/>
              </a:lnSpc>
            </a:pPr>
            <a:r>
              <a:rPr sz="1618"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"fruit" holds a list of elements in [ ].</a:t>
            </a:r>
          </a:p>
          <a:p>
            <a:pPr algn="l">
              <a:lnSpc>
                <a:spcPct val="115000"/>
              </a:lnSpc>
            </a:pPr>
            <a:r>
              <a:rPr sz="1800" b="1">
                <a:solidFill>
                  <a:srgbClr val="D9480F"/>
                </a:solidFill>
                <a:latin typeface="Arial"/>
              </a:rPr>
              <a:t>▸  </a:t>
            </a:r>
            <a:r>
              <a:rPr sz="1800" b="0">
                <a:solidFill>
                  <a:srgbClr val="14202E"/>
                </a:solidFill>
                <a:latin typeface="Arial"/>
              </a:rPr>
              <a:t>These three baskets are the handout's example.</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Query an array like a single value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Ask for banana, get every basket with a banana.</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db.food.find({"fruit" : "banana"})</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680" b="0">
                <a:solidFill>
                  <a:srgbClr val="9FE0C9"/>
                </a:solidFill>
                <a:latin typeface="Courier New"/>
              </a:rPr>
              <a:t>[</a:t>
            </a:r>
          </a:p>
          <a:p>
            <a:pPr algn="l">
              <a:lnSpc>
                <a:spcPct val="100000"/>
              </a:lnSpc>
            </a:pPr>
            <a:r>
              <a:rPr sz="1680" b="0">
                <a:solidFill>
                  <a:srgbClr val="9FE0C9"/>
                </a:solidFill>
                <a:latin typeface="Courier New"/>
              </a:rPr>
              <a:t>  { _id: 1, fruit: [ 'apple', 'banana', 'peach' ] },</a:t>
            </a:r>
          </a:p>
          <a:p>
            <a:pPr algn="l">
              <a:lnSpc>
                <a:spcPct val="100000"/>
              </a:lnSpc>
            </a:pPr>
            <a:r>
              <a:rPr sz="1680" b="0">
                <a:solidFill>
                  <a:srgbClr val="9FE0C9"/>
                </a:solidFill>
                <a:latin typeface="Courier New"/>
              </a:rPr>
              <a:t>  { _id: 3, fruit: [ 'cherry', 'banana', 'apple' ] }</a:t>
            </a:r>
          </a:p>
          <a:p>
            <a:pPr algn="l">
              <a:lnSpc>
                <a:spcPct val="100000"/>
              </a:lnSpc>
            </a:pPr>
            <a:r>
              <a:rPr sz="168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Querying arrays behaves like querying scalars.</a:t>
            </a:r>
          </a:p>
          <a:p>
            <a:pPr algn="l">
              <a:lnSpc>
                <a:spcPct val="115000"/>
              </a:lnSpc>
            </a:pPr>
            <a:r>
              <a:rPr sz="1800" b="1">
                <a:solidFill>
                  <a:srgbClr val="D9480F"/>
                </a:solidFill>
                <a:latin typeface="Arial"/>
              </a:rPr>
              <a:t>▸  </a:t>
            </a:r>
            <a:r>
              <a:rPr sz="1800" b="0">
                <a:solidFill>
                  <a:srgbClr val="14202E"/>
                </a:solidFill>
                <a:latin typeface="Arial"/>
              </a:rPr>
              <a:t>Matches if any element equals "banana".</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$all: must have every listed element</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$all: has them all, any order.</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db.food.find({fruit : {$all : ["apple", "banana"]}})</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680" b="0">
                <a:solidFill>
                  <a:srgbClr val="9FE0C9"/>
                </a:solidFill>
                <a:latin typeface="Courier New"/>
              </a:rPr>
              <a:t>[</a:t>
            </a:r>
          </a:p>
          <a:p>
            <a:pPr algn="l">
              <a:lnSpc>
                <a:spcPct val="100000"/>
              </a:lnSpc>
            </a:pPr>
            <a:r>
              <a:rPr sz="1680" b="0">
                <a:solidFill>
                  <a:srgbClr val="9FE0C9"/>
                </a:solidFill>
                <a:latin typeface="Courier New"/>
              </a:rPr>
              <a:t>  { _id: 1, fruit: [ 'apple', 'banana', 'peach' ] },</a:t>
            </a:r>
          </a:p>
          <a:p>
            <a:pPr algn="l">
              <a:lnSpc>
                <a:spcPct val="100000"/>
              </a:lnSpc>
            </a:pPr>
            <a:r>
              <a:rPr sz="1680" b="0">
                <a:solidFill>
                  <a:srgbClr val="9FE0C9"/>
                </a:solidFill>
                <a:latin typeface="Courier New"/>
              </a:rPr>
              <a:t>  { _id: 3, fruit: [ 'cherry', 'banana', 'apple' ] }</a:t>
            </a:r>
          </a:p>
          <a:p>
            <a:pPr algn="l">
              <a:lnSpc>
                <a:spcPct val="100000"/>
              </a:lnSpc>
            </a:pPr>
            <a:r>
              <a:rPr sz="168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$all matches arrays by more than one element.</a:t>
            </a:r>
          </a:p>
          <a:p>
            <a:pPr algn="l">
              <a:lnSpc>
                <a:spcPct val="115000"/>
              </a:lnSpc>
            </a:pPr>
            <a:r>
              <a:rPr sz="1800" b="1">
                <a:solidFill>
                  <a:srgbClr val="D9480F"/>
                </a:solidFill>
                <a:latin typeface="Arial"/>
              </a:rPr>
              <a:t>▸  </a:t>
            </a:r>
            <a:r>
              <a:rPr sz="1800" b="0">
                <a:solidFill>
                  <a:srgbClr val="14202E"/>
                </a:solidFill>
                <a:latin typeface="Arial"/>
              </a:rPr>
              <a:t>Basket 2 has apple but no banana, so it is out.</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A specific position: key.index</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Count from zero.</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db.food.find({"fruit.2" : "peach"})</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648" b="0">
                <a:solidFill>
                  <a:srgbClr val="9FE0C9"/>
                </a:solidFill>
                <a:latin typeface="Courier New"/>
              </a:rPr>
              <a:t>[ { _id: 1, fruit: [ 'apple', 'banana', 'peach' ] }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"fruit.2" means the element at index 2.</a:t>
            </a:r>
          </a:p>
          <a:p>
            <a:pPr algn="l">
              <a:lnSpc>
                <a:spcPct val="115000"/>
              </a:lnSpc>
            </a:pPr>
            <a:r>
              <a:rPr sz="1800" b="1">
                <a:solidFill>
                  <a:srgbClr val="D9480F"/>
                </a:solidFill>
                <a:latin typeface="Arial"/>
              </a:rPr>
              <a:t>▸  </a:t>
            </a:r>
            <a:r>
              <a:rPr sz="1800" b="0">
                <a:solidFill>
                  <a:srgbClr val="14202E"/>
                </a:solidFill>
                <a:latin typeface="Arial"/>
              </a:rPr>
              <a:t>Counting starts at 0, so index 2 is the third fruit.</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5  ·  QUERYING ARRAYS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$size: match by number of elements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$size counts the elements.</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db.food.find({"fruit" : {"$size" : 3}})</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618" b="0">
                <a:solidFill>
                  <a:srgbClr val="9FE0C9"/>
                </a:solidFill>
                <a:latin typeface="Courier New"/>
              </a:rPr>
              <a:t>[</a:t>
            </a:r>
          </a:p>
          <a:p>
            <a:pPr algn="l">
              <a:lnSpc>
                <a:spcPct val="100000"/>
              </a:lnSpc>
            </a:pPr>
            <a:r>
              <a:rPr sz="1618" b="0">
                <a:solidFill>
                  <a:srgbClr val="9FE0C9"/>
                </a:solidFill>
                <a:latin typeface="Courier New"/>
              </a:rPr>
              <a:t>  { _id: 1, fruit: [ 'apple', 'banana', 'peach' ] },</a:t>
            </a:r>
          </a:p>
          <a:p>
            <a:pPr algn="l">
              <a:lnSpc>
                <a:spcPct val="100000"/>
              </a:lnSpc>
            </a:pPr>
            <a:r>
              <a:rPr sz="1618" b="0">
                <a:solidFill>
                  <a:srgbClr val="9FE0C9"/>
                </a:solidFill>
                <a:latin typeface="Courier New"/>
              </a:rPr>
              <a:t>  { _id: 2, fruit: [ 'apple', 'kumquat', 'orange' ] },</a:t>
            </a:r>
          </a:p>
          <a:p>
            <a:pPr algn="l">
              <a:lnSpc>
                <a:spcPct val="100000"/>
              </a:lnSpc>
            </a:pPr>
            <a:r>
              <a:rPr sz="1618" b="0">
                <a:solidFill>
                  <a:srgbClr val="9FE0C9"/>
                </a:solidFill>
                <a:latin typeface="Courier New"/>
              </a:rPr>
              <a:t>  { _id: 3, fruit: [ 'cherry', 'banana', 'apple' ] }</a:t>
            </a:r>
          </a:p>
          <a:p>
            <a:pPr algn="l">
              <a:lnSpc>
                <a:spcPct val="100000"/>
              </a:lnSpc>
            </a:pPr>
            <a:r>
              <a:rPr sz="1618"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$size matches arrays with exactly that many elements.</a:t>
            </a:r>
          </a:p>
          <a:p>
            <a:pPr algn="l">
              <a:lnSpc>
                <a:spcPct val="115000"/>
              </a:lnSpc>
            </a:pPr>
            <a:r>
              <a:rPr sz="1800" b="1">
                <a:solidFill>
                  <a:srgbClr val="D9480F"/>
                </a:solidFill>
                <a:latin typeface="Arial"/>
              </a:rPr>
              <a:t>▸  </a:t>
            </a:r>
            <a:r>
              <a:rPr sz="1800" b="0">
                <a:solidFill>
                  <a:srgbClr val="14202E"/>
                </a:solidFill>
                <a:latin typeface="Arial"/>
              </a:rPr>
              <a:t>All three baskets have 3 fruits.</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6</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$slice &amp; Embedded Documents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urier New"/>
              </a:rPr>
              <a:t>$slice · dot notation · embedded documents</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“Trim what you see. Reach inside with a dot.”</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$SLICE &amp; EMBEDDED DOCUMENTS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$slice: first 10 or last 10</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Positive from the front, negative from the back.</a:t>
            </a:r>
          </a:p>
        </p:txBody>
      </p:sp>
      <p:sp>
        <p:nvSpPr>
          <p:cNvPr id="6" name="Rectangle 5"/>
          <p:cNvSpPr/>
          <p:nvPr/>
        </p:nvSpPr>
        <p:spPr>
          <a:xfrm>
            <a:off x="548640" y="1737360"/>
            <a:ext cx="5486400" cy="8046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5376672" cy="475488"/>
          </a:xfrm>
          <a:prstGeom prst="rect">
            <a:avLst/>
          </a:prstGeom>
          <a:noFill/>
        </p:spPr>
        <p:txBody>
          <a:bodyPr wrap="square" anchor="t" lIns="73152" rIns="73152" tIns="73152" bIns="73152">
            <a:spAutoFit/>
          </a:bodyPr>
          <a:lstStyle/>
          <a:p>
            <a:pPr algn="l">
              <a:lnSpc>
                <a:spcPct val="100000"/>
              </a:lnSpc>
            </a:pPr>
            <a:r>
              <a:rPr sz="900" b="0">
                <a:solidFill>
                  <a:srgbClr val="7F91A4"/>
                </a:solidFill>
                <a:latin typeface="Courier New"/>
              </a:rPr>
              <a:t>  // blog post with 40 comments (our practice data)</a:t>
            </a:r>
          </a:p>
          <a:p>
            <a:pPr algn="l">
              <a:lnSpc>
                <a:spcPct val="100000"/>
              </a:lnSpc>
            </a:pPr>
            <a:r>
              <a:rPr sz="900" b="0">
                <a:solidFill>
                  <a:srgbClr val="E6ECF2"/>
                </a:solidFill>
                <a:latin typeface="Courier New"/>
              </a:rPr>
              <a:t>&gt; db.blog.posts.findOne({"_id" : 1}, {"comments" : {"$slice" : 10}})</a:t>
            </a:r>
          </a:p>
        </p:txBody>
      </p:sp>
      <p:sp>
        <p:nvSpPr>
          <p:cNvPr id="9" name="Rectangle 8"/>
          <p:cNvSpPr/>
          <p:nvPr/>
        </p:nvSpPr>
        <p:spPr>
          <a:xfrm>
            <a:off x="548640" y="2633472"/>
            <a:ext cx="5486400" cy="367588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33472"/>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926080"/>
            <a:ext cx="5376672" cy="3346704"/>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_id: 1,</a:t>
            </a:r>
          </a:p>
          <a:p>
            <a:pPr algn="l">
              <a:lnSpc>
                <a:spcPct val="100000"/>
              </a:lnSpc>
            </a:pPr>
            <a:r>
              <a:rPr sz="1800" b="0">
                <a:solidFill>
                  <a:srgbClr val="9FE0C9"/>
                </a:solidFill>
                <a:latin typeface="Courier New"/>
              </a:rPr>
              <a:t>  title: 'ADBS',</a:t>
            </a:r>
          </a:p>
          <a:p>
            <a:pPr algn="l">
              <a:lnSpc>
                <a:spcPct val="100000"/>
              </a:lnSpc>
            </a:pPr>
            <a:r>
              <a:rPr sz="1800" b="0">
                <a:solidFill>
                  <a:srgbClr val="9FE0C9"/>
                </a:solidFill>
                <a:latin typeface="Courier New"/>
              </a:rPr>
              <a:t>  comments: [</a:t>
            </a:r>
          </a:p>
          <a:p>
            <a:pPr algn="l">
              <a:lnSpc>
                <a:spcPct val="100000"/>
              </a:lnSpc>
            </a:pPr>
            <a:r>
              <a:rPr sz="1800" b="0">
                <a:solidFill>
                  <a:srgbClr val="9FE0C9"/>
                </a:solidFill>
                <a:latin typeface="Courier New"/>
              </a:rPr>
              <a:t>    'c1',  'c2', 'c3',</a:t>
            </a:r>
          </a:p>
          <a:p>
            <a:pPr algn="l">
              <a:lnSpc>
                <a:spcPct val="100000"/>
              </a:lnSpc>
            </a:pPr>
            <a:r>
              <a:rPr sz="1800" b="0">
                <a:solidFill>
                  <a:srgbClr val="9FE0C9"/>
                </a:solidFill>
                <a:latin typeface="Courier New"/>
              </a:rPr>
              <a:t>    'c4',  'c5', 'c6',</a:t>
            </a:r>
          </a:p>
          <a:p>
            <a:pPr algn="l">
              <a:lnSpc>
                <a:spcPct val="100000"/>
              </a:lnSpc>
            </a:pPr>
            <a:r>
              <a:rPr sz="1800" b="0">
                <a:solidFill>
                  <a:srgbClr val="9FE0C9"/>
                </a:solidFill>
                <a:latin typeface="Courier New"/>
              </a:rPr>
              <a:t>    'c7',  'c8', 'c9',</a:t>
            </a:r>
          </a:p>
          <a:p>
            <a:pPr algn="l">
              <a:lnSpc>
                <a:spcPct val="100000"/>
              </a:lnSpc>
            </a:pPr>
            <a:r>
              <a:rPr sz="1800" b="0">
                <a:solidFill>
                  <a:srgbClr val="9FE0C9"/>
                </a:solidFill>
                <a:latin typeface="Courier New"/>
              </a:rPr>
              <a:t>    'c10'</a:t>
            </a:r>
          </a:p>
          <a:p>
            <a:pPr algn="l">
              <a:lnSpc>
                <a:spcPct val="100000"/>
              </a:lnSpc>
            </a:pPr>
            <a:r>
              <a:rPr sz="1800" b="0">
                <a:solidFill>
                  <a:srgbClr val="9FE0C9"/>
                </a:solidFill>
                <a:latin typeface="Courier New"/>
              </a:rPr>
              <a:t>  ]</a:t>
            </a:r>
          </a:p>
          <a:p>
            <a:pPr algn="l">
              <a:lnSpc>
                <a:spcPct val="100000"/>
              </a:lnSpc>
            </a:pPr>
            <a:r>
              <a:rPr sz="1800" b="0">
                <a:solidFill>
                  <a:srgbClr val="9FE0C9"/>
                </a:solidFill>
                <a:latin typeface="Courier New"/>
              </a:rPr>
              <a:t>}</a:t>
            </a:r>
          </a:p>
        </p:txBody>
      </p:sp>
      <p:sp>
        <p:nvSpPr>
          <p:cNvPr id="12" name="Rectangle 11"/>
          <p:cNvSpPr/>
          <p:nvPr/>
        </p:nvSpPr>
        <p:spPr>
          <a:xfrm>
            <a:off x="6153912" y="1737360"/>
            <a:ext cx="5486400" cy="804672"/>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737360"/>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14" name="TextBox 13"/>
          <p:cNvSpPr txBox="1"/>
          <p:nvPr/>
        </p:nvSpPr>
        <p:spPr>
          <a:xfrm>
            <a:off x="6208776" y="2029968"/>
            <a:ext cx="5376672" cy="475488"/>
          </a:xfrm>
          <a:prstGeom prst="rect">
            <a:avLst/>
          </a:prstGeom>
          <a:noFill/>
        </p:spPr>
        <p:txBody>
          <a:bodyPr wrap="square" anchor="t" lIns="73152" rIns="73152" tIns="73152" bIns="73152">
            <a:spAutoFit/>
          </a:bodyPr>
          <a:lstStyle/>
          <a:p>
            <a:pPr algn="l">
              <a:lnSpc>
                <a:spcPct val="100000"/>
              </a:lnSpc>
            </a:pPr>
            <a:r>
              <a:rPr sz="971" b="0">
                <a:solidFill>
                  <a:srgbClr val="E6ECF2"/>
                </a:solidFill>
                <a:latin typeface="Courier New"/>
              </a:rPr>
              <a:t>&gt; db.blog.posts.findOne({"_id" : 1}, {"comments" : {"$slice" : -10}})</a:t>
            </a:r>
          </a:p>
        </p:txBody>
      </p:sp>
      <p:sp>
        <p:nvSpPr>
          <p:cNvPr id="15" name="Rectangle 14"/>
          <p:cNvSpPr/>
          <p:nvPr/>
        </p:nvSpPr>
        <p:spPr>
          <a:xfrm>
            <a:off x="6153912" y="2633472"/>
            <a:ext cx="5486400" cy="3675888"/>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53912" y="2633472"/>
            <a:ext cx="548640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7" name="TextBox 16"/>
          <p:cNvSpPr txBox="1"/>
          <p:nvPr/>
        </p:nvSpPr>
        <p:spPr>
          <a:xfrm>
            <a:off x="6208776" y="2926080"/>
            <a:ext cx="5376672" cy="3346704"/>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_id: 1,</a:t>
            </a:r>
          </a:p>
          <a:p>
            <a:pPr algn="l">
              <a:lnSpc>
                <a:spcPct val="100000"/>
              </a:lnSpc>
            </a:pPr>
            <a:r>
              <a:rPr sz="1800" b="0">
                <a:solidFill>
                  <a:srgbClr val="9FE0C9"/>
                </a:solidFill>
                <a:latin typeface="Courier New"/>
              </a:rPr>
              <a:t>  title: 'ADBS',</a:t>
            </a:r>
          </a:p>
          <a:p>
            <a:pPr algn="l">
              <a:lnSpc>
                <a:spcPct val="100000"/>
              </a:lnSpc>
            </a:pPr>
            <a:r>
              <a:rPr sz="1800" b="0">
                <a:solidFill>
                  <a:srgbClr val="9FE0C9"/>
                </a:solidFill>
                <a:latin typeface="Courier New"/>
              </a:rPr>
              <a:t>  comments: [</a:t>
            </a:r>
          </a:p>
          <a:p>
            <a:pPr algn="l">
              <a:lnSpc>
                <a:spcPct val="100000"/>
              </a:lnSpc>
            </a:pPr>
            <a:r>
              <a:rPr sz="1800" b="0">
                <a:solidFill>
                  <a:srgbClr val="9FE0C9"/>
                </a:solidFill>
                <a:latin typeface="Courier New"/>
              </a:rPr>
              <a:t>    'c31', 'c32', 'c33',</a:t>
            </a:r>
          </a:p>
          <a:p>
            <a:pPr algn="l">
              <a:lnSpc>
                <a:spcPct val="100000"/>
              </a:lnSpc>
            </a:pPr>
            <a:r>
              <a:rPr sz="1800" b="0">
                <a:solidFill>
                  <a:srgbClr val="9FE0C9"/>
                </a:solidFill>
                <a:latin typeface="Courier New"/>
              </a:rPr>
              <a:t>    'c34', 'c35', 'c36',</a:t>
            </a:r>
          </a:p>
          <a:p>
            <a:pPr algn="l">
              <a:lnSpc>
                <a:spcPct val="100000"/>
              </a:lnSpc>
            </a:pPr>
            <a:r>
              <a:rPr sz="1800" b="0">
                <a:solidFill>
                  <a:srgbClr val="9FE0C9"/>
                </a:solidFill>
                <a:latin typeface="Courier New"/>
              </a:rPr>
              <a:t>    'c37', 'c38', 'c39',</a:t>
            </a:r>
          </a:p>
          <a:p>
            <a:pPr algn="l">
              <a:lnSpc>
                <a:spcPct val="100000"/>
              </a:lnSpc>
            </a:pPr>
            <a:r>
              <a:rPr sz="1800" b="0">
                <a:solidFill>
                  <a:srgbClr val="9FE0C9"/>
                </a:solidFill>
                <a:latin typeface="Courier New"/>
              </a:rPr>
              <a:t>    'c40'</a:t>
            </a:r>
          </a:p>
          <a:p>
            <a:pPr algn="l">
              <a:lnSpc>
                <a:spcPct val="100000"/>
              </a:lnSpc>
            </a:pPr>
            <a:r>
              <a:rPr sz="1800" b="0">
                <a:solidFill>
                  <a:srgbClr val="9FE0C9"/>
                </a:solidFill>
                <a:latin typeface="Courier New"/>
              </a:rPr>
              <a:t>  ]</a:t>
            </a:r>
          </a:p>
          <a:p>
            <a:pPr algn="l">
              <a:lnSpc>
                <a:spcPct val="100000"/>
              </a:lnSpc>
            </a:pPr>
            <a:r>
              <a:rPr sz="1800" b="0">
                <a:solidFill>
                  <a:srgbClr val="9FE0C9"/>
                </a:solidFill>
                <a:latin typeface="Courier New"/>
              </a:rPr>
              <a:t>}</a:t>
            </a:r>
          </a:p>
        </p:txBody>
      </p:sp>
      <p:sp>
        <p:nvSpPr>
          <p:cNvPr id="18" name="TextBox 1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9" name="TextBox 18"/>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20" name="TextBox 19"/>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$SLICE &amp; EMBEDDED DOCUMENTS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$slice [23, 10]: a page from the middle</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Skip 23, take 10.</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db.blog.posts.findOne({"_id" : 1}, {"comments" : {"$slice" : [23, 10]}})</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800" b="0">
                <a:solidFill>
                  <a:srgbClr val="9FE0C9"/>
                </a:solidFill>
                <a:latin typeface="Courier New"/>
              </a:rPr>
              <a:t>{</a:t>
            </a:r>
          </a:p>
          <a:p>
            <a:pPr algn="l">
              <a:lnSpc>
                <a:spcPct val="100000"/>
              </a:lnSpc>
            </a:pPr>
            <a:r>
              <a:rPr sz="1800" b="0">
                <a:solidFill>
                  <a:srgbClr val="9FE0C9"/>
                </a:solidFill>
                <a:latin typeface="Courier New"/>
              </a:rPr>
              <a:t>  _id: 1,</a:t>
            </a:r>
          </a:p>
          <a:p>
            <a:pPr algn="l">
              <a:lnSpc>
                <a:spcPct val="100000"/>
              </a:lnSpc>
            </a:pPr>
            <a:r>
              <a:rPr sz="1800" b="0">
                <a:solidFill>
                  <a:srgbClr val="9FE0C9"/>
                </a:solidFill>
                <a:latin typeface="Courier New"/>
              </a:rPr>
              <a:t>  title: 'ADBS',</a:t>
            </a:r>
          </a:p>
          <a:p>
            <a:pPr algn="l">
              <a:lnSpc>
                <a:spcPct val="100000"/>
              </a:lnSpc>
            </a:pPr>
            <a:r>
              <a:rPr sz="1800" b="0">
                <a:solidFill>
                  <a:srgbClr val="9FE0C9"/>
                </a:solidFill>
                <a:latin typeface="Courier New"/>
              </a:rPr>
              <a:t>  comments: [</a:t>
            </a:r>
          </a:p>
          <a:p>
            <a:pPr algn="l">
              <a:lnSpc>
                <a:spcPct val="100000"/>
              </a:lnSpc>
            </a:pPr>
            <a:r>
              <a:rPr sz="1800" b="0">
                <a:solidFill>
                  <a:srgbClr val="9FE0C9"/>
                </a:solidFill>
                <a:latin typeface="Courier New"/>
              </a:rPr>
              <a:t>    'c24', 'c25', 'c26',</a:t>
            </a:r>
          </a:p>
          <a:p>
            <a:pPr algn="l">
              <a:lnSpc>
                <a:spcPct val="100000"/>
              </a:lnSpc>
            </a:pPr>
            <a:r>
              <a:rPr sz="1800" b="0">
                <a:solidFill>
                  <a:srgbClr val="9FE0C9"/>
                </a:solidFill>
                <a:latin typeface="Courier New"/>
              </a:rPr>
              <a:t>    'c27', 'c28', 'c29',</a:t>
            </a:r>
          </a:p>
          <a:p>
            <a:pPr algn="l">
              <a:lnSpc>
                <a:spcPct val="100000"/>
              </a:lnSpc>
            </a:pPr>
            <a:r>
              <a:rPr sz="1800" b="0">
                <a:solidFill>
                  <a:srgbClr val="9FE0C9"/>
                </a:solidFill>
                <a:latin typeface="Courier New"/>
              </a:rPr>
              <a:t>    'c30', 'c31', 'c32',</a:t>
            </a:r>
          </a:p>
          <a:p>
            <a:pPr algn="l">
              <a:lnSpc>
                <a:spcPct val="100000"/>
              </a:lnSpc>
            </a:pPr>
            <a:r>
              <a:rPr sz="1800" b="0">
                <a:solidFill>
                  <a:srgbClr val="9FE0C9"/>
                </a:solidFill>
                <a:latin typeface="Courier New"/>
              </a:rPr>
              <a:t>    'c33'</a:t>
            </a:r>
          </a:p>
          <a:p>
            <a:pPr algn="l">
              <a:lnSpc>
                <a:spcPct val="100000"/>
              </a:lnSpc>
            </a:pPr>
            <a:r>
              <a:rPr sz="1800" b="0">
                <a:solidFill>
                  <a:srgbClr val="9FE0C9"/>
                </a:solidFill>
                <a:latin typeface="Courier New"/>
              </a:rPr>
              <a:t>  ]</a:t>
            </a:r>
          </a:p>
          <a:p>
            <a:pPr algn="l">
              <a:lnSpc>
                <a:spcPct val="100000"/>
              </a:lnSpc>
            </a:pPr>
            <a:r>
              <a:rPr sz="1800" b="0">
                <a:solidFill>
                  <a:srgbClr val="9FE0C9"/>
                </a:solidFill>
                <a:latin typeface="Courier New"/>
              </a:rPr>
              <a:t>}</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Skips the first 23, returns the 24th through 33rd.</a:t>
            </a:r>
          </a:p>
          <a:p>
            <a:pPr algn="l">
              <a:lnSpc>
                <a:spcPct val="115000"/>
              </a:lnSpc>
            </a:pPr>
            <a:r>
              <a:rPr sz="1800" b="1">
                <a:solidFill>
                  <a:srgbClr val="D9480F"/>
                </a:solidFill>
                <a:latin typeface="Arial"/>
              </a:rPr>
              <a:t>▸  </a:t>
            </a:r>
            <a:r>
              <a:rPr sz="1800" b="0">
                <a:solidFill>
                  <a:srgbClr val="14202E"/>
                </a:solidFill>
                <a:latin typeface="Arial"/>
              </a:rPr>
              <a:t>Fewer than 33? It returns as many as possible.</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6  ·  $SLICE &amp; EMBEDDED DOCUMENTS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Querying embedded documents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Use the dot to reach inside.</a:t>
            </a:r>
          </a:p>
        </p:txBody>
      </p:sp>
      <p:sp>
        <p:nvSpPr>
          <p:cNvPr id="6" name="Rectangle 5"/>
          <p:cNvSpPr/>
          <p:nvPr/>
        </p:nvSpPr>
        <p:spPr>
          <a:xfrm>
            <a:off x="548640" y="1737360"/>
            <a:ext cx="7040880" cy="649224"/>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37360"/>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COMMAND</a:t>
            </a:r>
          </a:p>
        </p:txBody>
      </p:sp>
      <p:sp>
        <p:nvSpPr>
          <p:cNvPr id="8" name="TextBox 7"/>
          <p:cNvSpPr txBox="1"/>
          <p:nvPr/>
        </p:nvSpPr>
        <p:spPr>
          <a:xfrm>
            <a:off x="603504" y="2029968"/>
            <a:ext cx="6931152" cy="320040"/>
          </a:xfrm>
          <a:prstGeom prst="rect">
            <a:avLst/>
          </a:prstGeom>
          <a:noFill/>
        </p:spPr>
        <p:txBody>
          <a:bodyPr wrap="square" anchor="t" lIns="73152" rIns="73152" tIns="73152" bIns="73152">
            <a:spAutoFit/>
          </a:bodyPr>
          <a:lstStyle/>
          <a:p>
            <a:pPr algn="l">
              <a:lnSpc>
                <a:spcPct val="100000"/>
              </a:lnSpc>
            </a:pPr>
            <a:r>
              <a:rPr sz="900" b="0">
                <a:solidFill>
                  <a:srgbClr val="E6ECF2"/>
                </a:solidFill>
                <a:latin typeface="Courier New"/>
              </a:rPr>
              <a:t>&gt; db.people.find({"name.first" : "John", "name.last" : "Escalona"})</a:t>
            </a:r>
          </a:p>
        </p:txBody>
      </p:sp>
      <p:sp>
        <p:nvSpPr>
          <p:cNvPr id="9" name="Rectangle 8"/>
          <p:cNvSpPr/>
          <p:nvPr/>
        </p:nvSpPr>
        <p:spPr>
          <a:xfrm>
            <a:off x="548640" y="2478024"/>
            <a:ext cx="7040880" cy="3831336"/>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78024"/>
            <a:ext cx="7040880" cy="310896"/>
          </a:xfrm>
          <a:prstGeom prst="rect">
            <a:avLst/>
          </a:prstGeom>
          <a:noFill/>
        </p:spPr>
        <p:txBody>
          <a:bodyPr wrap="square" anchor="t" lIns="109728" rIns="109728" tIns="109728" bIns="109728">
            <a:spAutoFit/>
          </a:bodyPr>
          <a:lstStyle/>
          <a:p>
            <a:pPr algn="l">
              <a:lnSpc>
                <a:spcPct val="110000"/>
              </a:lnSpc>
            </a:pPr>
            <a:r>
              <a:rPr sz="1100" b="1">
                <a:solidFill>
                  <a:srgbClr val="8A9BAD"/>
                </a:solidFill>
                <a:latin typeface="Arial"/>
              </a:rPr>
              <a:t>OUTPUT</a:t>
            </a:r>
          </a:p>
        </p:txBody>
      </p:sp>
      <p:sp>
        <p:nvSpPr>
          <p:cNvPr id="11" name="TextBox 10"/>
          <p:cNvSpPr txBox="1"/>
          <p:nvPr/>
        </p:nvSpPr>
        <p:spPr>
          <a:xfrm>
            <a:off x="603504" y="2770632"/>
            <a:ext cx="6931152" cy="3502152"/>
          </a:xfrm>
          <a:prstGeom prst="rect">
            <a:avLst/>
          </a:prstGeom>
          <a:noFill/>
        </p:spPr>
        <p:txBody>
          <a:bodyPr wrap="square" anchor="t" lIns="73152" rIns="73152" tIns="73152" bIns="73152">
            <a:spAutoFit/>
          </a:bodyPr>
          <a:lstStyle/>
          <a:p>
            <a:pPr algn="l">
              <a:lnSpc>
                <a:spcPct val="100000"/>
              </a:lnSpc>
            </a:pPr>
            <a:r>
              <a:rPr sz="1323" b="0">
                <a:solidFill>
                  <a:srgbClr val="9FE0C9"/>
                </a:solidFill>
                <a:latin typeface="Courier New"/>
              </a:rPr>
              <a:t>[ { _id: 1, name: { first: 'John', last: 'Escalona' }, age: 45 } ]</a:t>
            </a:r>
          </a:p>
        </p:txBody>
      </p:sp>
      <p:sp>
        <p:nvSpPr>
          <p:cNvPr id="12" name="TextBox 11"/>
          <p:cNvSpPr txBox="1"/>
          <p:nvPr/>
        </p:nvSpPr>
        <p:spPr>
          <a:xfrm>
            <a:off x="7863840" y="1737360"/>
            <a:ext cx="3916375" cy="4480560"/>
          </a:xfrm>
          <a:prstGeom prst="rect">
            <a:avLst/>
          </a:prstGeom>
          <a:noFill/>
        </p:spPr>
        <p:txBody>
          <a:bodyPr wrap="square" anchor="t" lIns="73152" rIns="73152" tIns="73152" bIns="73152">
            <a:spAutoFit/>
          </a:bodyPr>
          <a:lstStyle/>
          <a:p>
            <a:pPr algn="l">
              <a:lnSpc>
                <a:spcPct val="115000"/>
              </a:lnSpc>
            </a:pPr>
            <a:r>
              <a:rPr sz="1800" b="1">
                <a:solidFill>
                  <a:srgbClr val="D9480F"/>
                </a:solidFill>
                <a:latin typeface="Arial"/>
              </a:rPr>
              <a:t>▸  </a:t>
            </a:r>
            <a:r>
              <a:rPr sz="1800" b="0">
                <a:solidFill>
                  <a:srgbClr val="14202E"/>
                </a:solidFill>
                <a:latin typeface="Arial"/>
              </a:rPr>
              <a:t>An embedded document is a document inside a document.</a:t>
            </a:r>
          </a:p>
          <a:p>
            <a:pPr algn="l">
              <a:lnSpc>
                <a:spcPct val="115000"/>
              </a:lnSpc>
            </a:pPr>
            <a:r>
              <a:rPr sz="1800" b="1">
                <a:solidFill>
                  <a:srgbClr val="D9480F"/>
                </a:solidFill>
                <a:latin typeface="Arial"/>
              </a:rPr>
              <a:t>▸  </a:t>
            </a:r>
            <a:r>
              <a:rPr sz="1800" b="0">
                <a:solidFill>
                  <a:srgbClr val="14202E"/>
                </a:solidFill>
                <a:latin typeface="Arial"/>
              </a:rPr>
              <a:t>Reach its keys with dot notation: "name.first".</a:t>
            </a:r>
          </a:p>
        </p:txBody>
      </p:sp>
      <p:sp>
        <p:nvSpPr>
          <p:cNvPr id="13" name="TextBox 12"/>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08 Handout p.4</a:t>
            </a:r>
          </a:p>
        </p:txBody>
      </p:sp>
      <p:sp>
        <p:nvSpPr>
          <p:cNvPr id="14" name="TextBox 13"/>
          <p:cNvSpPr txBox="1"/>
          <p:nvPr/>
        </p:nvSpPr>
        <p:spPr>
          <a:xfrm>
            <a:off x="7680960" y="6419088"/>
            <a:ext cx="3886200" cy="329184"/>
          </a:xfrm>
          <a:prstGeom prst="rect">
            <a:avLst/>
          </a:prstGeom>
          <a:noFill/>
        </p:spPr>
        <p:txBody>
          <a:bodyPr wrap="square" anchor="t" lIns="73152" rIns="73152" tIns="73152" bIns="73152">
            <a:spAutoFit/>
          </a:bodyPr>
          <a:lstStyle/>
          <a:p>
            <a:pPr algn="r">
              <a:lnSpc>
                <a:spcPct val="110000"/>
              </a:lnSpc>
            </a:pPr>
            <a:r>
              <a:rPr sz="900" b="0">
                <a:solidFill>
                  <a:srgbClr val="0B6E61"/>
                </a:solidFill>
                <a:latin typeface="Arial"/>
              </a:rPr>
              <a:t>Outputs from a real run: MongoDB 8.0.4 + mongosh 2.3.8 (2026-10-30)</a:t>
            </a:r>
          </a:p>
        </p:txBody>
      </p:sp>
      <p:sp>
        <p:nvSpPr>
          <p:cNvPr id="15" name="TextBox 1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7</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Cloud Computing &amp; Implementation Types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urier New"/>
              </a:rPr>
              <a:t>public · private · hybrid</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“Cloud type = where it lives + who controls it.”</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7  ·  CLOUD COMPUTING &amp; IMPLEMENTATION TYPES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What cloud computing is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If it has the web, it has your data.</a:t>
            </a:r>
          </a:p>
        </p:txBody>
      </p:sp>
      <p:sp>
        <p:nvSpPr>
          <p:cNvPr id="6" name="TextBox 5"/>
          <p:cNvSpPr txBox="1"/>
          <p:nvPr/>
        </p:nvSpPr>
        <p:spPr>
          <a:xfrm>
            <a:off x="548640" y="1920240"/>
            <a:ext cx="10972800" cy="4206240"/>
          </a:xfrm>
          <a:prstGeom prst="rect">
            <a:avLst/>
          </a:prstGeom>
          <a:noFill/>
        </p:spPr>
        <p:txBody>
          <a:bodyPr wrap="square" anchor="t" lIns="73152" rIns="73152" tIns="73152" bIns="73152">
            <a:spAutoFit/>
          </a:bodyPr>
          <a:lstStyle/>
          <a:p>
            <a:pPr algn="l">
              <a:lnSpc>
                <a:spcPct val="115000"/>
              </a:lnSpc>
            </a:pPr>
            <a:r>
              <a:rPr sz="2200" b="1">
                <a:solidFill>
                  <a:srgbClr val="D9480F"/>
                </a:solidFill>
                <a:latin typeface="Arial"/>
              </a:rPr>
              <a:t>▸  </a:t>
            </a:r>
            <a:r>
              <a:rPr sz="2200" b="0">
                <a:solidFill>
                  <a:srgbClr val="14202E"/>
                </a:solidFill>
                <a:latin typeface="Arial"/>
              </a:rPr>
              <a:t>Cloud computing is the delivery of different services through the Internet: data storage, servers, databases, networking and software.</a:t>
            </a:r>
          </a:p>
          <a:p>
            <a:pPr algn="l">
              <a:lnSpc>
                <a:spcPct val="115000"/>
              </a:lnSpc>
            </a:pPr>
            <a:r>
              <a:rPr sz="2200" b="1">
                <a:solidFill>
                  <a:srgbClr val="D9480F"/>
                </a:solidFill>
                <a:latin typeface="Arial"/>
              </a:rPr>
              <a:t>▸  </a:t>
            </a:r>
            <a:r>
              <a:rPr sz="2200" b="0">
                <a:solidFill>
                  <a:srgbClr val="14202E"/>
                </a:solidFill>
                <a:latin typeface="Arial"/>
              </a:rPr>
              <a:t>Instead of a hard drive or local storage, files are saved to a remote database.</a:t>
            </a:r>
          </a:p>
          <a:p>
            <a:pPr algn="l">
              <a:lnSpc>
                <a:spcPct val="115000"/>
              </a:lnSpc>
            </a:pPr>
            <a:r>
              <a:rPr sz="2200" b="1">
                <a:solidFill>
                  <a:srgbClr val="D9480F"/>
                </a:solidFill>
                <a:latin typeface="Arial"/>
              </a:rPr>
              <a:t>▸  </a:t>
            </a:r>
            <a:r>
              <a:rPr sz="2200" b="0">
                <a:solidFill>
                  <a:srgbClr val="14202E"/>
                </a:solidFill>
                <a:latin typeface="Arial"/>
              </a:rPr>
              <a:t>As long as a device has access to the web, it has access to the data and the software to run it.</a:t>
            </a:r>
          </a:p>
        </p:txBody>
      </p:sp>
      <p:sp>
        <p:nvSpPr>
          <p:cNvPr id="7" name="TextBox 6"/>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8" name="TextBox 7"/>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7  ·  CLOUD COMPUTING &amp; IMPLEMENTATION TYPES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Three cloud implementation types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Rent it, own it, or mix both.</a:t>
            </a:r>
          </a:p>
        </p:txBody>
      </p:sp>
      <p:graphicFrame>
        <p:nvGraphicFramePr>
          <p:cNvPr id="6" name="Table 5"/>
          <p:cNvGraphicFramePr>
            <a:graphicFrameLocks noGrp="1"/>
          </p:cNvGraphicFramePr>
          <p:nvPr/>
        </p:nvGraphicFramePr>
        <p:xfrm>
          <a:off x="548640" y="1828800"/>
          <a:ext cx="11094415" cy="3474720"/>
        </p:xfrm>
        <a:graphic>
          <a:graphicData uri="http://schemas.openxmlformats.org/drawingml/2006/table">
            <a:tbl>
              <a:tblPr firstRow="1" bandRow="1">
                <a:tableStyleId>{5C22544A-7EE6-4342-B048-85BDC9FD1C3A}</a:tableStyleId>
              </a:tblPr>
              <a:tblGrid>
                <a:gridCol w="2773603"/>
                <a:gridCol w="2773603"/>
                <a:gridCol w="2773603"/>
                <a:gridCol w="2773606"/>
              </a:tblGrid>
              <a:tr h="868680">
                <a:tc>
                  <a:txBody>
                    <a:bodyPr/>
                    <a:lstStyle/>
                    <a:p>
                      <a:r>
                        <a:rPr sz="1600" b="1">
                          <a:solidFill>
                            <a:srgbClr val="FFFFFF"/>
                          </a:solidFill>
                          <a:latin typeface="Arial"/>
                        </a:rPr>
                        <a:t>Type</a:t>
                      </a:r>
                    </a:p>
                  </a:txBody>
                  <a:tcPr>
                    <a:solidFill>
                      <a:srgbClr val="14202E"/>
                    </a:solidFill>
                  </a:tcPr>
                </a:tc>
                <a:tc>
                  <a:txBody>
                    <a:bodyPr/>
                    <a:lstStyle/>
                    <a:p>
                      <a:r>
                        <a:rPr sz="1600" b="1">
                          <a:solidFill>
                            <a:srgbClr val="FFFFFF"/>
                          </a:solidFill>
                          <a:latin typeface="Arial"/>
                        </a:rPr>
                        <a:t>Built by / for</a:t>
                      </a:r>
                    </a:p>
                  </a:txBody>
                  <a:tcPr>
                    <a:solidFill>
                      <a:srgbClr val="14202E"/>
                    </a:solidFill>
                  </a:tcPr>
                </a:tc>
                <a:tc>
                  <a:txBody>
                    <a:bodyPr/>
                    <a:lstStyle/>
                    <a:p>
                      <a:r>
                        <a:rPr sz="1600" b="1">
                          <a:solidFill>
                            <a:srgbClr val="FFFFFF"/>
                          </a:solidFill>
                          <a:latin typeface="Arial"/>
                        </a:rPr>
                        <a:t>Handout example</a:t>
                      </a:r>
                    </a:p>
                  </a:txBody>
                  <a:tcPr>
                    <a:solidFill>
                      <a:srgbClr val="14202E"/>
                    </a:solidFill>
                  </a:tcPr>
                </a:tc>
                <a:tc>
                  <a:txBody>
                    <a:bodyPr/>
                    <a:lstStyle/>
                    <a:p>
                      <a:r>
                        <a:rPr sz="1600" b="1">
                          <a:solidFill>
                            <a:srgbClr val="FFFFFF"/>
                          </a:solidFill>
                          <a:latin typeface="Arial"/>
                        </a:rPr>
                        <a:t>Key point</a:t>
                      </a:r>
                    </a:p>
                  </a:txBody>
                  <a:tcPr>
                    <a:solidFill>
                      <a:srgbClr val="14202E"/>
                    </a:solidFill>
                  </a:tcPr>
                </a:tc>
              </a:tr>
              <a:tr h="868680">
                <a:tc>
                  <a:txBody>
                    <a:bodyPr/>
                    <a:lstStyle/>
                    <a:p>
                      <a:r>
                        <a:rPr sz="1500" b="1">
                          <a:solidFill>
                            <a:srgbClr val="D9480F"/>
                          </a:solidFill>
                          <a:latin typeface="Arial"/>
                        </a:rPr>
                        <a:t>Public</a:t>
                      </a:r>
                    </a:p>
                  </a:txBody>
                  <a:tcPr anchor="ctr">
                    <a:solidFill>
                      <a:srgbClr val="FFFFFF"/>
                    </a:solidFill>
                  </a:tcPr>
                </a:tc>
                <a:tc>
                  <a:txBody>
                    <a:bodyPr/>
                    <a:lstStyle/>
                    <a:p>
                      <a:r>
                        <a:rPr sz="1500" b="0">
                          <a:solidFill>
                            <a:srgbClr val="14202E"/>
                          </a:solidFill>
                          <a:latin typeface="Arial"/>
                        </a:rPr>
                        <a:t>A third party, to sell cloud services to the general public</a:t>
                      </a:r>
                    </a:p>
                  </a:txBody>
                  <a:tcPr anchor="ctr">
                    <a:solidFill>
                      <a:srgbClr val="FFFFFF"/>
                    </a:solidFill>
                  </a:tcPr>
                </a:tc>
                <a:tc>
                  <a:txBody>
                    <a:bodyPr/>
                    <a:lstStyle/>
                    <a:p>
                      <a:r>
                        <a:rPr sz="1500" b="0">
                          <a:solidFill>
                            <a:srgbClr val="14202E"/>
                          </a:solidFill>
                          <a:latin typeface="Arial"/>
                        </a:rPr>
                        <a:t>AWS, Google Application Engine, Microsoft Azure</a:t>
                      </a:r>
                    </a:p>
                  </a:txBody>
                  <a:tcPr anchor="ctr">
                    <a:solidFill>
                      <a:srgbClr val="FFFFFF"/>
                    </a:solidFill>
                  </a:tcPr>
                </a:tc>
                <a:tc>
                  <a:txBody>
                    <a:bodyPr/>
                    <a:lstStyle/>
                    <a:p>
                      <a:r>
                        <a:rPr sz="1500" b="0">
                          <a:solidFill>
                            <a:srgbClr val="14202E"/>
                          </a:solidFill>
                          <a:latin typeface="Arial"/>
                        </a:rPr>
                        <a:t>Reliable, low cost, scalable; not for strict sensitive-data rules</a:t>
                      </a:r>
                    </a:p>
                  </a:txBody>
                  <a:tcPr anchor="ctr">
                    <a:solidFill>
                      <a:srgbClr val="FFFFFF"/>
                    </a:solidFill>
                  </a:tcPr>
                </a:tc>
              </a:tr>
              <a:tr h="868680">
                <a:tc>
                  <a:txBody>
                    <a:bodyPr/>
                    <a:lstStyle/>
                    <a:p>
                      <a:r>
                        <a:rPr sz="1500" b="1">
                          <a:solidFill>
                            <a:srgbClr val="D9480F"/>
                          </a:solidFill>
                          <a:latin typeface="Arial"/>
                        </a:rPr>
                        <a:t>Private</a:t>
                      </a:r>
                    </a:p>
                  </a:txBody>
                  <a:tcPr anchor="ctr">
                    <a:solidFill>
                      <a:srgbClr val="F6F8FA"/>
                    </a:solidFill>
                  </a:tcPr>
                </a:tc>
                <a:tc>
                  <a:txBody>
                    <a:bodyPr/>
                    <a:lstStyle/>
                    <a:p>
                      <a:r>
                        <a:rPr sz="1500" b="0">
                          <a:solidFill>
                            <a:srgbClr val="14202E"/>
                          </a:solidFill>
                          <a:latin typeface="Arial"/>
                        </a:rPr>
                        <a:t>An organization, only for its own needs</a:t>
                      </a:r>
                    </a:p>
                  </a:txBody>
                  <a:tcPr anchor="ctr">
                    <a:solidFill>
                      <a:srgbClr val="F6F8FA"/>
                    </a:solidFill>
                  </a:tcPr>
                </a:tc>
                <a:tc>
                  <a:txBody>
                    <a:bodyPr/>
                    <a:lstStyle/>
                    <a:p>
                      <a:r>
                        <a:rPr sz="1500" b="0">
                          <a:solidFill>
                            <a:srgbClr val="14202E"/>
                          </a:solidFill>
                          <a:latin typeface="Arial"/>
                        </a:rPr>
                        <a:t>Large, geographically dispersed organizations</a:t>
                      </a:r>
                    </a:p>
                  </a:txBody>
                  <a:tcPr anchor="ctr">
                    <a:solidFill>
                      <a:srgbClr val="F6F8FA"/>
                    </a:solidFill>
                  </a:tcPr>
                </a:tc>
                <a:tc>
                  <a:txBody>
                    <a:bodyPr/>
                    <a:lstStyle/>
                    <a:p>
                      <a:r>
                        <a:rPr sz="1500" b="0">
                          <a:solidFill>
                            <a:srgbClr val="14202E"/>
                          </a:solidFill>
                          <a:latin typeface="Arial"/>
                        </a:rPr>
                        <a:t>Managed by internal IT staff or a third party</a:t>
                      </a:r>
                    </a:p>
                  </a:txBody>
                  <a:tcPr anchor="ctr">
                    <a:solidFill>
                      <a:srgbClr val="F6F8FA"/>
                    </a:solidFill>
                  </a:tcPr>
                </a:tc>
              </a:tr>
              <a:tr h="868680">
                <a:tc>
                  <a:txBody>
                    <a:bodyPr/>
                    <a:lstStyle/>
                    <a:p>
                      <a:r>
                        <a:rPr sz="1500" b="1">
                          <a:solidFill>
                            <a:srgbClr val="D9480F"/>
                          </a:solidFill>
                          <a:latin typeface="Arial"/>
                        </a:rPr>
                        <a:t>Hybrid</a:t>
                      </a:r>
                    </a:p>
                  </a:txBody>
                  <a:tcPr anchor="ctr">
                    <a:solidFill>
                      <a:srgbClr val="FFFFFF"/>
                    </a:solidFill>
                  </a:tcPr>
                </a:tc>
                <a:tc>
                  <a:txBody>
                    <a:bodyPr/>
                    <a:lstStyle/>
                    <a:p>
                      <a:r>
                        <a:rPr sz="1500" b="0">
                          <a:solidFill>
                            <a:srgbClr val="14202E"/>
                          </a:solidFill>
                          <a:latin typeface="Arial"/>
                        </a:rPr>
                        <a:t>A combination of private and public cloud</a:t>
                      </a:r>
                    </a:p>
                  </a:txBody>
                  <a:tcPr anchor="ctr">
                    <a:solidFill>
                      <a:srgbClr val="FFFFFF"/>
                    </a:solidFill>
                  </a:tcPr>
                </a:tc>
                <a:tc>
                  <a:txBody>
                    <a:bodyPr/>
                    <a:lstStyle/>
                    <a:p>
                      <a:r>
                        <a:rPr sz="1500" b="0">
                          <a:solidFill>
                            <a:srgbClr val="14202E"/>
                          </a:solidFill>
                          <a:latin typeface="Arial"/>
                        </a:rPr>
                        <a:t>Public for emails; private for financials and data recovery</a:t>
                      </a:r>
                    </a:p>
                  </a:txBody>
                  <a:tcPr anchor="ctr">
                    <a:solidFill>
                      <a:srgbClr val="FFFFFF"/>
                    </a:solidFill>
                  </a:tcPr>
                </a:tc>
                <a:tc>
                  <a:txBody>
                    <a:bodyPr/>
                    <a:lstStyle/>
                    <a:p>
                      <a:r>
                        <a:rPr sz="1500" b="0">
                          <a:solidFill>
                            <a:srgbClr val="14202E"/>
                          </a:solidFill>
                          <a:latin typeface="Arial"/>
                        </a:rPr>
                        <a:t>Flexibility plus control over critical assets</a:t>
                      </a:r>
                    </a:p>
                  </a:txBody>
                  <a:tcPr anchor="ctr">
                    <a:solidFill>
                      <a:srgbClr val="FFFFFF"/>
                    </a:solidFill>
                  </a:tcPr>
                </a:tc>
              </a:tr>
            </a:tbl>
          </a:graphicData>
        </a:graphic>
      </p:graphicFrame>
      <p:sp>
        <p:nvSpPr>
          <p:cNvPr id="7" name="TextBox 6"/>
          <p:cNvSpPr txBox="1"/>
          <p:nvPr/>
        </p:nvSpPr>
        <p:spPr>
          <a:xfrm>
            <a:off x="548640" y="553212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Type = where the infrastructure resides and who controls it.</a:t>
            </a:r>
          </a:p>
        </p:txBody>
      </p:sp>
      <p:sp>
        <p:nvSpPr>
          <p:cNvPr id="8" name="TextBox 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548640" y="1280160"/>
            <a:ext cx="3657600" cy="2377440"/>
          </a:xfrm>
          <a:prstGeom prst="rect">
            <a:avLst/>
          </a:prstGeom>
          <a:noFill/>
        </p:spPr>
        <p:txBody>
          <a:bodyPr wrap="square" anchor="t" lIns="73152" rIns="73152" tIns="73152" bIns="73152">
            <a:spAutoFit/>
          </a:bodyPr>
          <a:lstStyle/>
          <a:p>
            <a:pPr algn="l">
              <a:lnSpc>
                <a:spcPct val="110000"/>
              </a:lnSpc>
            </a:pPr>
            <a:r>
              <a:rPr sz="17000" b="1">
                <a:solidFill>
                  <a:srgbClr val="D9480F"/>
                </a:solidFill>
                <a:latin typeface="Arial"/>
              </a:rPr>
              <a:t>8</a:t>
            </a:r>
          </a:p>
        </p:txBody>
      </p:sp>
      <p:sp>
        <p:nvSpPr>
          <p:cNvPr id="3" name="TextBox 2"/>
          <p:cNvSpPr txBox="1"/>
          <p:nvPr/>
        </p:nvSpPr>
        <p:spPr>
          <a:xfrm>
            <a:off x="3840480" y="822960"/>
            <a:ext cx="7863840" cy="1828800"/>
          </a:xfrm>
          <a:prstGeom prst="rect">
            <a:avLst/>
          </a:prstGeom>
          <a:noFill/>
        </p:spPr>
        <p:txBody>
          <a:bodyPr wrap="square" anchor="b" lIns="73152" rIns="73152" tIns="73152" bIns="73152">
            <a:spAutoFit/>
          </a:bodyPr>
          <a:lstStyle/>
          <a:p>
            <a:pPr algn="l">
              <a:lnSpc>
                <a:spcPct val="95000"/>
              </a:lnSpc>
            </a:pPr>
            <a:r>
              <a:rPr sz="4000" b="1">
                <a:solidFill>
                  <a:srgbClr val="FFFFFF"/>
                </a:solidFill>
                <a:latin typeface="Arial"/>
              </a:rPr>
              <a:t>Cloud Service Types &amp; Benefits</a:t>
            </a:r>
          </a:p>
        </p:txBody>
      </p:sp>
      <p:sp>
        <p:nvSpPr>
          <p:cNvPr id="4" name="TextBox 3"/>
          <p:cNvSpPr txBox="1"/>
          <p:nvPr/>
        </p:nvSpPr>
        <p:spPr>
          <a:xfrm>
            <a:off x="3840480" y="2743200"/>
            <a:ext cx="7863840" cy="548640"/>
          </a:xfrm>
          <a:prstGeom prst="rect">
            <a:avLst/>
          </a:prstGeom>
          <a:noFill/>
        </p:spPr>
        <p:txBody>
          <a:bodyPr wrap="square" anchor="t" lIns="73152" rIns="73152" tIns="73152" bIns="73152">
            <a:spAutoFit/>
          </a:bodyPr>
          <a:lstStyle/>
          <a:p>
            <a:pPr algn="l">
              <a:lnSpc>
                <a:spcPct val="110000"/>
              </a:lnSpc>
            </a:pPr>
            <a:r>
              <a:rPr sz="2000" b="0">
                <a:solidFill>
                  <a:srgbClr val="9FE0C9"/>
                </a:solidFill>
                <a:latin typeface="Courier New"/>
              </a:rPr>
              <a:t>SaaS · PaaS · IaaS · 10 benefits</a:t>
            </a:r>
          </a:p>
        </p:txBody>
      </p:sp>
      <p:sp>
        <p:nvSpPr>
          <p:cNvPr id="5" name="TextBox 4"/>
          <p:cNvSpPr txBox="1"/>
          <p:nvPr/>
        </p:nvSpPr>
        <p:spPr>
          <a:xfrm>
            <a:off x="3840480" y="3474720"/>
            <a:ext cx="7863840" cy="1097280"/>
          </a:xfrm>
          <a:prstGeom prst="rect">
            <a:avLst/>
          </a:prstGeom>
          <a:noFill/>
        </p:spPr>
        <p:txBody>
          <a:bodyPr wrap="square" anchor="t" lIns="73152" rIns="73152" tIns="73152" bIns="73152">
            <a:spAutoFit/>
          </a:bodyPr>
          <a:lstStyle/>
          <a:p>
            <a:pPr algn="l">
              <a:lnSpc>
                <a:spcPct val="110000"/>
              </a:lnSpc>
            </a:pPr>
            <a:r>
              <a:rPr sz="2800" b="0">
                <a:solidFill>
                  <a:srgbClr val="F2B27A"/>
                </a:solidFill>
                <a:latin typeface="Arial"/>
              </a:rPr>
              <a:t>“Use it, build on it, or rent the machine.”</a:t>
            </a:r>
          </a:p>
        </p:txBody>
      </p:sp>
      <p:sp>
        <p:nvSpPr>
          <p:cNvPr id="6" name="TextBox 5"/>
          <p:cNvSpPr txBox="1"/>
          <p:nvPr/>
        </p:nvSpPr>
        <p:spPr>
          <a:xfrm>
            <a:off x="3840480" y="4846320"/>
            <a:ext cx="7863840" cy="548640"/>
          </a:xfrm>
          <a:prstGeom prst="rect">
            <a:avLst/>
          </a:prstGeom>
          <a:noFill/>
        </p:spPr>
        <p:txBody>
          <a:bodyPr wrap="square" anchor="t" lIns="73152" rIns="73152" tIns="73152" bIns="73152">
            <a:spAutoFit/>
          </a:bodyPr>
          <a:lstStyle/>
          <a:p>
            <a:pPr algn="l">
              <a:lnSpc>
                <a:spcPct val="110000"/>
              </a:lnSpc>
            </a:pPr>
            <a:r>
              <a:rPr sz="2000" b="0">
                <a:solidFill>
                  <a:srgbClr val="E6ECF2"/>
                </a:solidFill>
                <a:latin typeface="Arial"/>
              </a:rPr>
              <a:t>Presenter: ____________________</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8  ·  CLOUD SERVICE TYPES &amp; BENEFITS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Three types of cloud services</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SaaS: use it. PaaS: build on it. IaaS: rent the machine.</a:t>
            </a:r>
          </a:p>
        </p:txBody>
      </p:sp>
      <p:graphicFrame>
        <p:nvGraphicFramePr>
          <p:cNvPr id="6" name="Table 5"/>
          <p:cNvGraphicFramePr>
            <a:graphicFrameLocks noGrp="1"/>
          </p:cNvGraphicFramePr>
          <p:nvPr/>
        </p:nvGraphicFramePr>
        <p:xfrm>
          <a:off x="548640" y="1828800"/>
          <a:ext cx="11094415" cy="3474720"/>
        </p:xfrm>
        <a:graphic>
          <a:graphicData uri="http://schemas.openxmlformats.org/drawingml/2006/table">
            <a:tbl>
              <a:tblPr firstRow="1" bandRow="1">
                <a:tableStyleId>{5C22544A-7EE6-4342-B048-85BDC9FD1C3A}</a:tableStyleId>
              </a:tblPr>
              <a:tblGrid>
                <a:gridCol w="2773603"/>
                <a:gridCol w="2773603"/>
                <a:gridCol w="2773603"/>
                <a:gridCol w="2773606"/>
              </a:tblGrid>
              <a:tr h="868680">
                <a:tc>
                  <a:txBody>
                    <a:bodyPr/>
                    <a:lstStyle/>
                    <a:p>
                      <a:r>
                        <a:rPr sz="1600" b="1">
                          <a:solidFill>
                            <a:srgbClr val="FFFFFF"/>
                          </a:solidFill>
                          <a:latin typeface="Arial"/>
                        </a:rPr>
                        <a:t>Type</a:t>
                      </a:r>
                    </a:p>
                  </a:txBody>
                  <a:tcPr>
                    <a:solidFill>
                      <a:srgbClr val="14202E"/>
                    </a:solidFill>
                  </a:tcPr>
                </a:tc>
                <a:tc>
                  <a:txBody>
                    <a:bodyPr/>
                    <a:lstStyle/>
                    <a:p>
                      <a:r>
                        <a:rPr sz="1600" b="1">
                          <a:solidFill>
                            <a:srgbClr val="FFFFFF"/>
                          </a:solidFill>
                          <a:latin typeface="Arial"/>
                        </a:rPr>
                        <a:t>Provider offers</a:t>
                      </a:r>
                    </a:p>
                  </a:txBody>
                  <a:tcPr>
                    <a:solidFill>
                      <a:srgbClr val="14202E"/>
                    </a:solidFill>
                  </a:tcPr>
                </a:tc>
                <a:tc>
                  <a:txBody>
                    <a:bodyPr/>
                    <a:lstStyle/>
                    <a:p>
                      <a:r>
                        <a:rPr sz="1600" b="1">
                          <a:solidFill>
                            <a:srgbClr val="FFFFFF"/>
                          </a:solidFill>
                          <a:latin typeface="Arial"/>
                        </a:rPr>
                        <a:t>The consumer</a:t>
                      </a:r>
                    </a:p>
                  </a:txBody>
                  <a:tcPr>
                    <a:solidFill>
                      <a:srgbClr val="14202E"/>
                    </a:solidFill>
                  </a:tcPr>
                </a:tc>
                <a:tc>
                  <a:txBody>
                    <a:bodyPr/>
                    <a:lstStyle/>
                    <a:p>
                      <a:r>
                        <a:rPr sz="1600" b="1">
                          <a:solidFill>
                            <a:srgbClr val="FFFFFF"/>
                          </a:solidFill>
                          <a:latin typeface="Arial"/>
                        </a:rPr>
                        <a:t>Handout example</a:t>
                      </a:r>
                    </a:p>
                  </a:txBody>
                  <a:tcPr>
                    <a:solidFill>
                      <a:srgbClr val="14202E"/>
                    </a:solidFill>
                  </a:tcPr>
                </a:tc>
              </a:tr>
              <a:tr h="868680">
                <a:tc>
                  <a:txBody>
                    <a:bodyPr/>
                    <a:lstStyle/>
                    <a:p>
                      <a:r>
                        <a:rPr sz="1500" b="1">
                          <a:solidFill>
                            <a:srgbClr val="D9480F"/>
                          </a:solidFill>
                          <a:latin typeface="Arial"/>
                        </a:rPr>
                        <a:t>SaaS</a:t>
                      </a:r>
                    </a:p>
                  </a:txBody>
                  <a:tcPr anchor="ctr">
                    <a:solidFill>
                      <a:srgbClr val="FFFFFF"/>
                    </a:solidFill>
                  </a:tcPr>
                </a:tc>
                <a:tc>
                  <a:txBody>
                    <a:bodyPr/>
                    <a:lstStyle/>
                    <a:p>
                      <a:r>
                        <a:rPr sz="1500" b="0">
                          <a:solidFill>
                            <a:srgbClr val="14202E"/>
                          </a:solidFill>
                          <a:latin typeface="Arial"/>
                        </a:rPr>
                        <a:t>Turnkey applications that run in the cloud</a:t>
                      </a:r>
                    </a:p>
                  </a:txBody>
                  <a:tcPr anchor="ctr">
                    <a:solidFill>
                      <a:srgbClr val="FFFFFF"/>
                    </a:solidFill>
                  </a:tcPr>
                </a:tc>
                <a:tc>
                  <a:txBody>
                    <a:bodyPr/>
                    <a:lstStyle/>
                    <a:p>
                      <a:r>
                        <a:rPr sz="1500" b="0">
                          <a:solidFill>
                            <a:srgbClr val="14202E"/>
                          </a:solidFill>
                          <a:latin typeface="Arial"/>
                        </a:rPr>
                        <a:t>Can customize some aspects, not the application itself</a:t>
                      </a:r>
                    </a:p>
                  </a:txBody>
                  <a:tcPr anchor="ctr">
                    <a:solidFill>
                      <a:srgbClr val="FFFFFF"/>
                    </a:solidFill>
                  </a:tcPr>
                </a:tc>
                <a:tc>
                  <a:txBody>
                    <a:bodyPr/>
                    <a:lstStyle/>
                    <a:p>
                      <a:r>
                        <a:rPr sz="1500" b="0">
                          <a:solidFill>
                            <a:srgbClr val="14202E"/>
                          </a:solidFill>
                          <a:latin typeface="Arial"/>
                        </a:rPr>
                        <a:t>MS Office 365, Google Docs, TurboTax Online, SCALA digital signage</a:t>
                      </a:r>
                    </a:p>
                  </a:txBody>
                  <a:tcPr anchor="ctr">
                    <a:solidFill>
                      <a:srgbClr val="FFFFFF"/>
                    </a:solidFill>
                  </a:tcPr>
                </a:tc>
              </a:tr>
              <a:tr h="868680">
                <a:tc>
                  <a:txBody>
                    <a:bodyPr/>
                    <a:lstStyle/>
                    <a:p>
                      <a:r>
                        <a:rPr sz="1500" b="1">
                          <a:solidFill>
                            <a:srgbClr val="D9480F"/>
                          </a:solidFill>
                          <a:latin typeface="Arial"/>
                        </a:rPr>
                        <a:t>PaaS</a:t>
                      </a:r>
                    </a:p>
                  </a:txBody>
                  <a:tcPr anchor="ctr">
                    <a:solidFill>
                      <a:srgbClr val="F6F8FA"/>
                    </a:solidFill>
                  </a:tcPr>
                </a:tc>
                <a:tc>
                  <a:txBody>
                    <a:bodyPr/>
                    <a:lstStyle/>
                    <a:p>
                      <a:r>
                        <a:rPr sz="1500" b="0">
                          <a:solidFill>
                            <a:srgbClr val="14202E"/>
                          </a:solidFill>
                          <a:latin typeface="Arial"/>
                        </a:rPr>
                        <a:t>Tools, languages and interfaces to build and deploy your own apps</a:t>
                      </a:r>
                    </a:p>
                  </a:txBody>
                  <a:tcPr anchor="ctr">
                    <a:solidFill>
                      <a:srgbClr val="F6F8FA"/>
                    </a:solidFill>
                  </a:tcPr>
                </a:tc>
                <a:tc>
                  <a:txBody>
                    <a:bodyPr/>
                    <a:lstStyle/>
                    <a:p>
                      <a:r>
                        <a:rPr sz="1500" b="0">
                          <a:solidFill>
                            <a:srgbClr val="14202E"/>
                          </a:solidFill>
                          <a:latin typeface="Arial"/>
                        </a:rPr>
                        <a:t>Builds and manages apps; does not manage the infrastructure</a:t>
                      </a:r>
                    </a:p>
                  </a:txBody>
                  <a:tcPr anchor="ctr">
                    <a:solidFill>
                      <a:srgbClr val="F6F8FA"/>
                    </a:solidFill>
                  </a:tcPr>
                </a:tc>
                <a:tc>
                  <a:txBody>
                    <a:bodyPr/>
                    <a:lstStyle/>
                    <a:p>
                      <a:r>
                        <a:rPr sz="1500" b="0">
                          <a:solidFill>
                            <a:srgbClr val="14202E"/>
                          </a:solidFill>
                          <a:latin typeface="Arial"/>
                        </a:rPr>
                        <a:t>Microsoft Azure platform with .NET and Java</a:t>
                      </a:r>
                    </a:p>
                  </a:txBody>
                  <a:tcPr anchor="ctr">
                    <a:solidFill>
                      <a:srgbClr val="F6F8FA"/>
                    </a:solidFill>
                  </a:tcPr>
                </a:tc>
              </a:tr>
              <a:tr h="868680">
                <a:tc>
                  <a:txBody>
                    <a:bodyPr/>
                    <a:lstStyle/>
                    <a:p>
                      <a:r>
                        <a:rPr sz="1500" b="1">
                          <a:solidFill>
                            <a:srgbClr val="D9480F"/>
                          </a:solidFill>
                          <a:latin typeface="Arial"/>
                        </a:rPr>
                        <a:t>IaaS</a:t>
                      </a:r>
                    </a:p>
                  </a:txBody>
                  <a:tcPr anchor="ctr">
                    <a:solidFill>
                      <a:srgbClr val="FFFFFF"/>
                    </a:solidFill>
                  </a:tcPr>
                </a:tc>
                <a:tc>
                  <a:txBody>
                    <a:bodyPr/>
                    <a:lstStyle/>
                    <a:p>
                      <a:r>
                        <a:rPr sz="1500" b="0">
                          <a:solidFill>
                            <a:srgbClr val="14202E"/>
                          </a:solidFill>
                          <a:latin typeface="Arial"/>
                        </a:rPr>
                        <a:t>Resources on demand: storage, servers, databases, processing, virtual desktop</a:t>
                      </a:r>
                    </a:p>
                  </a:txBody>
                  <a:tcPr anchor="ctr">
                    <a:solidFill>
                      <a:srgbClr val="FFFFFF"/>
                    </a:solidFill>
                  </a:tcPr>
                </a:tc>
                <a:tc>
                  <a:txBody>
                    <a:bodyPr/>
                    <a:lstStyle/>
                    <a:p>
                      <a:r>
                        <a:rPr sz="1500" b="0">
                          <a:solidFill>
                            <a:srgbClr val="14202E"/>
                          </a:solidFill>
                          <a:latin typeface="Arial"/>
                        </a:rPr>
                        <a:t>Adds or removes resources as needed</a:t>
                      </a:r>
                    </a:p>
                  </a:txBody>
                  <a:tcPr anchor="ctr">
                    <a:solidFill>
                      <a:srgbClr val="FFFFFF"/>
                    </a:solidFill>
                  </a:tcPr>
                </a:tc>
                <a:tc>
                  <a:txBody>
                    <a:bodyPr/>
                    <a:lstStyle/>
                    <a:p>
                      <a:r>
                        <a:rPr sz="1500" b="0">
                          <a:solidFill>
                            <a:srgbClr val="14202E"/>
                          </a:solidFill>
                          <a:latin typeface="Arial"/>
                        </a:rPr>
                        <a:t>AWS server with Linux and Apache, 16 GB RAM, 160 GB storage</a:t>
                      </a:r>
                    </a:p>
                  </a:txBody>
                  <a:tcPr anchor="ctr">
                    <a:solidFill>
                      <a:srgbClr val="FFFFFF"/>
                    </a:solidFill>
                  </a:tcPr>
                </a:tc>
              </a:tr>
            </a:tbl>
          </a:graphicData>
        </a:graphic>
      </p:graphicFrame>
      <p:sp>
        <p:nvSpPr>
          <p:cNvPr id="7" name="TextBox 6"/>
          <p:cNvSpPr txBox="1"/>
          <p:nvPr/>
        </p:nvSpPr>
        <p:spPr>
          <a:xfrm>
            <a:off x="548640" y="5532120"/>
            <a:ext cx="11094415" cy="731520"/>
          </a:xfrm>
          <a:prstGeom prst="rect">
            <a:avLst/>
          </a:prstGeom>
          <a:noFill/>
        </p:spPr>
        <p:txBody>
          <a:bodyPr wrap="square" anchor="t" lIns="73152" rIns="73152" tIns="73152" bIns="73152">
            <a:spAutoFit/>
          </a:bodyPr>
          <a:lstStyle/>
          <a:p>
            <a:pPr algn="l">
              <a:lnSpc>
                <a:spcPct val="115000"/>
              </a:lnSpc>
            </a:pPr>
            <a:r>
              <a:rPr sz="1700" b="1">
                <a:solidFill>
                  <a:srgbClr val="D9480F"/>
                </a:solidFill>
                <a:latin typeface="Arial"/>
              </a:rPr>
              <a:t>▸  </a:t>
            </a:r>
            <a:r>
              <a:rPr sz="1700" b="0">
                <a:solidFill>
                  <a:srgbClr val="14202E"/>
                </a:solidFill>
                <a:latin typeface="Arial"/>
              </a:rPr>
              <a:t>Services follow an à la carte model and can build on top of each other.</a:t>
            </a:r>
          </a:p>
        </p:txBody>
      </p:sp>
      <p:sp>
        <p:nvSpPr>
          <p:cNvPr id="8" name="TextBox 7"/>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a:t>
            </a:r>
          </a:p>
        </p:txBody>
      </p:sp>
      <p:sp>
        <p:nvSpPr>
          <p:cNvPr id="9" name="TextBox 8"/>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607040" cy="329184"/>
          </a:xfrm>
          <a:prstGeom prst="rect">
            <a:avLst/>
          </a:prstGeom>
          <a:noFill/>
        </p:spPr>
        <p:txBody>
          <a:bodyPr wrap="square" anchor="t" lIns="73152" rIns="73152" tIns="73152" bIns="73152">
            <a:spAutoFit/>
          </a:bodyPr>
          <a:lstStyle/>
          <a:p>
            <a:pPr algn="l">
              <a:lnSpc>
                <a:spcPct val="110000"/>
              </a:lnSpc>
            </a:pPr>
            <a:r>
              <a:rPr sz="1200" b="1">
                <a:solidFill>
                  <a:srgbClr val="D9480F"/>
                </a:solidFill>
                <a:latin typeface="Arial"/>
              </a:rPr>
              <a:t>PART 8  ·  CLOUD SERVICE TYPES &amp; BENEFITS</a:t>
            </a:r>
          </a:p>
        </p:txBody>
      </p:sp>
      <p:sp>
        <p:nvSpPr>
          <p:cNvPr id="4" name="TextBox 3"/>
          <p:cNvSpPr txBox="1"/>
          <p:nvPr/>
        </p:nvSpPr>
        <p:spPr>
          <a:xfrm>
            <a:off x="548640" y="566928"/>
            <a:ext cx="11064240" cy="685800"/>
          </a:xfrm>
          <a:prstGeom prst="rect">
            <a:avLst/>
          </a:prstGeom>
          <a:noFill/>
        </p:spPr>
        <p:txBody>
          <a:bodyPr wrap="square" anchor="t" lIns="73152" rIns="73152" tIns="73152" bIns="73152">
            <a:spAutoFit/>
          </a:bodyPr>
          <a:lstStyle/>
          <a:p>
            <a:pPr algn="l">
              <a:lnSpc>
                <a:spcPct val="110000"/>
              </a:lnSpc>
            </a:pPr>
            <a:r>
              <a:rPr sz="3000" b="1">
                <a:solidFill>
                  <a:srgbClr val="14202E"/>
                </a:solidFill>
                <a:latin typeface="Arial"/>
              </a:rPr>
              <a:t>10 benefits of cloud computing</a:t>
            </a:r>
          </a:p>
        </p:txBody>
      </p:sp>
      <p:sp>
        <p:nvSpPr>
          <p:cNvPr id="5" name="TextBox 4"/>
          <p:cNvSpPr txBox="1"/>
          <p:nvPr/>
        </p:nvSpPr>
        <p:spPr>
          <a:xfrm>
            <a:off x="548640" y="1170432"/>
            <a:ext cx="11064240" cy="457200"/>
          </a:xfrm>
          <a:prstGeom prst="rect">
            <a:avLst/>
          </a:prstGeom>
          <a:noFill/>
        </p:spPr>
        <p:txBody>
          <a:bodyPr wrap="square" anchor="t" lIns="73152" rIns="73152" tIns="73152" bIns="73152">
            <a:spAutoFit/>
          </a:bodyPr>
          <a:lstStyle/>
          <a:p>
            <a:pPr algn="l">
              <a:lnSpc>
                <a:spcPct val="110000"/>
              </a:lnSpc>
            </a:pPr>
            <a:r>
              <a:rPr sz="1600" b="1">
                <a:solidFill>
                  <a:srgbClr val="0B6E61"/>
                </a:solidFill>
                <a:latin typeface="Arial"/>
              </a:rPr>
              <a:t>Soundbite  </a:t>
            </a:r>
            <a:r>
              <a:rPr sz="1600" b="0">
                <a:solidFill>
                  <a:srgbClr val="14202E"/>
                </a:solidFill>
                <a:latin typeface="Arial"/>
              </a:rPr>
              <a:t>Scale up fast. Pay for what you use.</a:t>
            </a:r>
          </a:p>
        </p:txBody>
      </p:sp>
      <p:sp>
        <p:nvSpPr>
          <p:cNvPr id="6" name="TextBox 5"/>
          <p:cNvSpPr txBox="1"/>
          <p:nvPr/>
        </p:nvSpPr>
        <p:spPr>
          <a:xfrm>
            <a:off x="548640" y="182880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1</a:t>
            </a:r>
          </a:p>
        </p:txBody>
      </p:sp>
      <p:sp>
        <p:nvSpPr>
          <p:cNvPr id="7" name="TextBox 6"/>
          <p:cNvSpPr txBox="1"/>
          <p:nvPr/>
        </p:nvSpPr>
        <p:spPr>
          <a:xfrm>
            <a:off x="1188720" y="182880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Instant scalability</a:t>
            </a:r>
          </a:p>
          <a:p>
            <a:pPr algn="l">
              <a:lnSpc>
                <a:spcPct val="110000"/>
              </a:lnSpc>
            </a:pPr>
            <a:r>
              <a:rPr sz="1400" b="0">
                <a:solidFill>
                  <a:srgbClr val="4A5868"/>
                </a:solidFill>
                <a:latin typeface="Arial"/>
              </a:rPr>
              <a:t>scale capacity up or down to meet demand</a:t>
            </a:r>
          </a:p>
        </p:txBody>
      </p:sp>
      <p:sp>
        <p:nvSpPr>
          <p:cNvPr id="8" name="TextBox 7"/>
          <p:cNvSpPr txBox="1"/>
          <p:nvPr/>
        </p:nvSpPr>
        <p:spPr>
          <a:xfrm>
            <a:off x="548640" y="269748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2</a:t>
            </a:r>
          </a:p>
        </p:txBody>
      </p:sp>
      <p:sp>
        <p:nvSpPr>
          <p:cNvPr id="9" name="TextBox 8"/>
          <p:cNvSpPr txBox="1"/>
          <p:nvPr/>
        </p:nvSpPr>
        <p:spPr>
          <a:xfrm>
            <a:off x="1188720" y="269748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Anywhere accessibility</a:t>
            </a:r>
          </a:p>
          <a:p>
            <a:pPr algn="l">
              <a:lnSpc>
                <a:spcPct val="110000"/>
              </a:lnSpc>
            </a:pPr>
            <a:r>
              <a:rPr sz="1400" b="0">
                <a:solidFill>
                  <a:srgbClr val="4A5868"/>
                </a:solidFill>
                <a:latin typeface="Arial"/>
              </a:rPr>
              <a:t>serve customers across the globe</a:t>
            </a:r>
          </a:p>
        </p:txBody>
      </p:sp>
      <p:sp>
        <p:nvSpPr>
          <p:cNvPr id="10" name="TextBox 9"/>
          <p:cNvSpPr txBox="1"/>
          <p:nvPr/>
        </p:nvSpPr>
        <p:spPr>
          <a:xfrm>
            <a:off x="548640" y="356616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3</a:t>
            </a:r>
          </a:p>
        </p:txBody>
      </p:sp>
      <p:sp>
        <p:nvSpPr>
          <p:cNvPr id="11" name="TextBox 10"/>
          <p:cNvSpPr txBox="1"/>
          <p:nvPr/>
        </p:nvSpPr>
        <p:spPr>
          <a:xfrm>
            <a:off x="1188720" y="3566160"/>
            <a:ext cx="4800600" cy="731520"/>
          </a:xfrm>
          <a:prstGeom prst="rect">
            <a:avLst/>
          </a:prstGeom>
          <a:noFill/>
        </p:spPr>
        <p:txBody>
          <a:bodyPr wrap="square" anchor="t" lIns="73152" rIns="73152" tIns="73152" bIns="73152">
            <a:spAutoFit/>
          </a:bodyPr>
          <a:lstStyle/>
          <a:p>
            <a:pPr algn="l">
              <a:lnSpc>
                <a:spcPct val="110000"/>
              </a:lnSpc>
            </a:pPr>
            <a:r>
              <a:rPr sz="1700" b="1">
                <a:solidFill>
                  <a:srgbClr val="14202E"/>
                </a:solidFill>
                <a:latin typeface="Arial"/>
              </a:rPr>
              <a:t>Increased speed and operational agility</a:t>
            </a:r>
          </a:p>
          <a:p>
            <a:pPr algn="l">
              <a:lnSpc>
                <a:spcPct val="110000"/>
              </a:lnSpc>
            </a:pPr>
            <a:r>
              <a:rPr sz="1400" b="0">
                <a:solidFill>
                  <a:srgbClr val="4A5868"/>
                </a:solidFill>
                <a:latin typeface="Arial"/>
              </a:rPr>
              <a:t>add computing capacity with a click</a:t>
            </a:r>
          </a:p>
        </p:txBody>
      </p:sp>
      <p:sp>
        <p:nvSpPr>
          <p:cNvPr id="12" name="TextBox 11"/>
          <p:cNvSpPr txBox="1"/>
          <p:nvPr/>
        </p:nvSpPr>
        <p:spPr>
          <a:xfrm>
            <a:off x="548640" y="443484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4</a:t>
            </a:r>
          </a:p>
        </p:txBody>
      </p:sp>
      <p:sp>
        <p:nvSpPr>
          <p:cNvPr id="13" name="TextBox 12"/>
          <p:cNvSpPr txBox="1"/>
          <p:nvPr/>
        </p:nvSpPr>
        <p:spPr>
          <a:xfrm>
            <a:off x="1188720" y="443484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Reduced expenditure</a:t>
            </a:r>
          </a:p>
          <a:p>
            <a:pPr algn="l">
              <a:lnSpc>
                <a:spcPct val="110000"/>
              </a:lnSpc>
            </a:pPr>
            <a:r>
              <a:rPr sz="1400" b="0">
                <a:solidFill>
                  <a:srgbClr val="4A5868"/>
                </a:solidFill>
                <a:latin typeface="Arial"/>
              </a:rPr>
              <a:t>no idle data centers; cost depends on use</a:t>
            </a:r>
          </a:p>
        </p:txBody>
      </p:sp>
      <p:sp>
        <p:nvSpPr>
          <p:cNvPr id="14" name="TextBox 13"/>
          <p:cNvSpPr txBox="1"/>
          <p:nvPr/>
        </p:nvSpPr>
        <p:spPr>
          <a:xfrm>
            <a:off x="548640" y="530352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5</a:t>
            </a:r>
          </a:p>
        </p:txBody>
      </p:sp>
      <p:sp>
        <p:nvSpPr>
          <p:cNvPr id="15" name="TextBox 14"/>
          <p:cNvSpPr txBox="1"/>
          <p:nvPr/>
        </p:nvSpPr>
        <p:spPr>
          <a:xfrm>
            <a:off x="1188720" y="530352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Automatic updates/patches</a:t>
            </a:r>
          </a:p>
          <a:p>
            <a:pPr algn="l">
              <a:lnSpc>
                <a:spcPct val="110000"/>
              </a:lnSpc>
            </a:pPr>
            <a:r>
              <a:rPr sz="1400" b="0">
                <a:solidFill>
                  <a:srgbClr val="4A5868"/>
                </a:solidFill>
                <a:latin typeface="Arial"/>
              </a:rPr>
              <a:t>the provider takes care of them</a:t>
            </a:r>
          </a:p>
        </p:txBody>
      </p:sp>
      <p:sp>
        <p:nvSpPr>
          <p:cNvPr id="16" name="TextBox 15"/>
          <p:cNvSpPr txBox="1"/>
          <p:nvPr/>
        </p:nvSpPr>
        <p:spPr>
          <a:xfrm>
            <a:off x="6217920" y="182880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6</a:t>
            </a:r>
          </a:p>
        </p:txBody>
      </p:sp>
      <p:sp>
        <p:nvSpPr>
          <p:cNvPr id="17" name="TextBox 16"/>
          <p:cNvSpPr txBox="1"/>
          <p:nvPr/>
        </p:nvSpPr>
        <p:spPr>
          <a:xfrm>
            <a:off x="6858000" y="182880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Disaster recovery</a:t>
            </a:r>
          </a:p>
          <a:p>
            <a:pPr algn="l">
              <a:lnSpc>
                <a:spcPct val="110000"/>
              </a:lnSpc>
            </a:pPr>
            <a:r>
              <a:rPr sz="1400" b="0">
                <a:solidFill>
                  <a:srgbClr val="4A5868"/>
                </a:solidFill>
                <a:latin typeface="Arial"/>
              </a:rPr>
              <a:t>no costly on-premises setup needed</a:t>
            </a:r>
          </a:p>
        </p:txBody>
      </p:sp>
      <p:sp>
        <p:nvSpPr>
          <p:cNvPr id="18" name="TextBox 17"/>
          <p:cNvSpPr txBox="1"/>
          <p:nvPr/>
        </p:nvSpPr>
        <p:spPr>
          <a:xfrm>
            <a:off x="6217920" y="269748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7</a:t>
            </a:r>
          </a:p>
        </p:txBody>
      </p:sp>
      <p:sp>
        <p:nvSpPr>
          <p:cNvPr id="19" name="TextBox 18"/>
          <p:cNvSpPr txBox="1"/>
          <p:nvPr/>
        </p:nvSpPr>
        <p:spPr>
          <a:xfrm>
            <a:off x="6858000" y="269748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High security</a:t>
            </a:r>
          </a:p>
          <a:p>
            <a:pPr algn="l">
              <a:lnSpc>
                <a:spcPct val="110000"/>
              </a:lnSpc>
            </a:pPr>
            <a:r>
              <a:rPr sz="1400" b="0">
                <a:solidFill>
                  <a:srgbClr val="4A5868"/>
                </a:solidFill>
                <a:latin typeface="Arial"/>
              </a:rPr>
              <a:t>advanced security features reduce risk</a:t>
            </a:r>
          </a:p>
        </p:txBody>
      </p:sp>
      <p:sp>
        <p:nvSpPr>
          <p:cNvPr id="20" name="TextBox 19"/>
          <p:cNvSpPr txBox="1"/>
          <p:nvPr/>
        </p:nvSpPr>
        <p:spPr>
          <a:xfrm>
            <a:off x="6217920" y="356616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8</a:t>
            </a:r>
          </a:p>
        </p:txBody>
      </p:sp>
      <p:sp>
        <p:nvSpPr>
          <p:cNvPr id="21" name="TextBox 20"/>
          <p:cNvSpPr txBox="1"/>
          <p:nvPr/>
        </p:nvSpPr>
        <p:spPr>
          <a:xfrm>
            <a:off x="6858000" y="356616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Reduced carbon footprint</a:t>
            </a:r>
          </a:p>
          <a:p>
            <a:pPr algn="l">
              <a:lnSpc>
                <a:spcPct val="110000"/>
              </a:lnSpc>
            </a:pPr>
            <a:r>
              <a:rPr sz="1400" b="0">
                <a:solidFill>
                  <a:srgbClr val="4A5868"/>
                </a:solidFill>
                <a:latin typeface="Arial"/>
              </a:rPr>
              <a:t>resources as per demand, less e-waste</a:t>
            </a:r>
          </a:p>
        </p:txBody>
      </p:sp>
      <p:sp>
        <p:nvSpPr>
          <p:cNvPr id="22" name="TextBox 21"/>
          <p:cNvSpPr txBox="1"/>
          <p:nvPr/>
        </p:nvSpPr>
        <p:spPr>
          <a:xfrm>
            <a:off x="6217920" y="443484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9</a:t>
            </a:r>
          </a:p>
        </p:txBody>
      </p:sp>
      <p:sp>
        <p:nvSpPr>
          <p:cNvPr id="23" name="TextBox 22"/>
          <p:cNvSpPr txBox="1"/>
          <p:nvPr/>
        </p:nvSpPr>
        <p:spPr>
          <a:xfrm>
            <a:off x="6858000" y="443484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Flexibility</a:t>
            </a:r>
          </a:p>
          <a:p>
            <a:pPr algn="l">
              <a:lnSpc>
                <a:spcPct val="110000"/>
              </a:lnSpc>
            </a:pPr>
            <a:r>
              <a:rPr sz="1400" b="0">
                <a:solidFill>
                  <a:srgbClr val="4A5868"/>
                </a:solidFill>
                <a:latin typeface="Arial"/>
              </a:rPr>
              <a:t>any device, any location</a:t>
            </a:r>
          </a:p>
        </p:txBody>
      </p:sp>
      <p:sp>
        <p:nvSpPr>
          <p:cNvPr id="24" name="TextBox 23"/>
          <p:cNvSpPr txBox="1"/>
          <p:nvPr/>
        </p:nvSpPr>
        <p:spPr>
          <a:xfrm>
            <a:off x="6217920" y="5303520"/>
            <a:ext cx="640080" cy="731520"/>
          </a:xfrm>
          <a:prstGeom prst="rect">
            <a:avLst/>
          </a:prstGeom>
          <a:noFill/>
        </p:spPr>
        <p:txBody>
          <a:bodyPr wrap="square" anchor="ctr" lIns="73152" rIns="73152" tIns="73152" bIns="73152">
            <a:spAutoFit/>
          </a:bodyPr>
          <a:lstStyle/>
          <a:p>
            <a:pPr algn="l">
              <a:lnSpc>
                <a:spcPct val="110000"/>
              </a:lnSpc>
            </a:pPr>
            <a:r>
              <a:rPr sz="3000" b="1">
                <a:solidFill>
                  <a:srgbClr val="D9480F"/>
                </a:solidFill>
                <a:latin typeface="Arial"/>
              </a:rPr>
              <a:t>10</a:t>
            </a:r>
          </a:p>
        </p:txBody>
      </p:sp>
      <p:sp>
        <p:nvSpPr>
          <p:cNvPr id="25" name="TextBox 24"/>
          <p:cNvSpPr txBox="1"/>
          <p:nvPr/>
        </p:nvSpPr>
        <p:spPr>
          <a:xfrm>
            <a:off x="6858000" y="5303520"/>
            <a:ext cx="4800600" cy="731520"/>
          </a:xfrm>
          <a:prstGeom prst="rect">
            <a:avLst/>
          </a:prstGeom>
          <a:noFill/>
        </p:spPr>
        <p:txBody>
          <a:bodyPr wrap="square" anchor="t" lIns="73152" rIns="73152" tIns="73152" bIns="73152">
            <a:spAutoFit/>
          </a:bodyPr>
          <a:lstStyle/>
          <a:p>
            <a:pPr algn="l">
              <a:lnSpc>
                <a:spcPct val="110000"/>
              </a:lnSpc>
            </a:pPr>
            <a:r>
              <a:rPr sz="1900" b="1">
                <a:solidFill>
                  <a:srgbClr val="14202E"/>
                </a:solidFill>
                <a:latin typeface="Arial"/>
              </a:rPr>
              <a:t>Enterprise collaboration</a:t>
            </a:r>
          </a:p>
          <a:p>
            <a:pPr algn="l">
              <a:lnSpc>
                <a:spcPct val="110000"/>
              </a:lnSpc>
            </a:pPr>
            <a:r>
              <a:rPr sz="1400" b="0">
                <a:solidFill>
                  <a:srgbClr val="4A5868"/>
                </a:solidFill>
                <a:latin typeface="Arial"/>
              </a:rPr>
              <a:t>centralized, shared documents</a:t>
            </a:r>
          </a:p>
        </p:txBody>
      </p:sp>
      <p:sp>
        <p:nvSpPr>
          <p:cNvPr id="26" name="TextBox 25"/>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09 Handout p.1-2</a:t>
            </a:r>
          </a:p>
        </p:txBody>
      </p:sp>
      <p:sp>
        <p:nvSpPr>
          <p:cNvPr id="27" name="TextBox 26"/>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948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Summary of commands</a:t>
            </a:r>
          </a:p>
        </p:txBody>
      </p:sp>
      <p:sp>
        <p:nvSpPr>
          <p:cNvPr id="4" name="Rectangle 3"/>
          <p:cNvSpPr/>
          <p:nvPr/>
        </p:nvSpPr>
        <p:spPr>
          <a:xfrm>
            <a:off x="548640" y="132588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Create</a:t>
            </a:r>
          </a:p>
        </p:txBody>
      </p:sp>
      <p:sp>
        <p:nvSpPr>
          <p:cNvPr id="6" name="TextBox 5"/>
          <p:cNvSpPr txBox="1"/>
          <p:nvPr/>
        </p:nvSpPr>
        <p:spPr>
          <a:xfrm>
            <a:off x="2468880" y="132588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insertOne({...})   insertMany([{...}, {...}], {"ordered" : false})</a:t>
            </a:r>
          </a:p>
        </p:txBody>
      </p:sp>
      <p:sp>
        <p:nvSpPr>
          <p:cNvPr id="7" name="Rectangle 6"/>
          <p:cNvSpPr/>
          <p:nvPr/>
        </p:nvSpPr>
        <p:spPr>
          <a:xfrm>
            <a:off x="548640" y="187452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7452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Delete</a:t>
            </a:r>
          </a:p>
        </p:txBody>
      </p:sp>
      <p:sp>
        <p:nvSpPr>
          <p:cNvPr id="9" name="TextBox 8"/>
          <p:cNvSpPr txBox="1"/>
          <p:nvPr/>
        </p:nvSpPr>
        <p:spPr>
          <a:xfrm>
            <a:off x="2468880" y="187452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deleteOne(filter)   deleteMany(filter)</a:t>
            </a:r>
          </a:p>
        </p:txBody>
      </p:sp>
      <p:sp>
        <p:nvSpPr>
          <p:cNvPr id="10" name="Rectangle 9"/>
          <p:cNvSpPr/>
          <p:nvPr/>
        </p:nvSpPr>
        <p:spPr>
          <a:xfrm>
            <a:off x="548640" y="242316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2316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Read</a:t>
            </a:r>
          </a:p>
        </p:txBody>
      </p:sp>
      <p:sp>
        <p:nvSpPr>
          <p:cNvPr id="12" name="TextBox 11"/>
          <p:cNvSpPr txBox="1"/>
          <p:nvPr/>
        </p:nvSpPr>
        <p:spPr>
          <a:xfrm>
            <a:off x="2468880" y="242316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find(filter)   findOne(filter)</a:t>
            </a:r>
          </a:p>
        </p:txBody>
      </p:sp>
      <p:sp>
        <p:nvSpPr>
          <p:cNvPr id="13" name="Rectangle 12"/>
          <p:cNvSpPr/>
          <p:nvPr/>
        </p:nvSpPr>
        <p:spPr>
          <a:xfrm>
            <a:off x="548640" y="297180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7180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Change</a:t>
            </a:r>
          </a:p>
        </p:txBody>
      </p:sp>
      <p:sp>
        <p:nvSpPr>
          <p:cNvPr id="15" name="TextBox 14"/>
          <p:cNvSpPr txBox="1"/>
          <p:nvPr/>
        </p:nvSpPr>
        <p:spPr>
          <a:xfrm>
            <a:off x="2468880" y="297180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replaceOne(filter, doc)   updateOne / updateMany(filter, {$set | $unset})</a:t>
            </a:r>
          </a:p>
        </p:txBody>
      </p:sp>
      <p:sp>
        <p:nvSpPr>
          <p:cNvPr id="16" name="Rectangle 15"/>
          <p:cNvSpPr/>
          <p:nvPr/>
        </p:nvSpPr>
        <p:spPr>
          <a:xfrm>
            <a:off x="548640" y="352044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52044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Compare</a:t>
            </a:r>
          </a:p>
        </p:txBody>
      </p:sp>
      <p:sp>
        <p:nvSpPr>
          <p:cNvPr id="18" name="TextBox 17"/>
          <p:cNvSpPr txBox="1"/>
          <p:nvPr/>
        </p:nvSpPr>
        <p:spPr>
          <a:xfrm>
            <a:off x="2468880" y="352044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$lt &lt;   $lte &lt;=   $gt &gt;   $gte &gt;=</a:t>
            </a:r>
          </a:p>
        </p:txBody>
      </p:sp>
      <p:sp>
        <p:nvSpPr>
          <p:cNvPr id="19" name="Rectangle 18"/>
          <p:cNvSpPr/>
          <p:nvPr/>
        </p:nvSpPr>
        <p:spPr>
          <a:xfrm>
            <a:off x="548640" y="406908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06908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Choose</a:t>
            </a:r>
          </a:p>
        </p:txBody>
      </p:sp>
      <p:sp>
        <p:nvSpPr>
          <p:cNvPr id="21" name="TextBox 20"/>
          <p:cNvSpPr txBox="1"/>
          <p:nvPr/>
        </p:nvSpPr>
        <p:spPr>
          <a:xfrm>
            <a:off x="2468880" y="406908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$in [values]   $or [conditions]   $not {condition}</a:t>
            </a:r>
          </a:p>
        </p:txBody>
      </p:sp>
      <p:sp>
        <p:nvSpPr>
          <p:cNvPr id="22" name="Rectangle 21"/>
          <p:cNvSpPr/>
          <p:nvPr/>
        </p:nvSpPr>
        <p:spPr>
          <a:xfrm>
            <a:off x="548640" y="461772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61772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Arrays</a:t>
            </a:r>
          </a:p>
        </p:txBody>
      </p:sp>
      <p:sp>
        <p:nvSpPr>
          <p:cNvPr id="24" name="TextBox 23"/>
          <p:cNvSpPr txBox="1"/>
          <p:nvPr/>
        </p:nvSpPr>
        <p:spPr>
          <a:xfrm>
            <a:off x="2468880" y="461772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field: value   $all [...]   "fruit.2"   $size: n</a:t>
            </a:r>
          </a:p>
        </p:txBody>
      </p:sp>
      <p:sp>
        <p:nvSpPr>
          <p:cNvPr id="25" name="Rectangle 24"/>
          <p:cNvSpPr/>
          <p:nvPr/>
        </p:nvSpPr>
        <p:spPr>
          <a:xfrm>
            <a:off x="548640" y="5166360"/>
            <a:ext cx="11064240" cy="47548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16636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Slice / nest</a:t>
            </a:r>
          </a:p>
        </p:txBody>
      </p:sp>
      <p:sp>
        <p:nvSpPr>
          <p:cNvPr id="27" name="TextBox 26"/>
          <p:cNvSpPr txBox="1"/>
          <p:nvPr/>
        </p:nvSpPr>
        <p:spPr>
          <a:xfrm>
            <a:off x="2468880" y="516636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$slice: 10 | -10 | [23, 10]   "name.first"</a:t>
            </a:r>
          </a:p>
        </p:txBody>
      </p:sp>
      <p:sp>
        <p:nvSpPr>
          <p:cNvPr id="28" name="Rectangle 27"/>
          <p:cNvSpPr/>
          <p:nvPr/>
        </p:nvSpPr>
        <p:spPr>
          <a:xfrm>
            <a:off x="548640" y="5715000"/>
            <a:ext cx="110642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715000"/>
            <a:ext cx="1828800" cy="475488"/>
          </a:xfrm>
          <a:prstGeom prst="rect">
            <a:avLst/>
          </a:prstGeom>
          <a:noFill/>
        </p:spPr>
        <p:txBody>
          <a:bodyPr wrap="square" anchor="ctr" lIns="73152" rIns="73152" tIns="73152" bIns="73152">
            <a:spAutoFit/>
          </a:bodyPr>
          <a:lstStyle/>
          <a:p>
            <a:pPr algn="l">
              <a:lnSpc>
                <a:spcPct val="110000"/>
              </a:lnSpc>
            </a:pPr>
            <a:r>
              <a:rPr sz="1700" b="1">
                <a:solidFill>
                  <a:srgbClr val="D9480F"/>
                </a:solidFill>
                <a:latin typeface="Arial"/>
              </a:rPr>
              <a:t>Cloud</a:t>
            </a:r>
          </a:p>
        </p:txBody>
      </p:sp>
      <p:sp>
        <p:nvSpPr>
          <p:cNvPr id="30" name="TextBox 29"/>
          <p:cNvSpPr txBox="1"/>
          <p:nvPr/>
        </p:nvSpPr>
        <p:spPr>
          <a:xfrm>
            <a:off x="2468880" y="5715000"/>
            <a:ext cx="9052560" cy="475488"/>
          </a:xfrm>
          <a:prstGeom prst="rect">
            <a:avLst/>
          </a:prstGeom>
          <a:noFill/>
        </p:spPr>
        <p:txBody>
          <a:bodyPr wrap="square" anchor="ctr" lIns="73152" rIns="73152" tIns="73152" bIns="73152">
            <a:spAutoFit/>
          </a:bodyPr>
          <a:lstStyle/>
          <a:p>
            <a:pPr algn="l">
              <a:lnSpc>
                <a:spcPct val="110000"/>
              </a:lnSpc>
            </a:pPr>
            <a:r>
              <a:rPr sz="1500" b="0">
                <a:solidFill>
                  <a:srgbClr val="14202E"/>
                </a:solidFill>
                <a:latin typeface="Courier New"/>
              </a:rPr>
              <a:t>Public · Private · Hybrid      SaaS · PaaS · IaaS</a:t>
            </a:r>
          </a:p>
        </p:txBody>
      </p:sp>
      <p:sp>
        <p:nvSpPr>
          <p:cNvPr id="31" name="TextBox 30"/>
          <p:cNvSpPr txBox="1"/>
          <p:nvPr/>
        </p:nvSpPr>
        <p:spPr>
          <a:xfrm>
            <a:off x="548640" y="6419088"/>
            <a:ext cx="7315200" cy="329184"/>
          </a:xfrm>
          <a:prstGeom prst="rect">
            <a:avLst/>
          </a:prstGeom>
          <a:noFill/>
        </p:spPr>
        <p:txBody>
          <a:bodyPr wrap="square" anchor="t" lIns="73152" rIns="73152" tIns="73152" bIns="73152">
            <a:spAutoFit/>
          </a:bodyPr>
          <a:lstStyle/>
          <a:p>
            <a:pPr algn="l">
              <a:lnSpc>
                <a:spcPct val="110000"/>
              </a:lnSpc>
            </a:pPr>
            <a:r>
              <a:rPr sz="1000" b="0">
                <a:solidFill>
                  <a:srgbClr val="4A5868"/>
                </a:solidFill>
                <a:latin typeface="Arial"/>
              </a:rPr>
              <a:t>Source: 07, 08, 09 Handouts</a:t>
            </a:r>
          </a:p>
        </p:txBody>
      </p:sp>
      <p:sp>
        <p:nvSpPr>
          <p:cNvPr id="32" name="TextBox 31"/>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972800" cy="731520"/>
          </a:xfrm>
          <a:prstGeom prst="rect">
            <a:avLst/>
          </a:prstGeom>
          <a:noFill/>
        </p:spPr>
        <p:txBody>
          <a:bodyPr wrap="square" anchor="t" lIns="73152" rIns="73152" tIns="73152" bIns="73152">
            <a:spAutoFit/>
          </a:bodyPr>
          <a:lstStyle/>
          <a:p>
            <a:pPr algn="l">
              <a:lnSpc>
                <a:spcPct val="110000"/>
              </a:lnSpc>
            </a:pPr>
            <a:r>
              <a:rPr sz="3400" b="1">
                <a:solidFill>
                  <a:srgbClr val="14202E"/>
                </a:solidFill>
                <a:latin typeface="Arial"/>
              </a:rPr>
              <a:t>References</a:t>
            </a:r>
          </a:p>
        </p:txBody>
      </p:sp>
      <p:sp>
        <p:nvSpPr>
          <p:cNvPr id="4" name="TextBox 3"/>
          <p:cNvSpPr txBox="1"/>
          <p:nvPr/>
        </p:nvSpPr>
        <p:spPr>
          <a:xfrm>
            <a:off x="548640" y="1280160"/>
            <a:ext cx="11064240" cy="4937760"/>
          </a:xfrm>
          <a:prstGeom prst="rect">
            <a:avLst/>
          </a:prstGeom>
          <a:noFill/>
        </p:spPr>
        <p:txBody>
          <a:bodyPr wrap="square" anchor="t" lIns="73152" rIns="73152" tIns="73152" bIns="73152">
            <a:spAutoFit/>
          </a:bodyPr>
          <a:lstStyle/>
          <a:p>
            <a:pPr algn="l">
              <a:lnSpc>
                <a:spcPct val="130000"/>
              </a:lnSpc>
            </a:pPr>
            <a:r>
              <a:rPr sz="1600" b="0">
                <a:solidFill>
                  <a:srgbClr val="14202E"/>
                </a:solidFill>
                <a:latin typeface="Arial"/>
              </a:rPr>
              <a:t>STI IT2003 07 Handout 1: Introduction to NoSQL Database Management Systems.</a:t>
            </a:r>
          </a:p>
          <a:p>
            <a:pPr algn="l">
              <a:lnSpc>
                <a:spcPct val="130000"/>
              </a:lnSpc>
            </a:pPr>
            <a:r>
              <a:rPr sz="1600" b="0">
                <a:solidFill>
                  <a:srgbClr val="14202E"/>
                </a:solidFill>
                <a:latin typeface="Arial"/>
              </a:rPr>
              <a:t>STI IT2003 08 Handout 1: Fundamentals of Document-Oriented Database.</a:t>
            </a:r>
          </a:p>
          <a:p>
            <a:pPr algn="l">
              <a:lnSpc>
                <a:spcPct val="130000"/>
              </a:lnSpc>
            </a:pPr>
            <a:r>
              <a:rPr sz="1600" b="0">
                <a:solidFill>
                  <a:srgbClr val="14202E"/>
                </a:solidFill>
                <a:latin typeface="Arial"/>
              </a:rPr>
              <a:t>STI IT2003 09 Handout 1: Cloud Computing.</a:t>
            </a:r>
          </a:p>
          <a:p>
            <a:pPr algn="l">
              <a:lnSpc>
                <a:spcPct val="130000"/>
              </a:lnSpc>
            </a:pPr>
            <a:r>
              <a:rPr sz="1600" b="0">
                <a:solidFill>
                  <a:srgbClr val="14202E"/>
                </a:solidFill>
                <a:latin typeface="Arial"/>
              </a:rPr>
              <a:t>Chodorow, K., Brazil, E., &amp; Bradshaw, S. (2019). MongoDB: The definitive guide (3rd ed.). O'Reilly Media.</a:t>
            </a:r>
          </a:p>
          <a:p>
            <a:pPr algn="l">
              <a:lnSpc>
                <a:spcPct val="130000"/>
              </a:lnSpc>
            </a:pPr>
            <a:r>
              <a:rPr sz="1600" b="0">
                <a:solidFill>
                  <a:srgbClr val="14202E"/>
                </a:solidFill>
                <a:latin typeface="Arial"/>
              </a:rPr>
              <a:t>Coronel, C., &amp; Morris, S. (2018). Database systems: Design, implementation, &amp; management (13th ed.). Cengage Learning.</a:t>
            </a:r>
          </a:p>
          <a:p>
            <a:pPr algn="l">
              <a:lnSpc>
                <a:spcPct val="130000"/>
              </a:lnSpc>
            </a:pPr>
            <a:r>
              <a:rPr sz="1600" b="0">
                <a:solidFill>
                  <a:srgbClr val="14202E"/>
                </a:solidFill>
                <a:latin typeface="Arial"/>
              </a:rPr>
              <a:t>MongoDB (n.d.). Query and Update Operators. https://docs.mongodb.com/manual/reference/operator/</a:t>
            </a:r>
          </a:p>
        </p:txBody>
      </p:sp>
      <p:sp>
        <p:nvSpPr>
          <p:cNvPr id="5" name="TextBox 4"/>
          <p:cNvSpPr txBox="1"/>
          <p:nvPr/>
        </p:nvSpPr>
        <p:spPr>
          <a:xfrm>
            <a:off x="11521440" y="6419088"/>
            <a:ext cx="457200" cy="329184"/>
          </a:xfrm>
          <a:prstGeom prst="rect">
            <a:avLst/>
          </a:prstGeom>
          <a:noFill/>
        </p:spPr>
        <p:txBody>
          <a:bodyPr wrap="square" anchor="t" lIns="73152" rIns="73152" tIns="73152" bIns="73152">
            <a:spAutoFit/>
          </a:bodyPr>
          <a:lstStyle/>
          <a:p>
            <a:pPr algn="r">
              <a:lnSpc>
                <a:spcPct val="110000"/>
              </a:lnSpc>
            </a:pPr>
            <a:r>
              <a:rPr sz="1000" b="0">
                <a:solidFill>
                  <a:srgbClr val="4A5868"/>
                </a:solidFill>
                <a:latin typeface="Arial"/>
              </a:rPr>
              <a:t>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