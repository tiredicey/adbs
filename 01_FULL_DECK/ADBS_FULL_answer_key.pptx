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First, two words: in MongoDB, a table is called a collection, and a row is called a document. Every slide shows the data before, the command, and the data after. Watch what changes.</a:t>
            </a:r>
          </a:p>
          <a:p/>
          <a:p>
            <a:r>
              <a:t>(Whole part: 268 words, about 2 min 04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14):</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14):</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14):</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14):</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14):</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14):</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14):</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14):</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14):</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14):</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14):</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14):</a:t>
            </a:r>
          </a:p>
          <a:p>
            <a:r>
              <a:t>deleteMany removes every match. We start from the handout's three movies: two from 1985 and one from 1984.</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14):</a:t>
            </a:r>
          </a:p>
          <a:p>
            <a:r>
              <a:t>We delete year 1985. Deleted count is 2. 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18):</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18):</a:t>
            </a:r>
          </a:p>
          <a:p>
            <a:r>
              <a:t>replaceOne swaps the whole document for a new one. Before: Joe, as on the last slide.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18):</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18):</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18):</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18):</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18):</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18):</a:t>
            </a:r>
          </a:p>
          <a:p>
            <a:r>
              <a:t>Dollar set can even change the type of a field. Before: John, as on the last slide. 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18):</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18):</a:t>
            </a:r>
          </a:p>
          <a:p>
            <a:r>
              <a:t>Dollar unset removes a field completely. Before: John, as on the last slide.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18):</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18):</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18):</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18):</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18):</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18):</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18):</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built around the handout's winning tickets. There are five tickets: 725, 542, 390, 111 and 222. Ticket 111 is the only one where winner is true. Keep this list in mind for the next two slides.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earns exactly 10,000, and Liza earns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three ways.</a:t>
            </a:r>
          </a:p>
          <a:p/>
          <a:p>
            <a:r>
              <a:t>(Whole part: 257 words, about 1 min 59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6):</a:t>
            </a:r>
          </a:p>
          <a:p>
            <a:r>
              <a:t>We insert the handout's three fruit baskets. Each basket is a document, and its fruit field is an array of three elements. Before: the food collection is empty. We run three insertOne commands. The shell prints the reply of the last 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6):</a:t>
            </a:r>
          </a:p>
          <a:p>
            <a:r>
              <a:t>After: three baskets. Basket 1 has apple, banana, peach. Basket 2 has apple, kumquat, orange. Basket 3 has cherry, banana, apple. We use these three baskets for the rest of this part.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6):</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6):</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6):</a:t>
            </a:r>
          </a:p>
          <a:p>
            <a:r>
              <a:t>Dollar size matches arrays with exactly that many elements. Every basket has 3 fruits, so dollar size 3 returns all three. A basket with 2 or 4 fruits would not match.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199 words, about 1 min 32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numbers count from the front. Negative numbers count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another document. Here, John's name field holds a whole document with first and last. To query inside it, use dot notation, in quotes: name dot first, and name dot last. Both must match, and John Escalona comes back. To sum up: trim what you see with slice, and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07, 08 and 09 Handouts</a:t>
            </a:r>
          </a:p>
        </p:txBody>
      </p:sp>
      <p:sp>
        <p:nvSpPr>
          <p:cNvPr id="6" name="TextBox 5"/>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14 slides · about 2 min 04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059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9499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4234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26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18 slides · about 2 min 18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db.users.findOne({"name"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name: 'Joe',</a:t>
            </a:r>
          </a:p>
          <a:p>
            <a:pPr algn="l">
              <a:lnSpc>
                <a:spcPts val="3200"/>
              </a:lnSpc>
            </a:pPr>
            <a:r>
              <a:rPr sz="2800" b="0">
                <a:solidFill>
                  <a:srgbClr val="9FE0C9"/>
                </a:solidFill>
                <a:latin typeface="Courier New"/>
              </a:rPr>
              <a:t>  friends: 32,</a:t>
            </a:r>
          </a:p>
          <a:p>
            <a:pPr algn="l">
              <a:lnSpc>
                <a:spcPts val="3200"/>
              </a:lnSpc>
            </a:pPr>
            <a:r>
              <a:rPr sz="2800" b="0">
                <a:solidFill>
                  <a:srgbClr val="9FE0C9"/>
                </a:solidFill>
                <a:latin typeface="Courier New"/>
              </a:rPr>
              <a:t>  enemies: 2</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4653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543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db.users.findOne({"username"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username: 'Joe'</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8" name="TextBox 7"/>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18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18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 },</a:t>
            </a:r>
          </a:p>
          <a:p>
            <a:pPr algn="l">
              <a:lnSpc>
                <a:spcPts val="3200"/>
              </a:lnSpc>
            </a:pPr>
            <a:r>
              <a:rPr sz="2800" b="0">
                <a:solidFill>
                  <a:srgbClr val="9FE0C9"/>
                </a:solidFill>
                <a:latin typeface="Courier New"/>
              </a:rPr>
              <a:t>  { _id: 2, birthday: '10/13/1978' },</a:t>
            </a:r>
          </a:p>
          <a:p>
            <a:pPr algn="l">
              <a:lnSpc>
                <a:spcPts val="3200"/>
              </a:lnSpc>
            </a:pPr>
            <a:r>
              <a:rPr sz="2800" b="0">
                <a:solidFill>
                  <a:srgbClr val="9FE0C9"/>
                </a:solidFill>
                <a:latin typeface="Courier New"/>
              </a:rPr>
              <a:t>  { _id: 3, birthday: '10/13/1978'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3, modifiedCount: 3,</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18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2,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3,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18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 : 18}})</a:t>
            </a:r>
          </a:p>
          <a:p>
            <a:pPr algn="l">
              <a:lnSpc>
                <a:spcPts val="3200"/>
              </a:lnSpc>
            </a:pPr>
            <a:r>
              <a:rPr sz="2800" b="0">
                <a:solidFill>
                  <a:srgbClr val="9FE0C9"/>
                </a:solidFill>
                <a:latin typeface="Courier New"/>
              </a:rPr>
              <a:t>[ { _id: 1, name: 'Ana', age: 17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{"$lte" : 18}})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 : 30}})</a:t>
            </a:r>
          </a:p>
          <a:p>
            <a:pPr algn="l">
              <a:lnSpc>
                <a:spcPts val="3200"/>
              </a:lnSpc>
            </a:pPr>
            <a:r>
              <a:rPr sz="2800" b="0">
                <a:solidFill>
                  <a:srgbClr val="9FE0C9"/>
                </a:solidFill>
                <a:latin typeface="Courier New"/>
              </a:rPr>
              <a:t>[ { _id: 5, name: 'Eli', age: 31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18, "$lte"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2 min 22 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  { _id: 5, ticket_no: 222,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  { _id: 3, name: 'Liza', salary: 15000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59 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db.food.find()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a:p>
            <a:pPr algn="l">
              <a:lnSpc>
                <a:spcPts val="3200"/>
              </a:lnSpc>
            </a:pPr>
            <a:r>
              <a:rPr sz="2800" b="0">
                <a:solidFill>
                  <a:srgbClr val="8FA3B8"/>
                </a:solidFill>
                <a:latin typeface="Courier New"/>
              </a:rPr>
              <a:t>// the shell prints the reply of the last command</a:t>
            </a:r>
          </a:p>
          <a:p>
            <a:pPr algn="l">
              <a:lnSpc>
                <a:spcPts val="3200"/>
              </a:lnSpc>
            </a:pPr>
            <a:r>
              <a:rPr sz="2800" b="0">
                <a:solidFill>
                  <a:srgbClr val="9FE0C9"/>
                </a:solidFill>
                <a:latin typeface="Courier New"/>
              </a:rPr>
              <a:t>{ acknowledged: true, insertedId: 3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db.food.find()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a:t>
            </a:r>
            <a:r>
              <a:rPr sz="2800" b="1" u="sng">
                <a:solidFill>
                  <a:srgbClr val="FFD27F"/>
                </a:solidFill>
                <a:latin typeface="Courier New"/>
              </a:rPr>
              <a:t>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{$all : ["apple",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{"$size" : 3}})</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embedded documents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32 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'c1', 'c2', 'c3', 'c4', 'c5', 'c6',</a:t>
            </a:r>
          </a:p>
          <a:p>
            <a:pPr algn="l">
              <a:lnSpc>
                <a:spcPts val="3200"/>
              </a:lnSpc>
            </a:pPr>
            <a:r>
              <a:rPr sz="2800" b="0">
                <a:solidFill>
                  <a:srgbClr val="9FE0C9"/>
                </a:solidFill>
                <a:latin typeface="Courier New"/>
              </a:rPr>
              <a:t>    'c7', 'c8', 'c9', 'c10'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'c31', 'c32', 'c33', 'c34', 'c35',</a:t>
            </a:r>
          </a:p>
          <a:p>
            <a:pPr algn="l">
              <a:lnSpc>
                <a:spcPts val="3200"/>
              </a:lnSpc>
            </a:pPr>
            <a:r>
              <a:rPr sz="2800" b="0">
                <a:solidFill>
                  <a:srgbClr val="9FE0C9"/>
                </a:solidFill>
                <a:latin typeface="Courier New"/>
              </a:rPr>
              <a:t>    'c36', 'c37', 'c38', 'c39', 'c40'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'c24', 'c25', 'c26', 'c27', 'c28',</a:t>
            </a:r>
          </a:p>
          <a:p>
            <a:pPr algn="l">
              <a:lnSpc>
                <a:spcPts val="3200"/>
              </a:lnSpc>
            </a:pPr>
            <a:r>
              <a:rPr sz="2800" b="0">
                <a:solidFill>
                  <a:srgbClr val="9FE0C9"/>
                </a:solidFill>
                <a:latin typeface="Courier New"/>
              </a:rPr>
              <a:t>    'c29', 'c30', 'c31', 'c32', 'c33'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name: { first: 'John', last: 'Escalona' },</a:t>
            </a:r>
          </a:p>
          <a:p>
            <a:pPr algn="l">
              <a:lnSpc>
                <a:spcPts val="3200"/>
              </a:lnSpc>
            </a:pPr>
            <a:r>
              <a:rPr sz="2800" b="0">
                <a:solidFill>
                  <a:srgbClr val="9FE0C9"/>
                </a:solidFill>
                <a:latin typeface="Courier New"/>
              </a:rPr>
              <a:t>    age: 45</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$slice  "name.first"</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