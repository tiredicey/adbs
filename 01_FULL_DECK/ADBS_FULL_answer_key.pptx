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Section 3.1A. Our topic is MongoDB commands and cloud computing, from the 07, 08 and 09 handouts. Each of us has 3 minutes.</a:t>
            </a:r>
          </a:p>
          <a:p/>
          <a:p>
            <a:r>
              <a:t>SOUNDBITE (say it last, slowly): Store it. Query it. Put it in the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a:p/>
          <a:p>
            <a:r>
              <a:t>SOUNDBITE (say it last, slowly): Six parts MongoDB. Two parts cloud.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 After: the collection has Stand by Me. One document in.</a:t>
            </a:r>
          </a:p>
          <a:p/>
          <a:p>
            <a:r>
              <a:t>SOUNDBITE (say it last, slowly): One document in. MongoDB adds the _id.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insertMany adds many documents with one command. We pass an array, in square brackets. Before: only Stand by Me. The reply lists three new I Ds.</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(No new words. Let the class read this slide, then click.)</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After: four movies. The three new ones are highlighted.</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Now an error on purpose.</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We insert four movies, but two of them use underscore I D 4. With ordered false, MongoDB tries every document, even after an error.</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After: 3, 4 and 5 are saved. Only the duplicate failed. Unordered keeps going.</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Same four movies, but ordered.</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Ordered is the default. The duplicate 4 causes an error.</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We delete underscore I D 4. The reply says deleted count 1. After: only 3 and 5 are left.</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SOUNDBITE (say it last, slowly): findOne brings back one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 Before: Joe, as on the last slide.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(No new words. Let the class read this slide, then click.)</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After: Joe has relationships and username. The old fields are gone.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updateOne takes a filter, then a change. The dollar set operator sets a field. If the field does not exist yet, it is created. Before: John has no favorite book.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(No new words. Let the class read this slide, then click.)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After: John has a favorite book, Green Eggs and Ham.</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Dollar set can even change the type of a field. Before: John, as on the last slide.</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Now favorite book becomes an array of three books.</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After: the single text value is replaced by a list.</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Dollar unset removes a field completely. Before: John, as on the last slide.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SOUNDBITE (say it last, slowly):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SOUNDBITE (say it last, slowly): Two operators, one field, one range.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built around the handout's winning tickets. There are five tickets: 725, 542, 390, 111 and 222. Ticket 111 is the only one where winner is true. Keep this list in mind for the next two slides.</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SOUNDBITE (say it last, slowly): $in is a guest list for one key.</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SOUNDBITE (say it last, slowly): $or: pass any one test.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earns exactly 10,000, and Liza earns 15,000.</a:t>
            </a:r>
          </a:p>
          <a:p/>
          <a:p>
            <a:r>
              <a:t>SOUNDBITE (say it last, slowly): 8,000 · 10,000 · 15,000 pesos.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SOUNDBITE (say it last, slowly): $not flips the condition.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Each basket is a document, and its fruit field is an array of three elements. Before: the food collection is empty.</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We run three insertOne commands. The shell prints the reply of the last one: inserted I D 3.</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After: three baskets. Basket 1 has apple, banana, peach. Basket 2 has apple, kumquat, orange. Basket 3 has cherry, banana, apple. We use these three baskets for the rest of this part.</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SOUNDBITE (say it last, slowly): Ask for banana, get every basket with a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SOUNDBITE (say it last, slowly): $all: has them all, any order.</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dollar size 3 returns all three. A basket with 2 or 4 fruits would not match. Arrays answer like single values.</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numbers count from the front. Negative numbers count from the back.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SOUNDBITE (say it last, slowly): If it has the web, it has your data.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SOUNDBITE (say it last, slowly):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SOUNDBITE (say it last, slowly): Rent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SOUNDBITE (say it last, slowly): Own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SOUNDBITE (say it last, slowly):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SOUNDBITE (say it last, slowly): Use it, build on it, or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SOUNDBITE (say it last, slowly): Use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SOUNDBITE (say it last, slowly): Build on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SOUNDBITE (say it last, slowly):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SOUNDBITE (say it last, slowly): Scale up fast.</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SOUNDBITE (say it last, slowly):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a:p/>
          <a:p>
            <a:r>
              <a:t>SOUNDBITE: Every command, one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20440"/>
            <a:ext cx="11368735" cy="64008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“Store it. Query it. Put it in the cloud.”</a:t>
            </a:r>
          </a:p>
        </p:txBody>
      </p:sp>
      <p:sp>
        <p:nvSpPr>
          <p:cNvPr id="6" name="TextBox 5"/>
          <p:cNvSpPr txBox="1"/>
          <p:nvPr/>
        </p:nvSpPr>
        <p:spPr>
          <a:xfrm>
            <a:off x="411480" y="4251960"/>
            <a:ext cx="11368735"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Based on the 07, 08 and 09 Handouts</a:t>
            </a:r>
          </a:p>
        </p:txBody>
      </p:sp>
      <p:sp>
        <p:nvSpPr>
          <p:cNvPr id="7" name="TextBox 6"/>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
        <p:nvSpPr>
          <p:cNvPr id="28" name="Rectangle 2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Six parts MongoDB. Two parts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1</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04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2</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18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name: 'Joe',</a:t>
            </a:r>
          </a:p>
          <a:p>
            <a:pPr algn="l">
              <a:lnSpc>
                <a:spcPts val="3200"/>
              </a:lnSpc>
            </a:pPr>
            <a:r>
              <a:rPr sz="2800" b="0">
                <a:solidFill>
                  <a:srgbClr val="9FE0C9"/>
                </a:solidFill>
                <a:latin typeface="Courier New"/>
              </a:rPr>
              <a:t>  friends: 32,</a:t>
            </a:r>
          </a:p>
          <a:p>
            <a:pPr algn="l">
              <a:lnSpc>
                <a:spcPts val="3200"/>
              </a:lnSpc>
            </a:pPr>
            <a:r>
              <a:rPr sz="2800" b="0">
                <a:solidFill>
                  <a:srgbClr val="9FE0C9"/>
                </a:solidFill>
                <a:latin typeface="Courier New"/>
              </a:rPr>
              <a:t>  enemies: 2</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db.users.findOne({"username"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username: 'Joe'</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 },</a:t>
            </a:r>
          </a:p>
          <a:p>
            <a:pPr algn="l">
              <a:lnSpc>
                <a:spcPts val="3200"/>
              </a:lnSpc>
            </a:pPr>
            <a:r>
              <a:rPr sz="2800" b="0">
                <a:solidFill>
                  <a:srgbClr val="9FE0C9"/>
                </a:solidFill>
                <a:latin typeface="Courier New"/>
              </a:rPr>
              <a:t>  { _id: 2, birthday: '10/13/1978' },</a:t>
            </a:r>
          </a:p>
          <a:p>
            <a:pPr algn="l">
              <a:lnSpc>
                <a:spcPts val="3200"/>
              </a:lnSpc>
            </a:pPr>
            <a:r>
              <a:rPr sz="2800" b="0">
                <a:solidFill>
                  <a:srgbClr val="9FE0C9"/>
                </a:solidFill>
                <a:latin typeface="Courier New"/>
              </a:rPr>
              <a:t>  { _id: 3, birthday: '10/13/1978'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3, modifiedCount: 3,</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2,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3,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3</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 : 18}})</a:t>
            </a:r>
          </a:p>
          <a:p>
            <a:pPr algn="l">
              <a:lnSpc>
                <a:spcPts val="3200"/>
              </a:lnSpc>
            </a:pPr>
            <a:r>
              <a:rPr sz="2800" b="0">
                <a:solidFill>
                  <a:srgbClr val="9FE0C9"/>
                </a:solidFill>
                <a:latin typeface="Courier New"/>
              </a:rPr>
              <a:t>[ { _id: 1, name: 'Ana', age: 17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{"$lte" : 18}})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 : 30}})</a:t>
            </a:r>
          </a:p>
          <a:p>
            <a:pPr algn="l">
              <a:lnSpc>
                <a:spcPts val="3200"/>
              </a:lnSpc>
            </a:pPr>
            <a:r>
              <a:rPr sz="2800" b="0">
                <a:solidFill>
                  <a:srgbClr val="9FE0C9"/>
                </a:solidFill>
                <a:latin typeface="Courier New"/>
              </a:rPr>
              <a:t>[ { _id: 5, name: 'Eli', age: 31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18, "$lte"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4</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2 min 22 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  { _id: 5, ticket_no: 222,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  { _id: 3, name: 'Liza', salary: 15000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5</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59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db.food.find()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a:p>
            <a:pPr algn="l">
              <a:lnSpc>
                <a:spcPts val="3200"/>
              </a:lnSpc>
            </a:pPr>
            <a:r>
              <a:rPr sz="2800" b="0">
                <a:solidFill>
                  <a:srgbClr val="8FA3B8"/>
                </a:solidFill>
                <a:latin typeface="Courier New"/>
              </a:rPr>
              <a:t>// the shell prints the reply of the last command</a:t>
            </a:r>
          </a:p>
          <a:p>
            <a:pPr algn="l">
              <a:lnSpc>
                <a:spcPts val="3200"/>
              </a:lnSpc>
            </a:pPr>
            <a:r>
              <a:rPr sz="2800" b="0">
                <a:solidFill>
                  <a:srgbClr val="9FE0C9"/>
                </a:solidFill>
                <a:latin typeface="Courier New"/>
              </a:rPr>
              <a:t>{ acknowledged: true, insertedId: 3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db.food.find()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a:t>
            </a:r>
            <a:r>
              <a:rPr sz="2800" b="1" u="sng">
                <a:solidFill>
                  <a:srgbClr val="FFD27F"/>
                </a:solidFill>
                <a:latin typeface="Courier New"/>
              </a:rPr>
              <a:t>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{$all : ["apple",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{"$size" : 3}})</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6</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32 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'c1', 'c2', 'c3', 'c4', 'c5', 'c6',</a:t>
            </a:r>
          </a:p>
          <a:p>
            <a:pPr algn="l">
              <a:lnSpc>
                <a:spcPts val="3200"/>
              </a:lnSpc>
            </a:pPr>
            <a:r>
              <a:rPr sz="2800" b="0">
                <a:solidFill>
                  <a:srgbClr val="9FE0C9"/>
                </a:solidFill>
                <a:latin typeface="Courier New"/>
              </a:rPr>
              <a:t>    'c7', 'c8', 'c9', 'c10'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'c31', 'c32', 'c33', 'c34', 'c35',</a:t>
            </a:r>
          </a:p>
          <a:p>
            <a:pPr algn="l">
              <a:lnSpc>
                <a:spcPts val="3200"/>
              </a:lnSpc>
            </a:pPr>
            <a:r>
              <a:rPr sz="2800" b="0">
                <a:solidFill>
                  <a:srgbClr val="9FE0C9"/>
                </a:solidFill>
                <a:latin typeface="Courier New"/>
              </a:rPr>
              <a:t>    'c36', 'c37', 'c38', 'c39', 'c40'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'c24', 'c25', 'c26', 'c27', 'c28',</a:t>
            </a:r>
          </a:p>
          <a:p>
            <a:pPr algn="l">
              <a:lnSpc>
                <a:spcPts val="3200"/>
              </a:lnSpc>
            </a:pPr>
            <a:r>
              <a:rPr sz="2800" b="0">
                <a:solidFill>
                  <a:srgbClr val="9FE0C9"/>
                </a:solidFill>
                <a:latin typeface="Courier New"/>
              </a:rPr>
              <a:t>    'c29', 'c30', 'c31', 'c32', 'c33'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name: { first: 'John', last: 'Escalona' },</a:t>
            </a:r>
          </a:p>
          <a:p>
            <a:pPr algn="l">
              <a:lnSpc>
                <a:spcPts val="3200"/>
              </a:lnSpc>
            </a:pPr>
            <a:r>
              <a:rPr sz="2800" b="0">
                <a:solidFill>
                  <a:srgbClr val="9FE0C9"/>
                </a:solidFill>
                <a:latin typeface="Courier New"/>
              </a:rPr>
              <a:t>    age: 45</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7</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8</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581912"/>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8191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58191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066543"/>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66543"/>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066543"/>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551176"/>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5117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55117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035808"/>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035808"/>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520440"/>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2044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52044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005072"/>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0507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00507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489704"/>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89704"/>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489704"/>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4974336"/>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97433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497433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
        <p:nvSpPr>
          <p:cNvPr id="31" name="Rectangle 30"/>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Every command, one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