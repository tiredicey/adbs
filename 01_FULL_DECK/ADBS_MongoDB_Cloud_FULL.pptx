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promise: every command on these slides was run on a real MongoDB server and we kept the real output, including one command from our own outline that failed (Part 4). Introduce the group and the eight parts.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Parts 1-6: MongoDB commands from the 07 and 08 handouts. Parts 7-8: cloud computing from the 09 handout. Most parts end with a trap: the mistake that silently gives the wrong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names before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server, real output, kept in the repo; anyone can rerun the script. The best result of checking was a failure: our outline listed dollar-null and the server rejected it. That is why Part 4 teaches the correct null query.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soundbite: Documents in, documents out.  Optional crowd line: "What haffen, collection?" after deleteMany({}). Parody of 'What haffen Vella?', a 2013 TV clip that resurfaced in 2025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 the vocabulary first. The handout's Table 2 maps SQL to MongoDB: tables become collections, rows become documents, columns become fields. A collection does not force every document to have the same fields. Every document gets a unique _id. Say: Tables are collections. Rows are documents.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insertOne adds a single document. We gave no _id, so MongoDB created the ObjectId in the output. The collection did not exist before this line; MongoDB creates it on the first insert. Say: One document in. MongoDB hands it an _id.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insertMany takes an array. One call, three documents, three ids back, numbered 0, 1, 2 in array order. Say: Many documents, one trip.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favorite. Same duplicate-key error, two outcomes. Unordered tries every document, so 3, 4 and 5 land and only the second 4 fails. Ordered is the default and stops at the first error, so the next document never goes in. Real server counts: 3 and 1. Say: Ordered stops at the error. Unordered keeps going.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deleteOne deletes at most one document, the first match, even when more match. Two documents had y 1985; one is left. The safest filter is _id, which is unique, like the handout's deleteOne on _id 4. Say: deleteOne removes one. Even if many match.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deleteMany removes every document that matches. Two movies had year 1985; deletedCount is 2. Always read deletedCount. Say: deleteMany clears every match.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traps. deleteMany with an empty filter wipes the collection; deletedCount 3. And the 07 handout's remove still works, but mongosh prints a deprecation warning pointing to deleteOne or deleteMany. Optional crowd line: What haffen, collection? Say: Empty filter, empty collection.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soundbite: Find it first. Then change it.  Optional crowd line: "Kuya, natanggal!" for $unset. Parody of the 2025 'Kuya natanggal' meme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findOne returns the first matching document, or null when nothing matches. Never a list. The second argument is a projection; _id 0 hides the _id. find, by contrast, returns every match. Say: findOne gives one document. No match gives null.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replaceOne replaces the whole matched document. The handout uses it for a schema migration: friends and enemies move into a relationships subdocument and name becomes username. Fields you leave out disappear. The _id is kept. Say: replaceOne swaps the body. The _id stays.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updateOne takes a filter and a modifier. $set changes a field or creates it. $unset removes it. Only the first match changes. Read matchedCount and modifiedCount. Optional crowd line for $unset: Kuya, natanggal! Say: $set adds or changes. $unset removes.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updateMany has the same parameters as updateOne; only the number of changed documents differs. Three share the birthday, so matched and modified are 3. Say: One rule, every match.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Forget the dollar operator and updateOne refuses: Update document requires atomic operators. That protects you from replacing a whole document by accident. If replacing is the goal, use replaceOne. Say: No dollar, no update.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soundbite: Less, less-or-equal, greater, greater-or-equal.  Optional crowd line: "Sobrang strict ng $gt." Riff on the 2025 'Sobrang Latina' catchphrase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comparison operators. lt and gt are strict; add an e and equality counts. The right column shows ages 17, 18 and 24 against 18. Say: The e means equal is allowed.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letter apart. $lt 18 returns only Ana, 17. $lte 18 adds Ben, exactly 18. Say: 18 is out with lt, in with lte.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image. $gt 30 returns only Eli, 31. $gte 30 adds Dan, exactly 30. Say: 30 is out with gt, in with gte.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operators in the same field document must both be true. The handout's between 18 and 30 query returns Ben, Cara and Dan. Both ends count because of gte and lte. Say: Two operators, one field, one range.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Fay's age is the string 20. $gte 18 compares numbers to numbers, so Fay never appears. No error, just a missing row: the dangerous kind of bug. Say: Quote-20 is text, not twenty.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soundbite: One field, many values. Many fields, any match.  Optional crowd line: "Tayo ay nasa $null... wala pala." Riff on the 2025 'Tayo ay nasa fine dining restaurant' meme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matches one field against a list. The raffle's winning tickets 725, 542 and 390 come back in one query. Say: $in is a guest list for one field.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 takes an array of whole conditions, each on any field. Ticket 725 passes the first; ticket 111 passes the second because winner is true. One field, use $in; several fields, use $or. Say: $or, pass any one test.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topic list said dollar-null. We tested it instead of assuming: the server answers unknown operator: $null. There is no such operator. You query with the plain value null. Say: There is no dollar-null. Write null.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 null} matches documents where the field is null and documents where it does not exist. Five tickets return; only 222 stores null. For real nulls only, use $type null. Ticket 333, claimed by Lia, never matches. Say: null means null or not there.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soundbite: Arrays answer like single values.  Optional crowd line: "$all: kumpleto ang barkada." (original line, no meme reference)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Querying an array looks like querying a single value. fruit banana matches every document whose array contains banana anywhere: 1 and 3. For a position, use key dot index, like fruit.2. Say: Ask for banana, get every basket with a banana.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insert an element into an existing array, use $push in an update; it appends to the end. Pushing an array directly would nest it as one element, so use $each for several values. This comes from the MongoDB manual; the handout only inserts whole documents that contain arrays. Say: $push adds to the end.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needs every listed element, in any order. Documents 1 and 3 have both. Document 2 has apple but no banana. Say: $all, has them all, any order.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matches arrays with exactly that many elements. After pushing mango, document 2 has four, so $size 4 finds it. Trap: $size takes a number only; $size with $gt fails to parse. Say: $size counts. Exactly.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soundbite: Trim what you see. Reach inside with a dot.  Optional crowd line: "Sierra Madre baddie: shields the whole document." Riff on the 2025 'Sierra Madre Baddie' meme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$slice returns part of an array, from the projection. 3 gives the first three comments; minus 3 the last three. The document still stores all 40. Say: Positive from the front, negative from the back.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numbers mean skip then limit. Skip 23, take 10: c24 through c33, exactly as the handout says. A shorter array just returns what exists. That is how you page through comments. Say: Skip 23, take 10.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embedded document is a document inside a document. Reach its fields with quoted dot notation: name.first, name.last. The same dot works in $set, like the handout's author.name update. Say: Use the dot to reach inside.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Matching the whole embedded document compares it exactly, field order included. Swap first and last and you get zero. Dot notation ignores order, which is why we prefer it. Say: Same fields, wrong order, zero results.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7 soundbite: Cloud type = where it lives + who controls it.  Optional crowd line: "Tayo ay nasa cloud." Riff on the 2025 'fine dining restaurant' meme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Handout definition: services delivered over the Internet, including storage, servers, databases, networking and software. Files live in a remote database instead of a local drive, so any device with web access reaches them. Say: If it has the web, it has your data.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Defined by where the infrastructure lives and who controls it. Public: third party, sold to everyone; AWS, Google App Engine, Microsoft Azure. Reliable and scalable but not for organizations under strict data-security rules. Private: one organization, for itself. Hybrid: both, for example email on public and financials on private. Say: Rent it, own it, or mix both.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own lab is an example. The handout creates a free shared cluster on AWS or Google Cloud in Singapore, then connects from Compass with a mongodb+srv string. Because Atlas runs on a public provider, our class database is public cloud. That last line is our inference from the handout, not a quote. Say: Our database, their data center.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8 soundbite: Use it, build on it, or rent the machine.  Optional crowd line: "Sobrang scalable." Riff on the 2025 'Sobrang Latina' catchphrase (DZRH News, 2025-12-31).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SaaS: the provider runs a finished app like Office 365 or Google Docs; you tweak settings only. PaaS: you build and deploy your own app on the provider's tools, like Azure with .NET and Java, without managing infrastructure. IaaS: you rent raw resources, like an AWS server with Linux, Apache, 16 GB RAM and 160 GB storage. Say: SaaS, use it. PaaS, build on it. IaaS, rent the machine.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own summary of the handout definitions, not a handout figure. SaaS: the provider runs almost everything. PaaS: you own your app and data; the provider runs the platform and hardware. IaaS: the provider gives you machines; you manage what runs on them. Say: Each step down, you manage more.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benefits, in handout order: instant scalability, anywhere accessibility, speed and agility, reduced expenditure, automatic updates, disaster recovery, high security, reduced carbon footprint, flexibility, enterprise collaboration. One honest caveat from the handout: cost depends on consumption, a variable expense, so the cloud is not automatically cheaper. Say: Scale up fast. Pay for what you use.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questions: every command from today on one screen.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Handouts first, then the MongoDB manual pages used for $push and null, then the live server run. Meme references appear only in speaker notes, dated and sourced.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Rectangle 1"/>
          <p:cNvSpPr/>
          <p:nvPr/>
        </p:nvSpPr>
        <p:spPr>
          <a:xfrm>
            <a:off x="0" y="5394960"/>
            <a:ext cx="12191695" cy="109728"/>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0972800" cy="457200"/>
          </a:xfrm>
          <a:prstGeom prst="rect">
            <a:avLst/>
          </a:prstGeom>
          <a:noFill/>
        </p:spPr>
        <p:txBody>
          <a:bodyPr wrap="square" anchor="t" lIns="73152" rIns="73152" tIns="73152" bIns="73152">
            <a:spAutoFit/>
          </a:bodyPr>
          <a:lstStyle/>
          <a:p>
            <a:pPr algn="l">
              <a:lnSpc>
                <a:spcPct val="110000"/>
              </a:lnSpc>
            </a:pPr>
            <a:r>
              <a:rPr sz="1600" b="1">
                <a:solidFill>
                  <a:srgbClr val="F2B27A"/>
                </a:solidFill>
                <a:latin typeface="Arial"/>
              </a:rPr>
              <a:t>IT2003 · ADVANCED DATABASE SYSTEMS</a:t>
            </a:r>
          </a:p>
        </p:txBody>
      </p:sp>
      <p:sp>
        <p:nvSpPr>
          <p:cNvPr id="4" name="TextBox 3"/>
          <p:cNvSpPr txBox="1"/>
          <p:nvPr/>
        </p:nvSpPr>
        <p:spPr>
          <a:xfrm>
            <a:off x="548640" y="1645920"/>
            <a:ext cx="10972800" cy="2011680"/>
          </a:xfrm>
          <a:prstGeom prst="rect">
            <a:avLst/>
          </a:prstGeom>
          <a:noFill/>
        </p:spPr>
        <p:txBody>
          <a:bodyPr wrap="square" anchor="t" lIns="73152" rIns="73152" tIns="73152" bIns="73152">
            <a:spAutoFit/>
          </a:bodyPr>
          <a:lstStyle/>
          <a:p>
            <a:pPr algn="l">
              <a:lnSpc>
                <a:spcPct val="95000"/>
              </a:lnSpc>
            </a:pPr>
            <a:r>
              <a:rPr sz="6000" b="1">
                <a:solidFill>
                  <a:srgbClr val="FFFFFF"/>
                </a:solidFill>
                <a:latin typeface="Arial"/>
              </a:rPr>
              <a:t>MongoDB Commands</a:t>
            </a:r>
          </a:p>
          <a:p>
            <a:pPr algn="l">
              <a:lnSpc>
                <a:spcPct val="95000"/>
              </a:lnSpc>
            </a:pPr>
            <a:r>
              <a:rPr sz="6000" b="1">
                <a:solidFill>
                  <a:srgbClr val="FFFFFF"/>
                </a:solidFill>
                <a:latin typeface="Arial"/>
              </a:rPr>
              <a:t>&amp; Cloud Computing</a:t>
            </a:r>
          </a:p>
        </p:txBody>
      </p:sp>
      <p:sp>
        <p:nvSpPr>
          <p:cNvPr id="5" name="TextBox 4"/>
          <p:cNvSpPr txBox="1"/>
          <p:nvPr/>
        </p:nvSpPr>
        <p:spPr>
          <a:xfrm>
            <a:off x="548640" y="3794760"/>
            <a:ext cx="10515600" cy="1097280"/>
          </a:xfrm>
          <a:prstGeom prst="rect">
            <a:avLst/>
          </a:prstGeom>
          <a:noFill/>
        </p:spPr>
        <p:txBody>
          <a:bodyPr wrap="square" anchor="t" lIns="73152" rIns="73152" tIns="73152" bIns="73152">
            <a:spAutoFit/>
          </a:bodyPr>
          <a:lstStyle/>
          <a:p>
            <a:pPr algn="l">
              <a:lnSpc>
                <a:spcPct val="110000"/>
              </a:lnSpc>
            </a:pPr>
            <a:r>
              <a:rPr sz="2200" b="0">
                <a:solidFill>
                  <a:srgbClr val="E6ECF2"/>
                </a:solidFill>
                <a:latin typeface="Arial"/>
              </a:rPr>
              <a:t>Every command on these slides was run on a real server. Including the one that failed.</a:t>
            </a:r>
          </a:p>
        </p:txBody>
      </p:sp>
      <p:sp>
        <p:nvSpPr>
          <p:cNvPr id="6" name="TextBox 5"/>
          <p:cNvSpPr txBox="1"/>
          <p:nvPr/>
        </p:nvSpPr>
        <p:spPr>
          <a:xfrm>
            <a:off x="548640" y="5715000"/>
            <a:ext cx="10972800" cy="822960"/>
          </a:xfrm>
          <a:prstGeom prst="rect">
            <a:avLst/>
          </a:prstGeom>
          <a:noFill/>
        </p:spPr>
        <p:txBody>
          <a:bodyPr wrap="square" anchor="t" lIns="73152" rIns="73152" tIns="73152" bIns="73152">
            <a:spAutoFit/>
          </a:bodyPr>
          <a:lstStyle/>
          <a:p>
            <a:pPr algn="l">
              <a:lnSpc>
                <a:spcPct val="110000"/>
              </a:lnSpc>
            </a:pPr>
            <a:r>
              <a:rPr sz="1600" b="0">
                <a:solidFill>
                  <a:srgbClr val="E6ECF2"/>
                </a:solidFill>
                <a:latin typeface="Arial"/>
              </a:rPr>
              <a:t>Group: ____________________    Section: ________    Date: ____________</a:t>
            </a:r>
          </a:p>
          <a:p>
            <a:pPr algn="l">
              <a:lnSpc>
                <a:spcPct val="110000"/>
              </a:lnSpc>
            </a:pPr>
            <a:r>
              <a:rPr sz="1200" b="0">
                <a:solidFill>
                  <a:srgbClr val="9FE0C9"/>
                </a:solidFill>
                <a:latin typeface="Arial"/>
              </a:rPr>
              <a:t>Verified live on MongoDB 8.0.4 + mongosh 2.3.8 (2026-10-30)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Eight parts, one database</a:t>
            </a:r>
          </a:p>
        </p:txBody>
      </p:sp>
      <p:sp>
        <p:nvSpPr>
          <p:cNvPr id="4" name="Rectangle 3"/>
          <p:cNvSpPr/>
          <p:nvPr/>
        </p:nvSpPr>
        <p:spPr>
          <a:xfrm>
            <a:off x="548640" y="1417320"/>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90472"/>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1</a:t>
            </a:r>
          </a:p>
        </p:txBody>
      </p:sp>
      <p:sp>
        <p:nvSpPr>
          <p:cNvPr id="6" name="TextBox 5"/>
          <p:cNvSpPr txBox="1"/>
          <p:nvPr/>
        </p:nvSpPr>
        <p:spPr>
          <a:xfrm>
            <a:off x="1417320" y="1508760"/>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Create &amp; Delete</a:t>
            </a:r>
          </a:p>
        </p:txBody>
      </p:sp>
      <p:sp>
        <p:nvSpPr>
          <p:cNvPr id="7" name="TextBox 6"/>
          <p:cNvSpPr txBox="1"/>
          <p:nvPr/>
        </p:nvSpPr>
        <p:spPr>
          <a:xfrm>
            <a:off x="1417320" y="1920240"/>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insertOne · insertMany · deleteOne · deleteMany</a:t>
            </a:r>
          </a:p>
        </p:txBody>
      </p:sp>
      <p:sp>
        <p:nvSpPr>
          <p:cNvPr id="8" name="Rectangle 7"/>
          <p:cNvSpPr/>
          <p:nvPr/>
        </p:nvSpPr>
        <p:spPr>
          <a:xfrm>
            <a:off x="548640" y="2624328"/>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97480"/>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2</a:t>
            </a:r>
          </a:p>
        </p:txBody>
      </p:sp>
      <p:sp>
        <p:nvSpPr>
          <p:cNvPr id="10" name="TextBox 9"/>
          <p:cNvSpPr txBox="1"/>
          <p:nvPr/>
        </p:nvSpPr>
        <p:spPr>
          <a:xfrm>
            <a:off x="1417320" y="2715768"/>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Find, Replace &amp; Update</a:t>
            </a:r>
          </a:p>
        </p:txBody>
      </p:sp>
      <p:sp>
        <p:nvSpPr>
          <p:cNvPr id="11" name="TextBox 10"/>
          <p:cNvSpPr txBox="1"/>
          <p:nvPr/>
        </p:nvSpPr>
        <p:spPr>
          <a:xfrm>
            <a:off x="1417320" y="3127248"/>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findOne · replaceOne · updateOne · updateMany</a:t>
            </a:r>
          </a:p>
        </p:txBody>
      </p:sp>
      <p:sp>
        <p:nvSpPr>
          <p:cNvPr id="12" name="Rectangle 11"/>
          <p:cNvSpPr/>
          <p:nvPr/>
        </p:nvSpPr>
        <p:spPr>
          <a:xfrm>
            <a:off x="548640" y="3831336"/>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904488"/>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3</a:t>
            </a:r>
          </a:p>
        </p:txBody>
      </p:sp>
      <p:sp>
        <p:nvSpPr>
          <p:cNvPr id="14" name="TextBox 13"/>
          <p:cNvSpPr txBox="1"/>
          <p:nvPr/>
        </p:nvSpPr>
        <p:spPr>
          <a:xfrm>
            <a:off x="1417320" y="3922776"/>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Query Selectors: Comparison</a:t>
            </a:r>
          </a:p>
        </p:txBody>
      </p:sp>
      <p:sp>
        <p:nvSpPr>
          <p:cNvPr id="15" name="TextBox 14"/>
          <p:cNvSpPr txBox="1"/>
          <p:nvPr/>
        </p:nvSpPr>
        <p:spPr>
          <a:xfrm>
            <a:off x="1417320" y="4334256"/>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$lt · $lte · $gt · $gte</a:t>
            </a:r>
          </a:p>
        </p:txBody>
      </p:sp>
      <p:sp>
        <p:nvSpPr>
          <p:cNvPr id="16" name="Rectangle 15"/>
          <p:cNvSpPr/>
          <p:nvPr/>
        </p:nvSpPr>
        <p:spPr>
          <a:xfrm>
            <a:off x="548640" y="5038344"/>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111496"/>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4</a:t>
            </a:r>
          </a:p>
        </p:txBody>
      </p:sp>
      <p:sp>
        <p:nvSpPr>
          <p:cNvPr id="18" name="TextBox 17"/>
          <p:cNvSpPr txBox="1"/>
          <p:nvPr/>
        </p:nvSpPr>
        <p:spPr>
          <a:xfrm>
            <a:off x="1417320" y="5129784"/>
            <a:ext cx="4434840" cy="457200"/>
          </a:xfrm>
          <a:prstGeom prst="rect">
            <a:avLst/>
          </a:prstGeom>
          <a:noFill/>
        </p:spPr>
        <p:txBody>
          <a:bodyPr wrap="square" anchor="t" lIns="73152" rIns="73152" tIns="73152" bIns="73152">
            <a:spAutoFit/>
          </a:bodyPr>
          <a:lstStyle/>
          <a:p>
            <a:pPr algn="l">
              <a:lnSpc>
                <a:spcPct val="110000"/>
              </a:lnSpc>
            </a:pPr>
            <a:r>
              <a:rPr sz="1600" b="1">
                <a:solidFill>
                  <a:srgbClr val="14202E"/>
                </a:solidFill>
                <a:latin typeface="Arial"/>
              </a:rPr>
              <a:t>Query Selectors: $in, $or, null</a:t>
            </a:r>
          </a:p>
        </p:txBody>
      </p:sp>
      <p:sp>
        <p:nvSpPr>
          <p:cNvPr id="19" name="TextBox 18"/>
          <p:cNvSpPr txBox="1"/>
          <p:nvPr/>
        </p:nvSpPr>
        <p:spPr>
          <a:xfrm>
            <a:off x="1417320" y="5541264"/>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$in · $or · null</a:t>
            </a:r>
          </a:p>
        </p:txBody>
      </p:sp>
      <p:sp>
        <p:nvSpPr>
          <p:cNvPr id="20" name="Rectangle 19"/>
          <p:cNvSpPr/>
          <p:nvPr/>
        </p:nvSpPr>
        <p:spPr>
          <a:xfrm>
            <a:off x="6217920" y="1417320"/>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490472"/>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5</a:t>
            </a:r>
          </a:p>
        </p:txBody>
      </p:sp>
      <p:sp>
        <p:nvSpPr>
          <p:cNvPr id="22" name="TextBox 21"/>
          <p:cNvSpPr txBox="1"/>
          <p:nvPr/>
        </p:nvSpPr>
        <p:spPr>
          <a:xfrm>
            <a:off x="7086600" y="1508760"/>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Querying Arrays</a:t>
            </a:r>
          </a:p>
        </p:txBody>
      </p:sp>
      <p:sp>
        <p:nvSpPr>
          <p:cNvPr id="23" name="TextBox 22"/>
          <p:cNvSpPr txBox="1"/>
          <p:nvPr/>
        </p:nvSpPr>
        <p:spPr>
          <a:xfrm>
            <a:off x="7086600" y="1920240"/>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array match · $push · $all · $size</a:t>
            </a:r>
          </a:p>
        </p:txBody>
      </p:sp>
      <p:sp>
        <p:nvSpPr>
          <p:cNvPr id="24" name="Rectangle 23"/>
          <p:cNvSpPr/>
          <p:nvPr/>
        </p:nvSpPr>
        <p:spPr>
          <a:xfrm>
            <a:off x="6217920" y="2624328"/>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697480"/>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6</a:t>
            </a:r>
          </a:p>
        </p:txBody>
      </p:sp>
      <p:sp>
        <p:nvSpPr>
          <p:cNvPr id="26" name="TextBox 25"/>
          <p:cNvSpPr txBox="1"/>
          <p:nvPr/>
        </p:nvSpPr>
        <p:spPr>
          <a:xfrm>
            <a:off x="7086600" y="2715768"/>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Arrays &amp; Embedded Documents</a:t>
            </a:r>
          </a:p>
        </p:txBody>
      </p:sp>
      <p:sp>
        <p:nvSpPr>
          <p:cNvPr id="27" name="TextBox 26"/>
          <p:cNvSpPr txBox="1"/>
          <p:nvPr/>
        </p:nvSpPr>
        <p:spPr>
          <a:xfrm>
            <a:off x="7086600" y="3127248"/>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$slice · dot notation · embedded documents</a:t>
            </a:r>
          </a:p>
        </p:txBody>
      </p:sp>
      <p:sp>
        <p:nvSpPr>
          <p:cNvPr id="28" name="Rectangle 27"/>
          <p:cNvSpPr/>
          <p:nvPr/>
        </p:nvSpPr>
        <p:spPr>
          <a:xfrm>
            <a:off x="6217920" y="3831336"/>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3904488"/>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7</a:t>
            </a:r>
          </a:p>
        </p:txBody>
      </p:sp>
      <p:sp>
        <p:nvSpPr>
          <p:cNvPr id="30" name="TextBox 29"/>
          <p:cNvSpPr txBox="1"/>
          <p:nvPr/>
        </p:nvSpPr>
        <p:spPr>
          <a:xfrm>
            <a:off x="7086600" y="3922776"/>
            <a:ext cx="4434840" cy="457200"/>
          </a:xfrm>
          <a:prstGeom prst="rect">
            <a:avLst/>
          </a:prstGeom>
          <a:noFill/>
        </p:spPr>
        <p:txBody>
          <a:bodyPr wrap="square" anchor="t" lIns="73152" rIns="73152" tIns="73152" bIns="73152">
            <a:spAutoFit/>
          </a:bodyPr>
          <a:lstStyle/>
          <a:p>
            <a:pPr algn="l">
              <a:lnSpc>
                <a:spcPct val="110000"/>
              </a:lnSpc>
            </a:pPr>
            <a:r>
              <a:rPr sz="1600" b="1">
                <a:solidFill>
                  <a:srgbClr val="14202E"/>
                </a:solidFill>
                <a:latin typeface="Arial"/>
              </a:rPr>
              <a:t>Cloud Computing &amp; Implementation Types</a:t>
            </a:r>
          </a:p>
        </p:txBody>
      </p:sp>
      <p:sp>
        <p:nvSpPr>
          <p:cNvPr id="31" name="TextBox 30"/>
          <p:cNvSpPr txBox="1"/>
          <p:nvPr/>
        </p:nvSpPr>
        <p:spPr>
          <a:xfrm>
            <a:off x="7086600" y="4334256"/>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public · private · hybrid</a:t>
            </a:r>
          </a:p>
        </p:txBody>
      </p:sp>
      <p:sp>
        <p:nvSpPr>
          <p:cNvPr id="32" name="Rectangle 31"/>
          <p:cNvSpPr/>
          <p:nvPr/>
        </p:nvSpPr>
        <p:spPr>
          <a:xfrm>
            <a:off x="6217920" y="5038344"/>
            <a:ext cx="5394960" cy="1060704"/>
          </a:xfrm>
          <a:prstGeom prst="rect">
            <a:avLst/>
          </a:prstGeom>
          <a:solidFill>
            <a:srgbClr val="FFFFFF"/>
          </a:solidFill>
          <a:ln w="15875">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5111496"/>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8</a:t>
            </a:r>
          </a:p>
        </p:txBody>
      </p:sp>
      <p:sp>
        <p:nvSpPr>
          <p:cNvPr id="34" name="TextBox 33"/>
          <p:cNvSpPr txBox="1"/>
          <p:nvPr/>
        </p:nvSpPr>
        <p:spPr>
          <a:xfrm>
            <a:off x="7086600" y="5129784"/>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Cloud Service Types &amp; Benefits</a:t>
            </a:r>
          </a:p>
        </p:txBody>
      </p:sp>
      <p:sp>
        <p:nvSpPr>
          <p:cNvPr id="35" name="TextBox 34"/>
          <p:cNvSpPr txBox="1"/>
          <p:nvPr/>
        </p:nvSpPr>
        <p:spPr>
          <a:xfrm>
            <a:off x="7086600" y="5541264"/>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nsolas"/>
              </a:rPr>
              <a:t>SaaS · PaaS · IaaS · 10 benefits</a:t>
            </a:r>
          </a:p>
        </p:txBody>
      </p:sp>
      <p:sp>
        <p:nvSpPr>
          <p:cNvPr id="36" name="TextBox 3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07, 08, 09 Handouts</a:t>
            </a:r>
          </a:p>
        </p:txBody>
      </p:sp>
      <p:sp>
        <p:nvSpPr>
          <p:cNvPr id="37" name="TextBox 3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Who presents what</a:t>
            </a:r>
          </a:p>
        </p:txBody>
      </p:sp>
      <p:graphicFrame>
        <p:nvGraphicFramePr>
          <p:cNvPr id="4" name="Table 3"/>
          <p:cNvGraphicFramePr>
            <a:graphicFrameLocks noGrp="1"/>
          </p:cNvGraphicFramePr>
          <p:nvPr/>
        </p:nvGraphicFramePr>
        <p:xfrm>
          <a:off x="548640" y="1325880"/>
          <a:ext cx="11064240" cy="4754880"/>
        </p:xfrm>
        <a:graphic>
          <a:graphicData uri="http://schemas.openxmlformats.org/drawingml/2006/table">
            <a:tbl>
              <a:tblPr firstRow="1" bandRow="1">
                <a:tableStyleId>{5C22544A-7EE6-4342-B048-85BDC9FD1C3A}</a:tableStyleId>
              </a:tblPr>
              <a:tblGrid>
                <a:gridCol w="822960"/>
                <a:gridCol w="7040880"/>
                <a:gridCol w="3200400"/>
              </a:tblGrid>
              <a:tr h="528320">
                <a:tc>
                  <a:txBody>
                    <a:bodyPr/>
                    <a:lstStyle/>
                    <a:p>
                      <a:r>
                        <a:rPr sz="1600" b="1">
                          <a:solidFill>
                            <a:srgbClr val="FFFFFF"/>
                          </a:solidFill>
                          <a:latin typeface="Arial"/>
                        </a:rPr>
                        <a:t>Part</a:t>
                      </a:r>
                    </a:p>
                  </a:txBody>
                  <a:tcPr>
                    <a:solidFill>
                      <a:srgbClr val="14202E"/>
                    </a:solidFill>
                  </a:tcPr>
                </a:tc>
                <a:tc>
                  <a:txBody>
                    <a:bodyPr/>
                    <a:lstStyle/>
                    <a:p>
                      <a:r>
                        <a:rPr sz="1600" b="1">
                          <a:solidFill>
                            <a:srgbClr val="FFFFFF"/>
                          </a:solidFill>
                          <a:latin typeface="Arial"/>
                        </a:rPr>
                        <a:t>Topic</a:t>
                      </a:r>
                    </a:p>
                  </a:txBody>
                  <a:tcPr>
                    <a:solidFill>
                      <a:srgbClr val="14202E"/>
                    </a:solidFill>
                  </a:tcPr>
                </a:tc>
                <a:tc>
                  <a:txBody>
                    <a:bodyPr/>
                    <a:lstStyle/>
                    <a:p>
                      <a:r>
                        <a:rPr sz="1600" b="1">
                          <a:solidFill>
                            <a:srgbClr val="FFFFFF"/>
                          </a:solidFill>
                          <a:latin typeface="Arial"/>
                        </a:rPr>
                        <a:t>Presenter</a:t>
                      </a:r>
                    </a:p>
                  </a:txBody>
                  <a:tcPr>
                    <a:solidFill>
                      <a:srgbClr val="14202E"/>
                    </a:solidFill>
                  </a:tcPr>
                </a:tc>
              </a:tr>
              <a:tr h="528320">
                <a:tc>
                  <a:txBody>
                    <a:bodyPr/>
                    <a:lstStyle/>
                    <a:p>
                      <a:r>
                        <a:rPr sz="1400">
                          <a:solidFill>
                            <a:srgbClr val="14202E"/>
                          </a:solidFill>
                          <a:latin typeface="Arial"/>
                        </a:rPr>
                        <a:t>1</a:t>
                      </a:r>
                    </a:p>
                  </a:txBody>
                  <a:tcPr>
                    <a:solidFill>
                      <a:srgbClr val="FFFFFF"/>
                    </a:solidFill>
                  </a:tcPr>
                </a:tc>
                <a:tc>
                  <a:txBody>
                    <a:bodyPr/>
                    <a:lstStyle/>
                    <a:p>
                      <a:r>
                        <a:rPr sz="1400">
                          <a:solidFill>
                            <a:srgbClr val="14202E"/>
                          </a:solidFill>
                          <a:latin typeface="Arial"/>
                        </a:rPr>
                        <a:t>Create &amp; Delete  ·  insertOne · insertMany · deleteOne · deleteMany</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2</a:t>
                      </a:r>
                    </a:p>
                  </a:txBody>
                  <a:tcPr>
                    <a:solidFill>
                      <a:srgbClr val="F6F8FA"/>
                    </a:solidFill>
                  </a:tcPr>
                </a:tc>
                <a:tc>
                  <a:txBody>
                    <a:bodyPr/>
                    <a:lstStyle/>
                    <a:p>
                      <a:r>
                        <a:rPr sz="1400">
                          <a:solidFill>
                            <a:srgbClr val="14202E"/>
                          </a:solidFill>
                          <a:latin typeface="Arial"/>
                        </a:rPr>
                        <a:t>Find, Replace &amp; Update  ·  findOne · replaceOne · updateOne · updateMany</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r h="528320">
                <a:tc>
                  <a:txBody>
                    <a:bodyPr/>
                    <a:lstStyle/>
                    <a:p>
                      <a:r>
                        <a:rPr sz="1400">
                          <a:solidFill>
                            <a:srgbClr val="14202E"/>
                          </a:solidFill>
                          <a:latin typeface="Arial"/>
                        </a:rPr>
                        <a:t>3</a:t>
                      </a:r>
                    </a:p>
                  </a:txBody>
                  <a:tcPr>
                    <a:solidFill>
                      <a:srgbClr val="FFFFFF"/>
                    </a:solidFill>
                  </a:tcPr>
                </a:tc>
                <a:tc>
                  <a:txBody>
                    <a:bodyPr/>
                    <a:lstStyle/>
                    <a:p>
                      <a:r>
                        <a:rPr sz="1400">
                          <a:solidFill>
                            <a:srgbClr val="14202E"/>
                          </a:solidFill>
                          <a:latin typeface="Arial"/>
                        </a:rPr>
                        <a:t>Query Selectors: Comparison  ·  $lt · $lte · $gt · $gte</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4</a:t>
                      </a:r>
                    </a:p>
                  </a:txBody>
                  <a:tcPr>
                    <a:solidFill>
                      <a:srgbClr val="F6F8FA"/>
                    </a:solidFill>
                  </a:tcPr>
                </a:tc>
                <a:tc>
                  <a:txBody>
                    <a:bodyPr/>
                    <a:lstStyle/>
                    <a:p>
                      <a:r>
                        <a:rPr sz="1400">
                          <a:solidFill>
                            <a:srgbClr val="14202E"/>
                          </a:solidFill>
                          <a:latin typeface="Arial"/>
                        </a:rPr>
                        <a:t>Query Selectors: $in, $or, null  ·  $in · $or · null</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r h="528320">
                <a:tc>
                  <a:txBody>
                    <a:bodyPr/>
                    <a:lstStyle/>
                    <a:p>
                      <a:r>
                        <a:rPr sz="1400">
                          <a:solidFill>
                            <a:srgbClr val="14202E"/>
                          </a:solidFill>
                          <a:latin typeface="Arial"/>
                        </a:rPr>
                        <a:t>5</a:t>
                      </a:r>
                    </a:p>
                  </a:txBody>
                  <a:tcPr>
                    <a:solidFill>
                      <a:srgbClr val="FFFFFF"/>
                    </a:solidFill>
                  </a:tcPr>
                </a:tc>
                <a:tc>
                  <a:txBody>
                    <a:bodyPr/>
                    <a:lstStyle/>
                    <a:p>
                      <a:r>
                        <a:rPr sz="1400">
                          <a:solidFill>
                            <a:srgbClr val="14202E"/>
                          </a:solidFill>
                          <a:latin typeface="Arial"/>
                        </a:rPr>
                        <a:t>Querying Arrays  ·  array match · $push · $all · $size</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6</a:t>
                      </a:r>
                    </a:p>
                  </a:txBody>
                  <a:tcPr>
                    <a:solidFill>
                      <a:srgbClr val="F6F8FA"/>
                    </a:solidFill>
                  </a:tcPr>
                </a:tc>
                <a:tc>
                  <a:txBody>
                    <a:bodyPr/>
                    <a:lstStyle/>
                    <a:p>
                      <a:r>
                        <a:rPr sz="1400">
                          <a:solidFill>
                            <a:srgbClr val="14202E"/>
                          </a:solidFill>
                          <a:latin typeface="Arial"/>
                        </a:rPr>
                        <a:t>Arrays &amp; Embedded Documents  ·  $slice · dot notation · embedded documents</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r h="528320">
                <a:tc>
                  <a:txBody>
                    <a:bodyPr/>
                    <a:lstStyle/>
                    <a:p>
                      <a:r>
                        <a:rPr sz="1400">
                          <a:solidFill>
                            <a:srgbClr val="14202E"/>
                          </a:solidFill>
                          <a:latin typeface="Arial"/>
                        </a:rPr>
                        <a:t>7</a:t>
                      </a:r>
                    </a:p>
                  </a:txBody>
                  <a:tcPr>
                    <a:solidFill>
                      <a:srgbClr val="FFFFFF"/>
                    </a:solidFill>
                  </a:tcPr>
                </a:tc>
                <a:tc>
                  <a:txBody>
                    <a:bodyPr/>
                    <a:lstStyle/>
                    <a:p>
                      <a:r>
                        <a:rPr sz="1400">
                          <a:solidFill>
                            <a:srgbClr val="14202E"/>
                          </a:solidFill>
                          <a:latin typeface="Arial"/>
                        </a:rPr>
                        <a:t>Cloud Computing &amp; Implementation Types  ·  public · private · hybrid</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8</a:t>
                      </a:r>
                    </a:p>
                  </a:txBody>
                  <a:tcPr>
                    <a:solidFill>
                      <a:srgbClr val="F6F8FA"/>
                    </a:solidFill>
                  </a:tcPr>
                </a:tc>
                <a:tc>
                  <a:txBody>
                    <a:bodyPr/>
                    <a:lstStyle/>
                    <a:p>
                      <a:r>
                        <a:rPr sz="1400">
                          <a:solidFill>
                            <a:srgbClr val="14202E"/>
                          </a:solidFill>
                          <a:latin typeface="Arial"/>
                        </a:rPr>
                        <a:t>Cloud Service Types &amp; Benefits  ·  SaaS · PaaS · IaaS · 10 benefits</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bl>
          </a:graphicData>
        </a:graphic>
      </p:graphicFrame>
      <p:sp>
        <p:nvSpPr>
          <p:cNvPr id="5" name="TextBox 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How we checked every command</a:t>
            </a:r>
          </a:p>
        </p:txBody>
      </p:sp>
      <p:sp>
        <p:nvSpPr>
          <p:cNvPr id="4" name="TextBox 3"/>
          <p:cNvSpPr txBox="1"/>
          <p:nvPr/>
        </p:nvSpPr>
        <p:spPr>
          <a:xfrm>
            <a:off x="548640" y="1463040"/>
            <a:ext cx="5852160" cy="4572000"/>
          </a:xfrm>
          <a:prstGeom prst="rect">
            <a:avLst/>
          </a:prstGeom>
          <a:noFill/>
        </p:spPr>
        <p:txBody>
          <a:bodyPr wrap="square" anchor="t" lIns="73152" rIns="73152" tIns="73152" bIns="73152">
            <a:spAutoFit/>
          </a:bodyPr>
          <a:lstStyle/>
          <a:p>
            <a:pPr algn="l">
              <a:lnSpc>
                <a:spcPct val="115000"/>
              </a:lnSpc>
            </a:pPr>
            <a:r>
              <a:rPr sz="1900" b="1">
                <a:solidFill>
                  <a:srgbClr val="D9480F"/>
                </a:solidFill>
                <a:latin typeface="Arial"/>
              </a:rPr>
              <a:t>▸  </a:t>
            </a:r>
            <a:r>
              <a:rPr sz="1900" b="0">
                <a:solidFill>
                  <a:srgbClr val="14202E"/>
                </a:solidFill>
                <a:latin typeface="Arial"/>
              </a:rPr>
              <a:t>Installed a real MongoDB server and the mongosh shell.</a:t>
            </a:r>
          </a:p>
          <a:p>
            <a:pPr algn="l">
              <a:lnSpc>
                <a:spcPct val="115000"/>
              </a:lnSpc>
            </a:pPr>
            <a:r>
              <a:rPr sz="1900" b="1">
                <a:solidFill>
                  <a:srgbClr val="D9480F"/>
                </a:solidFill>
                <a:latin typeface="Arial"/>
              </a:rPr>
              <a:t>▸  </a:t>
            </a:r>
            <a:r>
              <a:rPr sz="1900" b="0">
                <a:solidFill>
                  <a:srgbClr val="14202E"/>
                </a:solidFill>
                <a:latin typeface="Arial"/>
              </a:rPr>
              <a:t>Ran each handout command, in slide order, on a fresh database.</a:t>
            </a:r>
          </a:p>
          <a:p>
            <a:pPr algn="l">
              <a:lnSpc>
                <a:spcPct val="115000"/>
              </a:lnSpc>
            </a:pPr>
            <a:r>
              <a:rPr sz="1900" b="1">
                <a:solidFill>
                  <a:srgbClr val="D9480F"/>
                </a:solidFill>
                <a:latin typeface="Arial"/>
              </a:rPr>
              <a:t>▸  </a:t>
            </a:r>
            <a:r>
              <a:rPr sz="1900" b="0">
                <a:solidFill>
                  <a:srgbClr val="14202E"/>
                </a:solidFill>
                <a:latin typeface="Arial"/>
              </a:rPr>
              <a:t>Pasted the shell's real output. No retyping.</a:t>
            </a:r>
          </a:p>
          <a:p>
            <a:pPr algn="l">
              <a:lnSpc>
                <a:spcPct val="115000"/>
              </a:lnSpc>
            </a:pPr>
            <a:r>
              <a:rPr sz="1900" b="1">
                <a:solidFill>
                  <a:srgbClr val="D9480F"/>
                </a:solidFill>
                <a:latin typeface="Arial"/>
              </a:rPr>
              <a:t>▸  </a:t>
            </a:r>
            <a:r>
              <a:rPr sz="1900" b="0">
                <a:solidFill>
                  <a:srgbClr val="14202E"/>
                </a:solidFill>
                <a:latin typeface="Arial"/>
              </a:rPr>
              <a:t>Script and raw results are in the repo: verification/.</a:t>
            </a:r>
          </a:p>
          <a:p>
            <a:pPr algn="l">
              <a:lnSpc>
                <a:spcPct val="115000"/>
              </a:lnSpc>
            </a:pPr>
            <a:r>
              <a:rPr sz="1900" b="1">
                <a:solidFill>
                  <a:srgbClr val="D9480F"/>
                </a:solidFill>
                <a:latin typeface="Arial"/>
              </a:rPr>
              <a:t>▸  </a:t>
            </a:r>
            <a:r>
              <a:rPr sz="1900" b="0">
                <a:solidFill>
                  <a:srgbClr val="14202E"/>
                </a:solidFill>
                <a:latin typeface="Arial"/>
              </a:rPr>
              <a:t>One outline item failed: "$null". Part 4 shows the error.</a:t>
            </a:r>
          </a:p>
        </p:txBody>
      </p:sp>
      <p:sp>
        <p:nvSpPr>
          <p:cNvPr id="5" name="Rectangle 4"/>
          <p:cNvSpPr/>
          <p:nvPr/>
        </p:nvSpPr>
        <p:spPr>
          <a:xfrm>
            <a:off x="6766560" y="1463040"/>
            <a:ext cx="4846320" cy="182880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463040"/>
            <a:ext cx="484632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THE COMMAND OUR OUTLINE ASKED FOR</a:t>
            </a:r>
          </a:p>
        </p:txBody>
      </p:sp>
      <p:sp>
        <p:nvSpPr>
          <p:cNvPr id="7" name="TextBox 6"/>
          <p:cNvSpPr txBox="1"/>
          <p:nvPr/>
        </p:nvSpPr>
        <p:spPr>
          <a:xfrm>
            <a:off x="6821424" y="1755648"/>
            <a:ext cx="4736592" cy="1499616"/>
          </a:xfrm>
          <a:prstGeom prst="rect">
            <a:avLst/>
          </a:prstGeom>
          <a:noFill/>
        </p:spPr>
        <p:txBody>
          <a:bodyPr wrap="square" anchor="t" lIns="73152" rIns="73152" tIns="73152" bIns="73152">
            <a:spAutoFit/>
          </a:bodyPr>
          <a:lstStyle/>
          <a:p>
            <a:pPr algn="l">
              <a:lnSpc>
                <a:spcPct val="100000"/>
              </a:lnSpc>
            </a:pPr>
            <a:r>
              <a:rPr sz="1150" b="0">
                <a:solidFill>
                  <a:srgbClr val="E6ECF2"/>
                </a:solidFill>
                <a:latin typeface="Consolas"/>
              </a:rPr>
              <a:t>&gt; db.raffle.find({"claimed_by" : {"$null" : true}})</a:t>
            </a:r>
          </a:p>
        </p:txBody>
      </p:sp>
      <p:sp>
        <p:nvSpPr>
          <p:cNvPr id="8" name="Rectangle 7"/>
          <p:cNvSpPr/>
          <p:nvPr/>
        </p:nvSpPr>
        <p:spPr>
          <a:xfrm>
            <a:off x="6766560" y="3383280"/>
            <a:ext cx="4846320" cy="12801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3383280"/>
            <a:ext cx="484632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WHAT THE SERVER SAID</a:t>
            </a:r>
          </a:p>
        </p:txBody>
      </p:sp>
      <p:sp>
        <p:nvSpPr>
          <p:cNvPr id="10" name="TextBox 9"/>
          <p:cNvSpPr txBox="1"/>
          <p:nvPr/>
        </p:nvSpPr>
        <p:spPr>
          <a:xfrm>
            <a:off x="6821424" y="3675888"/>
            <a:ext cx="4736592" cy="950976"/>
          </a:xfrm>
          <a:prstGeom prst="rect">
            <a:avLst/>
          </a:prstGeom>
          <a:noFill/>
        </p:spPr>
        <p:txBody>
          <a:bodyPr wrap="square" anchor="t" lIns="73152" rIns="73152" tIns="73152" bIns="73152">
            <a:spAutoFit/>
          </a:bodyPr>
          <a:lstStyle/>
          <a:p>
            <a:pPr algn="l">
              <a:lnSpc>
                <a:spcPct val="100000"/>
              </a:lnSpc>
            </a:pPr>
            <a:r>
              <a:rPr sz="1431" b="0">
                <a:solidFill>
                  <a:srgbClr val="FFA99E"/>
                </a:solidFill>
                <a:latin typeface="Consolas"/>
              </a:rPr>
              <a:t>MongoServerError: unknown operator: $null</a:t>
            </a:r>
          </a:p>
        </p:txBody>
      </p:sp>
      <p:sp>
        <p:nvSpPr>
          <p:cNvPr id="11" name="TextBox 10"/>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verification/run_commands.py, verification/results.json</a:t>
            </a:r>
          </a:p>
        </p:txBody>
      </p:sp>
      <p:sp>
        <p:nvSpPr>
          <p:cNvPr id="12" name="TextBox 11"/>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1</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Create &amp; Delete</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insertOne · insertMany · deleteOne · deleteMany</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“Documents in, documents 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Same idea, new names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Tables are collections. Rows are documents.</a:t>
            </a:r>
          </a:p>
        </p:txBody>
      </p:sp>
      <p:graphicFrame>
        <p:nvGraphicFramePr>
          <p:cNvPr id="6" name="Table 5"/>
          <p:cNvGraphicFramePr>
            <a:graphicFrameLocks noGrp="1"/>
          </p:cNvGraphicFramePr>
          <p:nvPr/>
        </p:nvGraphicFramePr>
        <p:xfrm>
          <a:off x="548640" y="1828800"/>
          <a:ext cx="11094415" cy="2834640"/>
        </p:xfrm>
        <a:graphic>
          <a:graphicData uri="http://schemas.openxmlformats.org/drawingml/2006/table">
            <a:tbl>
              <a:tblPr firstRow="1" bandRow="1">
                <a:tableStyleId>{5C22544A-7EE6-4342-B048-85BDC9FD1C3A}</a:tableStyleId>
              </a:tblPr>
              <a:tblGrid>
                <a:gridCol w="5547207"/>
                <a:gridCol w="5547208"/>
              </a:tblGrid>
              <a:tr h="566928">
                <a:tc>
                  <a:txBody>
                    <a:bodyPr/>
                    <a:lstStyle/>
                    <a:p>
                      <a:r>
                        <a:rPr sz="1800" b="1">
                          <a:solidFill>
                            <a:srgbClr val="FFFFFF"/>
                          </a:solidFill>
                          <a:latin typeface="Arial"/>
                        </a:rPr>
                        <a:t>SQL</a:t>
                      </a:r>
                    </a:p>
                  </a:txBody>
                  <a:tcPr>
                    <a:solidFill>
                      <a:srgbClr val="14202E"/>
                    </a:solidFill>
                  </a:tcPr>
                </a:tc>
                <a:tc>
                  <a:txBody>
                    <a:bodyPr/>
                    <a:lstStyle/>
                    <a:p>
                      <a:r>
                        <a:rPr sz="1800" b="1">
                          <a:solidFill>
                            <a:srgbClr val="FFFFFF"/>
                          </a:solidFill>
                          <a:latin typeface="Arial"/>
                        </a:rPr>
                        <a:t>MongoDB</a:t>
                      </a:r>
                    </a:p>
                  </a:txBody>
                  <a:tcPr>
                    <a:solidFill>
                      <a:srgbClr val="14202E"/>
                    </a:solidFill>
                  </a:tcPr>
                </a:tc>
              </a:tr>
              <a:tr h="566928">
                <a:tc>
                  <a:txBody>
                    <a:bodyPr/>
                    <a:lstStyle/>
                    <a:p>
                      <a:r>
                        <a:rPr sz="2200" b="1">
                          <a:solidFill>
                            <a:srgbClr val="14202E"/>
                          </a:solidFill>
                          <a:latin typeface="Arial"/>
                        </a:rPr>
                        <a:t>Database</a:t>
                      </a:r>
                    </a:p>
                  </a:txBody>
                  <a:tcPr anchor="ctr">
                    <a:solidFill>
                      <a:srgbClr val="FFFFFF"/>
                    </a:solidFill>
                  </a:tcPr>
                </a:tc>
                <a:tc>
                  <a:txBody>
                    <a:bodyPr/>
                    <a:lstStyle/>
                    <a:p>
                      <a:r>
                        <a:rPr sz="2200" b="0">
                          <a:solidFill>
                            <a:srgbClr val="14202E"/>
                          </a:solidFill>
                          <a:latin typeface="Arial"/>
                        </a:rPr>
                        <a:t>Database</a:t>
                      </a:r>
                    </a:p>
                  </a:txBody>
                  <a:tcPr anchor="ctr">
                    <a:solidFill>
                      <a:srgbClr val="FFFFFF"/>
                    </a:solidFill>
                  </a:tcPr>
                </a:tc>
              </a:tr>
              <a:tr h="566928">
                <a:tc>
                  <a:txBody>
                    <a:bodyPr/>
                    <a:lstStyle/>
                    <a:p>
                      <a:r>
                        <a:rPr sz="2200" b="1">
                          <a:solidFill>
                            <a:srgbClr val="14202E"/>
                          </a:solidFill>
                          <a:latin typeface="Arial"/>
                        </a:rPr>
                        <a:t>Table</a:t>
                      </a:r>
                    </a:p>
                  </a:txBody>
                  <a:tcPr anchor="ctr">
                    <a:solidFill>
                      <a:srgbClr val="F6F8FA"/>
                    </a:solidFill>
                  </a:tcPr>
                </a:tc>
                <a:tc>
                  <a:txBody>
                    <a:bodyPr/>
                    <a:lstStyle/>
                    <a:p>
                      <a:r>
                        <a:rPr sz="2200" b="0">
                          <a:solidFill>
                            <a:srgbClr val="14202E"/>
                          </a:solidFill>
                          <a:latin typeface="Arial"/>
                        </a:rPr>
                        <a:t>Collection</a:t>
                      </a:r>
                    </a:p>
                  </a:txBody>
                  <a:tcPr anchor="ctr">
                    <a:solidFill>
                      <a:srgbClr val="F6F8FA"/>
                    </a:solidFill>
                  </a:tcPr>
                </a:tc>
              </a:tr>
              <a:tr h="566928">
                <a:tc>
                  <a:txBody>
                    <a:bodyPr/>
                    <a:lstStyle/>
                    <a:p>
                      <a:r>
                        <a:rPr sz="2200" b="1">
                          <a:solidFill>
                            <a:srgbClr val="14202E"/>
                          </a:solidFill>
                          <a:latin typeface="Arial"/>
                        </a:rPr>
                        <a:t>Row</a:t>
                      </a:r>
                    </a:p>
                  </a:txBody>
                  <a:tcPr anchor="ctr">
                    <a:solidFill>
                      <a:srgbClr val="FFFFFF"/>
                    </a:solidFill>
                  </a:tcPr>
                </a:tc>
                <a:tc>
                  <a:txBody>
                    <a:bodyPr/>
                    <a:lstStyle/>
                    <a:p>
                      <a:r>
                        <a:rPr sz="2200" b="0">
                          <a:solidFill>
                            <a:srgbClr val="14202E"/>
                          </a:solidFill>
                          <a:latin typeface="Arial"/>
                        </a:rPr>
                        <a:t>Document</a:t>
                      </a:r>
                    </a:p>
                  </a:txBody>
                  <a:tcPr anchor="ctr">
                    <a:solidFill>
                      <a:srgbClr val="FFFFFF"/>
                    </a:solidFill>
                  </a:tcPr>
                </a:tc>
              </a:tr>
              <a:tr h="566928">
                <a:tc>
                  <a:txBody>
                    <a:bodyPr/>
                    <a:lstStyle/>
                    <a:p>
                      <a:r>
                        <a:rPr sz="2200" b="1">
                          <a:solidFill>
                            <a:srgbClr val="14202E"/>
                          </a:solidFill>
                          <a:latin typeface="Arial"/>
                        </a:rPr>
                        <a:t>Column</a:t>
                      </a:r>
                    </a:p>
                  </a:txBody>
                  <a:tcPr anchor="ctr">
                    <a:solidFill>
                      <a:srgbClr val="F6F8FA"/>
                    </a:solidFill>
                  </a:tcPr>
                </a:tc>
                <a:tc>
                  <a:txBody>
                    <a:bodyPr/>
                    <a:lstStyle/>
                    <a:p>
                      <a:r>
                        <a:rPr sz="2200" b="0">
                          <a:solidFill>
                            <a:srgbClr val="14202E"/>
                          </a:solidFill>
                          <a:latin typeface="Arial"/>
                        </a:rPr>
                        <a:t>Field</a:t>
                      </a:r>
                    </a:p>
                  </a:txBody>
                  <a:tcPr anchor="ctr">
                    <a:solidFill>
                      <a:srgbClr val="F6F8FA"/>
                    </a:solidFill>
                  </a:tcPr>
                </a:tc>
              </a:tr>
            </a:tbl>
          </a:graphicData>
        </a:graphic>
      </p:graphicFrame>
      <p:sp>
        <p:nvSpPr>
          <p:cNvPr id="7" name="TextBox 6"/>
          <p:cNvSpPr txBox="1"/>
          <p:nvPr/>
        </p:nvSpPr>
        <p:spPr>
          <a:xfrm>
            <a:off x="548640" y="489204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A collection is a table with a dynamic schema.</a:t>
            </a:r>
          </a:p>
          <a:p>
            <a:pPr algn="l">
              <a:lnSpc>
                <a:spcPct val="115000"/>
              </a:lnSpc>
            </a:pPr>
            <a:r>
              <a:rPr sz="1700" b="1">
                <a:solidFill>
                  <a:srgbClr val="D9480F"/>
                </a:solidFill>
                <a:latin typeface="Arial"/>
              </a:rPr>
              <a:t>▸  </a:t>
            </a:r>
            <a:r>
              <a:rPr sz="1700" b="0">
                <a:solidFill>
                  <a:srgbClr val="14202E"/>
                </a:solidFill>
                <a:latin typeface="Arial"/>
              </a:rPr>
              <a:t>Every document has a unique "_id" key in its collection.</a:t>
            </a:r>
          </a:p>
        </p:txBody>
      </p:sp>
      <p:sp>
        <p:nvSpPr>
          <p:cNvPr id="8" name="TextBox 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07 Handout p.2-3, Table 2</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insertOne: add one document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One document in. MongoDB hands it an _id.</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db.movies.insertOne({"title" : "Stand by Me"})</a:t>
            </a:r>
          </a:p>
        </p:txBody>
      </p:sp>
      <p:sp>
        <p:nvSpPr>
          <p:cNvPr id="9" name="Rectangle 8"/>
          <p:cNvSpPr/>
          <p:nvPr/>
        </p:nvSpPr>
        <p:spPr>
          <a:xfrm>
            <a:off x="548640" y="2578608"/>
            <a:ext cx="7040880" cy="373075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2871216"/>
            <a:ext cx="6931152" cy="3401568"/>
          </a:xfrm>
          <a:prstGeom prst="rect">
            <a:avLst/>
          </a:prstGeom>
          <a:noFill/>
        </p:spPr>
        <p:txBody>
          <a:bodyPr wrap="square" anchor="t" lIns="73152" rIns="73152" tIns="73152" bIns="73152">
            <a:spAutoFit/>
          </a:bodyPr>
          <a:lstStyle/>
          <a:p>
            <a:pPr algn="l">
              <a:lnSpc>
                <a:spcPct val="100000"/>
              </a:lnSpc>
            </a:pPr>
            <a:r>
              <a:rPr sz="1747" b="0">
                <a:solidFill>
                  <a:srgbClr val="9FE0C9"/>
                </a:solidFill>
                <a:latin typeface="Consolas"/>
              </a:rPr>
              <a:t>{</a:t>
            </a:r>
          </a:p>
          <a:p>
            <a:pPr algn="l">
              <a:lnSpc>
                <a:spcPct val="100000"/>
              </a:lnSpc>
            </a:pPr>
            <a:r>
              <a:rPr sz="1747" b="0">
                <a:solidFill>
                  <a:srgbClr val="9FE0C9"/>
                </a:solidFill>
                <a:latin typeface="Consolas"/>
              </a:rPr>
              <a:t>  acknowledged: true,</a:t>
            </a:r>
          </a:p>
          <a:p>
            <a:pPr algn="l">
              <a:lnSpc>
                <a:spcPct val="100000"/>
              </a:lnSpc>
            </a:pPr>
            <a:r>
              <a:rPr sz="1747" b="0">
                <a:solidFill>
                  <a:srgbClr val="9FE0C9"/>
                </a:solidFill>
                <a:latin typeface="Consolas"/>
              </a:rPr>
              <a:t>  insertedId: ObjectId('6ae45e30f1c27252bf544ca7')</a:t>
            </a:r>
          </a:p>
          <a:p>
            <a:pPr algn="l">
              <a:lnSpc>
                <a:spcPct val="100000"/>
              </a:lnSpc>
            </a:pPr>
            <a:r>
              <a:rPr sz="1747" b="0">
                <a:solidFill>
                  <a:srgbClr val="9FE0C9"/>
                </a:solidFill>
                <a:latin typeface="Consolas"/>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No _id given, so MongoDB generated an ObjectId.</a:t>
            </a:r>
          </a:p>
          <a:p>
            <a:pPr algn="l">
              <a:lnSpc>
                <a:spcPct val="115000"/>
              </a:lnSpc>
            </a:pPr>
            <a:r>
              <a:rPr sz="1800" b="1">
                <a:solidFill>
                  <a:srgbClr val="D9480F"/>
                </a:solidFill>
                <a:latin typeface="Arial"/>
              </a:rPr>
              <a:t>▸  </a:t>
            </a:r>
            <a:r>
              <a:rPr sz="1800" b="0">
                <a:solidFill>
                  <a:srgbClr val="14202E"/>
                </a:solidFill>
                <a:latin typeface="Arial"/>
              </a:rPr>
              <a:t>The movies collection did not exist; the first insert created it.</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 07 Handout p.3</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insertMany: add several at once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Many documents, one trip.</a:t>
            </a:r>
          </a:p>
        </p:txBody>
      </p:sp>
      <p:sp>
        <p:nvSpPr>
          <p:cNvPr id="6" name="Rectangle 5"/>
          <p:cNvSpPr/>
          <p:nvPr/>
        </p:nvSpPr>
        <p:spPr>
          <a:xfrm>
            <a:off x="548640" y="1737360"/>
            <a:ext cx="7040880" cy="17373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408176"/>
          </a:xfrm>
          <a:prstGeom prst="rect">
            <a:avLst/>
          </a:prstGeom>
          <a:noFill/>
        </p:spPr>
        <p:txBody>
          <a:bodyPr wrap="square" anchor="t" lIns="73152" rIns="73152" tIns="73152" bIns="73152">
            <a:spAutoFit/>
          </a:bodyPr>
          <a:lstStyle/>
          <a:p>
            <a:pPr algn="l">
              <a:lnSpc>
                <a:spcPct val="100000"/>
              </a:lnSpc>
            </a:pPr>
            <a:r>
              <a:rPr sz="1602" b="0">
                <a:solidFill>
                  <a:srgbClr val="E6ECF2"/>
                </a:solidFill>
                <a:latin typeface="Consolas"/>
              </a:rPr>
              <a:t>&gt; db.movies.insertMany([</a:t>
            </a:r>
          </a:p>
          <a:p>
            <a:pPr algn="l">
              <a:lnSpc>
                <a:spcPct val="100000"/>
              </a:lnSpc>
            </a:pPr>
            <a:r>
              <a:rPr sz="1602" b="0">
                <a:solidFill>
                  <a:srgbClr val="E6ECF2"/>
                </a:solidFill>
                <a:latin typeface="Consolas"/>
              </a:rPr>
              <a:t>    {"title" : "Ghostbusters"},</a:t>
            </a:r>
          </a:p>
          <a:p>
            <a:pPr algn="l">
              <a:lnSpc>
                <a:spcPct val="100000"/>
              </a:lnSpc>
            </a:pPr>
            <a:r>
              <a:rPr sz="1602" b="0">
                <a:solidFill>
                  <a:srgbClr val="E6ECF2"/>
                </a:solidFill>
                <a:latin typeface="Consolas"/>
              </a:rPr>
              <a:t>    {"title" : "E.T."},</a:t>
            </a:r>
          </a:p>
          <a:p>
            <a:pPr algn="l">
              <a:lnSpc>
                <a:spcPct val="100000"/>
              </a:lnSpc>
            </a:pPr>
            <a:r>
              <a:rPr sz="1602" b="0">
                <a:solidFill>
                  <a:srgbClr val="E6ECF2"/>
                </a:solidFill>
                <a:latin typeface="Consolas"/>
              </a:rPr>
              <a:t>    {"title" : "Blade Runner"}</a:t>
            </a:r>
          </a:p>
          <a:p>
            <a:pPr algn="l">
              <a:lnSpc>
                <a:spcPct val="100000"/>
              </a:lnSpc>
            </a:pPr>
            <a:r>
              <a:rPr sz="1602" b="0">
                <a:solidFill>
                  <a:srgbClr val="E6ECF2"/>
                </a:solidFill>
                <a:latin typeface="Consolas"/>
              </a:rPr>
              <a:t>  ])</a:t>
            </a:r>
          </a:p>
        </p:txBody>
      </p:sp>
      <p:sp>
        <p:nvSpPr>
          <p:cNvPr id="9" name="Rectangle 8"/>
          <p:cNvSpPr/>
          <p:nvPr/>
        </p:nvSpPr>
        <p:spPr>
          <a:xfrm>
            <a:off x="548640" y="3566160"/>
            <a:ext cx="7040880" cy="274320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5661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858768"/>
            <a:ext cx="6931152" cy="2414016"/>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a:t>
            </a:r>
          </a:p>
          <a:p>
            <a:pPr algn="l">
              <a:lnSpc>
                <a:spcPct val="100000"/>
              </a:lnSpc>
            </a:pPr>
            <a:r>
              <a:rPr sz="1800" b="0">
                <a:solidFill>
                  <a:srgbClr val="9FE0C9"/>
                </a:solidFill>
                <a:latin typeface="Consolas"/>
              </a:rPr>
              <a:t>  acknowledged: true,</a:t>
            </a:r>
          </a:p>
          <a:p>
            <a:pPr algn="l">
              <a:lnSpc>
                <a:spcPct val="100000"/>
              </a:lnSpc>
            </a:pPr>
            <a:r>
              <a:rPr sz="1800" b="0">
                <a:solidFill>
                  <a:srgbClr val="9FE0C9"/>
                </a:solidFill>
                <a:latin typeface="Consolas"/>
              </a:rPr>
              <a:t>  insertedIds: {</a:t>
            </a:r>
          </a:p>
          <a:p>
            <a:pPr algn="l">
              <a:lnSpc>
                <a:spcPct val="100000"/>
              </a:lnSpc>
            </a:pPr>
            <a:r>
              <a:rPr sz="1800" b="0">
                <a:solidFill>
                  <a:srgbClr val="9FE0C9"/>
                </a:solidFill>
                <a:latin typeface="Consolas"/>
              </a:rPr>
              <a:t>    '0': ObjectId('6ae45e300fd0e3adfc544ca7'),</a:t>
            </a:r>
          </a:p>
          <a:p>
            <a:pPr algn="l">
              <a:lnSpc>
                <a:spcPct val="100000"/>
              </a:lnSpc>
            </a:pPr>
            <a:r>
              <a:rPr sz="1800" b="0">
                <a:solidFill>
                  <a:srgbClr val="9FE0C9"/>
                </a:solidFill>
                <a:latin typeface="Consolas"/>
              </a:rPr>
              <a:t>    '1': ObjectId('6ae45e300fd0e3adfc544ca8'),</a:t>
            </a:r>
          </a:p>
          <a:p>
            <a:pPr algn="l">
              <a:lnSpc>
                <a:spcPct val="100000"/>
              </a:lnSpc>
            </a:pPr>
            <a:r>
              <a:rPr sz="1800" b="0">
                <a:solidFill>
                  <a:srgbClr val="9FE0C9"/>
                </a:solidFill>
                <a:latin typeface="Consolas"/>
              </a:rPr>
              <a:t>    '2': ObjectId('6ae45e300fd0e3adfc544ca9')</a:t>
            </a:r>
          </a:p>
          <a:p>
            <a:pPr algn="l">
              <a:lnSpc>
                <a:spcPct val="100000"/>
              </a:lnSpc>
            </a:pPr>
            <a:r>
              <a:rPr sz="1800" b="0">
                <a:solidFill>
                  <a:srgbClr val="9FE0C9"/>
                </a:solidFill>
                <a:latin typeface="Consolas"/>
              </a:rPr>
              <a:t>  }</a:t>
            </a:r>
          </a:p>
          <a:p>
            <a:pPr algn="l">
              <a:lnSpc>
                <a:spcPct val="100000"/>
              </a:lnSpc>
            </a:pPr>
            <a:r>
              <a:rPr sz="1800" b="0">
                <a:solidFill>
                  <a:srgbClr val="9FE0C9"/>
                </a:solidFill>
                <a:latin typeface="Consolas"/>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Pass an array of documents.</a:t>
            </a:r>
          </a:p>
          <a:p>
            <a:pPr algn="l">
              <a:lnSpc>
                <a:spcPct val="115000"/>
              </a:lnSpc>
            </a:pPr>
            <a:r>
              <a:rPr sz="1800" b="1">
                <a:solidFill>
                  <a:srgbClr val="D9480F"/>
                </a:solidFill>
                <a:latin typeface="Arial"/>
              </a:rPr>
              <a:t>▸  </a:t>
            </a:r>
            <a:r>
              <a:rPr sz="1800" b="0">
                <a:solidFill>
                  <a:srgbClr val="14202E"/>
                </a:solidFill>
                <a:latin typeface="Arial"/>
              </a:rPr>
              <a:t>The result lists one insertedId per document, in array order.</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Ordered vs unordered: what happens on an error</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Ordered stops at the error. Unordered keeps going.</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000" b="0">
                <a:solidFill>
                  <a:srgbClr val="7F91A4"/>
                </a:solidFill>
                <a:latin typeface="Consolas"/>
              </a:rPr>
              <a:t>  // unordered: duplicate _id 4 in the middle</a:t>
            </a:r>
          </a:p>
          <a:p>
            <a:pPr algn="l">
              <a:lnSpc>
                <a:spcPct val="100000"/>
              </a:lnSpc>
            </a:pPr>
            <a:r>
              <a:rPr sz="1000" b="0">
                <a:solidFill>
                  <a:srgbClr val="E6ECF2"/>
                </a:solidFill>
                <a:latin typeface="Consolas"/>
              </a:rPr>
              <a:t>&gt; db.movies.insertMany([</a:t>
            </a:r>
          </a:p>
          <a:p>
            <a:pPr algn="l">
              <a:lnSpc>
                <a:spcPct val="100000"/>
              </a:lnSpc>
            </a:pPr>
            <a:r>
              <a:rPr sz="1000" b="0">
                <a:solidFill>
                  <a:srgbClr val="E6ECF2"/>
                </a:solidFill>
                <a:latin typeface="Consolas"/>
              </a:rPr>
              <a:t>    {"_id" : 3, "title" : "Sixteen Candles"},</a:t>
            </a:r>
          </a:p>
          <a:p>
            <a:pPr algn="l">
              <a:lnSpc>
                <a:spcPct val="100000"/>
              </a:lnSpc>
            </a:pPr>
            <a:r>
              <a:rPr sz="1000" b="0">
                <a:solidFill>
                  <a:srgbClr val="E6ECF2"/>
                </a:solidFill>
                <a:latin typeface="Consolas"/>
              </a:rPr>
              <a:t>    {"_id" : 4, "title" : "The Terminator"},</a:t>
            </a:r>
          </a:p>
          <a:p>
            <a:pPr algn="l">
              <a:lnSpc>
                <a:spcPct val="100000"/>
              </a:lnSpc>
            </a:pPr>
            <a:r>
              <a:rPr sz="1000" b="0">
                <a:solidFill>
                  <a:srgbClr val="E6ECF2"/>
                </a:solidFill>
                <a:latin typeface="Consolas"/>
              </a:rPr>
              <a:t>    {"_id" : 4, "title" : "The Princess Bride"},</a:t>
            </a:r>
          </a:p>
          <a:p>
            <a:pPr algn="l">
              <a:lnSpc>
                <a:spcPct val="100000"/>
              </a:lnSpc>
            </a:pPr>
            <a:r>
              <a:rPr sz="1000" b="0">
                <a:solidFill>
                  <a:srgbClr val="E6ECF2"/>
                </a:solidFill>
                <a:latin typeface="Consolas"/>
              </a:rPr>
              <a:t>    {"_id" : 5, "title" : "Scarface"}</a:t>
            </a:r>
          </a:p>
          <a:p>
            <a:pPr algn="l">
              <a:lnSpc>
                <a:spcPct val="100000"/>
              </a:lnSpc>
            </a:pPr>
            <a:r>
              <a:rPr sz="1000" b="0">
                <a:solidFill>
                  <a:srgbClr val="E6ECF2"/>
                </a:solidFill>
                <a:latin typeface="Consolas"/>
              </a:rPr>
              <a:t>  ], {"ordered" : false})</a:t>
            </a:r>
          </a:p>
        </p:txBody>
      </p:sp>
      <p:sp>
        <p:nvSpPr>
          <p:cNvPr id="9" name="Rectangle 8"/>
          <p:cNvSpPr/>
          <p:nvPr/>
        </p:nvSpPr>
        <p:spPr>
          <a:xfrm>
            <a:off x="548640"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538728"/>
            <a:ext cx="5376672" cy="2688336"/>
          </a:xfrm>
          <a:prstGeom prst="rect">
            <a:avLst/>
          </a:prstGeom>
          <a:noFill/>
        </p:spPr>
        <p:txBody>
          <a:bodyPr wrap="square" anchor="t" lIns="73152" rIns="73152" tIns="73152" bIns="73152">
            <a:spAutoFit/>
          </a:bodyPr>
          <a:lstStyle/>
          <a:p>
            <a:pPr algn="l">
              <a:lnSpc>
                <a:spcPct val="100000"/>
              </a:lnSpc>
            </a:pPr>
            <a:r>
              <a:rPr sz="1000" b="0">
                <a:solidFill>
                  <a:srgbClr val="FFA99E"/>
                </a:solidFill>
                <a:latin typeface="Consolas"/>
              </a:rPr>
              <a:t>MongoBulkWriteError:</a:t>
            </a:r>
          </a:p>
          <a:p>
            <a:pPr algn="l">
              <a:lnSpc>
                <a:spcPct val="100000"/>
              </a:lnSpc>
            </a:pPr>
            <a:r>
              <a:rPr sz="1000" b="0">
                <a:solidFill>
                  <a:srgbClr val="9FE0C9"/>
                </a:solidFill>
                <a:latin typeface="Consolas"/>
              </a:rPr>
              <a:t>E11000 duplicate key error collection: adbs.movies index: _id_ dup key: { _id: 4 }</a:t>
            </a:r>
          </a:p>
          <a:p>
            <a:pPr algn="l">
              <a:lnSpc>
                <a:spcPct val="100000"/>
              </a:lnSpc>
            </a:pPr>
            <a:r>
              <a:rPr sz="1000" b="0">
                <a:solidFill>
                  <a:srgbClr val="9FE0C9"/>
                </a:solidFill>
                <a:latin typeface="Consolas"/>
              </a:rPr>
              <a:t> </a:t>
            </a:r>
          </a:p>
          <a:p>
            <a:pPr algn="l">
              <a:lnSpc>
                <a:spcPct val="100000"/>
              </a:lnSpc>
            </a:pPr>
            <a:r>
              <a:rPr sz="1000" b="0">
                <a:solidFill>
                  <a:srgbClr val="7F91A4"/>
                </a:solidFill>
                <a:latin typeface="Consolas"/>
              </a:rPr>
              <a:t>// countDocuments({_id: {$in: [3,4,5]}})</a:t>
            </a:r>
          </a:p>
          <a:p>
            <a:pPr algn="l">
              <a:lnSpc>
                <a:spcPct val="100000"/>
              </a:lnSpc>
            </a:pPr>
            <a:r>
              <a:rPr sz="1000" b="0">
                <a:solidFill>
                  <a:srgbClr val="9FE0C9"/>
                </a:solidFill>
                <a:latin typeface="Consolas"/>
              </a:rPr>
              <a:t>3   </a:t>
            </a:r>
            <a:r>
              <a:rPr sz="1000" b="0">
                <a:solidFill>
                  <a:srgbClr val="F2B27A"/>
                </a:solidFill>
                <a:latin typeface="Consolas"/>
              </a:rPr>
              <a:t>&lt;- 3, 4, 5 saved; only the duplicate failed</a:t>
            </a:r>
          </a:p>
        </p:txBody>
      </p:sp>
      <p:sp>
        <p:nvSpPr>
          <p:cNvPr id="12" name="Rectangle 11"/>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155" b="0">
                <a:solidFill>
                  <a:srgbClr val="7F91A4"/>
                </a:solidFill>
                <a:latin typeface="Consolas"/>
              </a:rPr>
              <a:t>  // ordered (the default)</a:t>
            </a:r>
          </a:p>
          <a:p>
            <a:pPr algn="l">
              <a:lnSpc>
                <a:spcPct val="100000"/>
              </a:lnSpc>
            </a:pPr>
            <a:r>
              <a:rPr sz="1155" b="0">
                <a:solidFill>
                  <a:srgbClr val="E6ECF2"/>
                </a:solidFill>
                <a:latin typeface="Consolas"/>
              </a:rPr>
              <a:t>&gt; db.ordered.insertMany([{"_id":1}, {"_id":1}, {"_id":2}])</a:t>
            </a:r>
          </a:p>
          <a:p>
            <a:pPr algn="l">
              <a:lnSpc>
                <a:spcPct val="100000"/>
              </a:lnSpc>
            </a:pPr>
            <a:r>
              <a:rPr sz="1155" b="0">
                <a:solidFill>
                  <a:srgbClr val="E6ECF2"/>
                </a:solidFill>
                <a:latin typeface="Consolas"/>
              </a:rPr>
              <a:t>&gt; db.ordered.countDocuments()</a:t>
            </a:r>
          </a:p>
        </p:txBody>
      </p:sp>
      <p:sp>
        <p:nvSpPr>
          <p:cNvPr id="15" name="Rectangle 14"/>
          <p:cNvSpPr/>
          <p:nvPr/>
        </p:nvSpPr>
        <p:spPr>
          <a:xfrm>
            <a:off x="6153912"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7" name="TextBox 16"/>
          <p:cNvSpPr txBox="1"/>
          <p:nvPr/>
        </p:nvSpPr>
        <p:spPr>
          <a:xfrm>
            <a:off x="6208776" y="3538728"/>
            <a:ext cx="5376672" cy="2688336"/>
          </a:xfrm>
          <a:prstGeom prst="rect">
            <a:avLst/>
          </a:prstGeom>
          <a:noFill/>
        </p:spPr>
        <p:txBody>
          <a:bodyPr wrap="square" anchor="t" lIns="73152" rIns="73152" tIns="73152" bIns="73152">
            <a:spAutoFit/>
          </a:bodyPr>
          <a:lstStyle/>
          <a:p>
            <a:pPr algn="l">
              <a:lnSpc>
                <a:spcPct val="100000"/>
              </a:lnSpc>
            </a:pPr>
            <a:r>
              <a:rPr sz="1264" b="0">
                <a:solidFill>
                  <a:srgbClr val="9FE0C9"/>
                </a:solidFill>
                <a:latin typeface="Consolas"/>
              </a:rPr>
              <a:t>1   </a:t>
            </a:r>
            <a:r>
              <a:rPr sz="1264" b="0">
                <a:solidFill>
                  <a:srgbClr val="F2B27A"/>
                </a:solidFill>
                <a:latin typeface="Consolas"/>
              </a:rPr>
              <a:t>&lt;- stopped at the duplicate; _id 2 never inserted</a:t>
            </a:r>
          </a:p>
        </p:txBody>
      </p:sp>
      <p:sp>
        <p:nvSpPr>
          <p:cNvPr id="18" name="TextBox 1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9" name="TextBox 18"/>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deleteOne: remove the first match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deleteOne removes one. Even if many match.</a:t>
            </a:r>
          </a:p>
        </p:txBody>
      </p:sp>
      <p:sp>
        <p:nvSpPr>
          <p:cNvPr id="6" name="Rectangle 5"/>
          <p:cNvSpPr/>
          <p:nvPr/>
        </p:nvSpPr>
        <p:spPr>
          <a:xfrm>
            <a:off x="548640" y="1737360"/>
            <a:ext cx="7040880" cy="149047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161288"/>
          </a:xfrm>
          <a:prstGeom prst="rect">
            <a:avLst/>
          </a:prstGeom>
          <a:noFill/>
        </p:spPr>
        <p:txBody>
          <a:bodyPr wrap="square" anchor="t" lIns="73152" rIns="73152" tIns="73152" bIns="73152">
            <a:spAutoFit/>
          </a:bodyPr>
          <a:lstStyle/>
          <a:p>
            <a:pPr algn="l">
              <a:lnSpc>
                <a:spcPct val="100000"/>
              </a:lnSpc>
            </a:pPr>
            <a:r>
              <a:rPr sz="1456" b="0">
                <a:solidFill>
                  <a:srgbClr val="7F91A4"/>
                </a:solidFill>
                <a:latin typeface="Consolas"/>
              </a:rPr>
              <a:t>  // two documents match y: 1985</a:t>
            </a:r>
          </a:p>
          <a:p>
            <a:pPr algn="l">
              <a:lnSpc>
                <a:spcPct val="100000"/>
              </a:lnSpc>
            </a:pPr>
            <a:r>
              <a:rPr sz="1456" b="0">
                <a:solidFill>
                  <a:srgbClr val="E6ECF2"/>
                </a:solidFill>
                <a:latin typeface="Consolas"/>
              </a:rPr>
              <a:t>&gt; db.scratch2.insertMany([{_id:1, y:1985}, {_id:2, y:1985}])</a:t>
            </a:r>
          </a:p>
          <a:p>
            <a:pPr algn="l">
              <a:lnSpc>
                <a:spcPct val="100000"/>
              </a:lnSpc>
            </a:pPr>
            <a:r>
              <a:rPr sz="1456" b="0">
                <a:solidFill>
                  <a:srgbClr val="E6ECF2"/>
                </a:solidFill>
                <a:latin typeface="Consolas"/>
              </a:rPr>
              <a:t>&gt; db.scratch2.deleteOne({y : 1985})</a:t>
            </a:r>
          </a:p>
          <a:p>
            <a:pPr algn="l">
              <a:lnSpc>
                <a:spcPct val="100000"/>
              </a:lnSpc>
            </a:pPr>
            <a:r>
              <a:rPr sz="1456" b="0">
                <a:solidFill>
                  <a:srgbClr val="E6ECF2"/>
                </a:solidFill>
                <a:latin typeface="Consolas"/>
              </a:rPr>
              <a:t>&gt; db.scratch2.find()</a:t>
            </a:r>
          </a:p>
        </p:txBody>
      </p:sp>
      <p:sp>
        <p:nvSpPr>
          <p:cNvPr id="9" name="Rectangle 8"/>
          <p:cNvSpPr/>
          <p:nvPr/>
        </p:nvSpPr>
        <p:spPr>
          <a:xfrm>
            <a:off x="548640" y="3319272"/>
            <a:ext cx="7040880" cy="299008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319272"/>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611880"/>
            <a:ext cx="6931152" cy="2660904"/>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 { _id: 2, y: 1985 } ]</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Two documents matched; only one was deleted.</a:t>
            </a:r>
          </a:p>
          <a:p>
            <a:pPr algn="l">
              <a:lnSpc>
                <a:spcPct val="115000"/>
              </a:lnSpc>
            </a:pPr>
            <a:r>
              <a:rPr sz="1800" b="1">
                <a:solidFill>
                  <a:srgbClr val="D9480F"/>
                </a:solidFill>
                <a:latin typeface="Arial"/>
              </a:rPr>
              <a:t>▸  </a:t>
            </a:r>
            <a:r>
              <a:rPr sz="1800" b="0">
                <a:solidFill>
                  <a:srgbClr val="14202E"/>
                </a:solidFill>
                <a:latin typeface="Arial"/>
              </a:rPr>
              <a:t>Handout example: db.movies.deleteOne({"_id" : 4}).</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deleteMany: remove every match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deleteMany clears every match.</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db.movies.deleteMany({"year" : 1985})</a:t>
            </a:r>
          </a:p>
        </p:txBody>
      </p:sp>
      <p:sp>
        <p:nvSpPr>
          <p:cNvPr id="9" name="Rectangle 8"/>
          <p:cNvSpPr/>
          <p:nvPr/>
        </p:nvSpPr>
        <p:spPr>
          <a:xfrm>
            <a:off x="548640" y="2578608"/>
            <a:ext cx="7040880" cy="373075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2871216"/>
            <a:ext cx="6931152" cy="3401568"/>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 acknowledged: true, deletedCount: 2 }</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Two movies had year 1985; both are gone.</a:t>
            </a:r>
          </a:p>
          <a:p>
            <a:pPr algn="l">
              <a:lnSpc>
                <a:spcPct val="115000"/>
              </a:lnSpc>
            </a:pPr>
            <a:r>
              <a:rPr sz="1800" b="1">
                <a:solidFill>
                  <a:srgbClr val="D9480F"/>
                </a:solidFill>
                <a:latin typeface="Arial"/>
              </a:rPr>
              <a:t>▸  </a:t>
            </a:r>
            <a:r>
              <a:rPr sz="1800" b="0">
                <a:solidFill>
                  <a:srgbClr val="14202E"/>
                </a:solidFill>
                <a:latin typeface="Arial"/>
              </a:rPr>
              <a:t>deletedCount is your receipt.</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B42318"/>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Trap: an empty filter deletes everything</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Empty filter, empty collection.</a:t>
            </a:r>
          </a:p>
        </p:txBody>
      </p:sp>
      <p:sp>
        <p:nvSpPr>
          <p:cNvPr id="6" name="Rectangle 5"/>
          <p:cNvSpPr/>
          <p:nvPr/>
        </p:nvSpPr>
        <p:spPr>
          <a:xfrm>
            <a:off x="548640" y="1737360"/>
            <a:ext cx="7040880" cy="17373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408176"/>
          </a:xfrm>
          <a:prstGeom prst="rect">
            <a:avLst/>
          </a:prstGeom>
          <a:noFill/>
        </p:spPr>
        <p:txBody>
          <a:bodyPr wrap="square" anchor="t" lIns="73152" rIns="73152" tIns="73152" bIns="73152">
            <a:spAutoFit/>
          </a:bodyPr>
          <a:lstStyle/>
          <a:p>
            <a:pPr algn="l">
              <a:lnSpc>
                <a:spcPct val="100000"/>
              </a:lnSpc>
            </a:pPr>
            <a:r>
              <a:rPr sz="1602" b="0">
                <a:solidFill>
                  <a:srgbClr val="E6ECF2"/>
                </a:solidFill>
                <a:latin typeface="Consolas"/>
              </a:rPr>
              <a:t>&gt; db.scratch.insertMany([{a:1}, {a:2}, {a:3}])</a:t>
            </a:r>
          </a:p>
          <a:p>
            <a:pPr algn="l">
              <a:lnSpc>
                <a:spcPct val="100000"/>
              </a:lnSpc>
            </a:pPr>
            <a:r>
              <a:rPr sz="1602" b="0">
                <a:solidFill>
                  <a:srgbClr val="E6ECF2"/>
                </a:solidFill>
                <a:latin typeface="Consolas"/>
              </a:rPr>
              <a:t>&gt; db.scratch.deleteMany({})</a:t>
            </a:r>
          </a:p>
          <a:p>
            <a:pPr algn="l">
              <a:lnSpc>
                <a:spcPct val="100000"/>
              </a:lnSpc>
            </a:pPr>
            <a:r>
              <a:rPr sz="1602" b="0">
                <a:solidFill>
                  <a:srgbClr val="E6ECF2"/>
                </a:solidFill>
                <a:latin typeface="Consolas"/>
              </a:rPr>
              <a:t>  </a:t>
            </a:r>
          </a:p>
          <a:p>
            <a:pPr algn="l">
              <a:lnSpc>
                <a:spcPct val="100000"/>
              </a:lnSpc>
            </a:pPr>
            <a:r>
              <a:rPr sz="1602" b="0">
                <a:solidFill>
                  <a:srgbClr val="7F91A4"/>
                </a:solidFill>
                <a:latin typeface="Consolas"/>
              </a:rPr>
              <a:t>  // 07 Handout uses the old method:</a:t>
            </a:r>
          </a:p>
          <a:p>
            <a:pPr algn="l">
              <a:lnSpc>
                <a:spcPct val="100000"/>
              </a:lnSpc>
            </a:pPr>
            <a:r>
              <a:rPr sz="1602" b="0">
                <a:solidFill>
                  <a:srgbClr val="E6ECF2"/>
                </a:solidFill>
                <a:latin typeface="Consolas"/>
              </a:rPr>
              <a:t>&gt; db.movies.remove({"_id" : 5})</a:t>
            </a:r>
          </a:p>
        </p:txBody>
      </p:sp>
      <p:sp>
        <p:nvSpPr>
          <p:cNvPr id="9" name="Rectangle 8"/>
          <p:cNvSpPr/>
          <p:nvPr/>
        </p:nvSpPr>
        <p:spPr>
          <a:xfrm>
            <a:off x="548640" y="3566160"/>
            <a:ext cx="7040880" cy="274320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5661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858768"/>
            <a:ext cx="6931152" cy="2414016"/>
          </a:xfrm>
          <a:prstGeom prst="rect">
            <a:avLst/>
          </a:prstGeom>
          <a:noFill/>
        </p:spPr>
        <p:txBody>
          <a:bodyPr wrap="square" anchor="t" lIns="73152" rIns="73152" tIns="73152" bIns="73152">
            <a:spAutoFit/>
          </a:bodyPr>
          <a:lstStyle/>
          <a:p>
            <a:pPr algn="l">
              <a:lnSpc>
                <a:spcPct val="100000"/>
              </a:lnSpc>
            </a:pPr>
            <a:r>
              <a:rPr sz="1506" b="0">
                <a:solidFill>
                  <a:srgbClr val="9FE0C9"/>
                </a:solidFill>
                <a:latin typeface="Consolas"/>
              </a:rPr>
              <a:t>{ acknowledged: true, deletedCount: 3 }   </a:t>
            </a:r>
            <a:r>
              <a:rPr sz="1506" b="0">
                <a:solidFill>
                  <a:srgbClr val="F2B27A"/>
                </a:solidFill>
                <a:latin typeface="Consolas"/>
              </a:rPr>
              <a:t>&lt;- all 3 gone</a:t>
            </a:r>
          </a:p>
          <a:p>
            <a:pPr algn="l">
              <a:lnSpc>
                <a:spcPct val="100000"/>
              </a:lnSpc>
            </a:pPr>
            <a:r>
              <a:rPr sz="1506" b="0">
                <a:solidFill>
                  <a:srgbClr val="9FE0C9"/>
                </a:solidFill>
                <a:latin typeface="Consolas"/>
              </a:rPr>
              <a:t> </a:t>
            </a:r>
          </a:p>
          <a:p>
            <a:pPr algn="l">
              <a:lnSpc>
                <a:spcPct val="100000"/>
              </a:lnSpc>
            </a:pPr>
            <a:r>
              <a:rPr sz="1506" b="0">
                <a:solidFill>
                  <a:srgbClr val="9FE0C9"/>
                </a:solidFill>
                <a:latin typeface="Consolas"/>
              </a:rPr>
              <a:t>DeprecationWarning: Collection.remove() is deprecated.</a:t>
            </a:r>
          </a:p>
          <a:p>
            <a:pPr algn="l">
              <a:lnSpc>
                <a:spcPct val="100000"/>
              </a:lnSpc>
            </a:pPr>
            <a:r>
              <a:rPr sz="1506" b="0">
                <a:solidFill>
                  <a:srgbClr val="9FE0C9"/>
                </a:solidFill>
                <a:latin typeface="Consolas"/>
              </a:rPr>
              <a:t>Use deleteOne, deleteMany, findOneAndDelete, or bulkWrite.</a:t>
            </a:r>
          </a:p>
          <a:p>
            <a:pPr algn="l">
              <a:lnSpc>
                <a:spcPct val="100000"/>
              </a:lnSpc>
            </a:pPr>
            <a:r>
              <a:rPr sz="1506" b="0">
                <a:solidFill>
                  <a:srgbClr val="9FE0C9"/>
                </a:solidFill>
                <a:latin typeface="Consolas"/>
              </a:rPr>
              <a:t>{ acknowledged: true, deletedCount: 1 }</a:t>
            </a:r>
          </a:p>
        </p:txBody>
      </p:sp>
      <p:sp>
        <p:nvSpPr>
          <p:cNvPr id="12" name="Rectangle 11"/>
          <p:cNvSpPr/>
          <p:nvPr/>
        </p:nvSpPr>
        <p:spPr>
          <a:xfrm>
            <a:off x="7863840" y="1737360"/>
            <a:ext cx="3916375" cy="3840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737360"/>
            <a:ext cx="3916375" cy="384048"/>
          </a:xfrm>
          <a:prstGeom prst="rect">
            <a:avLst/>
          </a:prstGeom>
          <a:noFill/>
        </p:spPr>
        <p:txBody>
          <a:bodyPr wrap="square" anchor="ctr" lIns="109728" rIns="109728" tIns="109728" bIns="109728">
            <a:spAutoFit/>
          </a:bodyPr>
          <a:lstStyle/>
          <a:p>
            <a:pPr algn="l">
              <a:lnSpc>
                <a:spcPct val="110000"/>
              </a:lnSpc>
            </a:pPr>
            <a:r>
              <a:rPr sz="1300" b="1">
                <a:solidFill>
                  <a:srgbClr val="FFFFFF"/>
                </a:solidFill>
                <a:latin typeface="Arial"/>
              </a:rPr>
              <a:t>WHAT GOES WRONG</a:t>
            </a:r>
          </a:p>
        </p:txBody>
      </p:sp>
      <p:sp>
        <p:nvSpPr>
          <p:cNvPr id="14" name="TextBox 13"/>
          <p:cNvSpPr txBox="1"/>
          <p:nvPr/>
        </p:nvSpPr>
        <p:spPr>
          <a:xfrm>
            <a:off x="7863840" y="2240280"/>
            <a:ext cx="3916375" cy="40233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 matches every document. Check the filter before Enter.</a:t>
            </a:r>
          </a:p>
          <a:p>
            <a:pPr algn="l">
              <a:lnSpc>
                <a:spcPct val="115000"/>
              </a:lnSpc>
            </a:pPr>
            <a:r>
              <a:rPr sz="1800" b="1">
                <a:solidFill>
                  <a:srgbClr val="D9480F"/>
                </a:solidFill>
                <a:latin typeface="Arial"/>
              </a:rPr>
              <a:t>▸  </a:t>
            </a:r>
            <a:r>
              <a:rPr sz="1800" b="0">
                <a:solidFill>
                  <a:srgbClr val="14202E"/>
                </a:solidFill>
                <a:latin typeface="Arial"/>
              </a:rPr>
              <a:t>remove() still runs but mongosh flags it deprecated. Use deleteOne / deleteMany.</a:t>
            </a:r>
          </a:p>
        </p:txBody>
      </p:sp>
      <p:sp>
        <p:nvSpPr>
          <p:cNvPr id="15" name="TextBox 14"/>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07 Handout p.4; mongosh 2.3.8 output</a:t>
            </a:r>
          </a:p>
        </p:txBody>
      </p:sp>
      <p:sp>
        <p:nvSpPr>
          <p:cNvPr id="16" name="TextBox 15"/>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2</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Find, Replace &amp; Update</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findOne · replaceOne · updateOne · updateMany</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“Find it first. Then change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findOne: one document, or null</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findOne gives one document. No match gives null.</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368" b="0">
                <a:solidFill>
                  <a:srgbClr val="E6ECF2"/>
                </a:solidFill>
                <a:latin typeface="Consolas"/>
              </a:rPr>
              <a:t>&gt; db.users.findOne({"name" : "Joe"}, {"_id" : 0})</a:t>
            </a:r>
          </a:p>
        </p:txBody>
      </p:sp>
      <p:sp>
        <p:nvSpPr>
          <p:cNvPr id="9" name="Rectangle 8"/>
          <p:cNvSpPr/>
          <p:nvPr/>
        </p:nvSpPr>
        <p:spPr>
          <a:xfrm>
            <a:off x="548640"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538728"/>
            <a:ext cx="5376672" cy="2688336"/>
          </a:xfrm>
          <a:prstGeom prst="rect">
            <a:avLst/>
          </a:prstGeom>
          <a:noFill/>
        </p:spPr>
        <p:txBody>
          <a:bodyPr wrap="square" anchor="t" lIns="73152" rIns="73152" tIns="73152" bIns="73152">
            <a:spAutoFit/>
          </a:bodyPr>
          <a:lstStyle/>
          <a:p>
            <a:pPr algn="l">
              <a:lnSpc>
                <a:spcPct val="100000"/>
              </a:lnSpc>
            </a:pPr>
            <a:r>
              <a:rPr sz="1676" b="0">
                <a:solidFill>
                  <a:srgbClr val="9FE0C9"/>
                </a:solidFill>
                <a:latin typeface="Consolas"/>
              </a:rPr>
              <a:t>{ name: 'Joe', friends: 32, enemies: 2 }</a:t>
            </a:r>
          </a:p>
        </p:txBody>
      </p:sp>
      <p:sp>
        <p:nvSpPr>
          <p:cNvPr id="12" name="Rectangle 11"/>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719" b="0">
                <a:solidFill>
                  <a:srgbClr val="E6ECF2"/>
                </a:solidFill>
                <a:latin typeface="Consolas"/>
              </a:rPr>
              <a:t>&gt; db.users.findOne({"name" : "Nobody"})</a:t>
            </a:r>
          </a:p>
        </p:txBody>
      </p:sp>
      <p:sp>
        <p:nvSpPr>
          <p:cNvPr id="15" name="Rectangle 14"/>
          <p:cNvSpPr/>
          <p:nvPr/>
        </p:nvSpPr>
        <p:spPr>
          <a:xfrm>
            <a:off x="6153912"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7" name="TextBox 16"/>
          <p:cNvSpPr txBox="1"/>
          <p:nvPr/>
        </p:nvSpPr>
        <p:spPr>
          <a:xfrm>
            <a:off x="6208776" y="3538728"/>
            <a:ext cx="5376672" cy="2688336"/>
          </a:xfrm>
          <a:prstGeom prst="rect">
            <a:avLst/>
          </a:prstGeom>
          <a:noFill/>
        </p:spPr>
        <p:txBody>
          <a:bodyPr wrap="square" anchor="t" lIns="73152" rIns="73152" tIns="73152" bIns="73152">
            <a:spAutoFit/>
          </a:bodyPr>
          <a:lstStyle/>
          <a:p>
            <a:pPr algn="l">
              <a:lnSpc>
                <a:spcPct val="100000"/>
              </a:lnSpc>
            </a:pPr>
            <a:r>
              <a:rPr sz="1764" b="0">
                <a:solidFill>
                  <a:srgbClr val="9FE0C9"/>
                </a:solidFill>
                <a:latin typeface="Consolas"/>
              </a:rPr>
              <a:t>null   </a:t>
            </a:r>
            <a:r>
              <a:rPr sz="1764" b="0">
                <a:solidFill>
                  <a:srgbClr val="F2B27A"/>
                </a:solidFill>
                <a:latin typeface="Consolas"/>
              </a:rPr>
              <a:t>&lt;- no match: null, not an error</a:t>
            </a:r>
          </a:p>
        </p:txBody>
      </p:sp>
      <p:sp>
        <p:nvSpPr>
          <p:cNvPr id="18" name="TextBox 1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p.1-3</a:t>
            </a:r>
          </a:p>
        </p:txBody>
      </p:sp>
      <p:sp>
        <p:nvSpPr>
          <p:cNvPr id="19" name="TextBox 18"/>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replaceOne: swap the whole document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replaceOne swaps the body. The _id stays.</a:t>
            </a:r>
          </a:p>
        </p:txBody>
      </p:sp>
      <p:sp>
        <p:nvSpPr>
          <p:cNvPr id="6" name="Rectangle 5"/>
          <p:cNvSpPr/>
          <p:nvPr/>
        </p:nvSpPr>
        <p:spPr>
          <a:xfrm>
            <a:off x="548640" y="1737360"/>
            <a:ext cx="7040880" cy="198424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655064"/>
          </a:xfrm>
          <a:prstGeom prst="rect">
            <a:avLst/>
          </a:prstGeom>
          <a:noFill/>
        </p:spPr>
        <p:txBody>
          <a:bodyPr wrap="square" anchor="t" lIns="73152" rIns="73152" tIns="73152" bIns="73152">
            <a:spAutoFit/>
          </a:bodyPr>
          <a:lstStyle/>
          <a:p>
            <a:pPr algn="l">
              <a:lnSpc>
                <a:spcPct val="100000"/>
              </a:lnSpc>
            </a:pPr>
            <a:r>
              <a:rPr sz="1532" b="0">
                <a:solidFill>
                  <a:srgbClr val="E6ECF2"/>
                </a:solidFill>
                <a:latin typeface="Consolas"/>
              </a:rPr>
              <a:t>&gt; var joe = db.users.findOne({"name" : "Joe"})</a:t>
            </a:r>
          </a:p>
          <a:p>
            <a:pPr algn="l">
              <a:lnSpc>
                <a:spcPct val="100000"/>
              </a:lnSpc>
            </a:pPr>
            <a:r>
              <a:rPr sz="1532" b="0">
                <a:solidFill>
                  <a:srgbClr val="E6ECF2"/>
                </a:solidFill>
                <a:latin typeface="Consolas"/>
              </a:rPr>
              <a:t>&gt; joe.relationships = {"friends" : joe.friends,</a:t>
            </a:r>
          </a:p>
          <a:p>
            <a:pPr algn="l">
              <a:lnSpc>
                <a:spcPct val="100000"/>
              </a:lnSpc>
            </a:pPr>
            <a:r>
              <a:rPr sz="1532" b="0">
                <a:solidFill>
                  <a:srgbClr val="E6ECF2"/>
                </a:solidFill>
                <a:latin typeface="Consolas"/>
              </a:rPr>
              <a:t>                       "enemies" : joe.enemies}</a:t>
            </a:r>
          </a:p>
          <a:p>
            <a:pPr algn="l">
              <a:lnSpc>
                <a:spcPct val="100000"/>
              </a:lnSpc>
            </a:pPr>
            <a:r>
              <a:rPr sz="1532" b="0">
                <a:solidFill>
                  <a:srgbClr val="E6ECF2"/>
                </a:solidFill>
                <a:latin typeface="Consolas"/>
              </a:rPr>
              <a:t>&gt; joe.username = joe.name</a:t>
            </a:r>
          </a:p>
          <a:p>
            <a:pPr algn="l">
              <a:lnSpc>
                <a:spcPct val="100000"/>
              </a:lnSpc>
            </a:pPr>
            <a:r>
              <a:rPr sz="1532" b="0">
                <a:solidFill>
                  <a:srgbClr val="E6ECF2"/>
                </a:solidFill>
                <a:latin typeface="Consolas"/>
              </a:rPr>
              <a:t>&gt; delete joe.friends; delete joe.enemies; delete joe.name</a:t>
            </a:r>
          </a:p>
          <a:p>
            <a:pPr algn="l">
              <a:lnSpc>
                <a:spcPct val="100000"/>
              </a:lnSpc>
            </a:pPr>
            <a:r>
              <a:rPr sz="1532" b="0">
                <a:solidFill>
                  <a:srgbClr val="E6ECF2"/>
                </a:solidFill>
                <a:latin typeface="Consolas"/>
              </a:rPr>
              <a:t>&gt; db.users.replaceOne({"name" : "Joe"}, joe)</a:t>
            </a:r>
          </a:p>
        </p:txBody>
      </p:sp>
      <p:sp>
        <p:nvSpPr>
          <p:cNvPr id="9" name="Rectangle 8"/>
          <p:cNvSpPr/>
          <p:nvPr/>
        </p:nvSpPr>
        <p:spPr>
          <a:xfrm>
            <a:off x="548640" y="3813048"/>
            <a:ext cx="7040880" cy="249631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81304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4105656"/>
            <a:ext cx="6931152" cy="2167128"/>
          </a:xfrm>
          <a:prstGeom prst="rect">
            <a:avLst/>
          </a:prstGeom>
          <a:noFill/>
        </p:spPr>
        <p:txBody>
          <a:bodyPr wrap="square" anchor="t" lIns="73152" rIns="73152" tIns="73152" bIns="73152">
            <a:spAutoFit/>
          </a:bodyPr>
          <a:lstStyle/>
          <a:p>
            <a:pPr algn="l">
              <a:lnSpc>
                <a:spcPct val="100000"/>
              </a:lnSpc>
            </a:pPr>
            <a:r>
              <a:rPr sz="1386" b="0">
                <a:solidFill>
                  <a:srgbClr val="9FE0C9"/>
                </a:solidFill>
                <a:latin typeface="Consolas"/>
              </a:rPr>
              <a:t>{acknowledged: true, insertedId: null,</a:t>
            </a:r>
          </a:p>
          <a:p>
            <a:pPr algn="l">
              <a:lnSpc>
                <a:spcPct val="100000"/>
              </a:lnSpc>
            </a:pPr>
            <a:r>
              <a:rPr sz="1386" b="0">
                <a:solidFill>
                  <a:srgbClr val="9FE0C9"/>
                </a:solidFill>
                <a:latin typeface="Consolas"/>
              </a:rPr>
              <a:t> matchedCount: 1, modifiedCount: 1, upsertedCount: 0}</a:t>
            </a:r>
          </a:p>
          <a:p>
            <a:pPr algn="l">
              <a:lnSpc>
                <a:spcPct val="100000"/>
              </a:lnSpc>
            </a:pPr>
            <a:r>
              <a:rPr sz="1386" b="0">
                <a:solidFill>
                  <a:srgbClr val="9FE0C9"/>
                </a:solidFill>
                <a:latin typeface="Consolas"/>
              </a:rPr>
              <a:t> </a:t>
            </a:r>
          </a:p>
          <a:p>
            <a:pPr algn="l">
              <a:lnSpc>
                <a:spcPct val="100000"/>
              </a:lnSpc>
            </a:pPr>
            <a:r>
              <a:rPr sz="1386" b="0">
                <a:solidFill>
                  <a:srgbClr val="7F91A4"/>
                </a:solidFill>
                <a:latin typeface="Consolas"/>
              </a:rPr>
              <a:t>// after:</a:t>
            </a:r>
          </a:p>
          <a:p>
            <a:pPr algn="l">
              <a:lnSpc>
                <a:spcPct val="100000"/>
              </a:lnSpc>
            </a:pPr>
            <a:r>
              <a:rPr sz="1386" b="0">
                <a:solidFill>
                  <a:srgbClr val="9FE0C9"/>
                </a:solidFill>
                <a:latin typeface="Consolas"/>
              </a:rPr>
              <a:t>{ relationships: { friends: 32, enemies: 2 }, username: 'Joe' }</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Everything not in the new document is gone.</a:t>
            </a:r>
          </a:p>
          <a:p>
            <a:pPr algn="l">
              <a:lnSpc>
                <a:spcPct val="115000"/>
              </a:lnSpc>
            </a:pPr>
            <a:r>
              <a:rPr sz="1800" b="1">
                <a:solidFill>
                  <a:srgbClr val="D9480F"/>
                </a:solidFill>
                <a:latin typeface="Arial"/>
              </a:rPr>
              <a:t>▸  </a:t>
            </a:r>
            <a:r>
              <a:rPr sz="1800" b="0">
                <a:solidFill>
                  <a:srgbClr val="14202E"/>
                </a:solidFill>
                <a:latin typeface="Arial"/>
              </a:rPr>
              <a:t>Good for a big schema change, like this move into a subdocument.</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p.1-2</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updateOne: change one field with $set / $unset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$set adds or changes. $unset removes.</a:t>
            </a:r>
          </a:p>
        </p:txBody>
      </p:sp>
      <p:sp>
        <p:nvSpPr>
          <p:cNvPr id="6" name="Rectangle 5"/>
          <p:cNvSpPr/>
          <p:nvPr/>
        </p:nvSpPr>
        <p:spPr>
          <a:xfrm>
            <a:off x="548640" y="1737360"/>
            <a:ext cx="7040880" cy="17373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408176"/>
          </a:xfrm>
          <a:prstGeom prst="rect">
            <a:avLst/>
          </a:prstGeom>
          <a:noFill/>
        </p:spPr>
        <p:txBody>
          <a:bodyPr wrap="square" anchor="t" lIns="73152" rIns="73152" tIns="73152" bIns="73152">
            <a:spAutoFit/>
          </a:bodyPr>
          <a:lstStyle/>
          <a:p>
            <a:pPr algn="l">
              <a:lnSpc>
                <a:spcPct val="100000"/>
              </a:lnSpc>
            </a:pPr>
            <a:r>
              <a:rPr sz="1560" b="0">
                <a:solidFill>
                  <a:srgbClr val="E6ECF2"/>
                </a:solidFill>
                <a:latin typeface="Consolas"/>
              </a:rPr>
              <a:t>&gt; db.users.updateOne({"name" : "John"},</a:t>
            </a:r>
          </a:p>
          <a:p>
            <a:pPr algn="l">
              <a:lnSpc>
                <a:spcPct val="100000"/>
              </a:lnSpc>
            </a:pPr>
            <a:r>
              <a:rPr sz="1560" b="0">
                <a:solidFill>
                  <a:srgbClr val="E6ECF2"/>
                </a:solidFill>
                <a:latin typeface="Consolas"/>
              </a:rPr>
              <a:t>    {"$set" : {"favorite book" : "Green Eggs and Ham"}})</a:t>
            </a:r>
          </a:p>
          <a:p>
            <a:pPr algn="l">
              <a:lnSpc>
                <a:spcPct val="100000"/>
              </a:lnSpc>
            </a:pPr>
            <a:r>
              <a:rPr sz="1560" b="0">
                <a:solidFill>
                  <a:srgbClr val="E6ECF2"/>
                </a:solidFill>
                <a:latin typeface="Consolas"/>
              </a:rPr>
              <a:t>  </a:t>
            </a:r>
          </a:p>
          <a:p>
            <a:pPr algn="l">
              <a:lnSpc>
                <a:spcPct val="100000"/>
              </a:lnSpc>
            </a:pPr>
            <a:r>
              <a:rPr sz="1560" b="0">
                <a:solidFill>
                  <a:srgbClr val="E6ECF2"/>
                </a:solidFill>
                <a:latin typeface="Consolas"/>
              </a:rPr>
              <a:t>&gt; db.users.updateOne({"name" : "John"},</a:t>
            </a:r>
          </a:p>
          <a:p>
            <a:pPr algn="l">
              <a:lnSpc>
                <a:spcPct val="100000"/>
              </a:lnSpc>
            </a:pPr>
            <a:r>
              <a:rPr sz="1560" b="0">
                <a:solidFill>
                  <a:srgbClr val="E6ECF2"/>
                </a:solidFill>
                <a:latin typeface="Consolas"/>
              </a:rPr>
              <a:t>    {"$unset" : {"favorite book" : 1}})</a:t>
            </a:r>
          </a:p>
        </p:txBody>
      </p:sp>
      <p:sp>
        <p:nvSpPr>
          <p:cNvPr id="9" name="Rectangle 8"/>
          <p:cNvSpPr/>
          <p:nvPr/>
        </p:nvSpPr>
        <p:spPr>
          <a:xfrm>
            <a:off x="548640" y="3566160"/>
            <a:ext cx="7040880" cy="274320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5661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858768"/>
            <a:ext cx="6931152" cy="2414016"/>
          </a:xfrm>
          <a:prstGeom prst="rect">
            <a:avLst/>
          </a:prstGeom>
          <a:noFill/>
        </p:spPr>
        <p:txBody>
          <a:bodyPr wrap="square" anchor="t" lIns="73152" rIns="73152" tIns="73152" bIns="73152">
            <a:spAutoFit/>
          </a:bodyPr>
          <a:lstStyle/>
          <a:p>
            <a:pPr algn="l">
              <a:lnSpc>
                <a:spcPct val="100000"/>
              </a:lnSpc>
            </a:pPr>
            <a:r>
              <a:rPr sz="1648" b="0">
                <a:solidFill>
                  <a:srgbClr val="7F91A4"/>
                </a:solidFill>
                <a:latin typeface="Consolas"/>
              </a:rPr>
              <a:t>// $set</a:t>
            </a:r>
          </a:p>
          <a:p>
            <a:pPr algn="l">
              <a:lnSpc>
                <a:spcPct val="100000"/>
              </a:lnSpc>
            </a:pPr>
            <a:r>
              <a:rPr sz="1648" b="0">
                <a:solidFill>
                  <a:srgbClr val="9FE0C9"/>
                </a:solidFill>
                <a:latin typeface="Consolas"/>
              </a:rPr>
              <a:t>{acknowledged: true, insertedId: null,</a:t>
            </a:r>
          </a:p>
          <a:p>
            <a:pPr algn="l">
              <a:lnSpc>
                <a:spcPct val="100000"/>
              </a:lnSpc>
            </a:pPr>
            <a:r>
              <a:rPr sz="1648" b="0">
                <a:solidFill>
                  <a:srgbClr val="9FE0C9"/>
                </a:solidFill>
                <a:latin typeface="Consolas"/>
              </a:rPr>
              <a:t> matchedCount: 1, modifiedCount: 1, upsertedCount: 0}</a:t>
            </a:r>
          </a:p>
          <a:p>
            <a:pPr algn="l">
              <a:lnSpc>
                <a:spcPct val="100000"/>
              </a:lnSpc>
            </a:pPr>
            <a:r>
              <a:rPr sz="1648" b="0">
                <a:solidFill>
                  <a:srgbClr val="9FE0C9"/>
                </a:solidFill>
                <a:latin typeface="Consolas"/>
              </a:rPr>
              <a:t> </a:t>
            </a:r>
          </a:p>
          <a:p>
            <a:pPr algn="l">
              <a:lnSpc>
                <a:spcPct val="100000"/>
              </a:lnSpc>
            </a:pPr>
            <a:r>
              <a:rPr sz="1648" b="0">
                <a:solidFill>
                  <a:srgbClr val="7F91A4"/>
                </a:solidFill>
                <a:latin typeface="Consolas"/>
              </a:rPr>
              <a:t>// $unset</a:t>
            </a:r>
          </a:p>
          <a:p>
            <a:pPr algn="l">
              <a:lnSpc>
                <a:spcPct val="100000"/>
              </a:lnSpc>
            </a:pPr>
            <a:r>
              <a:rPr sz="1648" b="0">
                <a:solidFill>
                  <a:srgbClr val="9FE0C9"/>
                </a:solidFill>
                <a:latin typeface="Consolas"/>
              </a:rPr>
              <a:t>{acknowledged: true, insertedId: null,</a:t>
            </a:r>
          </a:p>
          <a:p>
            <a:pPr algn="l">
              <a:lnSpc>
                <a:spcPct val="100000"/>
              </a:lnSpc>
            </a:pPr>
            <a:r>
              <a:rPr sz="1648" b="0">
                <a:solidFill>
                  <a:srgbClr val="9FE0C9"/>
                </a:solidFill>
                <a:latin typeface="Consolas"/>
              </a:rPr>
              <a:t> matchedCount: 1, modifiedCount: 1, upsertedCount: 0}</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First argument: filter. Second: modifier document.</a:t>
            </a:r>
          </a:p>
          <a:p>
            <a:pPr algn="l">
              <a:lnSpc>
                <a:spcPct val="115000"/>
              </a:lnSpc>
            </a:pPr>
            <a:r>
              <a:rPr sz="1800" b="1">
                <a:solidFill>
                  <a:srgbClr val="D9480F"/>
                </a:solidFill>
                <a:latin typeface="Arial"/>
              </a:rPr>
              <a:t>▸  </a:t>
            </a:r>
            <a:r>
              <a:rPr sz="1800" b="0">
                <a:solidFill>
                  <a:srgbClr val="14202E"/>
                </a:solidFill>
                <a:latin typeface="Arial"/>
              </a:rPr>
              <a:t>$set creates the field if it does not exist.</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p.2</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updateMany: same change, every match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One rule, every match.</a:t>
            </a:r>
          </a:p>
        </p:txBody>
      </p:sp>
      <p:sp>
        <p:nvSpPr>
          <p:cNvPr id="6" name="Rectangle 5"/>
          <p:cNvSpPr/>
          <p:nvPr/>
        </p:nvSpPr>
        <p:spPr>
          <a:xfrm>
            <a:off x="548640" y="1737360"/>
            <a:ext cx="7040880" cy="99669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667512"/>
          </a:xfrm>
          <a:prstGeom prst="rect">
            <a:avLst/>
          </a:prstGeom>
          <a:noFill/>
        </p:spPr>
        <p:txBody>
          <a:bodyPr wrap="square" anchor="t" lIns="73152" rIns="73152" tIns="73152" bIns="73152">
            <a:spAutoFit/>
          </a:bodyPr>
          <a:lstStyle/>
          <a:p>
            <a:pPr algn="l">
              <a:lnSpc>
                <a:spcPct val="100000"/>
              </a:lnSpc>
            </a:pPr>
            <a:r>
              <a:rPr sz="1535" b="0">
                <a:solidFill>
                  <a:srgbClr val="E6ECF2"/>
                </a:solidFill>
                <a:latin typeface="Consolas"/>
              </a:rPr>
              <a:t>&gt; db.bday.updateMany({"birthday" : "10/13/1978"},</a:t>
            </a:r>
          </a:p>
          <a:p>
            <a:pPr algn="l">
              <a:lnSpc>
                <a:spcPct val="100000"/>
              </a:lnSpc>
            </a:pPr>
            <a:r>
              <a:rPr sz="1535" b="0">
                <a:solidFill>
                  <a:srgbClr val="E6ECF2"/>
                </a:solidFill>
                <a:latin typeface="Consolas"/>
              </a:rPr>
              <a:t>    {"$set" : {"gift" : "Happy Birthday!"}})</a:t>
            </a:r>
          </a:p>
        </p:txBody>
      </p:sp>
      <p:sp>
        <p:nvSpPr>
          <p:cNvPr id="9" name="Rectangle 8"/>
          <p:cNvSpPr/>
          <p:nvPr/>
        </p:nvSpPr>
        <p:spPr>
          <a:xfrm>
            <a:off x="548640" y="2825496"/>
            <a:ext cx="7040880" cy="348386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25496"/>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118104"/>
            <a:ext cx="6931152" cy="3154680"/>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a:t>
            </a:r>
          </a:p>
          <a:p>
            <a:pPr algn="l">
              <a:lnSpc>
                <a:spcPct val="100000"/>
              </a:lnSpc>
            </a:pPr>
            <a:r>
              <a:rPr sz="1800" b="0">
                <a:solidFill>
                  <a:srgbClr val="9FE0C9"/>
                </a:solidFill>
                <a:latin typeface="Consolas"/>
              </a:rPr>
              <a:t>  acknowledged: true,</a:t>
            </a:r>
          </a:p>
          <a:p>
            <a:pPr algn="l">
              <a:lnSpc>
                <a:spcPct val="100000"/>
              </a:lnSpc>
            </a:pPr>
            <a:r>
              <a:rPr sz="1800" b="0">
                <a:solidFill>
                  <a:srgbClr val="9FE0C9"/>
                </a:solidFill>
                <a:latin typeface="Consolas"/>
              </a:rPr>
              <a:t>  insertedId: null,</a:t>
            </a:r>
          </a:p>
          <a:p>
            <a:pPr algn="l">
              <a:lnSpc>
                <a:spcPct val="100000"/>
              </a:lnSpc>
            </a:pPr>
            <a:r>
              <a:rPr sz="1800" b="0">
                <a:solidFill>
                  <a:srgbClr val="9FE0C9"/>
                </a:solidFill>
                <a:latin typeface="Consolas"/>
              </a:rPr>
              <a:t>  matchedCount: 3,</a:t>
            </a:r>
          </a:p>
          <a:p>
            <a:pPr algn="l">
              <a:lnSpc>
                <a:spcPct val="100000"/>
              </a:lnSpc>
            </a:pPr>
            <a:r>
              <a:rPr sz="1800" b="0">
                <a:solidFill>
                  <a:srgbClr val="9FE0C9"/>
                </a:solidFill>
                <a:latin typeface="Consolas"/>
              </a:rPr>
              <a:t>  modifiedCount: 3,</a:t>
            </a:r>
          </a:p>
          <a:p>
            <a:pPr algn="l">
              <a:lnSpc>
                <a:spcPct val="100000"/>
              </a:lnSpc>
            </a:pPr>
            <a:r>
              <a:rPr sz="1800" b="0">
                <a:solidFill>
                  <a:srgbClr val="9FE0C9"/>
                </a:solidFill>
                <a:latin typeface="Consolas"/>
              </a:rPr>
              <a:t>  upsertedCount: 0</a:t>
            </a:r>
          </a:p>
          <a:p>
            <a:pPr algn="l">
              <a:lnSpc>
                <a:spcPct val="100000"/>
              </a:lnSpc>
            </a:pPr>
            <a:r>
              <a:rPr sz="1800" b="0">
                <a:solidFill>
                  <a:srgbClr val="9FE0C9"/>
                </a:solidFill>
                <a:latin typeface="Consolas"/>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Same parameters as updateOne.</a:t>
            </a:r>
          </a:p>
          <a:p>
            <a:pPr algn="l">
              <a:lnSpc>
                <a:spcPct val="115000"/>
              </a:lnSpc>
            </a:pPr>
            <a:r>
              <a:rPr sz="1800" b="1">
                <a:solidFill>
                  <a:srgbClr val="D9480F"/>
                </a:solidFill>
                <a:latin typeface="Arial"/>
              </a:rPr>
              <a:t>▸  </a:t>
            </a:r>
            <a:r>
              <a:rPr sz="1800" b="0">
                <a:solidFill>
                  <a:srgbClr val="14202E"/>
                </a:solidFill>
                <a:latin typeface="Arial"/>
              </a:rPr>
              <a:t>Difference: how many documents can change (3 here).</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B42318"/>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Trap: updateOne without an operator</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No $, no update.</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db.users.updateOne({"name" : "John"}, {"age" : 25})</a:t>
            </a:r>
          </a:p>
        </p:txBody>
      </p:sp>
      <p:sp>
        <p:nvSpPr>
          <p:cNvPr id="9" name="Rectangle 8"/>
          <p:cNvSpPr/>
          <p:nvPr/>
        </p:nvSpPr>
        <p:spPr>
          <a:xfrm>
            <a:off x="548640" y="2578608"/>
            <a:ext cx="7040880" cy="373075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2871216"/>
            <a:ext cx="6931152" cy="3401568"/>
          </a:xfrm>
          <a:prstGeom prst="rect">
            <a:avLst/>
          </a:prstGeom>
          <a:noFill/>
        </p:spPr>
        <p:txBody>
          <a:bodyPr wrap="square" anchor="t" lIns="73152" rIns="73152" tIns="73152" bIns="73152">
            <a:spAutoFit/>
          </a:bodyPr>
          <a:lstStyle/>
          <a:p>
            <a:pPr algn="l">
              <a:lnSpc>
                <a:spcPct val="100000"/>
              </a:lnSpc>
            </a:pPr>
            <a:r>
              <a:rPr sz="1284" b="0">
                <a:solidFill>
                  <a:srgbClr val="FFA99E"/>
                </a:solidFill>
                <a:latin typeface="Consolas"/>
              </a:rPr>
              <a:t>MongoInvalidArgumentError: Update document requires atomic operators</a:t>
            </a:r>
          </a:p>
        </p:txBody>
      </p:sp>
      <p:sp>
        <p:nvSpPr>
          <p:cNvPr id="12" name="Rectangle 11"/>
          <p:cNvSpPr/>
          <p:nvPr/>
        </p:nvSpPr>
        <p:spPr>
          <a:xfrm>
            <a:off x="7863840" y="1737360"/>
            <a:ext cx="3916375" cy="3840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737360"/>
            <a:ext cx="3916375" cy="384048"/>
          </a:xfrm>
          <a:prstGeom prst="rect">
            <a:avLst/>
          </a:prstGeom>
          <a:noFill/>
        </p:spPr>
        <p:txBody>
          <a:bodyPr wrap="square" anchor="ctr" lIns="109728" rIns="109728" tIns="109728" bIns="109728">
            <a:spAutoFit/>
          </a:bodyPr>
          <a:lstStyle/>
          <a:p>
            <a:pPr algn="l">
              <a:lnSpc>
                <a:spcPct val="110000"/>
              </a:lnSpc>
            </a:pPr>
            <a:r>
              <a:rPr sz="1300" b="1">
                <a:solidFill>
                  <a:srgbClr val="FFFFFF"/>
                </a:solidFill>
                <a:latin typeface="Arial"/>
              </a:rPr>
              <a:t>WHAT GOES WRONG</a:t>
            </a:r>
          </a:p>
        </p:txBody>
      </p:sp>
      <p:sp>
        <p:nvSpPr>
          <p:cNvPr id="14" name="TextBox 13"/>
          <p:cNvSpPr txBox="1"/>
          <p:nvPr/>
        </p:nvSpPr>
        <p:spPr>
          <a:xfrm>
            <a:off x="7863840" y="2240280"/>
            <a:ext cx="3916375" cy="40233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updateOne / updateMany need operators like $set.</a:t>
            </a:r>
          </a:p>
          <a:p>
            <a:pPr algn="l">
              <a:lnSpc>
                <a:spcPct val="115000"/>
              </a:lnSpc>
            </a:pPr>
            <a:r>
              <a:rPr sz="1800" b="1">
                <a:solidFill>
                  <a:srgbClr val="D9480F"/>
                </a:solidFill>
                <a:latin typeface="Arial"/>
              </a:rPr>
              <a:t>▸  </a:t>
            </a:r>
            <a:r>
              <a:rPr sz="1800" b="0">
                <a:solidFill>
                  <a:srgbClr val="14202E"/>
                </a:solidFill>
                <a:latin typeface="Arial"/>
              </a:rPr>
              <a:t>To replace the whole document on purpose, use replaceOne.</a:t>
            </a:r>
          </a:p>
        </p:txBody>
      </p:sp>
      <p:sp>
        <p:nvSpPr>
          <p:cNvPr id="15" name="TextBox 14"/>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mongosh 2.3.8 output</a:t>
            </a:r>
          </a:p>
        </p:txBody>
      </p:sp>
      <p:sp>
        <p:nvSpPr>
          <p:cNvPr id="16" name="TextBox 15"/>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3</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Query Selectors: Comparison</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$lt · $lte · $gt · $gte</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“Less, less-or-equal, greater, greater-or-equal.”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Four operators, four symbols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The e means equal is allowed.</a:t>
            </a:r>
          </a:p>
        </p:txBody>
      </p:sp>
      <p:graphicFrame>
        <p:nvGraphicFramePr>
          <p:cNvPr id="6" name="Table 5"/>
          <p:cNvGraphicFramePr>
            <a:graphicFrameLocks noGrp="1"/>
          </p:cNvGraphicFramePr>
          <p:nvPr/>
        </p:nvGraphicFramePr>
        <p:xfrm>
          <a:off x="548640" y="1828800"/>
          <a:ext cx="11094415" cy="3657600"/>
        </p:xfrm>
        <a:graphic>
          <a:graphicData uri="http://schemas.openxmlformats.org/drawingml/2006/table">
            <a:tbl>
              <a:tblPr firstRow="1" bandRow="1">
                <a:tableStyleId>{5C22544A-7EE6-4342-B048-85BDC9FD1C3A}</a:tableStyleId>
              </a:tblPr>
              <a:tblGrid>
                <a:gridCol w="2773603"/>
                <a:gridCol w="2773603"/>
                <a:gridCol w="2773603"/>
                <a:gridCol w="2773606"/>
              </a:tblGrid>
              <a:tr h="731520">
                <a:tc>
                  <a:txBody>
                    <a:bodyPr/>
                    <a:lstStyle/>
                    <a:p>
                      <a:r>
                        <a:rPr sz="1600" b="1">
                          <a:solidFill>
                            <a:srgbClr val="FFFFFF"/>
                          </a:solidFill>
                          <a:latin typeface="Arial"/>
                        </a:rPr>
                        <a:t>Operator</a:t>
                      </a:r>
                    </a:p>
                  </a:txBody>
                  <a:tcPr>
                    <a:solidFill>
                      <a:srgbClr val="14202E"/>
                    </a:solidFill>
                  </a:tcPr>
                </a:tc>
                <a:tc>
                  <a:txBody>
                    <a:bodyPr/>
                    <a:lstStyle/>
                    <a:p>
                      <a:r>
                        <a:rPr sz="1600" b="1">
                          <a:solidFill>
                            <a:srgbClr val="FFFFFF"/>
                          </a:solidFill>
                          <a:latin typeface="Arial"/>
                        </a:rPr>
                        <a:t>Means</a:t>
                      </a:r>
                    </a:p>
                  </a:txBody>
                  <a:tcPr>
                    <a:solidFill>
                      <a:srgbClr val="14202E"/>
                    </a:solidFill>
                  </a:tcPr>
                </a:tc>
                <a:tc>
                  <a:txBody>
                    <a:bodyPr/>
                    <a:lstStyle/>
                    <a:p>
                      <a:r>
                        <a:rPr sz="1600" b="1">
                          <a:solidFill>
                            <a:srgbClr val="FFFFFF"/>
                          </a:solidFill>
                          <a:latin typeface="Arial"/>
                        </a:rPr>
                        <a:t>Symbol</a:t>
                      </a:r>
                    </a:p>
                  </a:txBody>
                  <a:tcPr>
                    <a:solidFill>
                      <a:srgbClr val="14202E"/>
                    </a:solidFill>
                  </a:tcPr>
                </a:tc>
                <a:tc>
                  <a:txBody>
                    <a:bodyPr/>
                    <a:lstStyle/>
                    <a:p>
                      <a:r>
                        <a:rPr sz="1600" b="1">
                          <a:solidFill>
                            <a:srgbClr val="FFFFFF"/>
                          </a:solidFill>
                          <a:latin typeface="Arial"/>
                        </a:rPr>
                        <a:t>vs 18: ages 17 / 18 / 24</a:t>
                      </a:r>
                    </a:p>
                  </a:txBody>
                  <a:tcPr>
                    <a:solidFill>
                      <a:srgbClr val="14202E"/>
                    </a:solidFill>
                  </a:tcPr>
                </a:tc>
              </a:tr>
              <a:tr h="731520">
                <a:tc>
                  <a:txBody>
                    <a:bodyPr/>
                    <a:lstStyle/>
                    <a:p>
                      <a:r>
                        <a:rPr sz="1500" b="1">
                          <a:solidFill>
                            <a:srgbClr val="D9480F"/>
                          </a:solidFill>
                          <a:latin typeface="Consolas"/>
                        </a:rPr>
                        <a:t>$lt</a:t>
                      </a:r>
                    </a:p>
                  </a:txBody>
                  <a:tcPr anchor="ctr">
                    <a:solidFill>
                      <a:srgbClr val="FFFFFF"/>
                    </a:solidFill>
                  </a:tcPr>
                </a:tc>
                <a:tc>
                  <a:txBody>
                    <a:bodyPr/>
                    <a:lstStyle/>
                    <a:p>
                      <a:r>
                        <a:rPr sz="1500" b="0">
                          <a:solidFill>
                            <a:srgbClr val="14202E"/>
                          </a:solidFill>
                          <a:latin typeface="Arial"/>
                        </a:rPr>
                        <a:t>less than</a:t>
                      </a:r>
                    </a:p>
                  </a:txBody>
                  <a:tcPr anchor="ctr">
                    <a:solidFill>
                      <a:srgbClr val="FFFFFF"/>
                    </a:solidFill>
                  </a:tcPr>
                </a:tc>
                <a:tc>
                  <a:txBody>
                    <a:bodyPr/>
                    <a:lstStyle/>
                    <a:p>
                      <a:r>
                        <a:rPr sz="1500" b="0">
                          <a:solidFill>
                            <a:srgbClr val="14202E"/>
                          </a:solidFill>
                          <a:latin typeface="Arial"/>
                        </a:rPr>
                        <a:t>&lt;</a:t>
                      </a:r>
                    </a:p>
                  </a:txBody>
                  <a:tcPr anchor="ctr">
                    <a:solidFill>
                      <a:srgbClr val="FFFFFF"/>
                    </a:solidFill>
                  </a:tcPr>
                </a:tc>
                <a:tc>
                  <a:txBody>
                    <a:bodyPr/>
                    <a:lstStyle/>
                    <a:p>
                      <a:r>
                        <a:rPr sz="1500" b="0">
                          <a:solidFill>
                            <a:srgbClr val="14202E"/>
                          </a:solidFill>
                          <a:latin typeface="Arial"/>
                        </a:rPr>
                        <a:t>yes / no / no</a:t>
                      </a:r>
                    </a:p>
                  </a:txBody>
                  <a:tcPr anchor="ctr">
                    <a:solidFill>
                      <a:srgbClr val="FFFFFF"/>
                    </a:solidFill>
                  </a:tcPr>
                </a:tc>
              </a:tr>
              <a:tr h="731520">
                <a:tc>
                  <a:txBody>
                    <a:bodyPr/>
                    <a:lstStyle/>
                    <a:p>
                      <a:r>
                        <a:rPr sz="1500" b="1">
                          <a:solidFill>
                            <a:srgbClr val="D9480F"/>
                          </a:solidFill>
                          <a:latin typeface="Consolas"/>
                        </a:rPr>
                        <a:t>$lte</a:t>
                      </a:r>
                    </a:p>
                  </a:txBody>
                  <a:tcPr anchor="ctr">
                    <a:solidFill>
                      <a:srgbClr val="F6F8FA"/>
                    </a:solidFill>
                  </a:tcPr>
                </a:tc>
                <a:tc>
                  <a:txBody>
                    <a:bodyPr/>
                    <a:lstStyle/>
                    <a:p>
                      <a:r>
                        <a:rPr sz="1500" b="0">
                          <a:solidFill>
                            <a:srgbClr val="14202E"/>
                          </a:solidFill>
                          <a:latin typeface="Arial"/>
                        </a:rPr>
                        <a:t>less than or equal</a:t>
                      </a:r>
                    </a:p>
                  </a:txBody>
                  <a:tcPr anchor="ctr">
                    <a:solidFill>
                      <a:srgbClr val="F6F8FA"/>
                    </a:solidFill>
                  </a:tcPr>
                </a:tc>
                <a:tc>
                  <a:txBody>
                    <a:bodyPr/>
                    <a:lstStyle/>
                    <a:p>
                      <a:r>
                        <a:rPr sz="1500" b="0">
                          <a:solidFill>
                            <a:srgbClr val="14202E"/>
                          </a:solidFill>
                          <a:latin typeface="Arial"/>
                        </a:rPr>
                        <a:t>&lt;=</a:t>
                      </a:r>
                    </a:p>
                  </a:txBody>
                  <a:tcPr anchor="ctr">
                    <a:solidFill>
                      <a:srgbClr val="F6F8FA"/>
                    </a:solidFill>
                  </a:tcPr>
                </a:tc>
                <a:tc>
                  <a:txBody>
                    <a:bodyPr/>
                    <a:lstStyle/>
                    <a:p>
                      <a:r>
                        <a:rPr sz="1500" b="0">
                          <a:solidFill>
                            <a:srgbClr val="14202E"/>
                          </a:solidFill>
                          <a:latin typeface="Arial"/>
                        </a:rPr>
                        <a:t>yes / yes / no</a:t>
                      </a:r>
                    </a:p>
                  </a:txBody>
                  <a:tcPr anchor="ctr">
                    <a:solidFill>
                      <a:srgbClr val="F6F8FA"/>
                    </a:solidFill>
                  </a:tcPr>
                </a:tc>
              </a:tr>
              <a:tr h="731520">
                <a:tc>
                  <a:txBody>
                    <a:bodyPr/>
                    <a:lstStyle/>
                    <a:p>
                      <a:r>
                        <a:rPr sz="1500" b="1">
                          <a:solidFill>
                            <a:srgbClr val="D9480F"/>
                          </a:solidFill>
                          <a:latin typeface="Consolas"/>
                        </a:rPr>
                        <a:t>$gt</a:t>
                      </a:r>
                    </a:p>
                  </a:txBody>
                  <a:tcPr anchor="ctr">
                    <a:solidFill>
                      <a:srgbClr val="FFFFFF"/>
                    </a:solidFill>
                  </a:tcPr>
                </a:tc>
                <a:tc>
                  <a:txBody>
                    <a:bodyPr/>
                    <a:lstStyle/>
                    <a:p>
                      <a:r>
                        <a:rPr sz="1500" b="0">
                          <a:solidFill>
                            <a:srgbClr val="14202E"/>
                          </a:solidFill>
                          <a:latin typeface="Arial"/>
                        </a:rPr>
                        <a:t>greater than</a:t>
                      </a:r>
                    </a:p>
                  </a:txBody>
                  <a:tcPr anchor="ctr">
                    <a:solidFill>
                      <a:srgbClr val="FFFFFF"/>
                    </a:solidFill>
                  </a:tcPr>
                </a:tc>
                <a:tc>
                  <a:txBody>
                    <a:bodyPr/>
                    <a:lstStyle/>
                    <a:p>
                      <a:r>
                        <a:rPr sz="1500" b="0">
                          <a:solidFill>
                            <a:srgbClr val="14202E"/>
                          </a:solidFill>
                          <a:latin typeface="Arial"/>
                        </a:rPr>
                        <a:t>&gt;</a:t>
                      </a:r>
                    </a:p>
                  </a:txBody>
                  <a:tcPr anchor="ctr">
                    <a:solidFill>
                      <a:srgbClr val="FFFFFF"/>
                    </a:solidFill>
                  </a:tcPr>
                </a:tc>
                <a:tc>
                  <a:txBody>
                    <a:bodyPr/>
                    <a:lstStyle/>
                    <a:p>
                      <a:r>
                        <a:rPr sz="1500" b="0">
                          <a:solidFill>
                            <a:srgbClr val="14202E"/>
                          </a:solidFill>
                          <a:latin typeface="Arial"/>
                        </a:rPr>
                        <a:t>no / no / yes</a:t>
                      </a:r>
                    </a:p>
                  </a:txBody>
                  <a:tcPr anchor="ctr">
                    <a:solidFill>
                      <a:srgbClr val="FFFFFF"/>
                    </a:solidFill>
                  </a:tcPr>
                </a:tc>
              </a:tr>
              <a:tr h="731520">
                <a:tc>
                  <a:txBody>
                    <a:bodyPr/>
                    <a:lstStyle/>
                    <a:p>
                      <a:r>
                        <a:rPr sz="1500" b="1">
                          <a:solidFill>
                            <a:srgbClr val="D9480F"/>
                          </a:solidFill>
                          <a:latin typeface="Consolas"/>
                        </a:rPr>
                        <a:t>$gte</a:t>
                      </a:r>
                    </a:p>
                  </a:txBody>
                  <a:tcPr anchor="ctr">
                    <a:solidFill>
                      <a:srgbClr val="F6F8FA"/>
                    </a:solidFill>
                  </a:tcPr>
                </a:tc>
                <a:tc>
                  <a:txBody>
                    <a:bodyPr/>
                    <a:lstStyle/>
                    <a:p>
                      <a:r>
                        <a:rPr sz="1500" b="0">
                          <a:solidFill>
                            <a:srgbClr val="14202E"/>
                          </a:solidFill>
                          <a:latin typeface="Arial"/>
                        </a:rPr>
                        <a:t>greater than or equal</a:t>
                      </a:r>
                    </a:p>
                  </a:txBody>
                  <a:tcPr anchor="ctr">
                    <a:solidFill>
                      <a:srgbClr val="F6F8FA"/>
                    </a:solidFill>
                  </a:tcPr>
                </a:tc>
                <a:tc>
                  <a:txBody>
                    <a:bodyPr/>
                    <a:lstStyle/>
                    <a:p>
                      <a:r>
                        <a:rPr sz="1500" b="0">
                          <a:solidFill>
                            <a:srgbClr val="14202E"/>
                          </a:solidFill>
                          <a:latin typeface="Arial"/>
                        </a:rPr>
                        <a:t>&gt;=</a:t>
                      </a:r>
                    </a:p>
                  </a:txBody>
                  <a:tcPr anchor="ctr">
                    <a:solidFill>
                      <a:srgbClr val="F6F8FA"/>
                    </a:solidFill>
                  </a:tcPr>
                </a:tc>
                <a:tc>
                  <a:txBody>
                    <a:bodyPr/>
                    <a:lstStyle/>
                    <a:p>
                      <a:r>
                        <a:rPr sz="1500" b="0">
                          <a:solidFill>
                            <a:srgbClr val="14202E"/>
                          </a:solidFill>
                          <a:latin typeface="Arial"/>
                        </a:rPr>
                        <a:t>no / yes / yes</a:t>
                      </a:r>
                    </a:p>
                  </a:txBody>
                  <a:tcPr anchor="ctr">
                    <a:solidFill>
                      <a:srgbClr val="F6F8FA"/>
                    </a:solidFill>
                  </a:tcPr>
                </a:tc>
              </a:tr>
            </a:tbl>
          </a:graphicData>
        </a:graphic>
      </p:graphicFrame>
      <p:sp>
        <p:nvSpPr>
          <p:cNvPr id="7" name="TextBox 6"/>
          <p:cNvSpPr txBox="1"/>
          <p:nvPr/>
        </p:nvSpPr>
        <p:spPr>
          <a:xfrm>
            <a:off x="548640" y="571500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Sample data: Ana 17, Ben 18, Cara 24, Dan 30, Eli 31.</a:t>
            </a:r>
          </a:p>
        </p:txBody>
      </p:sp>
      <p:sp>
        <p:nvSpPr>
          <p:cNvPr id="8" name="TextBox 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$lt and $lte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18 is out with $lt, in with $lte.</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218" b="0">
                <a:solidFill>
                  <a:srgbClr val="E6ECF2"/>
                </a:solidFill>
                <a:latin typeface="Consolas"/>
              </a:rPr>
              <a:t>&gt; db.students.find({"age" : {"$lt" : 18}}, {"_id" : 0})</a:t>
            </a:r>
          </a:p>
        </p:txBody>
      </p:sp>
      <p:sp>
        <p:nvSpPr>
          <p:cNvPr id="9" name="Rectangle 8"/>
          <p:cNvSpPr/>
          <p:nvPr/>
        </p:nvSpPr>
        <p:spPr>
          <a:xfrm>
            <a:off x="548640"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538728"/>
            <a:ext cx="5376672" cy="2688336"/>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 { name: 'Ana', age: 17 } ]</a:t>
            </a:r>
          </a:p>
        </p:txBody>
      </p:sp>
      <p:sp>
        <p:nvSpPr>
          <p:cNvPr id="12" name="Rectangle 11"/>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197" b="0">
                <a:solidFill>
                  <a:srgbClr val="E6ECF2"/>
                </a:solidFill>
                <a:latin typeface="Consolas"/>
              </a:rPr>
              <a:t>&gt; db.students.find({"age" : {"$lte" : 18}}, {"_id" : 0})</a:t>
            </a:r>
          </a:p>
        </p:txBody>
      </p:sp>
      <p:sp>
        <p:nvSpPr>
          <p:cNvPr id="15" name="Rectangle 14"/>
          <p:cNvSpPr/>
          <p:nvPr/>
        </p:nvSpPr>
        <p:spPr>
          <a:xfrm>
            <a:off x="6153912"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7" name="TextBox 16"/>
          <p:cNvSpPr txBox="1"/>
          <p:nvPr/>
        </p:nvSpPr>
        <p:spPr>
          <a:xfrm>
            <a:off x="6208776" y="3538728"/>
            <a:ext cx="5376672" cy="2688336"/>
          </a:xfrm>
          <a:prstGeom prst="rect">
            <a:avLst/>
          </a:prstGeom>
          <a:noFill/>
        </p:spPr>
        <p:txBody>
          <a:bodyPr wrap="square" anchor="t" lIns="73152" rIns="73152" tIns="73152" bIns="73152">
            <a:spAutoFit/>
          </a:bodyPr>
          <a:lstStyle/>
          <a:p>
            <a:pPr algn="l">
              <a:lnSpc>
                <a:spcPct val="100000"/>
              </a:lnSpc>
            </a:pPr>
            <a:r>
              <a:rPr sz="1241" b="0">
                <a:solidFill>
                  <a:srgbClr val="9FE0C9"/>
                </a:solidFill>
                <a:latin typeface="Consolas"/>
              </a:rPr>
              <a:t>[ { name: 'Ana', age: 17 }, { name: 'Ben', age: 18 } ]</a:t>
            </a:r>
          </a:p>
        </p:txBody>
      </p:sp>
      <p:sp>
        <p:nvSpPr>
          <p:cNvPr id="18" name="TextBox 1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9" name="TextBox 18"/>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$gt and $gte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30 is out with $gt, in with $gte.</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218" b="0">
                <a:solidFill>
                  <a:srgbClr val="E6ECF2"/>
                </a:solidFill>
                <a:latin typeface="Consolas"/>
              </a:rPr>
              <a:t>&gt; db.students.find({"age" : {"$gt" : 30}}, {"_id" : 0})</a:t>
            </a:r>
          </a:p>
        </p:txBody>
      </p:sp>
      <p:sp>
        <p:nvSpPr>
          <p:cNvPr id="9" name="Rectangle 8"/>
          <p:cNvSpPr/>
          <p:nvPr/>
        </p:nvSpPr>
        <p:spPr>
          <a:xfrm>
            <a:off x="548640"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538728"/>
            <a:ext cx="5376672" cy="2688336"/>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 { name: 'Eli', age: 31 } ]</a:t>
            </a:r>
          </a:p>
        </p:txBody>
      </p:sp>
      <p:sp>
        <p:nvSpPr>
          <p:cNvPr id="12" name="Rectangle 11"/>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197" b="0">
                <a:solidFill>
                  <a:srgbClr val="E6ECF2"/>
                </a:solidFill>
                <a:latin typeface="Consolas"/>
              </a:rPr>
              <a:t>&gt; db.students.find({"age" : {"$gte" : 30}}, {"_id" : 0})</a:t>
            </a:r>
          </a:p>
        </p:txBody>
      </p:sp>
      <p:sp>
        <p:nvSpPr>
          <p:cNvPr id="15" name="Rectangle 14"/>
          <p:cNvSpPr/>
          <p:nvPr/>
        </p:nvSpPr>
        <p:spPr>
          <a:xfrm>
            <a:off x="6153912"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7" name="TextBox 16"/>
          <p:cNvSpPr txBox="1"/>
          <p:nvPr/>
        </p:nvSpPr>
        <p:spPr>
          <a:xfrm>
            <a:off x="6208776" y="3538728"/>
            <a:ext cx="5376672" cy="2688336"/>
          </a:xfrm>
          <a:prstGeom prst="rect">
            <a:avLst/>
          </a:prstGeom>
          <a:noFill/>
        </p:spPr>
        <p:txBody>
          <a:bodyPr wrap="square" anchor="t" lIns="73152" rIns="73152" tIns="73152" bIns="73152">
            <a:spAutoFit/>
          </a:bodyPr>
          <a:lstStyle/>
          <a:p>
            <a:pPr algn="l">
              <a:lnSpc>
                <a:spcPct val="100000"/>
              </a:lnSpc>
            </a:pPr>
            <a:r>
              <a:rPr sz="1241" b="0">
                <a:solidFill>
                  <a:srgbClr val="9FE0C9"/>
                </a:solidFill>
                <a:latin typeface="Consolas"/>
              </a:rPr>
              <a:t>[ { name: 'Dan', age: 30 }, { name: 'Eli', age: 31 } ]</a:t>
            </a:r>
          </a:p>
        </p:txBody>
      </p:sp>
      <p:sp>
        <p:nvSpPr>
          <p:cNvPr id="18" name="TextBox 1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9" name="TextBox 18"/>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Combine them: a range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Two operators, one field, one range.</a:t>
            </a:r>
          </a:p>
        </p:txBody>
      </p:sp>
      <p:sp>
        <p:nvSpPr>
          <p:cNvPr id="6" name="Rectangle 5"/>
          <p:cNvSpPr/>
          <p:nvPr/>
        </p:nvSpPr>
        <p:spPr>
          <a:xfrm>
            <a:off x="548640" y="1737360"/>
            <a:ext cx="7040880" cy="99669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667512"/>
          </a:xfrm>
          <a:prstGeom prst="rect">
            <a:avLst/>
          </a:prstGeom>
          <a:noFill/>
        </p:spPr>
        <p:txBody>
          <a:bodyPr wrap="square" anchor="t" lIns="73152" rIns="73152" tIns="73152" bIns="73152">
            <a:spAutoFit/>
          </a:bodyPr>
          <a:lstStyle/>
          <a:p>
            <a:pPr algn="l">
              <a:lnSpc>
                <a:spcPct val="100000"/>
              </a:lnSpc>
            </a:pPr>
            <a:r>
              <a:rPr sz="1535" b="0">
                <a:solidFill>
                  <a:srgbClr val="E6ECF2"/>
                </a:solidFill>
                <a:latin typeface="Consolas"/>
              </a:rPr>
              <a:t>&gt; db.students.find({"age" : {"$gte" : 18, "$lte" : 30}},</a:t>
            </a:r>
          </a:p>
          <a:p>
            <a:pPr algn="l">
              <a:lnSpc>
                <a:spcPct val="100000"/>
              </a:lnSpc>
            </a:pPr>
            <a:r>
              <a:rPr sz="1535" b="0">
                <a:solidFill>
                  <a:srgbClr val="E6ECF2"/>
                </a:solidFill>
                <a:latin typeface="Consolas"/>
              </a:rPr>
              <a:t>                   {"_id" : 0})</a:t>
            </a:r>
          </a:p>
        </p:txBody>
      </p:sp>
      <p:sp>
        <p:nvSpPr>
          <p:cNvPr id="9" name="Rectangle 8"/>
          <p:cNvSpPr/>
          <p:nvPr/>
        </p:nvSpPr>
        <p:spPr>
          <a:xfrm>
            <a:off x="548640" y="2825496"/>
            <a:ext cx="7040880" cy="348386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25496"/>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118104"/>
            <a:ext cx="6931152" cy="3154680"/>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a:t>
            </a:r>
          </a:p>
          <a:p>
            <a:pPr algn="l">
              <a:lnSpc>
                <a:spcPct val="100000"/>
              </a:lnSpc>
            </a:pPr>
            <a:r>
              <a:rPr sz="1800" b="0">
                <a:solidFill>
                  <a:srgbClr val="9FE0C9"/>
                </a:solidFill>
                <a:latin typeface="Consolas"/>
              </a:rPr>
              <a:t>  { name: 'Ben', age: 18 },</a:t>
            </a:r>
          </a:p>
          <a:p>
            <a:pPr algn="l">
              <a:lnSpc>
                <a:spcPct val="100000"/>
              </a:lnSpc>
            </a:pPr>
            <a:r>
              <a:rPr sz="1800" b="0">
                <a:solidFill>
                  <a:srgbClr val="9FE0C9"/>
                </a:solidFill>
                <a:latin typeface="Consolas"/>
              </a:rPr>
              <a:t>  { name: 'Cara', age: 24 },</a:t>
            </a:r>
          </a:p>
          <a:p>
            <a:pPr algn="l">
              <a:lnSpc>
                <a:spcPct val="100000"/>
              </a:lnSpc>
            </a:pPr>
            <a:r>
              <a:rPr sz="1800" b="0">
                <a:solidFill>
                  <a:srgbClr val="9FE0C9"/>
                </a:solidFill>
                <a:latin typeface="Consolas"/>
              </a:rPr>
              <a:t>  { name: 'Dan', age: 30 }</a:t>
            </a:r>
          </a:p>
          <a:p>
            <a:pPr algn="l">
              <a:lnSpc>
                <a:spcPct val="100000"/>
              </a:lnSpc>
            </a:pPr>
            <a:r>
              <a:rPr sz="1800" b="0">
                <a:solidFill>
                  <a:srgbClr val="9FE0C9"/>
                </a:solidFill>
                <a:latin typeface="Consolas"/>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Both conditions on the same field are ANDed.</a:t>
            </a:r>
          </a:p>
          <a:p>
            <a:pPr algn="l">
              <a:lnSpc>
                <a:spcPct val="115000"/>
              </a:lnSpc>
            </a:pPr>
            <a:r>
              <a:rPr sz="1800" b="1">
                <a:solidFill>
                  <a:srgbClr val="D9480F"/>
                </a:solidFill>
                <a:latin typeface="Arial"/>
              </a:rPr>
              <a:t>▸  </a:t>
            </a:r>
            <a:r>
              <a:rPr sz="1800" b="0">
                <a:solidFill>
                  <a:srgbClr val="14202E"/>
                </a:solidFill>
                <a:latin typeface="Arial"/>
              </a:rPr>
              <a:t>This is the handout's 'between 18 and 30' query.</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B42318"/>
                </a:solidFill>
                <a:latin typeface="Arial"/>
              </a:rPr>
              <a:t>PART 3  ·  QUERY SELECTORS: COMPARISON</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Trap: a number stored as text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"20" is text, not twenty.</a:t>
            </a:r>
          </a:p>
        </p:txBody>
      </p:sp>
      <p:sp>
        <p:nvSpPr>
          <p:cNvPr id="6" name="Rectangle 5"/>
          <p:cNvSpPr/>
          <p:nvPr/>
        </p:nvSpPr>
        <p:spPr>
          <a:xfrm>
            <a:off x="548640" y="1737360"/>
            <a:ext cx="7040880" cy="149047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161288"/>
          </a:xfrm>
          <a:prstGeom prst="rect">
            <a:avLst/>
          </a:prstGeom>
          <a:noFill/>
        </p:spPr>
        <p:txBody>
          <a:bodyPr wrap="square" anchor="t" lIns="73152" rIns="73152" tIns="73152" bIns="73152">
            <a:spAutoFit/>
          </a:bodyPr>
          <a:lstStyle/>
          <a:p>
            <a:pPr algn="l">
              <a:lnSpc>
                <a:spcPct val="100000"/>
              </a:lnSpc>
            </a:pPr>
            <a:r>
              <a:rPr sz="1588" b="0">
                <a:solidFill>
                  <a:srgbClr val="7F91A4"/>
                </a:solidFill>
                <a:latin typeface="Consolas"/>
              </a:rPr>
              <a:t>  // Fay's age was typed as a string</a:t>
            </a:r>
          </a:p>
          <a:p>
            <a:pPr algn="l">
              <a:lnSpc>
                <a:spcPct val="100000"/>
              </a:lnSpc>
            </a:pPr>
            <a:r>
              <a:rPr sz="1588" b="0">
                <a:solidFill>
                  <a:srgbClr val="E6ECF2"/>
                </a:solidFill>
                <a:latin typeface="Consolas"/>
              </a:rPr>
              <a:t>&gt; db.students.insertOne({"name" : "Fay", "age" : "20"})</a:t>
            </a:r>
          </a:p>
          <a:p>
            <a:pPr algn="l">
              <a:lnSpc>
                <a:spcPct val="100000"/>
              </a:lnSpc>
            </a:pPr>
            <a:r>
              <a:rPr sz="1588" b="0">
                <a:solidFill>
                  <a:srgbClr val="E6ECF2"/>
                </a:solidFill>
                <a:latin typeface="Consolas"/>
              </a:rPr>
              <a:t>&gt; db.students.find({"age" : {"$gte" : 18}},</a:t>
            </a:r>
          </a:p>
          <a:p>
            <a:pPr algn="l">
              <a:lnSpc>
                <a:spcPct val="100000"/>
              </a:lnSpc>
            </a:pPr>
            <a:r>
              <a:rPr sz="1588" b="0">
                <a:solidFill>
                  <a:srgbClr val="E6ECF2"/>
                </a:solidFill>
                <a:latin typeface="Consolas"/>
              </a:rPr>
              <a:t>                   {"_id" : 0, "name" : 1})</a:t>
            </a:r>
          </a:p>
        </p:txBody>
      </p:sp>
      <p:sp>
        <p:nvSpPr>
          <p:cNvPr id="9" name="Rectangle 8"/>
          <p:cNvSpPr/>
          <p:nvPr/>
        </p:nvSpPr>
        <p:spPr>
          <a:xfrm>
            <a:off x="548640" y="3319272"/>
            <a:ext cx="7040880" cy="299008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319272"/>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611880"/>
            <a:ext cx="6931152" cy="2660904"/>
          </a:xfrm>
          <a:prstGeom prst="rect">
            <a:avLst/>
          </a:prstGeom>
          <a:noFill/>
        </p:spPr>
        <p:txBody>
          <a:bodyPr wrap="square" anchor="t" lIns="73152" rIns="73152" tIns="73152" bIns="73152">
            <a:spAutoFit/>
          </a:bodyPr>
          <a:lstStyle/>
          <a:p>
            <a:pPr algn="l">
              <a:lnSpc>
                <a:spcPct val="100000"/>
              </a:lnSpc>
            </a:pPr>
            <a:r>
              <a:rPr sz="1230" b="0">
                <a:solidFill>
                  <a:srgbClr val="9FE0C9"/>
                </a:solidFill>
                <a:latin typeface="Consolas"/>
              </a:rPr>
              <a:t>[ { name: 'Ben' }, { name: 'Cara' }, { name: 'Dan' }, { name: 'Eli' } ]</a:t>
            </a:r>
          </a:p>
          <a:p>
            <a:pPr algn="l">
              <a:lnSpc>
                <a:spcPct val="100000"/>
              </a:lnSpc>
            </a:pPr>
            <a:r>
              <a:rPr sz="1230" b="0">
                <a:solidFill>
                  <a:srgbClr val="9FE0C9"/>
                </a:solidFill>
                <a:latin typeface="Consolas"/>
              </a:rPr>
              <a:t> </a:t>
            </a:r>
          </a:p>
          <a:p>
            <a:pPr algn="l">
              <a:lnSpc>
                <a:spcPct val="100000"/>
              </a:lnSpc>
            </a:pPr>
            <a:r>
              <a:rPr sz="1230" b="0">
                <a:solidFill>
                  <a:srgbClr val="9FE0C9"/>
                </a:solidFill>
                <a:latin typeface="Consolas"/>
              </a:rPr>
              <a:t/>
            </a:r>
            <a:r>
              <a:rPr sz="1230" b="0">
                <a:solidFill>
                  <a:srgbClr val="F2B27A"/>
                </a:solidFill>
                <a:latin typeface="Consolas"/>
              </a:rPr>
              <a:t>&lt;- Fay (age "20") is missing</a:t>
            </a:r>
          </a:p>
        </p:txBody>
      </p:sp>
      <p:sp>
        <p:nvSpPr>
          <p:cNvPr id="12" name="Rectangle 11"/>
          <p:cNvSpPr/>
          <p:nvPr/>
        </p:nvSpPr>
        <p:spPr>
          <a:xfrm>
            <a:off x="7863840" y="1737360"/>
            <a:ext cx="3916375" cy="3840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737360"/>
            <a:ext cx="3916375" cy="384048"/>
          </a:xfrm>
          <a:prstGeom prst="rect">
            <a:avLst/>
          </a:prstGeom>
          <a:noFill/>
        </p:spPr>
        <p:txBody>
          <a:bodyPr wrap="square" anchor="ctr" lIns="109728" rIns="109728" tIns="109728" bIns="109728">
            <a:spAutoFit/>
          </a:bodyPr>
          <a:lstStyle/>
          <a:p>
            <a:pPr algn="l">
              <a:lnSpc>
                <a:spcPct val="110000"/>
              </a:lnSpc>
            </a:pPr>
            <a:r>
              <a:rPr sz="1300" b="1">
                <a:solidFill>
                  <a:srgbClr val="FFFFFF"/>
                </a:solidFill>
                <a:latin typeface="Arial"/>
              </a:rPr>
              <a:t>WHAT GOES WRONG</a:t>
            </a:r>
          </a:p>
        </p:txBody>
      </p:sp>
      <p:sp>
        <p:nvSpPr>
          <p:cNvPr id="14" name="TextBox 13"/>
          <p:cNvSpPr txBox="1"/>
          <p:nvPr/>
        </p:nvSpPr>
        <p:spPr>
          <a:xfrm>
            <a:off x="7863840" y="2240280"/>
            <a:ext cx="3916375" cy="40233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Comparison operators only match values of the same type.</a:t>
            </a:r>
          </a:p>
          <a:p>
            <a:pPr algn="l">
              <a:lnSpc>
                <a:spcPct val="115000"/>
              </a:lnSpc>
            </a:pPr>
            <a:r>
              <a:rPr sz="1800" b="1">
                <a:solidFill>
                  <a:srgbClr val="D9480F"/>
                </a:solidFill>
                <a:latin typeface="Arial"/>
              </a:rPr>
              <a:t>▸  </a:t>
            </a:r>
            <a:r>
              <a:rPr sz="1800" b="0">
                <a:solidFill>
                  <a:srgbClr val="14202E"/>
                </a:solidFill>
                <a:latin typeface="Arial"/>
              </a:rPr>
              <a:t>Store numbers as numbers.</a:t>
            </a:r>
          </a:p>
        </p:txBody>
      </p:sp>
      <p:sp>
        <p:nvSpPr>
          <p:cNvPr id="15" name="TextBox 14"/>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mongosh 2.3.8 output</a:t>
            </a:r>
          </a:p>
        </p:txBody>
      </p:sp>
      <p:sp>
        <p:nvSpPr>
          <p:cNvPr id="16" name="TextBox 15"/>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4</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Query Selectors: $in, $or, null</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$in · $or · null</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“One field, many values. Many fields, any match.”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4  ·  QUERY SELECTORS: $IN, $OR, NULL</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 any of these values, one field</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$in is a guest list for one field.</a:t>
            </a:r>
          </a:p>
        </p:txBody>
      </p:sp>
      <p:sp>
        <p:nvSpPr>
          <p:cNvPr id="6" name="Rectangle 5"/>
          <p:cNvSpPr/>
          <p:nvPr/>
        </p:nvSpPr>
        <p:spPr>
          <a:xfrm>
            <a:off x="548640" y="1737360"/>
            <a:ext cx="7040880" cy="99669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667512"/>
          </a:xfrm>
          <a:prstGeom prst="rect">
            <a:avLst/>
          </a:prstGeom>
          <a:noFill/>
        </p:spPr>
        <p:txBody>
          <a:bodyPr wrap="square" anchor="t" lIns="73152" rIns="73152" tIns="73152" bIns="73152">
            <a:spAutoFit/>
          </a:bodyPr>
          <a:lstStyle/>
          <a:p>
            <a:pPr algn="l">
              <a:lnSpc>
                <a:spcPct val="100000"/>
              </a:lnSpc>
            </a:pPr>
            <a:r>
              <a:rPr sz="1480" b="0">
                <a:solidFill>
                  <a:srgbClr val="E6ECF2"/>
                </a:solidFill>
                <a:latin typeface="Consolas"/>
              </a:rPr>
              <a:t>&gt; db.raffle.find({"ticket_no" : {"$in" : [725, 542, 390]}},</a:t>
            </a:r>
          </a:p>
          <a:p>
            <a:pPr algn="l">
              <a:lnSpc>
                <a:spcPct val="100000"/>
              </a:lnSpc>
            </a:pPr>
            <a:r>
              <a:rPr sz="1480" b="0">
                <a:solidFill>
                  <a:srgbClr val="E6ECF2"/>
                </a:solidFill>
                <a:latin typeface="Consolas"/>
              </a:rPr>
              <a:t>                 {"_id" : 0})</a:t>
            </a:r>
          </a:p>
        </p:txBody>
      </p:sp>
      <p:sp>
        <p:nvSpPr>
          <p:cNvPr id="9" name="Rectangle 8"/>
          <p:cNvSpPr/>
          <p:nvPr/>
        </p:nvSpPr>
        <p:spPr>
          <a:xfrm>
            <a:off x="548640" y="2825496"/>
            <a:ext cx="7040880" cy="348386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25496"/>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118104"/>
            <a:ext cx="6931152" cy="3154680"/>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a:t>
            </a:r>
          </a:p>
          <a:p>
            <a:pPr algn="l">
              <a:lnSpc>
                <a:spcPct val="100000"/>
              </a:lnSpc>
            </a:pPr>
            <a:r>
              <a:rPr sz="1800" b="0">
                <a:solidFill>
                  <a:srgbClr val="9FE0C9"/>
                </a:solidFill>
                <a:latin typeface="Consolas"/>
              </a:rPr>
              <a:t>  { ticket_no: 725, winner: false },</a:t>
            </a:r>
          </a:p>
          <a:p>
            <a:pPr algn="l">
              <a:lnSpc>
                <a:spcPct val="100000"/>
              </a:lnSpc>
            </a:pPr>
            <a:r>
              <a:rPr sz="1800" b="0">
                <a:solidFill>
                  <a:srgbClr val="9FE0C9"/>
                </a:solidFill>
                <a:latin typeface="Consolas"/>
              </a:rPr>
              <a:t>  { ticket_no: 542, winner: false },</a:t>
            </a:r>
          </a:p>
          <a:p>
            <a:pPr algn="l">
              <a:lnSpc>
                <a:spcPct val="100000"/>
              </a:lnSpc>
            </a:pPr>
            <a:r>
              <a:rPr sz="1800" b="0">
                <a:solidFill>
                  <a:srgbClr val="9FE0C9"/>
                </a:solidFill>
                <a:latin typeface="Consolas"/>
              </a:rPr>
              <a:t>  { ticket_no: 390, winner: false }</a:t>
            </a:r>
          </a:p>
          <a:p>
            <a:pPr algn="l">
              <a:lnSpc>
                <a:spcPct val="100000"/>
              </a:lnSpc>
            </a:pPr>
            <a:r>
              <a:rPr sz="1800" b="0">
                <a:solidFill>
                  <a:srgbClr val="9FE0C9"/>
                </a:solidFill>
                <a:latin typeface="Consolas"/>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Matches if ticket_no equals any value in the list.</a:t>
            </a:r>
          </a:p>
          <a:p>
            <a:pPr algn="l">
              <a:lnSpc>
                <a:spcPct val="115000"/>
              </a:lnSpc>
            </a:pPr>
            <a:r>
              <a:rPr sz="1800" b="1">
                <a:solidFill>
                  <a:srgbClr val="D9480F"/>
                </a:solidFill>
                <a:latin typeface="Arial"/>
              </a:rPr>
              <a:t>▸  </a:t>
            </a:r>
            <a:r>
              <a:rPr sz="1800" b="0">
                <a:solidFill>
                  <a:srgbClr val="14202E"/>
                </a:solidFill>
                <a:latin typeface="Arial"/>
              </a:rPr>
              <a:t>Handout raffle: winning tickets 725, 542, 390.</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4  ·  QUERY SELECTORS: $IN, $OR, NULL</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$or: any of these conditions, any fields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$or: pass any one test.</a:t>
            </a:r>
          </a:p>
        </p:txBody>
      </p:sp>
      <p:sp>
        <p:nvSpPr>
          <p:cNvPr id="6" name="Rectangle 5"/>
          <p:cNvSpPr/>
          <p:nvPr/>
        </p:nvSpPr>
        <p:spPr>
          <a:xfrm>
            <a:off x="548640" y="1737360"/>
            <a:ext cx="7040880" cy="124358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914400"/>
          </a:xfrm>
          <a:prstGeom prst="rect">
            <a:avLst/>
          </a:prstGeom>
          <a:noFill/>
        </p:spPr>
        <p:txBody>
          <a:bodyPr wrap="square" anchor="t" lIns="73152" rIns="73152" tIns="73152" bIns="73152">
            <a:spAutoFit/>
          </a:bodyPr>
          <a:lstStyle/>
          <a:p>
            <a:pPr algn="l">
              <a:lnSpc>
                <a:spcPct val="100000"/>
              </a:lnSpc>
            </a:pPr>
            <a:r>
              <a:rPr sz="1572" b="0">
                <a:solidFill>
                  <a:srgbClr val="E6ECF2"/>
                </a:solidFill>
                <a:latin typeface="Consolas"/>
              </a:rPr>
              <a:t>&gt; db.raffle.find({"$or" : [{"ticket_no" : 725},</a:t>
            </a:r>
          </a:p>
          <a:p>
            <a:pPr algn="l">
              <a:lnSpc>
                <a:spcPct val="100000"/>
              </a:lnSpc>
            </a:pPr>
            <a:r>
              <a:rPr sz="1572" b="0">
                <a:solidFill>
                  <a:srgbClr val="E6ECF2"/>
                </a:solidFill>
                <a:latin typeface="Consolas"/>
              </a:rPr>
              <a:t>                           {"winner" : true}]},</a:t>
            </a:r>
          </a:p>
          <a:p>
            <a:pPr algn="l">
              <a:lnSpc>
                <a:spcPct val="100000"/>
              </a:lnSpc>
            </a:pPr>
            <a:r>
              <a:rPr sz="1572" b="0">
                <a:solidFill>
                  <a:srgbClr val="E6ECF2"/>
                </a:solidFill>
                <a:latin typeface="Consolas"/>
              </a:rPr>
              <a:t>                 {"_id" : 0})</a:t>
            </a:r>
          </a:p>
        </p:txBody>
      </p:sp>
      <p:sp>
        <p:nvSpPr>
          <p:cNvPr id="9" name="Rectangle 8"/>
          <p:cNvSpPr/>
          <p:nvPr/>
        </p:nvSpPr>
        <p:spPr>
          <a:xfrm>
            <a:off x="548640" y="3072384"/>
            <a:ext cx="7040880" cy="323697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07238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364992"/>
            <a:ext cx="6931152" cy="2907792"/>
          </a:xfrm>
          <a:prstGeom prst="rect">
            <a:avLst/>
          </a:prstGeom>
          <a:noFill/>
        </p:spPr>
        <p:txBody>
          <a:bodyPr wrap="square" anchor="t" lIns="73152" rIns="73152" tIns="73152" bIns="73152">
            <a:spAutoFit/>
          </a:bodyPr>
          <a:lstStyle/>
          <a:p>
            <a:pPr algn="l">
              <a:lnSpc>
                <a:spcPct val="100000"/>
              </a:lnSpc>
            </a:pPr>
            <a:r>
              <a:rPr sz="1230" b="0">
                <a:solidFill>
                  <a:srgbClr val="9FE0C9"/>
                </a:solidFill>
                <a:latin typeface="Consolas"/>
              </a:rPr>
              <a:t>[ { ticket_no: 725, winner: false }, { ticket_no: 111, winner: true } ]</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$or takes an array of conditions; each can use a different field.</a:t>
            </a:r>
          </a:p>
          <a:p>
            <a:pPr algn="l">
              <a:lnSpc>
                <a:spcPct val="115000"/>
              </a:lnSpc>
            </a:pPr>
            <a:r>
              <a:rPr sz="1800" b="1">
                <a:solidFill>
                  <a:srgbClr val="D9480F"/>
                </a:solidFill>
                <a:latin typeface="Arial"/>
              </a:rPr>
              <a:t>▸  </a:t>
            </a:r>
            <a:r>
              <a:rPr sz="1800" b="0">
                <a:solidFill>
                  <a:srgbClr val="14202E"/>
                </a:solidFill>
                <a:latin typeface="Arial"/>
              </a:rPr>
              <a:t>Same field, many values? $in is simpler.</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B42318"/>
                </a:solidFill>
                <a:latin typeface="Arial"/>
              </a:rPr>
              <a:t>PART 4  ·  QUERY SELECTORS: $IN, $OR, NULL</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Premise check: "$null" is not an operator</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There is no $null. Write null.</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db.raffle.find({"claimed_by" : {"$null" : true}})</a:t>
            </a:r>
          </a:p>
        </p:txBody>
      </p:sp>
      <p:sp>
        <p:nvSpPr>
          <p:cNvPr id="9" name="Rectangle 8"/>
          <p:cNvSpPr/>
          <p:nvPr/>
        </p:nvSpPr>
        <p:spPr>
          <a:xfrm>
            <a:off x="548640" y="2578608"/>
            <a:ext cx="7040880" cy="373075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2871216"/>
            <a:ext cx="6931152" cy="3401568"/>
          </a:xfrm>
          <a:prstGeom prst="rect">
            <a:avLst/>
          </a:prstGeom>
          <a:noFill/>
        </p:spPr>
        <p:txBody>
          <a:bodyPr wrap="square" anchor="t" lIns="73152" rIns="73152" tIns="73152" bIns="73152">
            <a:spAutoFit/>
          </a:bodyPr>
          <a:lstStyle/>
          <a:p>
            <a:pPr algn="l">
              <a:lnSpc>
                <a:spcPct val="100000"/>
              </a:lnSpc>
            </a:pPr>
            <a:r>
              <a:rPr sz="1800" b="0">
                <a:solidFill>
                  <a:srgbClr val="FFA99E"/>
                </a:solidFill>
                <a:latin typeface="Consolas"/>
              </a:rPr>
              <a:t>MongoServerError: unknown operator: $null</a:t>
            </a:r>
          </a:p>
        </p:txBody>
      </p:sp>
      <p:sp>
        <p:nvSpPr>
          <p:cNvPr id="12" name="Rectangle 11"/>
          <p:cNvSpPr/>
          <p:nvPr/>
        </p:nvSpPr>
        <p:spPr>
          <a:xfrm>
            <a:off x="7863840" y="1737360"/>
            <a:ext cx="3916375" cy="3840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737360"/>
            <a:ext cx="3916375" cy="384048"/>
          </a:xfrm>
          <a:prstGeom prst="rect">
            <a:avLst/>
          </a:prstGeom>
          <a:noFill/>
        </p:spPr>
        <p:txBody>
          <a:bodyPr wrap="square" anchor="ctr" lIns="109728" rIns="109728" tIns="109728" bIns="109728">
            <a:spAutoFit/>
          </a:bodyPr>
          <a:lstStyle/>
          <a:p>
            <a:pPr algn="l">
              <a:lnSpc>
                <a:spcPct val="110000"/>
              </a:lnSpc>
            </a:pPr>
            <a:r>
              <a:rPr sz="1300" b="1">
                <a:solidFill>
                  <a:srgbClr val="FFFFFF"/>
                </a:solidFill>
                <a:latin typeface="Arial"/>
              </a:rPr>
              <a:t>WHAT GOES WRONG</a:t>
            </a:r>
          </a:p>
        </p:txBody>
      </p:sp>
      <p:sp>
        <p:nvSpPr>
          <p:cNvPr id="14" name="TextBox 13"/>
          <p:cNvSpPr txBox="1"/>
          <p:nvPr/>
        </p:nvSpPr>
        <p:spPr>
          <a:xfrm>
            <a:off x="7863840" y="2240280"/>
            <a:ext cx="3916375" cy="40233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Our outline said "$null". The server rejects it.</a:t>
            </a:r>
          </a:p>
          <a:p>
            <a:pPr algn="l">
              <a:lnSpc>
                <a:spcPct val="115000"/>
              </a:lnSpc>
            </a:pPr>
            <a:r>
              <a:rPr sz="1800" b="1">
                <a:solidFill>
                  <a:srgbClr val="D9480F"/>
                </a:solidFill>
                <a:latin typeface="Arial"/>
              </a:rPr>
              <a:t>▸  </a:t>
            </a:r>
            <a:r>
              <a:rPr sz="1800" b="0">
                <a:solidFill>
                  <a:srgbClr val="14202E"/>
                </a:solidFill>
                <a:latin typeface="Arial"/>
              </a:rPr>
              <a:t>Query null with the plain value null (next slide).</a:t>
            </a:r>
          </a:p>
        </p:txBody>
      </p:sp>
      <p:sp>
        <p:nvSpPr>
          <p:cNvPr id="15" name="TextBox 14"/>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mongosh 2.3.8 output; MongoDB Manual, Query for Null or Missing Fields</a:t>
            </a:r>
          </a:p>
        </p:txBody>
      </p:sp>
      <p:sp>
        <p:nvSpPr>
          <p:cNvPr id="16" name="TextBox 15"/>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4  ·  QUERY SELECTORS: $IN, $OR, NULL</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null matches null AND missing</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null means 'null or not there'.</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457" b="0">
                <a:solidFill>
                  <a:srgbClr val="E6ECF2"/>
                </a:solidFill>
                <a:latin typeface="Consolas"/>
              </a:rPr>
              <a:t>&gt; db.raffle.find({"claimed_by" : null},</a:t>
            </a:r>
          </a:p>
          <a:p>
            <a:pPr algn="l">
              <a:lnSpc>
                <a:spcPct val="100000"/>
              </a:lnSpc>
            </a:pPr>
            <a:r>
              <a:rPr sz="1457" b="0">
                <a:solidFill>
                  <a:srgbClr val="E6ECF2"/>
                </a:solidFill>
                <a:latin typeface="Consolas"/>
              </a:rPr>
              <a:t>                 {"_id" : 0, "ticket_no" : 1})</a:t>
            </a:r>
          </a:p>
        </p:txBody>
      </p:sp>
      <p:sp>
        <p:nvSpPr>
          <p:cNvPr id="9" name="Rectangle 8"/>
          <p:cNvSpPr/>
          <p:nvPr/>
        </p:nvSpPr>
        <p:spPr>
          <a:xfrm>
            <a:off x="548640"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538728"/>
            <a:ext cx="5376672" cy="2688336"/>
          </a:xfrm>
          <a:prstGeom prst="rect">
            <a:avLst/>
          </a:prstGeom>
          <a:noFill/>
        </p:spPr>
        <p:txBody>
          <a:bodyPr wrap="square" anchor="t" lIns="73152" rIns="73152" tIns="73152" bIns="73152">
            <a:spAutoFit/>
          </a:bodyPr>
          <a:lstStyle/>
          <a:p>
            <a:pPr algn="l">
              <a:lnSpc>
                <a:spcPct val="100000"/>
              </a:lnSpc>
            </a:pPr>
            <a:r>
              <a:rPr sz="1457" b="0">
                <a:solidFill>
                  <a:srgbClr val="9FE0C9"/>
                </a:solidFill>
                <a:latin typeface="Consolas"/>
              </a:rPr>
              <a:t>[</a:t>
            </a:r>
          </a:p>
          <a:p>
            <a:pPr algn="l">
              <a:lnSpc>
                <a:spcPct val="100000"/>
              </a:lnSpc>
            </a:pPr>
            <a:r>
              <a:rPr sz="1457" b="0">
                <a:solidFill>
                  <a:srgbClr val="9FE0C9"/>
                </a:solidFill>
                <a:latin typeface="Consolas"/>
              </a:rPr>
              <a:t>  { ticket_no: 725 },</a:t>
            </a:r>
          </a:p>
          <a:p>
            <a:pPr algn="l">
              <a:lnSpc>
                <a:spcPct val="100000"/>
              </a:lnSpc>
            </a:pPr>
            <a:r>
              <a:rPr sz="1457" b="0">
                <a:solidFill>
                  <a:srgbClr val="9FE0C9"/>
                </a:solidFill>
                <a:latin typeface="Consolas"/>
              </a:rPr>
              <a:t>  { ticket_no: 542 },</a:t>
            </a:r>
          </a:p>
          <a:p>
            <a:pPr algn="l">
              <a:lnSpc>
                <a:spcPct val="100000"/>
              </a:lnSpc>
            </a:pPr>
            <a:r>
              <a:rPr sz="1457" b="0">
                <a:solidFill>
                  <a:srgbClr val="9FE0C9"/>
                </a:solidFill>
                <a:latin typeface="Consolas"/>
              </a:rPr>
              <a:t>  { ticket_no: 390 },</a:t>
            </a:r>
          </a:p>
          <a:p>
            <a:pPr algn="l">
              <a:lnSpc>
                <a:spcPct val="100000"/>
              </a:lnSpc>
            </a:pPr>
            <a:r>
              <a:rPr sz="1457" b="0">
                <a:solidFill>
                  <a:srgbClr val="9FE0C9"/>
                </a:solidFill>
                <a:latin typeface="Consolas"/>
              </a:rPr>
              <a:t>  { ticket_no: 111 },</a:t>
            </a:r>
          </a:p>
          <a:p>
            <a:pPr algn="l">
              <a:lnSpc>
                <a:spcPct val="100000"/>
              </a:lnSpc>
            </a:pPr>
            <a:r>
              <a:rPr sz="1457" b="0">
                <a:solidFill>
                  <a:srgbClr val="9FE0C9"/>
                </a:solidFill>
                <a:latin typeface="Consolas"/>
              </a:rPr>
              <a:t>  { ticket_no: 222 }</a:t>
            </a:r>
          </a:p>
          <a:p>
            <a:pPr algn="l">
              <a:lnSpc>
                <a:spcPct val="100000"/>
              </a:lnSpc>
            </a:pPr>
            <a:r>
              <a:rPr sz="1457" b="0">
                <a:solidFill>
                  <a:srgbClr val="9FE0C9"/>
                </a:solidFill>
                <a:latin typeface="Consolas"/>
              </a:rPr>
              <a:t>]</a:t>
            </a:r>
          </a:p>
          <a:p>
            <a:pPr algn="l">
              <a:lnSpc>
                <a:spcPct val="100000"/>
              </a:lnSpc>
            </a:pPr>
            <a:r>
              <a:rPr sz="1457" b="0">
                <a:solidFill>
                  <a:srgbClr val="9FE0C9"/>
                </a:solidFill>
                <a:latin typeface="Consolas"/>
              </a:rPr>
              <a:t/>
            </a:r>
            <a:r>
              <a:rPr sz="1457" b="0">
                <a:solidFill>
                  <a:srgbClr val="F2B27A"/>
                </a:solidFill>
                <a:latin typeface="Consolas"/>
              </a:rPr>
              <a:t>&lt;- 222 is null; the other 4 have no claimed_by</a:t>
            </a:r>
          </a:p>
        </p:txBody>
      </p:sp>
      <p:sp>
        <p:nvSpPr>
          <p:cNvPr id="12" name="Rectangle 11"/>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264" b="0">
                <a:solidFill>
                  <a:srgbClr val="7F91A4"/>
                </a:solidFill>
                <a:latin typeface="Consolas"/>
              </a:rPr>
              <a:t>  // only documents where the value is really null</a:t>
            </a:r>
          </a:p>
          <a:p>
            <a:pPr algn="l">
              <a:lnSpc>
                <a:spcPct val="100000"/>
              </a:lnSpc>
            </a:pPr>
            <a:r>
              <a:rPr sz="1264" b="0">
                <a:solidFill>
                  <a:srgbClr val="E6ECF2"/>
                </a:solidFill>
                <a:latin typeface="Consolas"/>
              </a:rPr>
              <a:t>&gt; db.raffle.find({"claimed_by" : {"$type" : "null"}},</a:t>
            </a:r>
          </a:p>
          <a:p>
            <a:pPr algn="l">
              <a:lnSpc>
                <a:spcPct val="100000"/>
              </a:lnSpc>
            </a:pPr>
            <a:r>
              <a:rPr sz="1264" b="0">
                <a:solidFill>
                  <a:srgbClr val="E6ECF2"/>
                </a:solidFill>
                <a:latin typeface="Consolas"/>
              </a:rPr>
              <a:t>                 {"_id" : 0, "ticket_no" : 1})</a:t>
            </a:r>
          </a:p>
        </p:txBody>
      </p:sp>
      <p:sp>
        <p:nvSpPr>
          <p:cNvPr id="15" name="Rectangle 14"/>
          <p:cNvSpPr/>
          <p:nvPr/>
        </p:nvSpPr>
        <p:spPr>
          <a:xfrm>
            <a:off x="6153912"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7" name="TextBox 16"/>
          <p:cNvSpPr txBox="1"/>
          <p:nvPr/>
        </p:nvSpPr>
        <p:spPr>
          <a:xfrm>
            <a:off x="6208776" y="3538728"/>
            <a:ext cx="5376672" cy="2688336"/>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 { ticket_no: 222 } ]</a:t>
            </a:r>
          </a:p>
        </p:txBody>
      </p:sp>
      <p:sp>
        <p:nvSpPr>
          <p:cNvPr id="18" name="TextBox 1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MongoDB Manual, Query for Null or Missing Fields (read 2026-10-30)</a:t>
            </a:r>
          </a:p>
        </p:txBody>
      </p:sp>
      <p:sp>
        <p:nvSpPr>
          <p:cNvPr id="19" name="TextBox 18"/>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5</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Querying Arrays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array match · $push · $all · $size</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“Arrays answer like single values.”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Match one element: just ask for it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Ask for banana, get every basket with a banana.</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db.food.find({"fruit" : "banana"})</a:t>
            </a:r>
          </a:p>
        </p:txBody>
      </p:sp>
      <p:sp>
        <p:nvSpPr>
          <p:cNvPr id="9" name="Rectangle 8"/>
          <p:cNvSpPr/>
          <p:nvPr/>
        </p:nvSpPr>
        <p:spPr>
          <a:xfrm>
            <a:off x="548640" y="2578608"/>
            <a:ext cx="7040880" cy="373075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2871216"/>
            <a:ext cx="6931152" cy="3401568"/>
          </a:xfrm>
          <a:prstGeom prst="rect">
            <a:avLst/>
          </a:prstGeom>
          <a:noFill/>
        </p:spPr>
        <p:txBody>
          <a:bodyPr wrap="square" anchor="t" lIns="73152" rIns="73152" tIns="73152" bIns="73152">
            <a:spAutoFit/>
          </a:bodyPr>
          <a:lstStyle/>
          <a:p>
            <a:pPr algn="l">
              <a:lnSpc>
                <a:spcPct val="100000"/>
              </a:lnSpc>
            </a:pPr>
            <a:r>
              <a:rPr sz="1680" b="0">
                <a:solidFill>
                  <a:srgbClr val="9FE0C9"/>
                </a:solidFill>
                <a:latin typeface="Consolas"/>
              </a:rPr>
              <a:t>[</a:t>
            </a:r>
          </a:p>
          <a:p>
            <a:pPr algn="l">
              <a:lnSpc>
                <a:spcPct val="100000"/>
              </a:lnSpc>
            </a:pPr>
            <a:r>
              <a:rPr sz="1680" b="0">
                <a:solidFill>
                  <a:srgbClr val="9FE0C9"/>
                </a:solidFill>
                <a:latin typeface="Consolas"/>
              </a:rPr>
              <a:t>  { _id: 1, fruit: [ 'apple', 'banana', 'peach' ] },</a:t>
            </a:r>
          </a:p>
          <a:p>
            <a:pPr algn="l">
              <a:lnSpc>
                <a:spcPct val="100000"/>
              </a:lnSpc>
            </a:pPr>
            <a:r>
              <a:rPr sz="1680" b="0">
                <a:solidFill>
                  <a:srgbClr val="9FE0C9"/>
                </a:solidFill>
                <a:latin typeface="Consolas"/>
              </a:rPr>
              <a:t>  { _id: 3, fruit: [ 'cherry', 'banana', 'apple' ] }</a:t>
            </a:r>
          </a:p>
          <a:p>
            <a:pPr algn="l">
              <a:lnSpc>
                <a:spcPct val="100000"/>
              </a:lnSpc>
            </a:pPr>
            <a:r>
              <a:rPr sz="1680" b="0">
                <a:solidFill>
                  <a:srgbClr val="9FE0C9"/>
                </a:solidFill>
                <a:latin typeface="Consolas"/>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A plain value matches if ANY element equals it.</a:t>
            </a:r>
          </a:p>
          <a:p>
            <a:pPr algn="l">
              <a:lnSpc>
                <a:spcPct val="115000"/>
              </a:lnSpc>
            </a:pPr>
            <a:r>
              <a:rPr sz="1800" b="1">
                <a:solidFill>
                  <a:srgbClr val="D9480F"/>
                </a:solidFill>
                <a:latin typeface="Arial"/>
              </a:rPr>
              <a:t>▸  </a:t>
            </a:r>
            <a:r>
              <a:rPr sz="1800" b="0">
                <a:solidFill>
                  <a:srgbClr val="14202E"/>
                </a:solidFill>
                <a:latin typeface="Arial"/>
              </a:rPr>
              <a:t>Position: "fruit.2" means index 2, the third element.</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Insert an element: $push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$push adds to the end.</a:t>
            </a:r>
          </a:p>
        </p:txBody>
      </p:sp>
      <p:sp>
        <p:nvSpPr>
          <p:cNvPr id="6" name="Rectangle 5"/>
          <p:cNvSpPr/>
          <p:nvPr/>
        </p:nvSpPr>
        <p:spPr>
          <a:xfrm>
            <a:off x="548640" y="1737360"/>
            <a:ext cx="7040880" cy="198424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655064"/>
          </a:xfrm>
          <a:prstGeom prst="rect">
            <a:avLst/>
          </a:prstGeom>
          <a:noFill/>
        </p:spPr>
        <p:txBody>
          <a:bodyPr wrap="square" anchor="t" lIns="73152" rIns="73152" tIns="73152" bIns="73152">
            <a:spAutoFit/>
          </a:bodyPr>
          <a:lstStyle/>
          <a:p>
            <a:pPr algn="l">
              <a:lnSpc>
                <a:spcPct val="100000"/>
              </a:lnSpc>
            </a:pPr>
            <a:r>
              <a:rPr sz="1506" b="0">
                <a:solidFill>
                  <a:srgbClr val="E6ECF2"/>
                </a:solidFill>
                <a:latin typeface="Consolas"/>
              </a:rPr>
              <a:t>&gt; db.food.updateOne({"_id" : 2},</a:t>
            </a:r>
          </a:p>
          <a:p>
            <a:pPr algn="l">
              <a:lnSpc>
                <a:spcPct val="100000"/>
              </a:lnSpc>
            </a:pPr>
            <a:r>
              <a:rPr sz="1506" b="0">
                <a:solidFill>
                  <a:srgbClr val="E6ECF2"/>
                </a:solidFill>
                <a:latin typeface="Consolas"/>
              </a:rPr>
              <a:t>    {"$push" : {"fruit" : "mango"}})</a:t>
            </a:r>
          </a:p>
          <a:p>
            <a:pPr algn="l">
              <a:lnSpc>
                <a:spcPct val="100000"/>
              </a:lnSpc>
            </a:pPr>
            <a:r>
              <a:rPr sz="1506" b="0">
                <a:solidFill>
                  <a:srgbClr val="E6ECF2"/>
                </a:solidFill>
                <a:latin typeface="Consolas"/>
              </a:rPr>
              <a:t>  </a:t>
            </a:r>
          </a:p>
          <a:p>
            <a:pPr algn="l">
              <a:lnSpc>
                <a:spcPct val="100000"/>
              </a:lnSpc>
            </a:pPr>
            <a:r>
              <a:rPr sz="1506" b="0">
                <a:solidFill>
                  <a:srgbClr val="7F91A4"/>
                </a:solidFill>
                <a:latin typeface="Consolas"/>
              </a:rPr>
              <a:t>  // several at once: $each</a:t>
            </a:r>
          </a:p>
          <a:p>
            <a:pPr algn="l">
              <a:lnSpc>
                <a:spcPct val="100000"/>
              </a:lnSpc>
            </a:pPr>
            <a:r>
              <a:rPr sz="1506" b="0">
                <a:solidFill>
                  <a:srgbClr val="E6ECF2"/>
                </a:solidFill>
                <a:latin typeface="Consolas"/>
              </a:rPr>
              <a:t>&gt; db.food.updateOne({"_id" : 3},</a:t>
            </a:r>
          </a:p>
          <a:p>
            <a:pPr algn="l">
              <a:lnSpc>
                <a:spcPct val="100000"/>
              </a:lnSpc>
            </a:pPr>
            <a:r>
              <a:rPr sz="1506" b="0">
                <a:solidFill>
                  <a:srgbClr val="E6ECF2"/>
                </a:solidFill>
                <a:latin typeface="Consolas"/>
              </a:rPr>
              <a:t>    {"$push" : {"fruit" : {"$each" : ["grape", "lime"]}}})</a:t>
            </a:r>
          </a:p>
        </p:txBody>
      </p:sp>
      <p:sp>
        <p:nvSpPr>
          <p:cNvPr id="9" name="Rectangle 8"/>
          <p:cNvSpPr/>
          <p:nvPr/>
        </p:nvSpPr>
        <p:spPr>
          <a:xfrm>
            <a:off x="548640" y="3813048"/>
            <a:ext cx="7040880" cy="249631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81304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4105656"/>
            <a:ext cx="6931152" cy="2167128"/>
          </a:xfrm>
          <a:prstGeom prst="rect">
            <a:avLst/>
          </a:prstGeom>
          <a:noFill/>
        </p:spPr>
        <p:txBody>
          <a:bodyPr wrap="square" anchor="t" lIns="73152" rIns="73152" tIns="73152" bIns="73152">
            <a:spAutoFit/>
          </a:bodyPr>
          <a:lstStyle/>
          <a:p>
            <a:pPr algn="l">
              <a:lnSpc>
                <a:spcPct val="100000"/>
              </a:lnSpc>
            </a:pPr>
            <a:r>
              <a:rPr sz="1304" b="0">
                <a:solidFill>
                  <a:srgbClr val="9FE0C9"/>
                </a:solidFill>
                <a:latin typeface="Consolas"/>
              </a:rPr>
              <a:t>{acknowledged: true, insertedId: null,</a:t>
            </a:r>
          </a:p>
          <a:p>
            <a:pPr algn="l">
              <a:lnSpc>
                <a:spcPct val="100000"/>
              </a:lnSpc>
            </a:pPr>
            <a:r>
              <a:rPr sz="1304" b="0">
                <a:solidFill>
                  <a:srgbClr val="9FE0C9"/>
                </a:solidFill>
                <a:latin typeface="Consolas"/>
              </a:rPr>
              <a:t> matchedCount: 1, modifiedCount: 1, upsertedCount: 0}</a:t>
            </a:r>
          </a:p>
          <a:p>
            <a:pPr algn="l">
              <a:lnSpc>
                <a:spcPct val="100000"/>
              </a:lnSpc>
            </a:pPr>
            <a:r>
              <a:rPr sz="1304" b="0">
                <a:solidFill>
                  <a:srgbClr val="9FE0C9"/>
                </a:solidFill>
                <a:latin typeface="Consolas"/>
              </a:rPr>
              <a:t> </a:t>
            </a:r>
          </a:p>
          <a:p>
            <a:pPr algn="l">
              <a:lnSpc>
                <a:spcPct val="100000"/>
              </a:lnSpc>
            </a:pPr>
            <a:r>
              <a:rPr sz="1304" b="0">
                <a:solidFill>
                  <a:srgbClr val="7F91A4"/>
                </a:solidFill>
                <a:latin typeface="Consolas"/>
              </a:rPr>
              <a:t>// findOne({_id: 3}) after $each:</a:t>
            </a:r>
          </a:p>
          <a:p>
            <a:pPr algn="l">
              <a:lnSpc>
                <a:spcPct val="100000"/>
              </a:lnSpc>
            </a:pPr>
            <a:r>
              <a:rPr sz="1304" b="0">
                <a:solidFill>
                  <a:srgbClr val="9FE0C9"/>
                </a:solidFill>
                <a:latin typeface="Consolas"/>
              </a:rPr>
              <a:t>{ _id: 3, fruit: [ 'cherry', 'banana', 'apple', 'grape', 'lime' ] }</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$push appends one value. Add $each to append several.</a:t>
            </a:r>
          </a:p>
          <a:p>
            <a:pPr algn="l">
              <a:lnSpc>
                <a:spcPct val="115000"/>
              </a:lnSpc>
            </a:pPr>
            <a:r>
              <a:rPr sz="1800" b="1">
                <a:solidFill>
                  <a:srgbClr val="D9480F"/>
                </a:solidFill>
                <a:latin typeface="Arial"/>
              </a:rPr>
              <a:t>▸  </a:t>
            </a:r>
            <a:r>
              <a:rPr sz="1800" b="0">
                <a:solidFill>
                  <a:srgbClr val="14202E"/>
                </a:solidFill>
                <a:latin typeface="Arial"/>
              </a:rPr>
              <a:t>Source: MongoDB Manual, $push (not in the 08 Handout).</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MongoDB Manual, $push (read 2026-10-30)</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$all: must contain every listed element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$all: has them all, any order.</a:t>
            </a:r>
          </a:p>
        </p:txBody>
      </p:sp>
      <p:sp>
        <p:nvSpPr>
          <p:cNvPr id="6" name="Rectangle 5"/>
          <p:cNvSpPr/>
          <p:nvPr/>
        </p:nvSpPr>
        <p:spPr>
          <a:xfrm>
            <a:off x="548640" y="1737360"/>
            <a:ext cx="7040880" cy="7498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420624"/>
          </a:xfrm>
          <a:prstGeom prst="rect">
            <a:avLst/>
          </a:prstGeom>
          <a:noFill/>
        </p:spPr>
        <p:txBody>
          <a:bodyPr wrap="square" anchor="t" lIns="73152" rIns="73152" tIns="73152" bIns="73152">
            <a:spAutoFit/>
          </a:bodyPr>
          <a:lstStyle/>
          <a:p>
            <a:pPr algn="l">
              <a:lnSpc>
                <a:spcPct val="100000"/>
              </a:lnSpc>
            </a:pPr>
            <a:r>
              <a:rPr sz="1423" b="0">
                <a:solidFill>
                  <a:srgbClr val="E6ECF2"/>
                </a:solidFill>
                <a:latin typeface="Consolas"/>
              </a:rPr>
              <a:t>&gt; db.food.find({"fruit" : {"$all" : ["apple", "banana"]}})</a:t>
            </a:r>
          </a:p>
        </p:txBody>
      </p:sp>
      <p:sp>
        <p:nvSpPr>
          <p:cNvPr id="9" name="Rectangle 8"/>
          <p:cNvSpPr/>
          <p:nvPr/>
        </p:nvSpPr>
        <p:spPr>
          <a:xfrm>
            <a:off x="548640" y="2578608"/>
            <a:ext cx="7040880" cy="373075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7860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2871216"/>
            <a:ext cx="6931152" cy="3401568"/>
          </a:xfrm>
          <a:prstGeom prst="rect">
            <a:avLst/>
          </a:prstGeom>
          <a:noFill/>
        </p:spPr>
        <p:txBody>
          <a:bodyPr wrap="square" anchor="t" lIns="73152" rIns="73152" tIns="73152" bIns="73152">
            <a:spAutoFit/>
          </a:bodyPr>
          <a:lstStyle/>
          <a:p>
            <a:pPr algn="l">
              <a:lnSpc>
                <a:spcPct val="100000"/>
              </a:lnSpc>
            </a:pPr>
            <a:r>
              <a:rPr sz="1680" b="0">
                <a:solidFill>
                  <a:srgbClr val="9FE0C9"/>
                </a:solidFill>
                <a:latin typeface="Consolas"/>
              </a:rPr>
              <a:t>[</a:t>
            </a:r>
          </a:p>
          <a:p>
            <a:pPr algn="l">
              <a:lnSpc>
                <a:spcPct val="100000"/>
              </a:lnSpc>
            </a:pPr>
            <a:r>
              <a:rPr sz="1680" b="0">
                <a:solidFill>
                  <a:srgbClr val="9FE0C9"/>
                </a:solidFill>
                <a:latin typeface="Consolas"/>
              </a:rPr>
              <a:t>  { _id: 1, fruit: [ 'apple', 'banana', 'peach' ] },</a:t>
            </a:r>
          </a:p>
          <a:p>
            <a:pPr algn="l">
              <a:lnSpc>
                <a:spcPct val="100000"/>
              </a:lnSpc>
            </a:pPr>
            <a:r>
              <a:rPr sz="1680" b="0">
                <a:solidFill>
                  <a:srgbClr val="9FE0C9"/>
                </a:solidFill>
                <a:latin typeface="Consolas"/>
              </a:rPr>
              <a:t>  { _id: 3, fruit: [ 'cherry', 'banana', 'apple' ] }</a:t>
            </a:r>
          </a:p>
          <a:p>
            <a:pPr algn="l">
              <a:lnSpc>
                <a:spcPct val="100000"/>
              </a:lnSpc>
            </a:pPr>
            <a:r>
              <a:rPr sz="1680" b="0">
                <a:solidFill>
                  <a:srgbClr val="9FE0C9"/>
                </a:solidFill>
                <a:latin typeface="Consolas"/>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Order does not matter; extra elements are fine.</a:t>
            </a:r>
          </a:p>
          <a:p>
            <a:pPr algn="l">
              <a:lnSpc>
                <a:spcPct val="115000"/>
              </a:lnSpc>
            </a:pPr>
            <a:r>
              <a:rPr sz="1800" b="1">
                <a:solidFill>
                  <a:srgbClr val="D9480F"/>
                </a:solidFill>
                <a:latin typeface="Arial"/>
              </a:rPr>
              <a:t>▸  </a:t>
            </a:r>
            <a:r>
              <a:rPr sz="1800" b="0">
                <a:solidFill>
                  <a:srgbClr val="14202E"/>
                </a:solidFill>
                <a:latin typeface="Arial"/>
              </a:rPr>
              <a:t>Document 2 has apple but no banana, so it is out.</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$size: match by array length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$size counts. Exactly.</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635" b="0">
                <a:solidFill>
                  <a:srgbClr val="E6ECF2"/>
                </a:solidFill>
                <a:latin typeface="Consolas"/>
              </a:rPr>
              <a:t>&gt; db.food.find({"fruit" : {"$size" : 4}})</a:t>
            </a:r>
          </a:p>
          <a:p>
            <a:pPr algn="l">
              <a:lnSpc>
                <a:spcPct val="100000"/>
              </a:lnSpc>
            </a:pPr>
            <a:r>
              <a:rPr sz="1635" b="0">
                <a:solidFill>
                  <a:srgbClr val="7F91A4"/>
                </a:solidFill>
                <a:latin typeface="Consolas"/>
              </a:rPr>
              <a:t>  // after the $push of mango</a:t>
            </a:r>
          </a:p>
        </p:txBody>
      </p:sp>
      <p:sp>
        <p:nvSpPr>
          <p:cNvPr id="9" name="Rectangle 8"/>
          <p:cNvSpPr/>
          <p:nvPr/>
        </p:nvSpPr>
        <p:spPr>
          <a:xfrm>
            <a:off x="548640"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538728"/>
            <a:ext cx="5376672" cy="2688336"/>
          </a:xfrm>
          <a:prstGeom prst="rect">
            <a:avLst/>
          </a:prstGeom>
          <a:noFill/>
        </p:spPr>
        <p:txBody>
          <a:bodyPr wrap="square" anchor="t" lIns="73152" rIns="73152" tIns="73152" bIns="73152">
            <a:spAutoFit/>
          </a:bodyPr>
          <a:lstStyle/>
          <a:p>
            <a:pPr algn="l">
              <a:lnSpc>
                <a:spcPct val="100000"/>
              </a:lnSpc>
            </a:pPr>
            <a:r>
              <a:rPr sz="1047" b="0">
                <a:solidFill>
                  <a:srgbClr val="9FE0C9"/>
                </a:solidFill>
                <a:latin typeface="Consolas"/>
              </a:rPr>
              <a:t>[ { _id: 2, fruit: [ 'apple', 'kumquat', 'orange', 'mango' ] } ]</a:t>
            </a:r>
          </a:p>
        </p:txBody>
      </p:sp>
      <p:sp>
        <p:nvSpPr>
          <p:cNvPr id="12" name="Rectangle 11"/>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314" b="0">
                <a:solidFill>
                  <a:srgbClr val="7F91A4"/>
                </a:solidFill>
                <a:latin typeface="Consolas"/>
              </a:rPr>
              <a:t>  // ranges are not allowed</a:t>
            </a:r>
          </a:p>
          <a:p>
            <a:pPr algn="l">
              <a:lnSpc>
                <a:spcPct val="100000"/>
              </a:lnSpc>
            </a:pPr>
            <a:r>
              <a:rPr sz="1314" b="0">
                <a:solidFill>
                  <a:srgbClr val="E6ECF2"/>
                </a:solidFill>
                <a:latin typeface="Consolas"/>
              </a:rPr>
              <a:t>&gt; db.food.find({"fruit" : {"$size" : {"$gt" : 3}}})</a:t>
            </a:r>
          </a:p>
        </p:txBody>
      </p:sp>
      <p:sp>
        <p:nvSpPr>
          <p:cNvPr id="15" name="Rectangle 14"/>
          <p:cNvSpPr/>
          <p:nvPr/>
        </p:nvSpPr>
        <p:spPr>
          <a:xfrm>
            <a:off x="6153912"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7" name="TextBox 16"/>
          <p:cNvSpPr txBox="1"/>
          <p:nvPr/>
        </p:nvSpPr>
        <p:spPr>
          <a:xfrm>
            <a:off x="6208776" y="3538728"/>
            <a:ext cx="5376672" cy="2688336"/>
          </a:xfrm>
          <a:prstGeom prst="rect">
            <a:avLst/>
          </a:prstGeom>
          <a:noFill/>
        </p:spPr>
        <p:txBody>
          <a:bodyPr wrap="square" anchor="t" lIns="73152" rIns="73152" tIns="73152" bIns="73152">
            <a:spAutoFit/>
          </a:bodyPr>
          <a:lstStyle/>
          <a:p>
            <a:pPr algn="l">
              <a:lnSpc>
                <a:spcPct val="100000"/>
              </a:lnSpc>
            </a:pPr>
            <a:r>
              <a:rPr sz="1000" b="0">
                <a:solidFill>
                  <a:srgbClr val="FFA99E"/>
                </a:solidFill>
                <a:latin typeface="Consolas"/>
              </a:rPr>
              <a:t>MongoServerError: Failed to parse $size. Expected a number in: $size: { $gt: 3 }</a:t>
            </a:r>
          </a:p>
        </p:txBody>
      </p:sp>
      <p:sp>
        <p:nvSpPr>
          <p:cNvPr id="18" name="TextBox 1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 mongosh 2.3.8 output</a:t>
            </a:r>
          </a:p>
        </p:txBody>
      </p:sp>
      <p:sp>
        <p:nvSpPr>
          <p:cNvPr id="19" name="TextBox 18"/>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6</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Arrays &amp; Embedded Documents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$slice · dot notation · embedded documents</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“Trim what you see. Reach inside with a dot.”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6  ·  ARRAYS &amp; EMBEDDED DOCUMENTS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$slice: first N or last N elements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Positive from the front, negative from the back.</a:t>
            </a:r>
          </a:p>
        </p:txBody>
      </p:sp>
      <p:sp>
        <p:nvSpPr>
          <p:cNvPr id="6" name="Rectangle 5"/>
          <p:cNvSpPr/>
          <p:nvPr/>
        </p:nvSpPr>
        <p:spPr>
          <a:xfrm>
            <a:off x="548640" y="1737360"/>
            <a:ext cx="7040880" cy="149047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161288"/>
          </a:xfrm>
          <a:prstGeom prst="rect">
            <a:avLst/>
          </a:prstGeom>
          <a:noFill/>
        </p:spPr>
        <p:txBody>
          <a:bodyPr wrap="square" anchor="t" lIns="73152" rIns="73152" tIns="73152" bIns="73152">
            <a:spAutoFit/>
          </a:bodyPr>
          <a:lstStyle/>
          <a:p>
            <a:pPr algn="l">
              <a:lnSpc>
                <a:spcPct val="100000"/>
              </a:lnSpc>
            </a:pPr>
            <a:r>
              <a:rPr sz="1386" b="0">
                <a:solidFill>
                  <a:srgbClr val="7F91A4"/>
                </a:solidFill>
                <a:latin typeface="Consolas"/>
              </a:rPr>
              <a:t>  // a post with 40 comments: c1 ... c40</a:t>
            </a:r>
          </a:p>
          <a:p>
            <a:pPr algn="l">
              <a:lnSpc>
                <a:spcPct val="100000"/>
              </a:lnSpc>
            </a:pPr>
            <a:r>
              <a:rPr sz="1386" b="0">
                <a:solidFill>
                  <a:srgbClr val="E6ECF2"/>
                </a:solidFill>
                <a:latin typeface="Consolas"/>
              </a:rPr>
              <a:t>&gt; db.posts.findOne({"_id" : 1}, {"comments" : {"$slice" : 3}})</a:t>
            </a:r>
          </a:p>
          <a:p>
            <a:pPr algn="l">
              <a:lnSpc>
                <a:spcPct val="100000"/>
              </a:lnSpc>
            </a:pPr>
            <a:r>
              <a:rPr sz="1386" b="0">
                <a:solidFill>
                  <a:srgbClr val="E6ECF2"/>
                </a:solidFill>
                <a:latin typeface="Consolas"/>
              </a:rPr>
              <a:t>  </a:t>
            </a:r>
          </a:p>
          <a:p>
            <a:pPr algn="l">
              <a:lnSpc>
                <a:spcPct val="100000"/>
              </a:lnSpc>
            </a:pPr>
            <a:r>
              <a:rPr sz="1386" b="0">
                <a:solidFill>
                  <a:srgbClr val="E6ECF2"/>
                </a:solidFill>
                <a:latin typeface="Consolas"/>
              </a:rPr>
              <a:t>&gt; db.posts.findOne({"_id" : 1}, {"comments" : {"$slice" : -3}})</a:t>
            </a:r>
          </a:p>
        </p:txBody>
      </p:sp>
      <p:sp>
        <p:nvSpPr>
          <p:cNvPr id="9" name="Rectangle 8"/>
          <p:cNvSpPr/>
          <p:nvPr/>
        </p:nvSpPr>
        <p:spPr>
          <a:xfrm>
            <a:off x="548640" y="3319272"/>
            <a:ext cx="7040880" cy="299008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319272"/>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611880"/>
            <a:ext cx="6931152" cy="2660904"/>
          </a:xfrm>
          <a:prstGeom prst="rect">
            <a:avLst/>
          </a:prstGeom>
          <a:noFill/>
        </p:spPr>
        <p:txBody>
          <a:bodyPr wrap="square" anchor="t" lIns="73152" rIns="73152" tIns="73152" bIns="73152">
            <a:spAutoFit/>
          </a:bodyPr>
          <a:lstStyle/>
          <a:p>
            <a:pPr algn="l">
              <a:lnSpc>
                <a:spcPct val="100000"/>
              </a:lnSpc>
            </a:pPr>
            <a:r>
              <a:rPr sz="1456" b="0">
                <a:solidFill>
                  <a:srgbClr val="9FE0C9"/>
                </a:solidFill>
                <a:latin typeface="Consolas"/>
              </a:rPr>
              <a:t>{ _id: 1, title: 'ADBS', comments: [ 'c1', 'c2', 'c3' ] }</a:t>
            </a:r>
          </a:p>
          <a:p>
            <a:pPr algn="l">
              <a:lnSpc>
                <a:spcPct val="100000"/>
              </a:lnSpc>
            </a:pPr>
            <a:r>
              <a:rPr sz="1456" b="0">
                <a:solidFill>
                  <a:srgbClr val="9FE0C9"/>
                </a:solidFill>
                <a:latin typeface="Consolas"/>
              </a:rPr>
              <a:t> </a:t>
            </a:r>
          </a:p>
          <a:p>
            <a:pPr algn="l">
              <a:lnSpc>
                <a:spcPct val="100000"/>
              </a:lnSpc>
            </a:pPr>
            <a:r>
              <a:rPr sz="1456" b="0">
                <a:solidFill>
                  <a:srgbClr val="9FE0C9"/>
                </a:solidFill>
                <a:latin typeface="Consolas"/>
              </a:rPr>
              <a:t>{ _id: 1, title: 'ADBS', comments: [ 'c38', 'c39', 'c40' ] }</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$slice goes in the projection (second argument).</a:t>
            </a:r>
          </a:p>
          <a:p>
            <a:pPr algn="l">
              <a:lnSpc>
                <a:spcPct val="115000"/>
              </a:lnSpc>
            </a:pPr>
            <a:r>
              <a:rPr sz="1800" b="1">
                <a:solidFill>
                  <a:srgbClr val="D9480F"/>
                </a:solidFill>
                <a:latin typeface="Arial"/>
              </a:rPr>
              <a:t>▸  </a:t>
            </a:r>
            <a:r>
              <a:rPr sz="1800" b="0">
                <a:solidFill>
                  <a:srgbClr val="14202E"/>
                </a:solidFill>
                <a:latin typeface="Arial"/>
              </a:rPr>
              <a:t>It trims the result; the stored array is unchanged.</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6  ·  ARRAYS &amp; EMBEDDED DOCUMENTS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$slice with [skip, limit]: a page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Skip 23, take 10.</a:t>
            </a:r>
          </a:p>
        </p:txBody>
      </p:sp>
      <p:sp>
        <p:nvSpPr>
          <p:cNvPr id="6" name="Rectangle 5"/>
          <p:cNvSpPr/>
          <p:nvPr/>
        </p:nvSpPr>
        <p:spPr>
          <a:xfrm>
            <a:off x="548640" y="1737360"/>
            <a:ext cx="7040880" cy="99669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667512"/>
          </a:xfrm>
          <a:prstGeom prst="rect">
            <a:avLst/>
          </a:prstGeom>
          <a:noFill/>
        </p:spPr>
        <p:txBody>
          <a:bodyPr wrap="square" anchor="t" lIns="73152" rIns="73152" tIns="73152" bIns="73152">
            <a:spAutoFit/>
          </a:bodyPr>
          <a:lstStyle/>
          <a:p>
            <a:pPr algn="l">
              <a:lnSpc>
                <a:spcPct val="100000"/>
              </a:lnSpc>
            </a:pPr>
            <a:r>
              <a:rPr sz="1535" b="0">
                <a:solidFill>
                  <a:srgbClr val="E6ECF2"/>
                </a:solidFill>
                <a:latin typeface="Consolas"/>
              </a:rPr>
              <a:t>&gt; db.posts.findOne({"_id" : 1},</a:t>
            </a:r>
          </a:p>
          <a:p>
            <a:pPr algn="l">
              <a:lnSpc>
                <a:spcPct val="100000"/>
              </a:lnSpc>
            </a:pPr>
            <a:r>
              <a:rPr sz="1535" b="0">
                <a:solidFill>
                  <a:srgbClr val="E6ECF2"/>
                </a:solidFill>
                <a:latin typeface="Consolas"/>
              </a:rPr>
              <a:t>    {"comments" : {"$slice" : [23, 10]}})</a:t>
            </a:r>
          </a:p>
        </p:txBody>
      </p:sp>
      <p:sp>
        <p:nvSpPr>
          <p:cNvPr id="9" name="Rectangle 8"/>
          <p:cNvSpPr/>
          <p:nvPr/>
        </p:nvSpPr>
        <p:spPr>
          <a:xfrm>
            <a:off x="548640" y="2825496"/>
            <a:ext cx="7040880" cy="348386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25496"/>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118104"/>
            <a:ext cx="6931152" cy="3154680"/>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a:t>
            </a:r>
          </a:p>
          <a:p>
            <a:pPr algn="l">
              <a:lnSpc>
                <a:spcPct val="100000"/>
              </a:lnSpc>
            </a:pPr>
            <a:r>
              <a:rPr sz="1800" b="0">
                <a:solidFill>
                  <a:srgbClr val="9FE0C9"/>
                </a:solidFill>
                <a:latin typeface="Consolas"/>
              </a:rPr>
              <a:t>  _id: 1,</a:t>
            </a:r>
          </a:p>
          <a:p>
            <a:pPr algn="l">
              <a:lnSpc>
                <a:spcPct val="100000"/>
              </a:lnSpc>
            </a:pPr>
            <a:r>
              <a:rPr sz="1800" b="0">
                <a:solidFill>
                  <a:srgbClr val="9FE0C9"/>
                </a:solidFill>
                <a:latin typeface="Consolas"/>
              </a:rPr>
              <a:t>  title: 'ADBS',</a:t>
            </a:r>
          </a:p>
          <a:p>
            <a:pPr algn="l">
              <a:lnSpc>
                <a:spcPct val="100000"/>
              </a:lnSpc>
            </a:pPr>
            <a:r>
              <a:rPr sz="1800" b="0">
                <a:solidFill>
                  <a:srgbClr val="9FE0C9"/>
                </a:solidFill>
                <a:latin typeface="Consolas"/>
              </a:rPr>
              <a:t>  comments: [</a:t>
            </a:r>
          </a:p>
          <a:p>
            <a:pPr algn="l">
              <a:lnSpc>
                <a:spcPct val="100000"/>
              </a:lnSpc>
            </a:pPr>
            <a:r>
              <a:rPr sz="1800" b="0">
                <a:solidFill>
                  <a:srgbClr val="9FE0C9"/>
                </a:solidFill>
                <a:latin typeface="Consolas"/>
              </a:rPr>
              <a:t>    'c24', 'c25', 'c26',</a:t>
            </a:r>
          </a:p>
          <a:p>
            <a:pPr algn="l">
              <a:lnSpc>
                <a:spcPct val="100000"/>
              </a:lnSpc>
            </a:pPr>
            <a:r>
              <a:rPr sz="1800" b="0">
                <a:solidFill>
                  <a:srgbClr val="9FE0C9"/>
                </a:solidFill>
                <a:latin typeface="Consolas"/>
              </a:rPr>
              <a:t>    'c27', 'c28', 'c29',</a:t>
            </a:r>
          </a:p>
          <a:p>
            <a:pPr algn="l">
              <a:lnSpc>
                <a:spcPct val="100000"/>
              </a:lnSpc>
            </a:pPr>
            <a:r>
              <a:rPr sz="1800" b="0">
                <a:solidFill>
                  <a:srgbClr val="9FE0C9"/>
                </a:solidFill>
                <a:latin typeface="Consolas"/>
              </a:rPr>
              <a:t>    'c30', 'c31', 'c32',</a:t>
            </a:r>
          </a:p>
          <a:p>
            <a:pPr algn="l">
              <a:lnSpc>
                <a:spcPct val="100000"/>
              </a:lnSpc>
            </a:pPr>
            <a:r>
              <a:rPr sz="1800" b="0">
                <a:solidFill>
                  <a:srgbClr val="9FE0C9"/>
                </a:solidFill>
                <a:latin typeface="Consolas"/>
              </a:rPr>
              <a:t>    'c33'</a:t>
            </a:r>
          </a:p>
          <a:p>
            <a:pPr algn="l">
              <a:lnSpc>
                <a:spcPct val="100000"/>
              </a:lnSpc>
            </a:pPr>
            <a:r>
              <a:rPr sz="1800" b="0">
                <a:solidFill>
                  <a:srgbClr val="9FE0C9"/>
                </a:solidFill>
                <a:latin typeface="Consolas"/>
              </a:rPr>
              <a:t>  ]</a:t>
            </a:r>
          </a:p>
          <a:p>
            <a:pPr algn="l">
              <a:lnSpc>
                <a:spcPct val="100000"/>
              </a:lnSpc>
            </a:pPr>
            <a:r>
              <a:rPr sz="1800" b="0">
                <a:solidFill>
                  <a:srgbClr val="9FE0C9"/>
                </a:solidFill>
                <a:latin typeface="Consolas"/>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Skips the first 23, returns the 24th to 33rd.</a:t>
            </a:r>
          </a:p>
          <a:p>
            <a:pPr algn="l">
              <a:lnSpc>
                <a:spcPct val="115000"/>
              </a:lnSpc>
            </a:pPr>
            <a:r>
              <a:rPr sz="1800" b="1">
                <a:solidFill>
                  <a:srgbClr val="D9480F"/>
                </a:solidFill>
                <a:latin typeface="Arial"/>
              </a:rPr>
              <a:t>▸  </a:t>
            </a:r>
            <a:r>
              <a:rPr sz="1800" b="0">
                <a:solidFill>
                  <a:srgbClr val="14202E"/>
                </a:solidFill>
                <a:latin typeface="Arial"/>
              </a:rPr>
              <a:t>Fewer than 33 elements? It returns as many as exist.</a:t>
            </a:r>
          </a:p>
        </p:txBody>
      </p:sp>
      <p:sp>
        <p:nvSpPr>
          <p:cNvPr id="13" name="TextBox 12"/>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6  ·  ARRAYS &amp; EMBEDDED DOCUMENTS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Embedded documents: query with dot notation</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Use the dot to reach inside.</a:t>
            </a:r>
          </a:p>
        </p:txBody>
      </p:sp>
      <p:sp>
        <p:nvSpPr>
          <p:cNvPr id="6" name="Rectangle 5"/>
          <p:cNvSpPr/>
          <p:nvPr/>
        </p:nvSpPr>
        <p:spPr>
          <a:xfrm>
            <a:off x="548640"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088136"/>
          </a:xfrm>
          <a:prstGeom prst="rect">
            <a:avLst/>
          </a:prstGeom>
          <a:noFill/>
        </p:spPr>
        <p:txBody>
          <a:bodyPr wrap="square" anchor="t" lIns="73152" rIns="73152" tIns="73152" bIns="73152">
            <a:spAutoFit/>
          </a:bodyPr>
          <a:lstStyle/>
          <a:p>
            <a:pPr algn="l">
              <a:lnSpc>
                <a:spcPct val="100000"/>
              </a:lnSpc>
            </a:pPr>
            <a:r>
              <a:rPr sz="1176" b="0">
                <a:solidFill>
                  <a:srgbClr val="E6ECF2"/>
                </a:solidFill>
                <a:latin typeface="Consolas"/>
              </a:rPr>
              <a:t>&gt; db.people.find({"name.first" : "John",</a:t>
            </a:r>
          </a:p>
          <a:p>
            <a:pPr algn="l">
              <a:lnSpc>
                <a:spcPct val="100000"/>
              </a:lnSpc>
            </a:pPr>
            <a:r>
              <a:rPr sz="1176" b="0">
                <a:solidFill>
                  <a:srgbClr val="E6ECF2"/>
                </a:solidFill>
                <a:latin typeface="Consolas"/>
              </a:rPr>
              <a:t>                  "name.last" : "Escalona"}, {"_id" : 0})</a:t>
            </a:r>
          </a:p>
        </p:txBody>
      </p:sp>
      <p:sp>
        <p:nvSpPr>
          <p:cNvPr id="9" name="Rectangle 8"/>
          <p:cNvSpPr/>
          <p:nvPr/>
        </p:nvSpPr>
        <p:spPr>
          <a:xfrm>
            <a:off x="548640"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3538728"/>
            <a:ext cx="5376672" cy="2688336"/>
          </a:xfrm>
          <a:prstGeom prst="rect">
            <a:avLst/>
          </a:prstGeom>
          <a:noFill/>
        </p:spPr>
        <p:txBody>
          <a:bodyPr wrap="square" anchor="t" lIns="73152" rIns="73152" tIns="73152" bIns="73152">
            <a:spAutoFit/>
          </a:bodyPr>
          <a:lstStyle/>
          <a:p>
            <a:pPr algn="l">
              <a:lnSpc>
                <a:spcPct val="100000"/>
              </a:lnSpc>
            </a:pPr>
            <a:r>
              <a:rPr sz="1155" b="0">
                <a:solidFill>
                  <a:srgbClr val="9FE0C9"/>
                </a:solidFill>
                <a:latin typeface="Consolas"/>
              </a:rPr>
              <a:t>[ { name: { first: 'John', last: 'Escalona' }, age: 45 } ]</a:t>
            </a:r>
          </a:p>
        </p:txBody>
      </p:sp>
      <p:sp>
        <p:nvSpPr>
          <p:cNvPr id="12" name="Rectangle 11"/>
          <p:cNvSpPr/>
          <p:nvPr/>
        </p:nvSpPr>
        <p:spPr>
          <a:xfrm>
            <a:off x="6153912" y="1737360"/>
            <a:ext cx="548640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1088136"/>
          </a:xfrm>
          <a:prstGeom prst="rect">
            <a:avLst/>
          </a:prstGeom>
          <a:noFill/>
        </p:spPr>
        <p:txBody>
          <a:bodyPr wrap="square" anchor="t" lIns="73152" rIns="73152" tIns="73152" bIns="73152">
            <a:spAutoFit/>
          </a:bodyPr>
          <a:lstStyle/>
          <a:p>
            <a:pPr algn="l">
              <a:lnSpc>
                <a:spcPct val="100000"/>
              </a:lnSpc>
            </a:pPr>
            <a:r>
              <a:rPr sz="1457" b="0">
                <a:solidFill>
                  <a:srgbClr val="7F91A4"/>
                </a:solidFill>
                <a:latin typeface="Consolas"/>
              </a:rPr>
              <a:t>  // update inside a subdocument</a:t>
            </a:r>
          </a:p>
          <a:p>
            <a:pPr algn="l">
              <a:lnSpc>
                <a:spcPct val="100000"/>
              </a:lnSpc>
            </a:pPr>
            <a:r>
              <a:rPr sz="1457" b="0">
                <a:solidFill>
                  <a:srgbClr val="E6ECF2"/>
                </a:solidFill>
                <a:latin typeface="Consolas"/>
              </a:rPr>
              <a:t>&gt; db.people.updateOne({"name.first" : "John"},</a:t>
            </a:r>
          </a:p>
          <a:p>
            <a:pPr algn="l">
              <a:lnSpc>
                <a:spcPct val="100000"/>
              </a:lnSpc>
            </a:pPr>
            <a:r>
              <a:rPr sz="1457" b="0">
                <a:solidFill>
                  <a:srgbClr val="E6ECF2"/>
                </a:solidFill>
                <a:latin typeface="Consolas"/>
              </a:rPr>
              <a:t>    {"$set" : {"name.last" : "Tagayon"}})</a:t>
            </a:r>
          </a:p>
        </p:txBody>
      </p:sp>
      <p:sp>
        <p:nvSpPr>
          <p:cNvPr id="15" name="Rectangle 14"/>
          <p:cNvSpPr/>
          <p:nvPr/>
        </p:nvSpPr>
        <p:spPr>
          <a:xfrm>
            <a:off x="6153912" y="3246120"/>
            <a:ext cx="5486400" cy="30175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324612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7" name="TextBox 16"/>
          <p:cNvSpPr txBox="1"/>
          <p:nvPr/>
        </p:nvSpPr>
        <p:spPr>
          <a:xfrm>
            <a:off x="6208776" y="3538728"/>
            <a:ext cx="5376672" cy="2688336"/>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a:t>
            </a:r>
          </a:p>
          <a:p>
            <a:pPr algn="l">
              <a:lnSpc>
                <a:spcPct val="100000"/>
              </a:lnSpc>
            </a:pPr>
            <a:r>
              <a:rPr sz="1800" b="0">
                <a:solidFill>
                  <a:srgbClr val="9FE0C9"/>
                </a:solidFill>
                <a:latin typeface="Consolas"/>
              </a:rPr>
              <a:t>  acknowledged: true,</a:t>
            </a:r>
          </a:p>
          <a:p>
            <a:pPr algn="l">
              <a:lnSpc>
                <a:spcPct val="100000"/>
              </a:lnSpc>
            </a:pPr>
            <a:r>
              <a:rPr sz="1800" b="0">
                <a:solidFill>
                  <a:srgbClr val="9FE0C9"/>
                </a:solidFill>
                <a:latin typeface="Consolas"/>
              </a:rPr>
              <a:t>  insertedId: null,</a:t>
            </a:r>
          </a:p>
          <a:p>
            <a:pPr algn="l">
              <a:lnSpc>
                <a:spcPct val="100000"/>
              </a:lnSpc>
            </a:pPr>
            <a:r>
              <a:rPr sz="1800" b="0">
                <a:solidFill>
                  <a:srgbClr val="9FE0C9"/>
                </a:solidFill>
                <a:latin typeface="Consolas"/>
              </a:rPr>
              <a:t>  matchedCount: 1,</a:t>
            </a:r>
          </a:p>
          <a:p>
            <a:pPr algn="l">
              <a:lnSpc>
                <a:spcPct val="100000"/>
              </a:lnSpc>
            </a:pPr>
            <a:r>
              <a:rPr sz="1800" b="0">
                <a:solidFill>
                  <a:srgbClr val="9FE0C9"/>
                </a:solidFill>
                <a:latin typeface="Consolas"/>
              </a:rPr>
              <a:t>  modifiedCount: 1,</a:t>
            </a:r>
          </a:p>
          <a:p>
            <a:pPr algn="l">
              <a:lnSpc>
                <a:spcPct val="100000"/>
              </a:lnSpc>
            </a:pPr>
            <a:r>
              <a:rPr sz="1800" b="0">
                <a:solidFill>
                  <a:srgbClr val="9FE0C9"/>
                </a:solidFill>
                <a:latin typeface="Consolas"/>
              </a:rPr>
              <a:t>  upsertedCount: 0</a:t>
            </a:r>
          </a:p>
          <a:p>
            <a:pPr algn="l">
              <a:lnSpc>
                <a:spcPct val="100000"/>
              </a:lnSpc>
            </a:pPr>
            <a:r>
              <a:rPr sz="1800" b="0">
                <a:solidFill>
                  <a:srgbClr val="9FE0C9"/>
                </a:solidFill>
                <a:latin typeface="Consolas"/>
              </a:rPr>
              <a:t>}</a:t>
            </a:r>
          </a:p>
        </p:txBody>
      </p:sp>
      <p:sp>
        <p:nvSpPr>
          <p:cNvPr id="18" name="TextBox 1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p.2, p.4</a:t>
            </a:r>
          </a:p>
        </p:txBody>
      </p:sp>
      <p:sp>
        <p:nvSpPr>
          <p:cNvPr id="19" name="TextBox 18"/>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B42318"/>
                </a:solidFill>
                <a:latin typeface="Arial"/>
              </a:rPr>
              <a:t>PART 6  ·  ARRAYS &amp; EMBEDDED DOCUMENTS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Trap: whole-document match is exact and ordered</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Same fields, wrong order, zero results.</a:t>
            </a:r>
          </a:p>
        </p:txBody>
      </p:sp>
      <p:sp>
        <p:nvSpPr>
          <p:cNvPr id="6" name="Rectangle 5"/>
          <p:cNvSpPr/>
          <p:nvPr/>
        </p:nvSpPr>
        <p:spPr>
          <a:xfrm>
            <a:off x="548640" y="1737360"/>
            <a:ext cx="7040880" cy="198424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655064"/>
          </a:xfrm>
          <a:prstGeom prst="rect">
            <a:avLst/>
          </a:prstGeom>
          <a:noFill/>
        </p:spPr>
        <p:txBody>
          <a:bodyPr wrap="square" anchor="t" lIns="73152" rIns="73152" tIns="73152" bIns="73152">
            <a:spAutoFit/>
          </a:bodyPr>
          <a:lstStyle/>
          <a:p>
            <a:pPr algn="l">
              <a:lnSpc>
                <a:spcPct val="100000"/>
              </a:lnSpc>
            </a:pPr>
            <a:r>
              <a:rPr sz="1506" b="0">
                <a:solidFill>
                  <a:srgbClr val="7F91A4"/>
                </a:solidFill>
                <a:latin typeface="Consolas"/>
              </a:rPr>
              <a:t>  // stored as {first: "John", last: "Escalona"}</a:t>
            </a:r>
          </a:p>
          <a:p>
            <a:pPr algn="l">
              <a:lnSpc>
                <a:spcPct val="100000"/>
              </a:lnSpc>
            </a:pPr>
            <a:r>
              <a:rPr sz="1506" b="0">
                <a:solidFill>
                  <a:srgbClr val="E6ECF2"/>
                </a:solidFill>
                <a:latin typeface="Consolas"/>
              </a:rPr>
              <a:t>&gt; db.people.find({"name" : {"first" : "John",</a:t>
            </a:r>
          </a:p>
          <a:p>
            <a:pPr algn="l">
              <a:lnSpc>
                <a:spcPct val="100000"/>
              </a:lnSpc>
            </a:pPr>
            <a:r>
              <a:rPr sz="1506" b="0">
                <a:solidFill>
                  <a:srgbClr val="E6ECF2"/>
                </a:solidFill>
                <a:latin typeface="Consolas"/>
              </a:rPr>
              <a:t>                            "last" : "Escalona"}}).count()</a:t>
            </a:r>
          </a:p>
          <a:p>
            <a:pPr algn="l">
              <a:lnSpc>
                <a:spcPct val="100000"/>
              </a:lnSpc>
            </a:pPr>
            <a:r>
              <a:rPr sz="1506" b="0">
                <a:solidFill>
                  <a:srgbClr val="E6ECF2"/>
                </a:solidFill>
                <a:latin typeface="Consolas"/>
              </a:rPr>
              <a:t>  </a:t>
            </a:r>
          </a:p>
          <a:p>
            <a:pPr algn="l">
              <a:lnSpc>
                <a:spcPct val="100000"/>
              </a:lnSpc>
            </a:pPr>
            <a:r>
              <a:rPr sz="1506" b="0">
                <a:solidFill>
                  <a:srgbClr val="E6ECF2"/>
                </a:solidFill>
                <a:latin typeface="Consolas"/>
              </a:rPr>
              <a:t>&gt; db.people.find({"name" : {"last" : "Escalona",</a:t>
            </a:r>
          </a:p>
          <a:p>
            <a:pPr algn="l">
              <a:lnSpc>
                <a:spcPct val="100000"/>
              </a:lnSpc>
            </a:pPr>
            <a:r>
              <a:rPr sz="1506" b="0">
                <a:solidFill>
                  <a:srgbClr val="E6ECF2"/>
                </a:solidFill>
                <a:latin typeface="Consolas"/>
              </a:rPr>
              <a:t>                            "first" : "John"}}).count()</a:t>
            </a:r>
          </a:p>
        </p:txBody>
      </p:sp>
      <p:sp>
        <p:nvSpPr>
          <p:cNvPr id="9" name="Rectangle 8"/>
          <p:cNvSpPr/>
          <p:nvPr/>
        </p:nvSpPr>
        <p:spPr>
          <a:xfrm>
            <a:off x="548640" y="3813048"/>
            <a:ext cx="7040880" cy="249631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813048"/>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REAL OUTPUT</a:t>
            </a:r>
          </a:p>
        </p:txBody>
      </p:sp>
      <p:sp>
        <p:nvSpPr>
          <p:cNvPr id="11" name="TextBox 10"/>
          <p:cNvSpPr txBox="1"/>
          <p:nvPr/>
        </p:nvSpPr>
        <p:spPr>
          <a:xfrm>
            <a:off x="603504" y="4105656"/>
            <a:ext cx="6931152" cy="2167128"/>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nsolas"/>
              </a:rPr>
              <a:t>1   </a:t>
            </a:r>
            <a:r>
              <a:rPr sz="1800" b="0">
                <a:solidFill>
                  <a:srgbClr val="F2B27A"/>
                </a:solidFill>
                <a:latin typeface="Consolas"/>
              </a:rPr>
              <a:t>&lt;- exact match, same order</a:t>
            </a:r>
          </a:p>
          <a:p>
            <a:pPr algn="l">
              <a:lnSpc>
                <a:spcPct val="100000"/>
              </a:lnSpc>
            </a:pPr>
            <a:r>
              <a:rPr sz="1800" b="0">
                <a:solidFill>
                  <a:srgbClr val="9FE0C9"/>
                </a:solidFill>
                <a:latin typeface="Consolas"/>
              </a:rPr>
              <a:t> </a:t>
            </a:r>
          </a:p>
          <a:p>
            <a:pPr algn="l">
              <a:lnSpc>
                <a:spcPct val="100000"/>
              </a:lnSpc>
            </a:pPr>
            <a:r>
              <a:rPr sz="1800" b="0">
                <a:solidFill>
                  <a:srgbClr val="9FE0C9"/>
                </a:solidFill>
                <a:latin typeface="Consolas"/>
              </a:rPr>
              <a:t>0   </a:t>
            </a:r>
            <a:r>
              <a:rPr sz="1800" b="0">
                <a:solidFill>
                  <a:srgbClr val="F2B27A"/>
                </a:solidFill>
                <a:latin typeface="Consolas"/>
              </a:rPr>
              <a:t>&lt;- same fields, different order: no match</a:t>
            </a:r>
          </a:p>
        </p:txBody>
      </p:sp>
      <p:sp>
        <p:nvSpPr>
          <p:cNvPr id="12" name="Rectangle 11"/>
          <p:cNvSpPr/>
          <p:nvPr/>
        </p:nvSpPr>
        <p:spPr>
          <a:xfrm>
            <a:off x="7863840" y="1737360"/>
            <a:ext cx="3916375" cy="384048"/>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737360"/>
            <a:ext cx="3916375" cy="384048"/>
          </a:xfrm>
          <a:prstGeom prst="rect">
            <a:avLst/>
          </a:prstGeom>
          <a:noFill/>
        </p:spPr>
        <p:txBody>
          <a:bodyPr wrap="square" anchor="ctr" lIns="109728" rIns="109728" tIns="109728" bIns="109728">
            <a:spAutoFit/>
          </a:bodyPr>
          <a:lstStyle/>
          <a:p>
            <a:pPr algn="l">
              <a:lnSpc>
                <a:spcPct val="110000"/>
              </a:lnSpc>
            </a:pPr>
            <a:r>
              <a:rPr sz="1300" b="1">
                <a:solidFill>
                  <a:srgbClr val="FFFFFF"/>
                </a:solidFill>
                <a:latin typeface="Arial"/>
              </a:rPr>
              <a:t>WHAT GOES WRONG</a:t>
            </a:r>
          </a:p>
        </p:txBody>
      </p:sp>
      <p:sp>
        <p:nvSpPr>
          <p:cNvPr id="14" name="TextBox 13"/>
          <p:cNvSpPr txBox="1"/>
          <p:nvPr/>
        </p:nvSpPr>
        <p:spPr>
          <a:xfrm>
            <a:off x="7863840" y="2240280"/>
            <a:ext cx="3916375" cy="40233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Matching a whole subdocument needs the exact fields in the exact order.</a:t>
            </a:r>
          </a:p>
          <a:p>
            <a:pPr algn="l">
              <a:lnSpc>
                <a:spcPct val="115000"/>
              </a:lnSpc>
            </a:pPr>
            <a:r>
              <a:rPr sz="1800" b="1">
                <a:solidFill>
                  <a:srgbClr val="D9480F"/>
                </a:solidFill>
                <a:latin typeface="Arial"/>
              </a:rPr>
              <a:t>▸  </a:t>
            </a:r>
            <a:r>
              <a:rPr sz="1800" b="0">
                <a:solidFill>
                  <a:srgbClr val="14202E"/>
                </a:solidFill>
                <a:latin typeface="Arial"/>
              </a:rPr>
              <a:t>Dot notation avoids this. Prefer it.</a:t>
            </a:r>
          </a:p>
        </p:txBody>
      </p:sp>
      <p:sp>
        <p:nvSpPr>
          <p:cNvPr id="15" name="TextBox 14"/>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mongosh 2.3.8 output</a:t>
            </a:r>
          </a:p>
        </p:txBody>
      </p:sp>
      <p:sp>
        <p:nvSpPr>
          <p:cNvPr id="16" name="TextBox 15"/>
          <p:cNvSpPr txBox="1"/>
          <p:nvPr/>
        </p:nvSpPr>
        <p:spPr>
          <a:xfrm>
            <a:off x="8138160" y="6419088"/>
            <a:ext cx="34290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 Verified live on MongoDB 8.0.4 + mongosh 2.3.8 (2026-10-30)</a:t>
            </a:r>
          </a:p>
        </p:txBody>
      </p:sp>
      <p:sp>
        <p:nvSpPr>
          <p:cNvPr id="17" name="TextBox 1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7</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Cloud Computing &amp; Implementation Types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public · private · hybrid</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“Cloud type = where it lives + who controls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7  ·  CLOUD COMPUTING &amp; IMPLEMENTATION TYPES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What cloud computing is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If it has the web, it has your data.</a:t>
            </a:r>
          </a:p>
        </p:txBody>
      </p:sp>
      <p:sp>
        <p:nvSpPr>
          <p:cNvPr id="6" name="TextBox 5"/>
          <p:cNvSpPr txBox="1"/>
          <p:nvPr/>
        </p:nvSpPr>
        <p:spPr>
          <a:xfrm>
            <a:off x="548640" y="1920240"/>
            <a:ext cx="10972800" cy="4206240"/>
          </a:xfrm>
          <a:prstGeom prst="rect">
            <a:avLst/>
          </a:prstGeom>
          <a:noFill/>
        </p:spPr>
        <p:txBody>
          <a:bodyPr wrap="square" anchor="t" lIns="73152" rIns="73152" tIns="73152" bIns="73152">
            <a:spAutoFit/>
          </a:bodyPr>
          <a:lstStyle/>
          <a:p>
            <a:pPr algn="l">
              <a:lnSpc>
                <a:spcPct val="115000"/>
              </a:lnSpc>
            </a:pPr>
            <a:r>
              <a:rPr sz="2200" b="1">
                <a:solidFill>
                  <a:srgbClr val="D9480F"/>
                </a:solidFill>
                <a:latin typeface="Arial"/>
              </a:rPr>
              <a:t>▸  </a:t>
            </a:r>
            <a:r>
              <a:rPr sz="2200" b="0">
                <a:solidFill>
                  <a:srgbClr val="14202E"/>
                </a:solidFill>
                <a:latin typeface="Arial"/>
              </a:rPr>
              <a:t>Cloud computing is the delivery of different services through the Internet: data storage, servers, databases, networking and software.</a:t>
            </a:r>
          </a:p>
          <a:p>
            <a:pPr algn="l">
              <a:lnSpc>
                <a:spcPct val="115000"/>
              </a:lnSpc>
            </a:pPr>
            <a:r>
              <a:rPr sz="2200" b="1">
                <a:solidFill>
                  <a:srgbClr val="D9480F"/>
                </a:solidFill>
                <a:latin typeface="Arial"/>
              </a:rPr>
              <a:t>▸  </a:t>
            </a:r>
            <a:r>
              <a:rPr sz="2200" b="0">
                <a:solidFill>
                  <a:srgbClr val="14202E"/>
                </a:solidFill>
                <a:latin typeface="Arial"/>
              </a:rPr>
              <a:t>Instead of a local hard drive, files are saved to a remote database.</a:t>
            </a:r>
          </a:p>
          <a:p>
            <a:pPr algn="l">
              <a:lnSpc>
                <a:spcPct val="115000"/>
              </a:lnSpc>
            </a:pPr>
            <a:r>
              <a:rPr sz="2200" b="1">
                <a:solidFill>
                  <a:srgbClr val="D9480F"/>
                </a:solidFill>
                <a:latin typeface="Arial"/>
              </a:rPr>
              <a:t>▸  </a:t>
            </a:r>
            <a:r>
              <a:rPr sz="2200" b="0">
                <a:solidFill>
                  <a:srgbClr val="14202E"/>
                </a:solidFill>
                <a:latin typeface="Arial"/>
              </a:rPr>
              <a:t>Any device with web access can reach the data and the programs that run it.</a:t>
            </a:r>
          </a:p>
        </p:txBody>
      </p:sp>
      <p:sp>
        <p:nvSpPr>
          <p:cNvPr id="7" name="TextBox 6"/>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a:t>
            </a:r>
          </a:p>
        </p:txBody>
      </p:sp>
      <p:sp>
        <p:nvSpPr>
          <p:cNvPr id="8" name="TextBox 7"/>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7  ·  CLOUD COMPUTING &amp; IMPLEMENTATION TYPES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Three implementation types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Rent it, own it, or mix both.</a:t>
            </a:r>
          </a:p>
        </p:txBody>
      </p:sp>
      <p:graphicFrame>
        <p:nvGraphicFramePr>
          <p:cNvPr id="6" name="Table 5"/>
          <p:cNvGraphicFramePr>
            <a:graphicFrameLocks noGrp="1"/>
          </p:cNvGraphicFramePr>
          <p:nvPr/>
        </p:nvGraphicFramePr>
        <p:xfrm>
          <a:off x="548640" y="1828800"/>
          <a:ext cx="11094415" cy="3474720"/>
        </p:xfrm>
        <a:graphic>
          <a:graphicData uri="http://schemas.openxmlformats.org/drawingml/2006/table">
            <a:tbl>
              <a:tblPr firstRow="1" bandRow="1">
                <a:tableStyleId>{5C22544A-7EE6-4342-B048-85BDC9FD1C3A}</a:tableStyleId>
              </a:tblPr>
              <a:tblGrid>
                <a:gridCol w="2773603"/>
                <a:gridCol w="2773603"/>
                <a:gridCol w="2773603"/>
                <a:gridCol w="2773606"/>
              </a:tblGrid>
              <a:tr h="868680">
                <a:tc>
                  <a:txBody>
                    <a:bodyPr/>
                    <a:lstStyle/>
                    <a:p>
                      <a:r>
                        <a:rPr sz="1600" b="1">
                          <a:solidFill>
                            <a:srgbClr val="FFFFFF"/>
                          </a:solidFill>
                          <a:latin typeface="Arial"/>
                        </a:rPr>
                        <a:t>Type</a:t>
                      </a:r>
                    </a:p>
                  </a:txBody>
                  <a:tcPr>
                    <a:solidFill>
                      <a:srgbClr val="14202E"/>
                    </a:solidFill>
                  </a:tcPr>
                </a:tc>
                <a:tc>
                  <a:txBody>
                    <a:bodyPr/>
                    <a:lstStyle/>
                    <a:p>
                      <a:r>
                        <a:rPr sz="1600" b="1">
                          <a:solidFill>
                            <a:srgbClr val="FFFFFF"/>
                          </a:solidFill>
                          <a:latin typeface="Arial"/>
                        </a:rPr>
                        <a:t>Built / controlled by</a:t>
                      </a:r>
                    </a:p>
                  </a:txBody>
                  <a:tcPr>
                    <a:solidFill>
                      <a:srgbClr val="14202E"/>
                    </a:solidFill>
                  </a:tcPr>
                </a:tc>
                <a:tc>
                  <a:txBody>
                    <a:bodyPr/>
                    <a:lstStyle/>
                    <a:p>
                      <a:r>
                        <a:rPr sz="1600" b="1">
                          <a:solidFill>
                            <a:srgbClr val="FFFFFF"/>
                          </a:solidFill>
                          <a:latin typeface="Arial"/>
                        </a:rPr>
                        <a:t>Handout example</a:t>
                      </a:r>
                    </a:p>
                  </a:txBody>
                  <a:tcPr>
                    <a:solidFill>
                      <a:srgbClr val="14202E"/>
                    </a:solidFill>
                  </a:tcPr>
                </a:tc>
                <a:tc>
                  <a:txBody>
                    <a:bodyPr/>
                    <a:lstStyle/>
                    <a:p>
                      <a:r>
                        <a:rPr sz="1600" b="1">
                          <a:solidFill>
                            <a:srgbClr val="FFFFFF"/>
                          </a:solidFill>
                          <a:latin typeface="Arial"/>
                        </a:rPr>
                        <a:t>Watch out</a:t>
                      </a:r>
                    </a:p>
                  </a:txBody>
                  <a:tcPr>
                    <a:solidFill>
                      <a:srgbClr val="14202E"/>
                    </a:solidFill>
                  </a:tcPr>
                </a:tc>
              </a:tr>
              <a:tr h="868680">
                <a:tc>
                  <a:txBody>
                    <a:bodyPr/>
                    <a:lstStyle/>
                    <a:p>
                      <a:r>
                        <a:rPr sz="1500" b="1">
                          <a:solidFill>
                            <a:srgbClr val="D9480F"/>
                          </a:solidFill>
                          <a:latin typeface="Arial"/>
                        </a:rPr>
                        <a:t>Public</a:t>
                      </a:r>
                    </a:p>
                  </a:txBody>
                  <a:tcPr anchor="ctr">
                    <a:solidFill>
                      <a:srgbClr val="FFFFFF"/>
                    </a:solidFill>
                  </a:tcPr>
                </a:tc>
                <a:tc>
                  <a:txBody>
                    <a:bodyPr/>
                    <a:lstStyle/>
                    <a:p>
                      <a:r>
                        <a:rPr sz="1500" b="0">
                          <a:solidFill>
                            <a:srgbClr val="14202E"/>
                          </a:solidFill>
                          <a:latin typeface="Arial"/>
                        </a:rPr>
                        <a:t>Third party, sold to the general public</a:t>
                      </a:r>
                    </a:p>
                  </a:txBody>
                  <a:tcPr anchor="ctr">
                    <a:solidFill>
                      <a:srgbClr val="FFFFFF"/>
                    </a:solidFill>
                  </a:tcPr>
                </a:tc>
                <a:tc>
                  <a:txBody>
                    <a:bodyPr/>
                    <a:lstStyle/>
                    <a:p>
                      <a:r>
                        <a:rPr sz="1500" b="0">
                          <a:solidFill>
                            <a:srgbClr val="14202E"/>
                          </a:solidFill>
                          <a:latin typeface="Arial"/>
                        </a:rPr>
                        <a:t>AWS, Google App Engine, Microsoft Azure</a:t>
                      </a:r>
                    </a:p>
                  </a:txBody>
                  <a:tcPr anchor="ctr">
                    <a:solidFill>
                      <a:srgbClr val="FFFFFF"/>
                    </a:solidFill>
                  </a:tcPr>
                </a:tc>
                <a:tc>
                  <a:txBody>
                    <a:bodyPr/>
                    <a:lstStyle/>
                    <a:p>
                      <a:r>
                        <a:rPr sz="1500" b="0">
                          <a:solidFill>
                            <a:srgbClr val="14202E"/>
                          </a:solidFill>
                          <a:latin typeface="Arial"/>
                        </a:rPr>
                        <a:t>Not for strict sensitive-data rules</a:t>
                      </a:r>
                    </a:p>
                  </a:txBody>
                  <a:tcPr anchor="ctr">
                    <a:solidFill>
                      <a:srgbClr val="FFFFFF"/>
                    </a:solidFill>
                  </a:tcPr>
                </a:tc>
              </a:tr>
              <a:tr h="868680">
                <a:tc>
                  <a:txBody>
                    <a:bodyPr/>
                    <a:lstStyle/>
                    <a:p>
                      <a:r>
                        <a:rPr sz="1500" b="1">
                          <a:solidFill>
                            <a:srgbClr val="D9480F"/>
                          </a:solidFill>
                          <a:latin typeface="Arial"/>
                        </a:rPr>
                        <a:t>Private</a:t>
                      </a:r>
                    </a:p>
                  </a:txBody>
                  <a:tcPr anchor="ctr">
                    <a:solidFill>
                      <a:srgbClr val="F6F8FA"/>
                    </a:solidFill>
                  </a:tcPr>
                </a:tc>
                <a:tc>
                  <a:txBody>
                    <a:bodyPr/>
                    <a:lstStyle/>
                    <a:p>
                      <a:r>
                        <a:rPr sz="1500" b="0">
                          <a:solidFill>
                            <a:srgbClr val="14202E"/>
                          </a:solidFill>
                          <a:latin typeface="Arial"/>
                        </a:rPr>
                        <a:t>One organization, for its own needs</a:t>
                      </a:r>
                    </a:p>
                  </a:txBody>
                  <a:tcPr anchor="ctr">
                    <a:solidFill>
                      <a:srgbClr val="F6F8FA"/>
                    </a:solidFill>
                  </a:tcPr>
                </a:tc>
                <a:tc>
                  <a:txBody>
                    <a:bodyPr/>
                    <a:lstStyle/>
                    <a:p>
                      <a:r>
                        <a:rPr sz="1500" b="0">
                          <a:solidFill>
                            <a:srgbClr val="14202E"/>
                          </a:solidFill>
                          <a:latin typeface="Arial"/>
                        </a:rPr>
                        <a:t>Large, geographically spread organizations</a:t>
                      </a:r>
                    </a:p>
                  </a:txBody>
                  <a:tcPr anchor="ctr">
                    <a:solidFill>
                      <a:srgbClr val="F6F8FA"/>
                    </a:solidFill>
                  </a:tcPr>
                </a:tc>
                <a:tc>
                  <a:txBody>
                    <a:bodyPr/>
                    <a:lstStyle/>
                    <a:p>
                      <a:r>
                        <a:rPr sz="1500" b="0">
                          <a:solidFill>
                            <a:srgbClr val="14202E"/>
                          </a:solidFill>
                          <a:latin typeface="Arial"/>
                        </a:rPr>
                        <a:t>Run by internal IT or a third party</a:t>
                      </a:r>
                    </a:p>
                  </a:txBody>
                  <a:tcPr anchor="ctr">
                    <a:solidFill>
                      <a:srgbClr val="F6F8FA"/>
                    </a:solidFill>
                  </a:tcPr>
                </a:tc>
              </a:tr>
              <a:tr h="868680">
                <a:tc>
                  <a:txBody>
                    <a:bodyPr/>
                    <a:lstStyle/>
                    <a:p>
                      <a:r>
                        <a:rPr sz="1500" b="1">
                          <a:solidFill>
                            <a:srgbClr val="D9480F"/>
                          </a:solidFill>
                          <a:latin typeface="Arial"/>
                        </a:rPr>
                        <a:t>Hybrid</a:t>
                      </a:r>
                    </a:p>
                  </a:txBody>
                  <a:tcPr anchor="ctr">
                    <a:solidFill>
                      <a:srgbClr val="FFFFFF"/>
                    </a:solidFill>
                  </a:tcPr>
                </a:tc>
                <a:tc>
                  <a:txBody>
                    <a:bodyPr/>
                    <a:lstStyle/>
                    <a:p>
                      <a:r>
                        <a:rPr sz="1500" b="0">
                          <a:solidFill>
                            <a:srgbClr val="14202E"/>
                          </a:solidFill>
                          <a:latin typeface="Arial"/>
                        </a:rPr>
                        <a:t>Private + public combined</a:t>
                      </a:r>
                    </a:p>
                  </a:txBody>
                  <a:tcPr anchor="ctr">
                    <a:solidFill>
                      <a:srgbClr val="FFFFFF"/>
                    </a:solidFill>
                  </a:tcPr>
                </a:tc>
                <a:tc>
                  <a:txBody>
                    <a:bodyPr/>
                    <a:lstStyle/>
                    <a:p>
                      <a:r>
                        <a:rPr sz="1500" b="0">
                          <a:solidFill>
                            <a:srgbClr val="14202E"/>
                          </a:solidFill>
                          <a:latin typeface="Arial"/>
                        </a:rPr>
                        <a:t>Email on public; financials on private</a:t>
                      </a:r>
                    </a:p>
                  </a:txBody>
                  <a:tcPr anchor="ctr">
                    <a:solidFill>
                      <a:srgbClr val="FFFFFF"/>
                    </a:solidFill>
                  </a:tcPr>
                </a:tc>
                <a:tc>
                  <a:txBody>
                    <a:bodyPr/>
                    <a:lstStyle/>
                    <a:p>
                      <a:r>
                        <a:rPr sz="1500" b="0">
                          <a:solidFill>
                            <a:srgbClr val="14202E"/>
                          </a:solidFill>
                          <a:latin typeface="Arial"/>
                        </a:rPr>
                        <a:t>Move workloads as demand changes</a:t>
                      </a:r>
                    </a:p>
                  </a:txBody>
                  <a:tcPr anchor="ctr">
                    <a:solidFill>
                      <a:srgbClr val="FFFFFF"/>
                    </a:solidFill>
                  </a:tcPr>
                </a:tc>
              </a:tr>
            </a:tbl>
          </a:graphicData>
        </a:graphic>
      </p:graphicFrame>
      <p:sp>
        <p:nvSpPr>
          <p:cNvPr id="7" name="TextBox 6"/>
          <p:cNvSpPr txBox="1"/>
          <p:nvPr/>
        </p:nvSpPr>
        <p:spPr>
          <a:xfrm>
            <a:off x="548640" y="553212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Type depends on where the infrastructure is and who controls it.</a:t>
            </a:r>
          </a:p>
        </p:txBody>
      </p:sp>
      <p:sp>
        <p:nvSpPr>
          <p:cNvPr id="8" name="TextBox 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7  ·  CLOUD COMPUTING &amp; IMPLEMENTATION TYPES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Our class example: MongoDB Atlas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Our database, their data center.</a:t>
            </a:r>
          </a:p>
        </p:txBody>
      </p:sp>
      <p:sp>
        <p:nvSpPr>
          <p:cNvPr id="6" name="TextBox 5"/>
          <p:cNvSpPr txBox="1"/>
          <p:nvPr/>
        </p:nvSpPr>
        <p:spPr>
          <a:xfrm>
            <a:off x="548640" y="1920240"/>
            <a:ext cx="10972800" cy="4206240"/>
          </a:xfrm>
          <a:prstGeom prst="rect">
            <a:avLst/>
          </a:prstGeom>
          <a:noFill/>
        </p:spPr>
        <p:txBody>
          <a:bodyPr wrap="square" anchor="t" lIns="73152" rIns="73152" tIns="73152" bIns="73152">
            <a:spAutoFit/>
          </a:bodyPr>
          <a:lstStyle/>
          <a:p>
            <a:pPr algn="l">
              <a:lnSpc>
                <a:spcPct val="115000"/>
              </a:lnSpc>
            </a:pPr>
            <a:r>
              <a:rPr sz="2200" b="1">
                <a:solidFill>
                  <a:srgbClr val="D9480F"/>
                </a:solidFill>
                <a:latin typeface="Arial"/>
              </a:rPr>
              <a:t>▸  </a:t>
            </a:r>
            <a:r>
              <a:rPr sz="2200" b="0">
                <a:solidFill>
                  <a:srgbClr val="14202E"/>
                </a:solidFill>
                <a:latin typeface="Arial"/>
              </a:rPr>
              <a:t>MongoDB Atlas hosts and manages your data in the cloud; MongoDB Compass is the GUI that connects to it.</a:t>
            </a:r>
          </a:p>
          <a:p>
            <a:pPr algn="l">
              <a:lnSpc>
                <a:spcPct val="115000"/>
              </a:lnSpc>
            </a:pPr>
            <a:r>
              <a:rPr sz="2200" b="1">
                <a:solidFill>
                  <a:srgbClr val="D9480F"/>
                </a:solidFill>
                <a:latin typeface="Arial"/>
              </a:rPr>
              <a:t>▸  </a:t>
            </a:r>
            <a:r>
              <a:rPr sz="2200" b="0">
                <a:solidFill>
                  <a:srgbClr val="14202E"/>
                </a:solidFill>
                <a:latin typeface="Arial"/>
              </a:rPr>
              <a:t>Lab setup: Shared Cluster, provider AWS or Google Cloud, region Singapore.</a:t>
            </a:r>
          </a:p>
          <a:p>
            <a:pPr algn="l">
              <a:lnSpc>
                <a:spcPct val="115000"/>
              </a:lnSpc>
            </a:pPr>
            <a:r>
              <a:rPr sz="2200" b="1">
                <a:solidFill>
                  <a:srgbClr val="D9480F"/>
                </a:solidFill>
                <a:latin typeface="Arial"/>
              </a:rPr>
              <a:t>▸  </a:t>
            </a:r>
            <a:r>
              <a:rPr sz="2200" b="0">
                <a:solidFill>
                  <a:srgbClr val="14202E"/>
                </a:solidFill>
                <a:latin typeface="Arial"/>
              </a:rPr>
              <a:t>Connect: add your IP address, create a database user, paste the mongodb+srv:// string into Compass.</a:t>
            </a:r>
          </a:p>
          <a:p>
            <a:pPr algn="l">
              <a:lnSpc>
                <a:spcPct val="115000"/>
              </a:lnSpc>
            </a:pPr>
            <a:r>
              <a:rPr sz="2200" b="1">
                <a:solidFill>
                  <a:srgbClr val="D9480F"/>
                </a:solidFill>
                <a:latin typeface="Arial"/>
              </a:rPr>
              <a:t>▸  </a:t>
            </a:r>
            <a:r>
              <a:rPr sz="2200" b="0">
                <a:solidFill>
                  <a:srgbClr val="14202E"/>
                </a:solidFill>
                <a:latin typeface="Arial"/>
              </a:rPr>
              <a:t>Atlas runs on a public cloud provider, so our lab database is a public-cloud deployment.</a:t>
            </a:r>
          </a:p>
        </p:txBody>
      </p:sp>
      <p:sp>
        <p:nvSpPr>
          <p:cNvPr id="7" name="TextBox 6"/>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p.2-3 (last bullet is our inference)</a:t>
            </a:r>
          </a:p>
        </p:txBody>
      </p:sp>
      <p:sp>
        <p:nvSpPr>
          <p:cNvPr id="8" name="TextBox 7"/>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8</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Cloud Service Types &amp; Benefits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nsolas"/>
              </a:rPr>
              <a:t>SaaS · PaaS · IaaS · 10 benefits</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“Use it, build on it, or rent the machine.”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8  ·  CLOUD SERVICE TYPES &amp; BENEFITS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Three service types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SaaS: use it. PaaS: build on it. IaaS: rent the machine.</a:t>
            </a:r>
          </a:p>
        </p:txBody>
      </p:sp>
      <p:graphicFrame>
        <p:nvGraphicFramePr>
          <p:cNvPr id="6" name="Table 5"/>
          <p:cNvGraphicFramePr>
            <a:graphicFrameLocks noGrp="1"/>
          </p:cNvGraphicFramePr>
          <p:nvPr/>
        </p:nvGraphicFramePr>
        <p:xfrm>
          <a:off x="548640" y="1828800"/>
          <a:ext cx="11094415" cy="3474720"/>
        </p:xfrm>
        <a:graphic>
          <a:graphicData uri="http://schemas.openxmlformats.org/drawingml/2006/table">
            <a:tbl>
              <a:tblPr firstRow="1" bandRow="1">
                <a:tableStyleId>{5C22544A-7EE6-4342-B048-85BDC9FD1C3A}</a:tableStyleId>
              </a:tblPr>
              <a:tblGrid>
                <a:gridCol w="2773603"/>
                <a:gridCol w="2773603"/>
                <a:gridCol w="2773603"/>
                <a:gridCol w="2773606"/>
              </a:tblGrid>
              <a:tr h="868680">
                <a:tc>
                  <a:txBody>
                    <a:bodyPr/>
                    <a:lstStyle/>
                    <a:p>
                      <a:r>
                        <a:rPr sz="1600" b="1">
                          <a:solidFill>
                            <a:srgbClr val="FFFFFF"/>
                          </a:solidFill>
                          <a:latin typeface="Arial"/>
                        </a:rPr>
                        <a:t>Type</a:t>
                      </a:r>
                    </a:p>
                  </a:txBody>
                  <a:tcPr>
                    <a:solidFill>
                      <a:srgbClr val="14202E"/>
                    </a:solidFill>
                  </a:tcPr>
                </a:tc>
                <a:tc>
                  <a:txBody>
                    <a:bodyPr/>
                    <a:lstStyle/>
                    <a:p>
                      <a:r>
                        <a:rPr sz="1600" b="1">
                          <a:solidFill>
                            <a:srgbClr val="FFFFFF"/>
                          </a:solidFill>
                          <a:latin typeface="Arial"/>
                        </a:rPr>
                        <a:t>Provider gives you</a:t>
                      </a:r>
                    </a:p>
                  </a:txBody>
                  <a:tcPr>
                    <a:solidFill>
                      <a:srgbClr val="14202E"/>
                    </a:solidFill>
                  </a:tcPr>
                </a:tc>
                <a:tc>
                  <a:txBody>
                    <a:bodyPr/>
                    <a:lstStyle/>
                    <a:p>
                      <a:r>
                        <a:rPr sz="1600" b="1">
                          <a:solidFill>
                            <a:srgbClr val="FFFFFF"/>
                          </a:solidFill>
                          <a:latin typeface="Arial"/>
                        </a:rPr>
                        <a:t>You control</a:t>
                      </a:r>
                    </a:p>
                  </a:txBody>
                  <a:tcPr>
                    <a:solidFill>
                      <a:srgbClr val="14202E"/>
                    </a:solidFill>
                  </a:tcPr>
                </a:tc>
                <a:tc>
                  <a:txBody>
                    <a:bodyPr/>
                    <a:lstStyle/>
                    <a:p>
                      <a:r>
                        <a:rPr sz="1600" b="1">
                          <a:solidFill>
                            <a:srgbClr val="FFFFFF"/>
                          </a:solidFill>
                          <a:latin typeface="Arial"/>
                        </a:rPr>
                        <a:t>Handout example</a:t>
                      </a:r>
                    </a:p>
                  </a:txBody>
                  <a:tcPr>
                    <a:solidFill>
                      <a:srgbClr val="14202E"/>
                    </a:solidFill>
                  </a:tcPr>
                </a:tc>
              </a:tr>
              <a:tr h="868680">
                <a:tc>
                  <a:txBody>
                    <a:bodyPr/>
                    <a:lstStyle/>
                    <a:p>
                      <a:r>
                        <a:rPr sz="1500" b="1">
                          <a:solidFill>
                            <a:srgbClr val="D9480F"/>
                          </a:solidFill>
                          <a:latin typeface="Arial"/>
                        </a:rPr>
                        <a:t>SaaS</a:t>
                      </a:r>
                    </a:p>
                  </a:txBody>
                  <a:tcPr anchor="ctr">
                    <a:solidFill>
                      <a:srgbClr val="FFFFFF"/>
                    </a:solidFill>
                  </a:tcPr>
                </a:tc>
                <a:tc>
                  <a:txBody>
                    <a:bodyPr/>
                    <a:lstStyle/>
                    <a:p>
                      <a:r>
                        <a:rPr sz="1500" b="0">
                          <a:solidFill>
                            <a:srgbClr val="14202E"/>
                          </a:solidFill>
                          <a:latin typeface="Arial"/>
                        </a:rPr>
                        <a:t>Turnkey apps that run in the cloud</a:t>
                      </a:r>
                    </a:p>
                  </a:txBody>
                  <a:tcPr anchor="ctr">
                    <a:solidFill>
                      <a:srgbClr val="FFFFFF"/>
                    </a:solidFill>
                  </a:tcPr>
                </a:tc>
                <a:tc>
                  <a:txBody>
                    <a:bodyPr/>
                    <a:lstStyle/>
                    <a:p>
                      <a:r>
                        <a:rPr sz="1500" b="0">
                          <a:solidFill>
                            <a:srgbClr val="14202E"/>
                          </a:solidFill>
                          <a:latin typeface="Arial"/>
                        </a:rPr>
                        <a:t>Some settings, not the app itself</a:t>
                      </a:r>
                    </a:p>
                  </a:txBody>
                  <a:tcPr anchor="ctr">
                    <a:solidFill>
                      <a:srgbClr val="FFFFFF"/>
                    </a:solidFill>
                  </a:tcPr>
                </a:tc>
                <a:tc>
                  <a:txBody>
                    <a:bodyPr/>
                    <a:lstStyle/>
                    <a:p>
                      <a:r>
                        <a:rPr sz="1500" b="0">
                          <a:solidFill>
                            <a:srgbClr val="14202E"/>
                          </a:solidFill>
                          <a:latin typeface="Arial"/>
                        </a:rPr>
                        <a:t>MS Office 365, Google Docs, TurboTax Online, SCALA</a:t>
                      </a:r>
                    </a:p>
                  </a:txBody>
                  <a:tcPr anchor="ctr">
                    <a:solidFill>
                      <a:srgbClr val="FFFFFF"/>
                    </a:solidFill>
                  </a:tcPr>
                </a:tc>
              </a:tr>
              <a:tr h="868680">
                <a:tc>
                  <a:txBody>
                    <a:bodyPr/>
                    <a:lstStyle/>
                    <a:p>
                      <a:r>
                        <a:rPr sz="1500" b="1">
                          <a:solidFill>
                            <a:srgbClr val="D9480F"/>
                          </a:solidFill>
                          <a:latin typeface="Arial"/>
                        </a:rPr>
                        <a:t>PaaS</a:t>
                      </a:r>
                    </a:p>
                  </a:txBody>
                  <a:tcPr anchor="ctr">
                    <a:solidFill>
                      <a:srgbClr val="F6F8FA"/>
                    </a:solidFill>
                  </a:tcPr>
                </a:tc>
                <a:tc>
                  <a:txBody>
                    <a:bodyPr/>
                    <a:lstStyle/>
                    <a:p>
                      <a:r>
                        <a:rPr sz="1500" b="0">
                          <a:solidFill>
                            <a:srgbClr val="14202E"/>
                          </a:solidFill>
                          <a:latin typeface="Arial"/>
                        </a:rPr>
                        <a:t>Tools, languages, interfaces to build and deploy your apps</a:t>
                      </a:r>
                    </a:p>
                  </a:txBody>
                  <a:tcPr anchor="ctr">
                    <a:solidFill>
                      <a:srgbClr val="F6F8FA"/>
                    </a:solidFill>
                  </a:tcPr>
                </a:tc>
                <a:tc>
                  <a:txBody>
                    <a:bodyPr/>
                    <a:lstStyle/>
                    <a:p>
                      <a:r>
                        <a:rPr sz="1500" b="0">
                          <a:solidFill>
                            <a:srgbClr val="14202E"/>
                          </a:solidFill>
                          <a:latin typeface="Arial"/>
                        </a:rPr>
                        <a:t>Your app, not the infrastructure</a:t>
                      </a:r>
                    </a:p>
                  </a:txBody>
                  <a:tcPr anchor="ctr">
                    <a:solidFill>
                      <a:srgbClr val="F6F8FA"/>
                    </a:solidFill>
                  </a:tcPr>
                </a:tc>
                <a:tc>
                  <a:txBody>
                    <a:bodyPr/>
                    <a:lstStyle/>
                    <a:p>
                      <a:r>
                        <a:rPr sz="1500" b="0">
                          <a:solidFill>
                            <a:srgbClr val="14202E"/>
                          </a:solidFill>
                          <a:latin typeface="Arial"/>
                        </a:rPr>
                        <a:t>Microsoft Azure platform with .NET and Java</a:t>
                      </a:r>
                    </a:p>
                  </a:txBody>
                  <a:tcPr anchor="ctr">
                    <a:solidFill>
                      <a:srgbClr val="F6F8FA"/>
                    </a:solidFill>
                  </a:tcPr>
                </a:tc>
              </a:tr>
              <a:tr h="868680">
                <a:tc>
                  <a:txBody>
                    <a:bodyPr/>
                    <a:lstStyle/>
                    <a:p>
                      <a:r>
                        <a:rPr sz="1500" b="1">
                          <a:solidFill>
                            <a:srgbClr val="D9480F"/>
                          </a:solidFill>
                          <a:latin typeface="Arial"/>
                        </a:rPr>
                        <a:t>IaaS</a:t>
                      </a:r>
                    </a:p>
                  </a:txBody>
                  <a:tcPr anchor="ctr">
                    <a:solidFill>
                      <a:srgbClr val="FFFFFF"/>
                    </a:solidFill>
                  </a:tcPr>
                </a:tc>
                <a:tc>
                  <a:txBody>
                    <a:bodyPr/>
                    <a:lstStyle/>
                    <a:p>
                      <a:r>
                        <a:rPr sz="1500" b="0">
                          <a:solidFill>
                            <a:srgbClr val="14202E"/>
                          </a:solidFill>
                          <a:latin typeface="Arial"/>
                        </a:rPr>
                        <a:t>Storage, servers, databases, processing, virtual desktops</a:t>
                      </a:r>
                    </a:p>
                  </a:txBody>
                  <a:tcPr anchor="ctr">
                    <a:solidFill>
                      <a:srgbClr val="FFFFFF"/>
                    </a:solidFill>
                  </a:tcPr>
                </a:tc>
                <a:tc>
                  <a:txBody>
                    <a:bodyPr/>
                    <a:lstStyle/>
                    <a:p>
                      <a:r>
                        <a:rPr sz="1500" b="0">
                          <a:solidFill>
                            <a:srgbClr val="14202E"/>
                          </a:solidFill>
                          <a:latin typeface="Arial"/>
                        </a:rPr>
                        <a:t>The resources; add or remove as needed</a:t>
                      </a:r>
                    </a:p>
                  </a:txBody>
                  <a:tcPr anchor="ctr">
                    <a:solidFill>
                      <a:srgbClr val="FFFFFF"/>
                    </a:solidFill>
                  </a:tcPr>
                </a:tc>
                <a:tc>
                  <a:txBody>
                    <a:bodyPr/>
                    <a:lstStyle/>
                    <a:p>
                      <a:r>
                        <a:rPr sz="1500" b="0">
                          <a:solidFill>
                            <a:srgbClr val="14202E"/>
                          </a:solidFill>
                          <a:latin typeface="Arial"/>
                        </a:rPr>
                        <a:t>AWS server: Linux + Apache, 16 GB RAM, 160 GB storage</a:t>
                      </a:r>
                    </a:p>
                  </a:txBody>
                  <a:tcPr anchor="ctr">
                    <a:solidFill>
                      <a:srgbClr val="FFFFFF"/>
                    </a:solidFill>
                  </a:tcPr>
                </a:tc>
              </a:tr>
            </a:tbl>
          </a:graphicData>
        </a:graphic>
      </p:graphicFrame>
      <p:sp>
        <p:nvSpPr>
          <p:cNvPr id="7" name="TextBox 6"/>
          <p:cNvSpPr txBox="1"/>
          <p:nvPr/>
        </p:nvSpPr>
        <p:spPr>
          <a:xfrm>
            <a:off x="548640" y="553212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Services follow an à la carte model and can be stacked.</a:t>
            </a:r>
          </a:p>
        </p:txBody>
      </p:sp>
      <p:sp>
        <p:nvSpPr>
          <p:cNvPr id="8" name="TextBox 7"/>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8  ·  CLOUD SERVICE TYPES &amp; BENEFITS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Who manages what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Each step down, you manage more.</a:t>
            </a:r>
          </a:p>
        </p:txBody>
      </p:sp>
      <p:sp>
        <p:nvSpPr>
          <p:cNvPr id="6" name="TextBox 5"/>
          <p:cNvSpPr txBox="1"/>
          <p:nvPr/>
        </p:nvSpPr>
        <p:spPr>
          <a:xfrm>
            <a:off x="548640" y="1874519"/>
            <a:ext cx="2926080" cy="365760"/>
          </a:xfrm>
          <a:prstGeom prst="rect">
            <a:avLst/>
          </a:prstGeom>
          <a:noFill/>
        </p:spPr>
        <p:txBody>
          <a:bodyPr wrap="square" anchor="t" lIns="73152" rIns="73152" tIns="73152" bIns="73152">
            <a:spAutoFit/>
          </a:bodyPr>
          <a:lstStyle/>
          <a:p>
            <a:pPr algn="l">
              <a:lnSpc>
                <a:spcPct val="110000"/>
              </a:lnSpc>
            </a:pPr>
            <a:r>
              <a:rPr sz="1400" b="1">
                <a:solidFill>
                  <a:srgbClr val="4A5868"/>
                </a:solidFill>
                <a:latin typeface="Arial"/>
              </a:rPr>
              <a:t>Layer</a:t>
            </a:r>
          </a:p>
        </p:txBody>
      </p:sp>
      <p:sp>
        <p:nvSpPr>
          <p:cNvPr id="7" name="TextBox 6"/>
          <p:cNvSpPr txBox="1"/>
          <p:nvPr/>
        </p:nvSpPr>
        <p:spPr>
          <a:xfrm>
            <a:off x="548640" y="2286000"/>
            <a:ext cx="2926080" cy="640080"/>
          </a:xfrm>
          <a:prstGeom prst="rect">
            <a:avLst/>
          </a:prstGeom>
          <a:noFill/>
        </p:spPr>
        <p:txBody>
          <a:bodyPr wrap="square" anchor="ctr" lIns="73152" rIns="73152" tIns="73152" bIns="73152">
            <a:spAutoFit/>
          </a:bodyPr>
          <a:lstStyle/>
          <a:p>
            <a:pPr algn="l">
              <a:lnSpc>
                <a:spcPct val="110000"/>
              </a:lnSpc>
            </a:pPr>
            <a:r>
              <a:rPr sz="1700" b="1">
                <a:solidFill>
                  <a:srgbClr val="14202E"/>
                </a:solidFill>
                <a:latin typeface="Arial"/>
              </a:rPr>
              <a:t>Application</a:t>
            </a:r>
          </a:p>
        </p:txBody>
      </p:sp>
      <p:sp>
        <p:nvSpPr>
          <p:cNvPr id="8" name="TextBox 7"/>
          <p:cNvSpPr txBox="1"/>
          <p:nvPr/>
        </p:nvSpPr>
        <p:spPr>
          <a:xfrm>
            <a:off x="548640" y="3017520"/>
            <a:ext cx="2926080" cy="640080"/>
          </a:xfrm>
          <a:prstGeom prst="rect">
            <a:avLst/>
          </a:prstGeom>
          <a:noFill/>
        </p:spPr>
        <p:txBody>
          <a:bodyPr wrap="square" anchor="ctr" lIns="73152" rIns="73152" tIns="73152" bIns="73152">
            <a:spAutoFit/>
          </a:bodyPr>
          <a:lstStyle/>
          <a:p>
            <a:pPr algn="l">
              <a:lnSpc>
                <a:spcPct val="110000"/>
              </a:lnSpc>
            </a:pPr>
            <a:r>
              <a:rPr sz="1700" b="1">
                <a:solidFill>
                  <a:srgbClr val="14202E"/>
                </a:solidFill>
                <a:latin typeface="Arial"/>
              </a:rPr>
              <a:t>Data</a:t>
            </a:r>
          </a:p>
        </p:txBody>
      </p:sp>
      <p:sp>
        <p:nvSpPr>
          <p:cNvPr id="9" name="TextBox 8"/>
          <p:cNvSpPr txBox="1"/>
          <p:nvPr/>
        </p:nvSpPr>
        <p:spPr>
          <a:xfrm>
            <a:off x="548640" y="3749040"/>
            <a:ext cx="2926080" cy="640080"/>
          </a:xfrm>
          <a:prstGeom prst="rect">
            <a:avLst/>
          </a:prstGeom>
          <a:noFill/>
        </p:spPr>
        <p:txBody>
          <a:bodyPr wrap="square" anchor="ctr" lIns="73152" rIns="73152" tIns="73152" bIns="73152">
            <a:spAutoFit/>
          </a:bodyPr>
          <a:lstStyle/>
          <a:p>
            <a:pPr algn="l">
              <a:lnSpc>
                <a:spcPct val="110000"/>
              </a:lnSpc>
            </a:pPr>
            <a:r>
              <a:rPr sz="1700" b="1">
                <a:solidFill>
                  <a:srgbClr val="14202E"/>
                </a:solidFill>
                <a:latin typeface="Arial"/>
              </a:rPr>
              <a:t>Runtime / Platform</a:t>
            </a:r>
          </a:p>
        </p:txBody>
      </p:sp>
      <p:sp>
        <p:nvSpPr>
          <p:cNvPr id="10" name="TextBox 9"/>
          <p:cNvSpPr txBox="1"/>
          <p:nvPr/>
        </p:nvSpPr>
        <p:spPr>
          <a:xfrm>
            <a:off x="548640" y="4480560"/>
            <a:ext cx="2926080" cy="640080"/>
          </a:xfrm>
          <a:prstGeom prst="rect">
            <a:avLst/>
          </a:prstGeom>
          <a:noFill/>
        </p:spPr>
        <p:txBody>
          <a:bodyPr wrap="square" anchor="ctr" lIns="73152" rIns="73152" tIns="73152" bIns="73152">
            <a:spAutoFit/>
          </a:bodyPr>
          <a:lstStyle/>
          <a:p>
            <a:pPr algn="l">
              <a:lnSpc>
                <a:spcPct val="110000"/>
              </a:lnSpc>
            </a:pPr>
            <a:r>
              <a:rPr sz="1700" b="1">
                <a:solidFill>
                  <a:srgbClr val="14202E"/>
                </a:solidFill>
                <a:latin typeface="Arial"/>
              </a:rPr>
              <a:t>Operating system</a:t>
            </a:r>
          </a:p>
        </p:txBody>
      </p:sp>
      <p:sp>
        <p:nvSpPr>
          <p:cNvPr id="11" name="TextBox 10"/>
          <p:cNvSpPr txBox="1"/>
          <p:nvPr/>
        </p:nvSpPr>
        <p:spPr>
          <a:xfrm>
            <a:off x="548640" y="5212080"/>
            <a:ext cx="2926080" cy="640080"/>
          </a:xfrm>
          <a:prstGeom prst="rect">
            <a:avLst/>
          </a:prstGeom>
          <a:noFill/>
        </p:spPr>
        <p:txBody>
          <a:bodyPr wrap="square" anchor="ctr" lIns="73152" rIns="73152" tIns="73152" bIns="73152">
            <a:spAutoFit/>
          </a:bodyPr>
          <a:lstStyle/>
          <a:p>
            <a:pPr algn="l">
              <a:lnSpc>
                <a:spcPct val="110000"/>
              </a:lnSpc>
            </a:pPr>
            <a:r>
              <a:rPr sz="1700" b="1">
                <a:solidFill>
                  <a:srgbClr val="14202E"/>
                </a:solidFill>
                <a:latin typeface="Arial"/>
              </a:rPr>
              <a:t>Servers · Storage · Network</a:t>
            </a:r>
          </a:p>
        </p:txBody>
      </p:sp>
      <p:sp>
        <p:nvSpPr>
          <p:cNvPr id="12" name="TextBox 11"/>
          <p:cNvSpPr txBox="1"/>
          <p:nvPr/>
        </p:nvSpPr>
        <p:spPr>
          <a:xfrm>
            <a:off x="3657600" y="1874519"/>
            <a:ext cx="2423160" cy="365760"/>
          </a:xfrm>
          <a:prstGeom prst="rect">
            <a:avLst/>
          </a:prstGeom>
          <a:noFill/>
        </p:spPr>
        <p:txBody>
          <a:bodyPr wrap="square" anchor="t" lIns="73152" rIns="73152" tIns="73152" bIns="73152">
            <a:spAutoFit/>
          </a:bodyPr>
          <a:lstStyle/>
          <a:p>
            <a:pPr algn="ctr">
              <a:lnSpc>
                <a:spcPct val="110000"/>
              </a:lnSpc>
            </a:pPr>
            <a:r>
              <a:rPr sz="1800" b="1">
                <a:solidFill>
                  <a:srgbClr val="D9480F"/>
                </a:solidFill>
                <a:latin typeface="Arial"/>
              </a:rPr>
              <a:t>SaaS</a:t>
            </a:r>
          </a:p>
        </p:txBody>
      </p:sp>
      <p:sp>
        <p:nvSpPr>
          <p:cNvPr id="13" name="Rectangle 12"/>
          <p:cNvSpPr/>
          <p:nvPr/>
        </p:nvSpPr>
        <p:spPr>
          <a:xfrm>
            <a:off x="3657600" y="2286000"/>
            <a:ext cx="2423160" cy="640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28600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Provider</a:t>
            </a:r>
          </a:p>
        </p:txBody>
      </p:sp>
      <p:sp>
        <p:nvSpPr>
          <p:cNvPr id="15" name="Rectangle 14"/>
          <p:cNvSpPr/>
          <p:nvPr/>
        </p:nvSpPr>
        <p:spPr>
          <a:xfrm>
            <a:off x="3657600" y="3017520"/>
            <a:ext cx="2423160" cy="640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301752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Provider</a:t>
            </a:r>
          </a:p>
        </p:txBody>
      </p:sp>
      <p:sp>
        <p:nvSpPr>
          <p:cNvPr id="17" name="Rectangle 16"/>
          <p:cNvSpPr/>
          <p:nvPr/>
        </p:nvSpPr>
        <p:spPr>
          <a:xfrm>
            <a:off x="3657600" y="3749040"/>
            <a:ext cx="2423160" cy="640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374904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Provider</a:t>
            </a:r>
          </a:p>
        </p:txBody>
      </p:sp>
      <p:sp>
        <p:nvSpPr>
          <p:cNvPr id="19" name="Rectangle 18"/>
          <p:cNvSpPr/>
          <p:nvPr/>
        </p:nvSpPr>
        <p:spPr>
          <a:xfrm>
            <a:off x="3657600" y="4480560"/>
            <a:ext cx="2423160" cy="640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448056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Provider</a:t>
            </a:r>
          </a:p>
        </p:txBody>
      </p:sp>
      <p:sp>
        <p:nvSpPr>
          <p:cNvPr id="21" name="Rectangle 20"/>
          <p:cNvSpPr/>
          <p:nvPr/>
        </p:nvSpPr>
        <p:spPr>
          <a:xfrm>
            <a:off x="3657600" y="5212080"/>
            <a:ext cx="2423160" cy="640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0" y="521208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Provider</a:t>
            </a:r>
          </a:p>
        </p:txBody>
      </p:sp>
      <p:sp>
        <p:nvSpPr>
          <p:cNvPr id="23" name="TextBox 22"/>
          <p:cNvSpPr txBox="1"/>
          <p:nvPr/>
        </p:nvSpPr>
        <p:spPr>
          <a:xfrm>
            <a:off x="6263640" y="1874519"/>
            <a:ext cx="2423160" cy="365760"/>
          </a:xfrm>
          <a:prstGeom prst="rect">
            <a:avLst/>
          </a:prstGeom>
          <a:noFill/>
        </p:spPr>
        <p:txBody>
          <a:bodyPr wrap="square" anchor="t" lIns="73152" rIns="73152" tIns="73152" bIns="73152">
            <a:spAutoFit/>
          </a:bodyPr>
          <a:lstStyle/>
          <a:p>
            <a:pPr algn="ctr">
              <a:lnSpc>
                <a:spcPct val="110000"/>
              </a:lnSpc>
            </a:pPr>
            <a:r>
              <a:rPr sz="1800" b="1">
                <a:solidFill>
                  <a:srgbClr val="D9480F"/>
                </a:solidFill>
                <a:latin typeface="Arial"/>
              </a:rPr>
              <a:t>PaaS</a:t>
            </a:r>
          </a:p>
        </p:txBody>
      </p:sp>
      <p:sp>
        <p:nvSpPr>
          <p:cNvPr id="24" name="Rectangle 23"/>
          <p:cNvSpPr/>
          <p:nvPr/>
        </p:nvSpPr>
        <p:spPr>
          <a:xfrm>
            <a:off x="6263640" y="2286000"/>
            <a:ext cx="2423160" cy="640080"/>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228600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You</a:t>
            </a:r>
          </a:p>
        </p:txBody>
      </p:sp>
      <p:sp>
        <p:nvSpPr>
          <p:cNvPr id="26" name="Rectangle 25"/>
          <p:cNvSpPr/>
          <p:nvPr/>
        </p:nvSpPr>
        <p:spPr>
          <a:xfrm>
            <a:off x="6263640" y="3017520"/>
            <a:ext cx="2423160" cy="640080"/>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301752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You</a:t>
            </a:r>
          </a:p>
        </p:txBody>
      </p:sp>
      <p:sp>
        <p:nvSpPr>
          <p:cNvPr id="28" name="Rectangle 27"/>
          <p:cNvSpPr/>
          <p:nvPr/>
        </p:nvSpPr>
        <p:spPr>
          <a:xfrm>
            <a:off x="6263640" y="3749040"/>
            <a:ext cx="2423160" cy="640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374904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Provider</a:t>
            </a:r>
          </a:p>
        </p:txBody>
      </p:sp>
      <p:sp>
        <p:nvSpPr>
          <p:cNvPr id="30" name="Rectangle 29"/>
          <p:cNvSpPr/>
          <p:nvPr/>
        </p:nvSpPr>
        <p:spPr>
          <a:xfrm>
            <a:off x="6263640" y="4480560"/>
            <a:ext cx="2423160" cy="640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448056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Provider</a:t>
            </a:r>
          </a:p>
        </p:txBody>
      </p:sp>
      <p:sp>
        <p:nvSpPr>
          <p:cNvPr id="32" name="Rectangle 31"/>
          <p:cNvSpPr/>
          <p:nvPr/>
        </p:nvSpPr>
        <p:spPr>
          <a:xfrm>
            <a:off x="6263640" y="5212080"/>
            <a:ext cx="2423160" cy="640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521208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Provider</a:t>
            </a:r>
          </a:p>
        </p:txBody>
      </p:sp>
      <p:sp>
        <p:nvSpPr>
          <p:cNvPr id="34" name="TextBox 33"/>
          <p:cNvSpPr txBox="1"/>
          <p:nvPr/>
        </p:nvSpPr>
        <p:spPr>
          <a:xfrm>
            <a:off x="8869680" y="1874519"/>
            <a:ext cx="2423160" cy="365760"/>
          </a:xfrm>
          <a:prstGeom prst="rect">
            <a:avLst/>
          </a:prstGeom>
          <a:noFill/>
        </p:spPr>
        <p:txBody>
          <a:bodyPr wrap="square" anchor="t" lIns="73152" rIns="73152" tIns="73152" bIns="73152">
            <a:spAutoFit/>
          </a:bodyPr>
          <a:lstStyle/>
          <a:p>
            <a:pPr algn="ctr">
              <a:lnSpc>
                <a:spcPct val="110000"/>
              </a:lnSpc>
            </a:pPr>
            <a:r>
              <a:rPr sz="1800" b="1">
                <a:solidFill>
                  <a:srgbClr val="D9480F"/>
                </a:solidFill>
                <a:latin typeface="Arial"/>
              </a:rPr>
              <a:t>IaaS</a:t>
            </a:r>
          </a:p>
        </p:txBody>
      </p:sp>
      <p:sp>
        <p:nvSpPr>
          <p:cNvPr id="35" name="Rectangle 34"/>
          <p:cNvSpPr/>
          <p:nvPr/>
        </p:nvSpPr>
        <p:spPr>
          <a:xfrm>
            <a:off x="8869680" y="2286000"/>
            <a:ext cx="2423160" cy="640080"/>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0" y="228600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You</a:t>
            </a:r>
          </a:p>
        </p:txBody>
      </p:sp>
      <p:sp>
        <p:nvSpPr>
          <p:cNvPr id="37" name="Rectangle 36"/>
          <p:cNvSpPr/>
          <p:nvPr/>
        </p:nvSpPr>
        <p:spPr>
          <a:xfrm>
            <a:off x="8869680" y="3017520"/>
            <a:ext cx="2423160" cy="640080"/>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0" y="301752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You</a:t>
            </a:r>
          </a:p>
        </p:txBody>
      </p:sp>
      <p:sp>
        <p:nvSpPr>
          <p:cNvPr id="39" name="Rectangle 38"/>
          <p:cNvSpPr/>
          <p:nvPr/>
        </p:nvSpPr>
        <p:spPr>
          <a:xfrm>
            <a:off x="8869680" y="3749040"/>
            <a:ext cx="2423160" cy="640080"/>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0" y="374904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You</a:t>
            </a:r>
          </a:p>
        </p:txBody>
      </p:sp>
      <p:sp>
        <p:nvSpPr>
          <p:cNvPr id="41" name="Rectangle 40"/>
          <p:cNvSpPr/>
          <p:nvPr/>
        </p:nvSpPr>
        <p:spPr>
          <a:xfrm>
            <a:off x="8869680" y="4480560"/>
            <a:ext cx="2423160" cy="640080"/>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69680" y="448056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You</a:t>
            </a:r>
          </a:p>
        </p:txBody>
      </p:sp>
      <p:sp>
        <p:nvSpPr>
          <p:cNvPr id="43" name="Rectangle 42"/>
          <p:cNvSpPr/>
          <p:nvPr/>
        </p:nvSpPr>
        <p:spPr>
          <a:xfrm>
            <a:off x="8869680" y="5212080"/>
            <a:ext cx="2423160" cy="640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0" y="5212080"/>
            <a:ext cx="2423160" cy="640080"/>
          </a:xfrm>
          <a:prstGeom prst="rect">
            <a:avLst/>
          </a:prstGeom>
          <a:noFill/>
        </p:spPr>
        <p:txBody>
          <a:bodyPr wrap="square" anchor="ctr" lIns="73152" rIns="73152" tIns="73152" bIns="73152">
            <a:spAutoFit/>
          </a:bodyPr>
          <a:lstStyle/>
          <a:p>
            <a:pPr algn="ctr">
              <a:lnSpc>
                <a:spcPct val="110000"/>
              </a:lnSpc>
            </a:pPr>
            <a:r>
              <a:rPr sz="1600" b="1">
                <a:solidFill>
                  <a:srgbClr val="FFFFFF"/>
                </a:solidFill>
                <a:latin typeface="Arial"/>
              </a:rPr>
              <a:t>Provider</a:t>
            </a:r>
          </a:p>
        </p:txBody>
      </p:sp>
      <p:sp>
        <p:nvSpPr>
          <p:cNvPr id="45" name="TextBox 44"/>
          <p:cNvSpPr txBox="1"/>
          <p:nvPr/>
        </p:nvSpPr>
        <p:spPr>
          <a:xfrm>
            <a:off x="548640" y="5989320"/>
            <a:ext cx="10972800" cy="365760"/>
          </a:xfrm>
          <a:prstGeom prst="rect">
            <a:avLst/>
          </a:prstGeom>
          <a:noFill/>
        </p:spPr>
        <p:txBody>
          <a:bodyPr wrap="square" anchor="t" lIns="73152" rIns="73152" tIns="73152" bIns="73152">
            <a:spAutoFit/>
          </a:bodyPr>
          <a:lstStyle/>
          <a:p>
            <a:pPr algn="l">
              <a:lnSpc>
                <a:spcPct val="110000"/>
              </a:lnSpc>
            </a:pPr>
            <a:r>
              <a:rPr sz="1200" b="0">
                <a:solidFill>
                  <a:srgbClr val="4A5868"/>
                </a:solidFill>
                <a:latin typeface="Arial"/>
              </a:rPr>
              <a:t>SaaS users still control some settings (09 Handout). The layer split is our summary of the handout definitions.</a:t>
            </a:r>
          </a:p>
        </p:txBody>
      </p:sp>
      <p:sp>
        <p:nvSpPr>
          <p:cNvPr id="46" name="TextBox 4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Our summary of 09 Handout p.1 definitions (inferred)</a:t>
            </a:r>
          </a:p>
        </p:txBody>
      </p:sp>
      <p:sp>
        <p:nvSpPr>
          <p:cNvPr id="47" name="TextBox 4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8  ·  CLOUD SERVICE TYPES &amp; BENEFITS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10 benefits of cloud computing</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Scale up fast. Pay for what you use.</a:t>
            </a:r>
          </a:p>
        </p:txBody>
      </p:sp>
      <p:sp>
        <p:nvSpPr>
          <p:cNvPr id="6" name="TextBox 5"/>
          <p:cNvSpPr txBox="1"/>
          <p:nvPr/>
        </p:nvSpPr>
        <p:spPr>
          <a:xfrm>
            <a:off x="548640" y="182880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1</a:t>
            </a:r>
          </a:p>
        </p:txBody>
      </p:sp>
      <p:sp>
        <p:nvSpPr>
          <p:cNvPr id="7" name="TextBox 6"/>
          <p:cNvSpPr txBox="1"/>
          <p:nvPr/>
        </p:nvSpPr>
        <p:spPr>
          <a:xfrm>
            <a:off x="1188720" y="182880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Instant scalability</a:t>
            </a:r>
          </a:p>
          <a:p>
            <a:pPr algn="l">
              <a:lnSpc>
                <a:spcPct val="110000"/>
              </a:lnSpc>
            </a:pPr>
            <a:r>
              <a:rPr sz="1400" b="0">
                <a:solidFill>
                  <a:srgbClr val="4A5868"/>
                </a:solidFill>
                <a:latin typeface="Arial"/>
              </a:rPr>
              <a:t>scale capacity up or down to demand</a:t>
            </a:r>
          </a:p>
        </p:txBody>
      </p:sp>
      <p:sp>
        <p:nvSpPr>
          <p:cNvPr id="8" name="TextBox 7"/>
          <p:cNvSpPr txBox="1"/>
          <p:nvPr/>
        </p:nvSpPr>
        <p:spPr>
          <a:xfrm>
            <a:off x="548640" y="269748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2</a:t>
            </a:r>
          </a:p>
        </p:txBody>
      </p:sp>
      <p:sp>
        <p:nvSpPr>
          <p:cNvPr id="9" name="TextBox 8"/>
          <p:cNvSpPr txBox="1"/>
          <p:nvPr/>
        </p:nvSpPr>
        <p:spPr>
          <a:xfrm>
            <a:off x="1188720" y="269748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Anywhere accessibility</a:t>
            </a:r>
          </a:p>
          <a:p>
            <a:pPr algn="l">
              <a:lnSpc>
                <a:spcPct val="110000"/>
              </a:lnSpc>
            </a:pPr>
            <a:r>
              <a:rPr sz="1400" b="0">
                <a:solidFill>
                  <a:srgbClr val="4A5868"/>
                </a:solidFill>
                <a:latin typeface="Arial"/>
              </a:rPr>
              <a:t>deploy apps across the globe</a:t>
            </a:r>
          </a:p>
        </p:txBody>
      </p:sp>
      <p:sp>
        <p:nvSpPr>
          <p:cNvPr id="10" name="TextBox 9"/>
          <p:cNvSpPr txBox="1"/>
          <p:nvPr/>
        </p:nvSpPr>
        <p:spPr>
          <a:xfrm>
            <a:off x="548640" y="356616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3</a:t>
            </a:r>
          </a:p>
        </p:txBody>
      </p:sp>
      <p:sp>
        <p:nvSpPr>
          <p:cNvPr id="11" name="TextBox 10"/>
          <p:cNvSpPr txBox="1"/>
          <p:nvPr/>
        </p:nvSpPr>
        <p:spPr>
          <a:xfrm>
            <a:off x="1188720" y="356616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Speed and agility</a:t>
            </a:r>
          </a:p>
          <a:p>
            <a:pPr algn="l">
              <a:lnSpc>
                <a:spcPct val="110000"/>
              </a:lnSpc>
            </a:pPr>
            <a:r>
              <a:rPr sz="1400" b="0">
                <a:solidFill>
                  <a:srgbClr val="4A5868"/>
                </a:solidFill>
                <a:latin typeface="Arial"/>
              </a:rPr>
              <a:t>add capacity with a click</a:t>
            </a:r>
          </a:p>
        </p:txBody>
      </p:sp>
      <p:sp>
        <p:nvSpPr>
          <p:cNvPr id="12" name="TextBox 11"/>
          <p:cNvSpPr txBox="1"/>
          <p:nvPr/>
        </p:nvSpPr>
        <p:spPr>
          <a:xfrm>
            <a:off x="548640" y="443484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4</a:t>
            </a:r>
          </a:p>
        </p:txBody>
      </p:sp>
      <p:sp>
        <p:nvSpPr>
          <p:cNvPr id="13" name="TextBox 12"/>
          <p:cNvSpPr txBox="1"/>
          <p:nvPr/>
        </p:nvSpPr>
        <p:spPr>
          <a:xfrm>
            <a:off x="1188720" y="443484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Reduced expenditure</a:t>
            </a:r>
          </a:p>
          <a:p>
            <a:pPr algn="l">
              <a:lnSpc>
                <a:spcPct val="110000"/>
              </a:lnSpc>
            </a:pPr>
            <a:r>
              <a:rPr sz="1400" b="0">
                <a:solidFill>
                  <a:srgbClr val="4A5868"/>
                </a:solidFill>
                <a:latin typeface="Arial"/>
              </a:rPr>
              <a:t>pay per use, no idle data centers</a:t>
            </a:r>
          </a:p>
        </p:txBody>
      </p:sp>
      <p:sp>
        <p:nvSpPr>
          <p:cNvPr id="14" name="TextBox 13"/>
          <p:cNvSpPr txBox="1"/>
          <p:nvPr/>
        </p:nvSpPr>
        <p:spPr>
          <a:xfrm>
            <a:off x="548640" y="530352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5</a:t>
            </a:r>
          </a:p>
        </p:txBody>
      </p:sp>
      <p:sp>
        <p:nvSpPr>
          <p:cNvPr id="15" name="TextBox 14"/>
          <p:cNvSpPr txBox="1"/>
          <p:nvPr/>
        </p:nvSpPr>
        <p:spPr>
          <a:xfrm>
            <a:off x="1188720" y="530352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Automatic updates</a:t>
            </a:r>
          </a:p>
          <a:p>
            <a:pPr algn="l">
              <a:lnSpc>
                <a:spcPct val="110000"/>
              </a:lnSpc>
            </a:pPr>
            <a:r>
              <a:rPr sz="1400" b="0">
                <a:solidFill>
                  <a:srgbClr val="4A5868"/>
                </a:solidFill>
                <a:latin typeface="Arial"/>
              </a:rPr>
              <a:t>provider applies patches</a:t>
            </a:r>
          </a:p>
        </p:txBody>
      </p:sp>
      <p:sp>
        <p:nvSpPr>
          <p:cNvPr id="16" name="TextBox 15"/>
          <p:cNvSpPr txBox="1"/>
          <p:nvPr/>
        </p:nvSpPr>
        <p:spPr>
          <a:xfrm>
            <a:off x="6217920" y="182880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6</a:t>
            </a:r>
          </a:p>
        </p:txBody>
      </p:sp>
      <p:sp>
        <p:nvSpPr>
          <p:cNvPr id="17" name="TextBox 16"/>
          <p:cNvSpPr txBox="1"/>
          <p:nvPr/>
        </p:nvSpPr>
        <p:spPr>
          <a:xfrm>
            <a:off x="6858000" y="182880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Disaster recovery</a:t>
            </a:r>
          </a:p>
          <a:p>
            <a:pPr algn="l">
              <a:lnSpc>
                <a:spcPct val="110000"/>
              </a:lnSpc>
            </a:pPr>
            <a:r>
              <a:rPr sz="1400" b="0">
                <a:solidFill>
                  <a:srgbClr val="4A5868"/>
                </a:solidFill>
                <a:latin typeface="Arial"/>
              </a:rPr>
              <a:t>backup without on-premises cost</a:t>
            </a:r>
          </a:p>
        </p:txBody>
      </p:sp>
      <p:sp>
        <p:nvSpPr>
          <p:cNvPr id="18" name="TextBox 17"/>
          <p:cNvSpPr txBox="1"/>
          <p:nvPr/>
        </p:nvSpPr>
        <p:spPr>
          <a:xfrm>
            <a:off x="6217920" y="269748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7</a:t>
            </a:r>
          </a:p>
        </p:txBody>
      </p:sp>
      <p:sp>
        <p:nvSpPr>
          <p:cNvPr id="19" name="TextBox 18"/>
          <p:cNvSpPr txBox="1"/>
          <p:nvPr/>
        </p:nvSpPr>
        <p:spPr>
          <a:xfrm>
            <a:off x="6858000" y="269748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High security</a:t>
            </a:r>
          </a:p>
          <a:p>
            <a:pPr algn="l">
              <a:lnSpc>
                <a:spcPct val="110000"/>
              </a:lnSpc>
            </a:pPr>
            <a:r>
              <a:rPr sz="1400" b="0">
                <a:solidFill>
                  <a:srgbClr val="4A5868"/>
                </a:solidFill>
                <a:latin typeface="Arial"/>
              </a:rPr>
              <a:t>advanced security features</a:t>
            </a:r>
          </a:p>
        </p:txBody>
      </p:sp>
      <p:sp>
        <p:nvSpPr>
          <p:cNvPr id="20" name="TextBox 19"/>
          <p:cNvSpPr txBox="1"/>
          <p:nvPr/>
        </p:nvSpPr>
        <p:spPr>
          <a:xfrm>
            <a:off x="6217920" y="356616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8</a:t>
            </a:r>
          </a:p>
        </p:txBody>
      </p:sp>
      <p:sp>
        <p:nvSpPr>
          <p:cNvPr id="21" name="TextBox 20"/>
          <p:cNvSpPr txBox="1"/>
          <p:nvPr/>
        </p:nvSpPr>
        <p:spPr>
          <a:xfrm>
            <a:off x="6858000" y="356616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Reduced carbon footprint</a:t>
            </a:r>
          </a:p>
          <a:p>
            <a:pPr algn="l">
              <a:lnSpc>
                <a:spcPct val="110000"/>
              </a:lnSpc>
            </a:pPr>
            <a:r>
              <a:rPr sz="1400" b="0">
                <a:solidFill>
                  <a:srgbClr val="4A5868"/>
                </a:solidFill>
                <a:latin typeface="Arial"/>
              </a:rPr>
              <a:t>resources as per demand</a:t>
            </a:r>
          </a:p>
        </p:txBody>
      </p:sp>
      <p:sp>
        <p:nvSpPr>
          <p:cNvPr id="22" name="TextBox 21"/>
          <p:cNvSpPr txBox="1"/>
          <p:nvPr/>
        </p:nvSpPr>
        <p:spPr>
          <a:xfrm>
            <a:off x="6217920" y="443484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9</a:t>
            </a:r>
          </a:p>
        </p:txBody>
      </p:sp>
      <p:sp>
        <p:nvSpPr>
          <p:cNvPr id="23" name="TextBox 22"/>
          <p:cNvSpPr txBox="1"/>
          <p:nvPr/>
        </p:nvSpPr>
        <p:spPr>
          <a:xfrm>
            <a:off x="6858000" y="443484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Flexibility</a:t>
            </a:r>
          </a:p>
          <a:p>
            <a:pPr algn="l">
              <a:lnSpc>
                <a:spcPct val="110000"/>
              </a:lnSpc>
            </a:pPr>
            <a:r>
              <a:rPr sz="1400" b="0">
                <a:solidFill>
                  <a:srgbClr val="4A5868"/>
                </a:solidFill>
                <a:latin typeface="Arial"/>
              </a:rPr>
              <a:t>any device, any location</a:t>
            </a:r>
          </a:p>
        </p:txBody>
      </p:sp>
      <p:sp>
        <p:nvSpPr>
          <p:cNvPr id="24" name="TextBox 23"/>
          <p:cNvSpPr txBox="1"/>
          <p:nvPr/>
        </p:nvSpPr>
        <p:spPr>
          <a:xfrm>
            <a:off x="6217920" y="530352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10</a:t>
            </a:r>
          </a:p>
        </p:txBody>
      </p:sp>
      <p:sp>
        <p:nvSpPr>
          <p:cNvPr id="25" name="TextBox 24"/>
          <p:cNvSpPr txBox="1"/>
          <p:nvPr/>
        </p:nvSpPr>
        <p:spPr>
          <a:xfrm>
            <a:off x="6858000" y="530352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Enterprise collaboration</a:t>
            </a:r>
          </a:p>
          <a:p>
            <a:pPr algn="l">
              <a:lnSpc>
                <a:spcPct val="110000"/>
              </a:lnSpc>
            </a:pPr>
            <a:r>
              <a:rPr sz="1400" b="0">
                <a:solidFill>
                  <a:srgbClr val="4A5868"/>
                </a:solidFill>
                <a:latin typeface="Arial"/>
              </a:rPr>
              <a:t>shared, centralized documents</a:t>
            </a:r>
          </a:p>
        </p:txBody>
      </p:sp>
      <p:sp>
        <p:nvSpPr>
          <p:cNvPr id="26" name="TextBox 25"/>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p.1-2</a:t>
            </a:r>
          </a:p>
        </p:txBody>
      </p:sp>
      <p:sp>
        <p:nvSpPr>
          <p:cNvPr id="27" name="TextBox 2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One-slide cheat sheet</a:t>
            </a:r>
          </a:p>
        </p:txBody>
      </p:sp>
      <p:sp>
        <p:nvSpPr>
          <p:cNvPr id="4" name="Rectangle 3"/>
          <p:cNvSpPr/>
          <p:nvPr/>
        </p:nvSpPr>
        <p:spPr>
          <a:xfrm>
            <a:off x="548640" y="132588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Create</a:t>
            </a:r>
          </a:p>
        </p:txBody>
      </p:sp>
      <p:sp>
        <p:nvSpPr>
          <p:cNvPr id="6" name="TextBox 5"/>
          <p:cNvSpPr txBox="1"/>
          <p:nvPr/>
        </p:nvSpPr>
        <p:spPr>
          <a:xfrm>
            <a:off x="2468880" y="132588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insertOne({...})   insertMany([{...}, {...}], {ordered: false})</a:t>
            </a:r>
          </a:p>
        </p:txBody>
      </p:sp>
      <p:sp>
        <p:nvSpPr>
          <p:cNvPr id="7" name="Rectangle 6"/>
          <p:cNvSpPr/>
          <p:nvPr/>
        </p:nvSpPr>
        <p:spPr>
          <a:xfrm>
            <a:off x="548640" y="187452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7452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Delete</a:t>
            </a:r>
          </a:p>
        </p:txBody>
      </p:sp>
      <p:sp>
        <p:nvSpPr>
          <p:cNvPr id="9" name="TextBox 8"/>
          <p:cNvSpPr txBox="1"/>
          <p:nvPr/>
        </p:nvSpPr>
        <p:spPr>
          <a:xfrm>
            <a:off x="2468880" y="187452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deleteOne(filter)   deleteMany(filter)   // {} = ALL</a:t>
            </a:r>
          </a:p>
        </p:txBody>
      </p:sp>
      <p:sp>
        <p:nvSpPr>
          <p:cNvPr id="10" name="Rectangle 9"/>
          <p:cNvSpPr/>
          <p:nvPr/>
        </p:nvSpPr>
        <p:spPr>
          <a:xfrm>
            <a:off x="548640" y="242316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2316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Read</a:t>
            </a:r>
          </a:p>
        </p:txBody>
      </p:sp>
      <p:sp>
        <p:nvSpPr>
          <p:cNvPr id="12" name="TextBox 11"/>
          <p:cNvSpPr txBox="1"/>
          <p:nvPr/>
        </p:nvSpPr>
        <p:spPr>
          <a:xfrm>
            <a:off x="2468880" y="242316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find(filter, projection)   findOne(filter)  -&gt; doc or null</a:t>
            </a:r>
          </a:p>
        </p:txBody>
      </p:sp>
      <p:sp>
        <p:nvSpPr>
          <p:cNvPr id="13" name="Rectangle 12"/>
          <p:cNvSpPr/>
          <p:nvPr/>
        </p:nvSpPr>
        <p:spPr>
          <a:xfrm>
            <a:off x="548640" y="297180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7180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Change</a:t>
            </a:r>
          </a:p>
        </p:txBody>
      </p:sp>
      <p:sp>
        <p:nvSpPr>
          <p:cNvPr id="15" name="TextBox 14"/>
          <p:cNvSpPr txBox="1"/>
          <p:nvPr/>
        </p:nvSpPr>
        <p:spPr>
          <a:xfrm>
            <a:off x="2468880" y="297180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updateOne / updateMany(filter, {$set | $unset})   replaceOne(filter, doc)</a:t>
            </a:r>
          </a:p>
        </p:txBody>
      </p:sp>
      <p:sp>
        <p:nvSpPr>
          <p:cNvPr id="16" name="Rectangle 15"/>
          <p:cNvSpPr/>
          <p:nvPr/>
        </p:nvSpPr>
        <p:spPr>
          <a:xfrm>
            <a:off x="548640" y="352044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52044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Compare</a:t>
            </a:r>
          </a:p>
        </p:txBody>
      </p:sp>
      <p:sp>
        <p:nvSpPr>
          <p:cNvPr id="18" name="TextBox 17"/>
          <p:cNvSpPr txBox="1"/>
          <p:nvPr/>
        </p:nvSpPr>
        <p:spPr>
          <a:xfrm>
            <a:off x="2468880" y="352044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$lt &lt;   $lte &lt;=   $gt &gt;   $gte &gt;=</a:t>
            </a:r>
          </a:p>
        </p:txBody>
      </p:sp>
      <p:sp>
        <p:nvSpPr>
          <p:cNvPr id="19" name="Rectangle 18"/>
          <p:cNvSpPr/>
          <p:nvPr/>
        </p:nvSpPr>
        <p:spPr>
          <a:xfrm>
            <a:off x="548640" y="406908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06908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Choose</a:t>
            </a:r>
          </a:p>
        </p:txBody>
      </p:sp>
      <p:sp>
        <p:nvSpPr>
          <p:cNvPr id="21" name="TextBox 20"/>
          <p:cNvSpPr txBox="1"/>
          <p:nvPr/>
        </p:nvSpPr>
        <p:spPr>
          <a:xfrm>
            <a:off x="2468880" y="406908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$in [values]   $or [conditions]   field: null  (no $null)</a:t>
            </a:r>
          </a:p>
        </p:txBody>
      </p:sp>
      <p:sp>
        <p:nvSpPr>
          <p:cNvPr id="22" name="Rectangle 21"/>
          <p:cNvSpPr/>
          <p:nvPr/>
        </p:nvSpPr>
        <p:spPr>
          <a:xfrm>
            <a:off x="548640" y="461772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61772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Arrays</a:t>
            </a:r>
          </a:p>
        </p:txBody>
      </p:sp>
      <p:sp>
        <p:nvSpPr>
          <p:cNvPr id="24" name="TextBox 23"/>
          <p:cNvSpPr txBox="1"/>
          <p:nvPr/>
        </p:nvSpPr>
        <p:spPr>
          <a:xfrm>
            <a:off x="2468880" y="461772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field: value   $all   $size: n   $push (+ $each)   "arr.2"</a:t>
            </a:r>
          </a:p>
        </p:txBody>
      </p:sp>
      <p:sp>
        <p:nvSpPr>
          <p:cNvPr id="25" name="Rectangle 24"/>
          <p:cNvSpPr/>
          <p:nvPr/>
        </p:nvSpPr>
        <p:spPr>
          <a:xfrm>
            <a:off x="548640" y="516636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16636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Trim / nest</a:t>
            </a:r>
          </a:p>
        </p:txBody>
      </p:sp>
      <p:sp>
        <p:nvSpPr>
          <p:cNvPr id="27" name="TextBox 26"/>
          <p:cNvSpPr txBox="1"/>
          <p:nvPr/>
        </p:nvSpPr>
        <p:spPr>
          <a:xfrm>
            <a:off x="2468880" y="516636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$slice: n | -n | [skip, limit]   "parent.child"</a:t>
            </a:r>
          </a:p>
        </p:txBody>
      </p:sp>
      <p:sp>
        <p:nvSpPr>
          <p:cNvPr id="28" name="Rectangle 27"/>
          <p:cNvSpPr/>
          <p:nvPr/>
        </p:nvSpPr>
        <p:spPr>
          <a:xfrm>
            <a:off x="548640" y="571500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71500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Cloud</a:t>
            </a:r>
          </a:p>
        </p:txBody>
      </p:sp>
      <p:sp>
        <p:nvSpPr>
          <p:cNvPr id="30" name="TextBox 29"/>
          <p:cNvSpPr txBox="1"/>
          <p:nvPr/>
        </p:nvSpPr>
        <p:spPr>
          <a:xfrm>
            <a:off x="2468880" y="5715000"/>
            <a:ext cx="9052560" cy="475488"/>
          </a:xfrm>
          <a:prstGeom prst="rect">
            <a:avLst/>
          </a:prstGeom>
          <a:noFill/>
        </p:spPr>
        <p:txBody>
          <a:bodyPr wrap="square" anchor="ctr" lIns="73152" rIns="73152" tIns="73152" bIns="73152">
            <a:spAutoFit/>
          </a:bodyPr>
          <a:lstStyle/>
          <a:p>
            <a:pPr algn="l">
              <a:lnSpc>
                <a:spcPct val="110000"/>
              </a:lnSpc>
            </a:pPr>
            <a:r>
              <a:rPr sz="1600" b="0">
                <a:solidFill>
                  <a:srgbClr val="14202E"/>
                </a:solidFill>
                <a:latin typeface="Consolas"/>
              </a:rPr>
              <a:t>Public · Private · Hybrid      SaaS · PaaS · IaaS</a:t>
            </a:r>
          </a:p>
        </p:txBody>
      </p:sp>
      <p:sp>
        <p:nvSpPr>
          <p:cNvPr id="31" name="TextBox 30"/>
          <p:cNvSpPr txBox="1"/>
          <p:nvPr/>
        </p:nvSpPr>
        <p:spPr>
          <a:xfrm>
            <a:off x="548640" y="6419088"/>
            <a:ext cx="768096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Parts 1-8</a:t>
            </a:r>
          </a:p>
        </p:txBody>
      </p:sp>
      <p:sp>
        <p:nvSpPr>
          <p:cNvPr id="32" name="TextBox 31"/>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References</a:t>
            </a:r>
          </a:p>
        </p:txBody>
      </p:sp>
      <p:sp>
        <p:nvSpPr>
          <p:cNvPr id="4" name="TextBox 3"/>
          <p:cNvSpPr txBox="1"/>
          <p:nvPr/>
        </p:nvSpPr>
        <p:spPr>
          <a:xfrm>
            <a:off x="548640" y="1280160"/>
            <a:ext cx="11064240" cy="4937760"/>
          </a:xfrm>
          <a:prstGeom prst="rect">
            <a:avLst/>
          </a:prstGeom>
          <a:noFill/>
        </p:spPr>
        <p:txBody>
          <a:bodyPr wrap="square" anchor="t" lIns="73152" rIns="73152" tIns="73152" bIns="73152">
            <a:spAutoFit/>
          </a:bodyPr>
          <a:lstStyle/>
          <a:p>
            <a:pPr algn="l">
              <a:lnSpc>
                <a:spcPct val="120000"/>
              </a:lnSpc>
            </a:pPr>
            <a:r>
              <a:rPr sz="1400" b="0">
                <a:solidFill>
                  <a:srgbClr val="14202E"/>
                </a:solidFill>
                <a:latin typeface="Arial"/>
              </a:rPr>
              <a:t>STI IT2003 07 Handout 1: Introduction to NoSQL Database Management Systems.</a:t>
            </a:r>
          </a:p>
          <a:p>
            <a:pPr algn="l">
              <a:lnSpc>
                <a:spcPct val="120000"/>
              </a:lnSpc>
            </a:pPr>
            <a:r>
              <a:rPr sz="1400" b="0">
                <a:solidFill>
                  <a:srgbClr val="14202E"/>
                </a:solidFill>
                <a:latin typeface="Arial"/>
              </a:rPr>
              <a:t>STI IT2003 08 Handout 1: Fundamentals of Document-Oriented Database.</a:t>
            </a:r>
          </a:p>
          <a:p>
            <a:pPr algn="l">
              <a:lnSpc>
                <a:spcPct val="120000"/>
              </a:lnSpc>
            </a:pPr>
            <a:r>
              <a:rPr sz="1400" b="0">
                <a:solidFill>
                  <a:srgbClr val="14202E"/>
                </a:solidFill>
                <a:latin typeface="Arial"/>
              </a:rPr>
              <a:t>STI IT2003 09 Handout 1: Cloud Computing.</a:t>
            </a:r>
          </a:p>
          <a:p>
            <a:pPr algn="l">
              <a:lnSpc>
                <a:spcPct val="120000"/>
              </a:lnSpc>
            </a:pPr>
            <a:r>
              <a:rPr sz="1400" b="0">
                <a:solidFill>
                  <a:srgbClr val="14202E"/>
                </a:solidFill>
                <a:latin typeface="Arial"/>
              </a:rPr>
              <a:t>Chodorow, K., Brazil, E., &amp; Bradshaw, S. (2019). MongoDB: The definitive guide (3rd ed.). O'Reilly Media.</a:t>
            </a:r>
          </a:p>
          <a:p>
            <a:pPr algn="l">
              <a:lnSpc>
                <a:spcPct val="120000"/>
              </a:lnSpc>
            </a:pPr>
            <a:r>
              <a:rPr sz="1400" b="0">
                <a:solidFill>
                  <a:srgbClr val="14202E"/>
                </a:solidFill>
                <a:latin typeface="Arial"/>
              </a:rPr>
              <a:t>MongoDB, Inc. (n.d.). Query for null or missing fields. https://www.mongodb.com/docs/manual/tutorial/query-for-null-fields/ (accessed 2026-10-30).</a:t>
            </a:r>
          </a:p>
          <a:p>
            <a:pPr algn="l">
              <a:lnSpc>
                <a:spcPct val="120000"/>
              </a:lnSpc>
            </a:pPr>
            <a:r>
              <a:rPr sz="1400" b="0">
                <a:solidFill>
                  <a:srgbClr val="14202E"/>
                </a:solidFill>
                <a:latin typeface="Arial"/>
              </a:rPr>
              <a:t>MongoDB, Inc. (n.d.). $push. https://www.mongodb.com/docs/manual/reference/operator/update/push/ (accessed 2026-10-30).</a:t>
            </a:r>
          </a:p>
          <a:p>
            <a:pPr algn="l">
              <a:lnSpc>
                <a:spcPct val="120000"/>
              </a:lnSpc>
            </a:pPr>
            <a:r>
              <a:rPr sz="1400" b="0">
                <a:solidFill>
                  <a:srgbClr val="14202E"/>
                </a:solidFill>
                <a:latin typeface="Arial"/>
              </a:rPr>
              <a:t>Command outputs: run live on MongoDB 8.0.4 with mongosh 2.3.8, 2026-10-30. Script: verification/run_commands.py.</a:t>
            </a:r>
          </a:p>
          <a:p>
            <a:pPr algn="l">
              <a:lnSpc>
                <a:spcPct val="120000"/>
              </a:lnSpc>
            </a:pPr>
            <a:r>
              <a:rPr sz="1400" b="0">
                <a:solidFill>
                  <a:srgbClr val="14202E"/>
                </a:solidFill>
                <a:latin typeface="Arial"/>
              </a:rPr>
              <a:t>Meme references (speaker notes only): DZRH News, 'LOL, Relate, Repeat: How these 15 viral memes defined the Philippines in 2025', published 2025-12-31, https://www.dzrh.com.ph/post/lol-relate-repeat-how-these-15-viral-memes-defined-the-philippines-in-2025.</a:t>
            </a:r>
          </a:p>
        </p:txBody>
      </p:sp>
      <p:sp>
        <p:nvSpPr>
          <p:cNvPr id="5" name="TextBox 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