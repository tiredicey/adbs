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promise: every command on these slides was run on a real MongoDB server and we kept the real output, including one command from our own outline that failed (Part 4). Introduce the group and the eight parts.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Roadmap. Parts 1-6: MongoDB commands from the 07 and 08 handouts. Parts 7-8: cloud computing from the 09 handout. Most parts end with a trap: the mistake that silently gives the wrong answer.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Fill in names before submission.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server, real output, kept in the repo; anyone can rerun the script. The best result of checking was a failure: our outline listed dollar-null and the server rejected it. That is why Part 4 teaches the correct null query.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1 soundbite: Documents in, documents out.  Optional crowd line: "What haffen, collection?" after deleteMany({}). Parody of 'What haffen Vella?', a 2013 TV clip that resurfaced in 2025 (DZRH News, 2025-12-31).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Lock the vocabulary first. The handout's Table 2 maps SQL to MongoDB: tables become collections, rows become documents, columns become fields. A collection does not force every document to have the same fields. Every document gets a unique _id. Say: Tables are collections. Rows are documents.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insertOne adds a single document. We gave no _id, so MongoDB created the ObjectId in the output. The collection did not exist before this line; MongoDB creates it on the first insert. Say: One document in. MongoDB hands it an _id.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insertMany takes an array. One call, three documents, three ids back, numbered 0, 1, 2 in array order. Say: Many documents, one trip.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favorite. Same duplicate-key error, two outcomes. Unordered tries every document, so 3, 4 and 5 land and only the second 4 fails. Ordered is the default and stops at the first error, so the next document never goes in. Real server counts: 3 and 1. Say: Ordered stops at the error. Unordered keeps going.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deleteOne deletes at most one document, the first match, even when more match. Two documents had y 1985; one is left. The safest filter is _id, which is unique, like the handout's deleteOne on _id 4. Say: deleteOne removes one. Even if many match.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deleteMany removes every document that matches. Two movies had year 1985; deletedCount is 2. Always read deletedCount. Say: deleteMany clears every match.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traps. deleteMany with an empty filter wipes the collection; deletedCount 3. And the 07 handout's remove still works, but mongosh prints a deprecation warning pointing to deleteOne or deleteMany. Optional crowd line: What haffen, collection? Say: Empty filter, empty collection.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BLUEPRINT. Write a 2-sentence intro. Keep the soundbite or write a better one (under 8 words). Part 2 soundbite: Find it first. Then change it.  Optional crowd line: "Kuya, natanggal!" for $unset. Parody of the 2025 'Kuya natanggal' meme (DZRH News, 2025-12-31).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BLUEPRINT. Run the command and paste your real output. What to cover (in your own words): findOne returns the first matching document, or null when nothing matches. Never a list. The second argument is a projection; _id 0 hides the _id. find, by contrast, returns every match. Say: findOne gives one document. No match gives null.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BLUEPRINT. Run the command and paste your real output. What to cover (in your own words): replaceOne replaces the whole matched document. The handout uses it for a schema migration: friends and enemies move into a relationships subdocument and name becomes username. Fields you leave out disappear. The _id is kept. Say: replaceOne swaps the body. The _id stays.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BLUEPRINT. Run the command and paste your real output. What to cover (in your own words): updateOne takes a filter and a modifier. $set changes a field or creates it. $unset removes it. Only the first match changes. Read matchedCount and modifiedCount. Optional crowd line for $unset: Kuya, natanggal! Say: $set adds or changes. $unset removes.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BLUEPRINT. Run the command and paste your real output. What to cover (in your own words): updateMany has the same parameters as updateOne; only the number of changed documents differs. Three share the birthday, so matched and modified are 3. Say: One rule, every match.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BLUEPRINT. Run the command and paste your real output. What to cover (in your own words): Forget the dollar operator and updateOne refuses: Update document requires atomic operators. That protects you from replacing a whole document by accident. If replacing is the goal, use replaceOne. Say: No dollar, no update.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BLUEPRINT. Write a 2-sentence intro. Keep the soundbite or write a better one (under 8 words). Part 3 soundbite: Less, less-or-equal, greater, greater-or-equal.  Optional crowd line: "Sobrang strict ng $gt." Riff on the 2025 'Sobrang Latina' catchphrase (DZRH News, 2025-12-31).</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BLUEPRINT. Fill the blank cells from 08 Handout p.3. What to cover (in your own words): Four comparison operators. lt and gt are strict; add an e and equality counts. The right column shows ages 17, 18 and 24 against 18. Say: The e means equal is allowed.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BLUEPRINT. Run the command and paste your real output. What to cover (in your own words): One letter apart. $lt 18 returns only Ana, 17. $lte 18 adds Ben, exactly 18. Say: 18 is out with lt, in with lte.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BLUEPRINT. Run the command and paste your real output. What to cover (in your own words): Mirror image. $gt 30 returns only Eli, 31. $gte 30 adds Dan, exactly 30. Say: 30 is out with gt, in with gte.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BLUEPRINT. Run the command and paste your real output. What to cover (in your own words): Two operators in the same field document must both be true. The handout's between 18 and 30 query returns Ben, Cara and Dan. Both ends count because of gte and lte. Say: Two operators, one field, one range.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BLUEPRINT. Run the command and paste your real output. What to cover (in your own words): Fay's age is the string 20. $gte 18 compares numbers to numbers, so Fay never appears. No error, just a missing row: the dangerous kind of bug. Say: Quote-20 is text, not twenty.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BLUEPRINT. Write a 2-sentence intro. Keep the soundbite or write a better one (under 8 words). Part 4 soundbite: One field, many values. Many fields, any match.  Optional crowd line: "Tayo ay nasa $null... wala pala." Riff on the 2025 'Tayo ay nasa fine dining restaurant' meme (DZRH News, 2025-12-31).</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BLUEPRINT. Run the command and paste your real output. What to cover (in your own words): $in matches one field against a list. The raffle's winning tickets 725, 542 and 390 come back in one query. Say: $in is a guest list for one field.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BLUEPRINT. Run the command and paste your real output. What to cover (in your own words): $or takes an array of whole conditions, each on any field. Ticket 725 passes the first; ticket 111 passes the second because winner is true. One field, use $in; several fields, use $or. Say: $or, pass any one test.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BLUEPRINT. Run the command and paste your real output. What to cover (in your own words): Our topic list said dollar-null. We tested it instead of assuming: the server answers unknown operator: $null. There is no such operator. You query with the plain value null. Say: There is no dollar-null. Write null.</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BLUEPRINT. Run the command and paste your real output. What to cover (in your own words): {field: null} matches documents where the field is null and documents where it does not exist. Five tickets return; only 222 stores null. For real nulls only, use $type null. Ticket 333, claimed by Lia, never matches. Say: null means null or not there.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BLUEPRINT. Write a 2-sentence intro. Keep the soundbite or write a better one (under 8 words). Part 5 soundbite: Arrays answer like single values.  Optional crowd line: "$all: kumpleto ang barkada." (original line, no meme reference)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BLUEPRINT. Run the command and paste your real output. What to cover (in your own words): Querying an array looks like querying a single value. fruit banana matches every document whose array contains banana anywhere: 1 and 3. For a position, use key dot index, like fruit.2. Say: Ask for banana, get every basket with a banana.</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BLUEPRINT. Run the command and paste your real output. What to cover (in your own words): To insert an element into an existing array, use $push in an update; it appends to the end. Pushing an array directly would nest it as one element, so use $each for several values. This comes from the MongoDB manual; the handout only inserts whole documents that contain arrays. Say: $push adds to the end.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BLUEPRINT. Run the command and paste your real output. What to cover (in your own words): $all needs every listed element, in any order. Documents 1 and 3 have both. Document 2 has apple but no banana. Say: $all, has them all, any order.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BLUEPRINT. Run the command and paste your real output. What to cover (in your own words): $size matches arrays with exactly that many elements. After pushing mango, document 2 has four, so $size 4 finds it. Trap: $size takes a number only; $size with $gt fails to parse. Say: $size counts. Exactly.</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BLUEPRINT. Write a 2-sentence intro. Keep the soundbite or write a better one (under 8 words). Part 6 soundbite: Trim what you see. Reach inside with a dot.  Optional crowd line: "Sierra Madre baddie: shields the whole document." Riff on the 2025 'Sierra Madre Baddie' meme (DZRH News, 2025-12-31).</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BLUEPRINT. Run the command and paste your real output. What to cover (in your own words): $slice returns part of an array, from the projection. 3 gives the first three comments; minus 3 the last three. The document still stores all 40. Say: Positive from the front, negative from the back.</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BLUEPRINT. Run the command and paste your real output. What to cover (in your own words): Two numbers mean skip then limit. Skip 23, take 10: c24 through c33, exactly as the handout says. A shorter array just returns what exists. That is how you page through comments. Say: Skip 23, take 10.</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BLUEPRINT. Run the command and paste your real output. What to cover (in your own words): An embedded document is a document inside a document. Reach its fields with quoted dot notation: name.first, name.last. The same dot works in $set, like the handout's author.name update. Say: Use the dot to reach inside.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BLUEPRINT. Run the command and paste your real output. What to cover (in your own words): Matching the whole embedded document compares it exactly, field order included. Swap first and last and you get zero. Dot notation ignores order, which is why we prefer it. Say: Same fields, wrong order, zero results.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BLUEPRINT. Write a 2-sentence intro. Keep the soundbite or write a better one (under 8 words). Part 7 soundbite: Cloud type = where it lives + who controls it.  Optional crowd line: "Tayo ay nasa cloud." Riff on the 2025 'fine dining restaurant' meme (DZRH News, 2025-12-31).</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BLUEPRINT. Write each bullet from 09 Handout p.1. What to cover (in your own words): Handout definition: services delivered over the Internet, including storage, servers, databases, networking and software. Files live in a remote database instead of a local drive, so any device with web access reaches them. Say: If it has the web, it has your data.</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BLUEPRINT. Fill the blank cells from 09 Handout p.1. What to cover (in your own words): Defined by where the infrastructure lives and who controls it. Public: third party, sold to everyone; AWS, Google App Engine, Microsoft Azure. Reliable and scalable but not for organizations under strict data-security rules. Private: one organization, for itself. Hybrid: both, for example email on public and financials on private. Say: Rent it, own it, or mix both.</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BLUEPRINT. Write each bullet from 09 Handout p.2-3 (last bullet is our inference). What to cover (in your own words): Our own lab is an example. The handout creates a free shared cluster on AWS or Google Cloud in Singapore, then connects from Compass with a mongodb+srv string. Because Atlas runs on a public provider, our class database is public cloud. That last line is our inference from the handout, not a quote. Say: Our database, their data center.</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BLUEPRINT. Write a 2-sentence intro. Keep the soundbite or write a better one (under 8 words). Part 8 soundbite: Use it, build on it, or rent the machine.  Optional crowd line: "Sobrang scalable." Riff on the 2025 'Sobrang Latina' catchphrase (DZRH News, 2025-12-31).</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BLUEPRINT. Fill the blank cells from 09 Handout p.1. What to cover (in your own words): SaaS: the provider runs a finished app like Office 365 or Google Docs; you tweak settings only. PaaS: you build and deploy your own app on the provider's tools, like Azure with .NET and Java, without managing infrastructure. IaaS: you rent raw resources, like an AWS server with Linux, Apache, 16 GB RAM and 160 GB storage. Say: SaaS, use it. PaaS, build on it. IaaS, rent the machine.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BLUEPRINT. Decide each box: You or Provider. What to cover (in your own words): Our own summary of the handout definitions, not a handout figure. SaaS: the provider runs almost everything. PaaS: you own your app and data; the provider runs the platform and hardware. IaaS: the provider gives you machines; you manage what runs on them. Say: Each step down, you manage more.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BLUEPRINT. List the 10 benefits in handout order. What to cover (in your own words): Ten benefits, in handout order: instant scalability, anywhere accessibility, speed and agility, reduced expenditure, automatic updates, disaster recovery, high security, reduced carbon footprint, flexibility, enterprise collaboration. One honest caveat from the handout: cost depends on consumption, a variable expense, so the cloud is not automatically cheaper. Say: Scale up fast. Pay for what you use.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this up during questions: every command from today on one screen.</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Handouts first, then the MongoDB manual pages used for $push and null, then the live server run. Meme references appear only in speaker notes, dated and sourced.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02E"/>
        </a:solidFill>
        <a:effectLst/>
      </p:bgPr>
    </p:bg>
    <p:spTree>
      <p:nvGrpSpPr>
        <p:cNvPr id="1" name=""/>
        <p:cNvGrpSpPr/>
        <p:nvPr/>
      </p:nvGrpSpPr>
      <p:grpSpPr/>
      <p:sp>
        <p:nvSpPr>
          <p:cNvPr id="2" name="Rectangle 1"/>
          <p:cNvSpPr/>
          <p:nvPr/>
        </p:nvSpPr>
        <p:spPr>
          <a:xfrm>
            <a:off x="0" y="5394960"/>
            <a:ext cx="12191695" cy="109728"/>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0"/>
            <a:ext cx="10972800" cy="457200"/>
          </a:xfrm>
          <a:prstGeom prst="rect">
            <a:avLst/>
          </a:prstGeom>
          <a:noFill/>
        </p:spPr>
        <p:txBody>
          <a:bodyPr wrap="square" anchor="t" lIns="73152" rIns="73152" tIns="73152" bIns="73152">
            <a:spAutoFit/>
          </a:bodyPr>
          <a:lstStyle/>
          <a:p>
            <a:pPr algn="l">
              <a:lnSpc>
                <a:spcPct val="110000"/>
              </a:lnSpc>
            </a:pPr>
            <a:r>
              <a:rPr sz="1600" b="1">
                <a:solidFill>
                  <a:srgbClr val="F2B27A"/>
                </a:solidFill>
                <a:latin typeface="Arial"/>
              </a:rPr>
              <a:t>IT2003 · ADVANCED DATABASE SYSTEMS</a:t>
            </a:r>
          </a:p>
        </p:txBody>
      </p:sp>
      <p:sp>
        <p:nvSpPr>
          <p:cNvPr id="4" name="TextBox 3"/>
          <p:cNvSpPr txBox="1"/>
          <p:nvPr/>
        </p:nvSpPr>
        <p:spPr>
          <a:xfrm>
            <a:off x="548640" y="1645920"/>
            <a:ext cx="10972800" cy="2011680"/>
          </a:xfrm>
          <a:prstGeom prst="rect">
            <a:avLst/>
          </a:prstGeom>
          <a:noFill/>
        </p:spPr>
        <p:txBody>
          <a:bodyPr wrap="square" anchor="t" lIns="73152" rIns="73152" tIns="73152" bIns="73152">
            <a:spAutoFit/>
          </a:bodyPr>
          <a:lstStyle/>
          <a:p>
            <a:pPr algn="l">
              <a:lnSpc>
                <a:spcPct val="95000"/>
              </a:lnSpc>
            </a:pPr>
            <a:r>
              <a:rPr sz="6000" b="1">
                <a:solidFill>
                  <a:srgbClr val="FFFFFF"/>
                </a:solidFill>
                <a:latin typeface="Arial"/>
              </a:rPr>
              <a:t>MongoDB Commands</a:t>
            </a:r>
          </a:p>
          <a:p>
            <a:pPr algn="l">
              <a:lnSpc>
                <a:spcPct val="95000"/>
              </a:lnSpc>
            </a:pPr>
            <a:r>
              <a:rPr sz="6000" b="1">
                <a:solidFill>
                  <a:srgbClr val="FFFFFF"/>
                </a:solidFill>
                <a:latin typeface="Arial"/>
              </a:rPr>
              <a:t>&amp; Cloud Computing</a:t>
            </a:r>
          </a:p>
        </p:txBody>
      </p:sp>
      <p:sp>
        <p:nvSpPr>
          <p:cNvPr id="5" name="TextBox 4"/>
          <p:cNvSpPr txBox="1"/>
          <p:nvPr/>
        </p:nvSpPr>
        <p:spPr>
          <a:xfrm>
            <a:off x="548640" y="3794760"/>
            <a:ext cx="10515600" cy="1097280"/>
          </a:xfrm>
          <a:prstGeom prst="rect">
            <a:avLst/>
          </a:prstGeom>
          <a:noFill/>
        </p:spPr>
        <p:txBody>
          <a:bodyPr wrap="square" anchor="t" lIns="73152" rIns="73152" tIns="73152" bIns="73152">
            <a:spAutoFit/>
          </a:bodyPr>
          <a:lstStyle/>
          <a:p>
            <a:pPr algn="l">
              <a:lnSpc>
                <a:spcPct val="110000"/>
              </a:lnSpc>
            </a:pPr>
            <a:r>
              <a:rPr sz="2200" b="0">
                <a:solidFill>
                  <a:srgbClr val="E6ECF2"/>
                </a:solidFill>
                <a:latin typeface="Arial"/>
              </a:rPr>
              <a:t>Group blueprint: Part 1 is complete. Parts 2-8 are frames for each owner to finish.</a:t>
            </a:r>
          </a:p>
        </p:txBody>
      </p:sp>
      <p:sp>
        <p:nvSpPr>
          <p:cNvPr id="6" name="TextBox 5"/>
          <p:cNvSpPr txBox="1"/>
          <p:nvPr/>
        </p:nvSpPr>
        <p:spPr>
          <a:xfrm>
            <a:off x="548640" y="5715000"/>
            <a:ext cx="10972800" cy="822960"/>
          </a:xfrm>
          <a:prstGeom prst="rect">
            <a:avLst/>
          </a:prstGeom>
          <a:noFill/>
        </p:spPr>
        <p:txBody>
          <a:bodyPr wrap="square" anchor="t" lIns="73152" rIns="73152" tIns="73152" bIns="73152">
            <a:spAutoFit/>
          </a:bodyPr>
          <a:lstStyle/>
          <a:p>
            <a:pPr algn="l">
              <a:lnSpc>
                <a:spcPct val="110000"/>
              </a:lnSpc>
            </a:pPr>
            <a:r>
              <a:rPr sz="1600" b="0">
                <a:solidFill>
                  <a:srgbClr val="E6ECF2"/>
                </a:solidFill>
                <a:latin typeface="Arial"/>
              </a:rPr>
              <a:t>Group: ____________________    Section: ________    Date: ____________</a:t>
            </a:r>
          </a:p>
          <a:p>
            <a:pPr algn="l">
              <a:lnSpc>
                <a:spcPct val="110000"/>
              </a:lnSpc>
            </a:pPr>
            <a:r>
              <a:rPr sz="1200" b="0">
                <a:solidFill>
                  <a:srgbClr val="9FE0C9"/>
                </a:solidFill>
                <a:latin typeface="Arial"/>
              </a:rPr>
              <a:t>Verified live on MongoDB 8.0.4 + mongosh 2.3.8 (2026-10-30)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10972800" cy="731520"/>
          </a:xfrm>
          <a:prstGeom prst="rect">
            <a:avLst/>
          </a:prstGeom>
          <a:noFill/>
        </p:spPr>
        <p:txBody>
          <a:bodyPr wrap="square" anchor="t" lIns="73152" rIns="73152" tIns="73152" bIns="73152">
            <a:spAutoFit/>
          </a:bodyPr>
          <a:lstStyle/>
          <a:p>
            <a:pPr algn="l">
              <a:lnSpc>
                <a:spcPct val="110000"/>
              </a:lnSpc>
            </a:pPr>
            <a:r>
              <a:rPr sz="3400" b="1">
                <a:solidFill>
                  <a:srgbClr val="14202E"/>
                </a:solidFill>
                <a:latin typeface="Arial"/>
              </a:rPr>
              <a:t>Eight parts, one database</a:t>
            </a:r>
          </a:p>
        </p:txBody>
      </p:sp>
      <p:sp>
        <p:nvSpPr>
          <p:cNvPr id="4" name="Rectangle 3"/>
          <p:cNvSpPr/>
          <p:nvPr/>
        </p:nvSpPr>
        <p:spPr>
          <a:xfrm>
            <a:off x="548640" y="1417320"/>
            <a:ext cx="5394960" cy="1060704"/>
          </a:xfrm>
          <a:prstGeom prst="rect">
            <a:avLst/>
          </a:prstGeom>
          <a:solidFill>
            <a:srgbClr val="FFFFFF"/>
          </a:solidFill>
          <a:ln w="15875">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490472"/>
            <a:ext cx="731520" cy="914400"/>
          </a:xfrm>
          <a:prstGeom prst="rect">
            <a:avLst/>
          </a:prstGeom>
          <a:noFill/>
        </p:spPr>
        <p:txBody>
          <a:bodyPr wrap="square" anchor="t" lIns="73152" rIns="73152" tIns="73152" bIns="73152">
            <a:spAutoFit/>
          </a:bodyPr>
          <a:lstStyle/>
          <a:p>
            <a:pPr algn="l">
              <a:lnSpc>
                <a:spcPct val="110000"/>
              </a:lnSpc>
            </a:pPr>
            <a:r>
              <a:rPr sz="4000" b="1">
                <a:solidFill>
                  <a:srgbClr val="D9480F"/>
                </a:solidFill>
                <a:latin typeface="Arial"/>
              </a:rPr>
              <a:t>1</a:t>
            </a:r>
          </a:p>
        </p:txBody>
      </p:sp>
      <p:sp>
        <p:nvSpPr>
          <p:cNvPr id="6" name="TextBox 5"/>
          <p:cNvSpPr txBox="1"/>
          <p:nvPr/>
        </p:nvSpPr>
        <p:spPr>
          <a:xfrm>
            <a:off x="1417320" y="1508760"/>
            <a:ext cx="4434840" cy="457200"/>
          </a:xfrm>
          <a:prstGeom prst="rect">
            <a:avLst/>
          </a:prstGeom>
          <a:noFill/>
        </p:spPr>
        <p:txBody>
          <a:bodyPr wrap="square" anchor="t" lIns="73152" rIns="73152" tIns="73152" bIns="73152">
            <a:spAutoFit/>
          </a:bodyPr>
          <a:lstStyle/>
          <a:p>
            <a:pPr algn="l">
              <a:lnSpc>
                <a:spcPct val="110000"/>
              </a:lnSpc>
            </a:pPr>
            <a:r>
              <a:rPr sz="1900" b="1">
                <a:solidFill>
                  <a:srgbClr val="14202E"/>
                </a:solidFill>
                <a:latin typeface="Arial"/>
              </a:rPr>
              <a:t>Create &amp; Delete</a:t>
            </a:r>
          </a:p>
        </p:txBody>
      </p:sp>
      <p:sp>
        <p:nvSpPr>
          <p:cNvPr id="7" name="TextBox 6"/>
          <p:cNvSpPr txBox="1"/>
          <p:nvPr/>
        </p:nvSpPr>
        <p:spPr>
          <a:xfrm>
            <a:off x="1417320" y="1920240"/>
            <a:ext cx="4434840" cy="502920"/>
          </a:xfrm>
          <a:prstGeom prst="rect">
            <a:avLst/>
          </a:prstGeom>
          <a:noFill/>
        </p:spPr>
        <p:txBody>
          <a:bodyPr wrap="square" anchor="t" lIns="73152" rIns="73152" tIns="73152" bIns="73152">
            <a:spAutoFit/>
          </a:bodyPr>
          <a:lstStyle/>
          <a:p>
            <a:pPr algn="l">
              <a:lnSpc>
                <a:spcPct val="110000"/>
              </a:lnSpc>
            </a:pPr>
            <a:r>
              <a:rPr sz="1300" b="0">
                <a:solidFill>
                  <a:srgbClr val="4A5868"/>
                </a:solidFill>
                <a:latin typeface="Consolas"/>
              </a:rPr>
              <a:t>insertOne · insertMany · deleteOne · deleteMany</a:t>
            </a:r>
          </a:p>
        </p:txBody>
      </p:sp>
      <p:sp>
        <p:nvSpPr>
          <p:cNvPr id="8" name="Rectangle 7"/>
          <p:cNvSpPr/>
          <p:nvPr/>
        </p:nvSpPr>
        <p:spPr>
          <a:xfrm>
            <a:off x="548640" y="2624328"/>
            <a:ext cx="5394960" cy="1060704"/>
          </a:xfrm>
          <a:prstGeom prst="rect">
            <a:avLst/>
          </a:prstGeom>
          <a:solidFill>
            <a:srgbClr val="FFFFFF"/>
          </a:solidFill>
          <a:ln w="15875">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697480"/>
            <a:ext cx="731520" cy="914400"/>
          </a:xfrm>
          <a:prstGeom prst="rect">
            <a:avLst/>
          </a:prstGeom>
          <a:noFill/>
        </p:spPr>
        <p:txBody>
          <a:bodyPr wrap="square" anchor="t" lIns="73152" rIns="73152" tIns="73152" bIns="73152">
            <a:spAutoFit/>
          </a:bodyPr>
          <a:lstStyle/>
          <a:p>
            <a:pPr algn="l">
              <a:lnSpc>
                <a:spcPct val="110000"/>
              </a:lnSpc>
            </a:pPr>
            <a:r>
              <a:rPr sz="4000" b="1">
                <a:solidFill>
                  <a:srgbClr val="D9480F"/>
                </a:solidFill>
                <a:latin typeface="Arial"/>
              </a:rPr>
              <a:t>2</a:t>
            </a:r>
          </a:p>
        </p:txBody>
      </p:sp>
      <p:sp>
        <p:nvSpPr>
          <p:cNvPr id="10" name="TextBox 9"/>
          <p:cNvSpPr txBox="1"/>
          <p:nvPr/>
        </p:nvSpPr>
        <p:spPr>
          <a:xfrm>
            <a:off x="1417320" y="2715768"/>
            <a:ext cx="4434840" cy="457200"/>
          </a:xfrm>
          <a:prstGeom prst="rect">
            <a:avLst/>
          </a:prstGeom>
          <a:noFill/>
        </p:spPr>
        <p:txBody>
          <a:bodyPr wrap="square" anchor="t" lIns="73152" rIns="73152" tIns="73152" bIns="73152">
            <a:spAutoFit/>
          </a:bodyPr>
          <a:lstStyle/>
          <a:p>
            <a:pPr algn="l">
              <a:lnSpc>
                <a:spcPct val="110000"/>
              </a:lnSpc>
            </a:pPr>
            <a:r>
              <a:rPr sz="1900" b="1">
                <a:solidFill>
                  <a:srgbClr val="14202E"/>
                </a:solidFill>
                <a:latin typeface="Arial"/>
              </a:rPr>
              <a:t>Find, Replace &amp; Update</a:t>
            </a:r>
          </a:p>
        </p:txBody>
      </p:sp>
      <p:sp>
        <p:nvSpPr>
          <p:cNvPr id="11" name="TextBox 10"/>
          <p:cNvSpPr txBox="1"/>
          <p:nvPr/>
        </p:nvSpPr>
        <p:spPr>
          <a:xfrm>
            <a:off x="1417320" y="3127248"/>
            <a:ext cx="4434840" cy="502920"/>
          </a:xfrm>
          <a:prstGeom prst="rect">
            <a:avLst/>
          </a:prstGeom>
          <a:noFill/>
        </p:spPr>
        <p:txBody>
          <a:bodyPr wrap="square" anchor="t" lIns="73152" rIns="73152" tIns="73152" bIns="73152">
            <a:spAutoFit/>
          </a:bodyPr>
          <a:lstStyle/>
          <a:p>
            <a:pPr algn="l">
              <a:lnSpc>
                <a:spcPct val="110000"/>
              </a:lnSpc>
            </a:pPr>
            <a:r>
              <a:rPr sz="1300" b="0">
                <a:solidFill>
                  <a:srgbClr val="4A5868"/>
                </a:solidFill>
                <a:latin typeface="Consolas"/>
              </a:rPr>
              <a:t>findOne · replaceOne · updateOne · updateMany</a:t>
            </a:r>
          </a:p>
        </p:txBody>
      </p:sp>
      <p:sp>
        <p:nvSpPr>
          <p:cNvPr id="12" name="Rectangle 11"/>
          <p:cNvSpPr/>
          <p:nvPr/>
        </p:nvSpPr>
        <p:spPr>
          <a:xfrm>
            <a:off x="548640" y="3831336"/>
            <a:ext cx="5394960" cy="1060704"/>
          </a:xfrm>
          <a:prstGeom prst="rect">
            <a:avLst/>
          </a:prstGeom>
          <a:solidFill>
            <a:srgbClr val="FFFFFF"/>
          </a:solidFill>
          <a:ln w="15875">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3904488"/>
            <a:ext cx="731520" cy="914400"/>
          </a:xfrm>
          <a:prstGeom prst="rect">
            <a:avLst/>
          </a:prstGeom>
          <a:noFill/>
        </p:spPr>
        <p:txBody>
          <a:bodyPr wrap="square" anchor="t" lIns="73152" rIns="73152" tIns="73152" bIns="73152">
            <a:spAutoFit/>
          </a:bodyPr>
          <a:lstStyle/>
          <a:p>
            <a:pPr algn="l">
              <a:lnSpc>
                <a:spcPct val="110000"/>
              </a:lnSpc>
            </a:pPr>
            <a:r>
              <a:rPr sz="4000" b="1">
                <a:solidFill>
                  <a:srgbClr val="D9480F"/>
                </a:solidFill>
                <a:latin typeface="Arial"/>
              </a:rPr>
              <a:t>3</a:t>
            </a:r>
          </a:p>
        </p:txBody>
      </p:sp>
      <p:sp>
        <p:nvSpPr>
          <p:cNvPr id="14" name="TextBox 13"/>
          <p:cNvSpPr txBox="1"/>
          <p:nvPr/>
        </p:nvSpPr>
        <p:spPr>
          <a:xfrm>
            <a:off x="1417320" y="3922776"/>
            <a:ext cx="4434840" cy="457200"/>
          </a:xfrm>
          <a:prstGeom prst="rect">
            <a:avLst/>
          </a:prstGeom>
          <a:noFill/>
        </p:spPr>
        <p:txBody>
          <a:bodyPr wrap="square" anchor="t" lIns="73152" rIns="73152" tIns="73152" bIns="73152">
            <a:spAutoFit/>
          </a:bodyPr>
          <a:lstStyle/>
          <a:p>
            <a:pPr algn="l">
              <a:lnSpc>
                <a:spcPct val="110000"/>
              </a:lnSpc>
            </a:pPr>
            <a:r>
              <a:rPr sz="1900" b="1">
                <a:solidFill>
                  <a:srgbClr val="14202E"/>
                </a:solidFill>
                <a:latin typeface="Arial"/>
              </a:rPr>
              <a:t>Query Selectors: Comparison</a:t>
            </a:r>
          </a:p>
        </p:txBody>
      </p:sp>
      <p:sp>
        <p:nvSpPr>
          <p:cNvPr id="15" name="TextBox 14"/>
          <p:cNvSpPr txBox="1"/>
          <p:nvPr/>
        </p:nvSpPr>
        <p:spPr>
          <a:xfrm>
            <a:off x="1417320" y="4334256"/>
            <a:ext cx="4434840" cy="502920"/>
          </a:xfrm>
          <a:prstGeom prst="rect">
            <a:avLst/>
          </a:prstGeom>
          <a:noFill/>
        </p:spPr>
        <p:txBody>
          <a:bodyPr wrap="square" anchor="t" lIns="73152" rIns="73152" tIns="73152" bIns="73152">
            <a:spAutoFit/>
          </a:bodyPr>
          <a:lstStyle/>
          <a:p>
            <a:pPr algn="l">
              <a:lnSpc>
                <a:spcPct val="110000"/>
              </a:lnSpc>
            </a:pPr>
            <a:r>
              <a:rPr sz="1300" b="0">
                <a:solidFill>
                  <a:srgbClr val="4A5868"/>
                </a:solidFill>
                <a:latin typeface="Consolas"/>
              </a:rPr>
              <a:t>$lt · $lte · $gt · $gte</a:t>
            </a:r>
          </a:p>
        </p:txBody>
      </p:sp>
      <p:sp>
        <p:nvSpPr>
          <p:cNvPr id="16" name="Rectangle 15"/>
          <p:cNvSpPr/>
          <p:nvPr/>
        </p:nvSpPr>
        <p:spPr>
          <a:xfrm>
            <a:off x="548640" y="5038344"/>
            <a:ext cx="5394960" cy="1060704"/>
          </a:xfrm>
          <a:prstGeom prst="rect">
            <a:avLst/>
          </a:prstGeom>
          <a:solidFill>
            <a:srgbClr val="FFFFFF"/>
          </a:solidFill>
          <a:ln w="15875">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5111496"/>
            <a:ext cx="731520" cy="914400"/>
          </a:xfrm>
          <a:prstGeom prst="rect">
            <a:avLst/>
          </a:prstGeom>
          <a:noFill/>
        </p:spPr>
        <p:txBody>
          <a:bodyPr wrap="square" anchor="t" lIns="73152" rIns="73152" tIns="73152" bIns="73152">
            <a:spAutoFit/>
          </a:bodyPr>
          <a:lstStyle/>
          <a:p>
            <a:pPr algn="l">
              <a:lnSpc>
                <a:spcPct val="110000"/>
              </a:lnSpc>
            </a:pPr>
            <a:r>
              <a:rPr sz="4000" b="1">
                <a:solidFill>
                  <a:srgbClr val="D9480F"/>
                </a:solidFill>
                <a:latin typeface="Arial"/>
              </a:rPr>
              <a:t>4</a:t>
            </a:r>
          </a:p>
        </p:txBody>
      </p:sp>
      <p:sp>
        <p:nvSpPr>
          <p:cNvPr id="18" name="TextBox 17"/>
          <p:cNvSpPr txBox="1"/>
          <p:nvPr/>
        </p:nvSpPr>
        <p:spPr>
          <a:xfrm>
            <a:off x="1417320" y="5129784"/>
            <a:ext cx="4434840" cy="457200"/>
          </a:xfrm>
          <a:prstGeom prst="rect">
            <a:avLst/>
          </a:prstGeom>
          <a:noFill/>
        </p:spPr>
        <p:txBody>
          <a:bodyPr wrap="square" anchor="t" lIns="73152" rIns="73152" tIns="73152" bIns="73152">
            <a:spAutoFit/>
          </a:bodyPr>
          <a:lstStyle/>
          <a:p>
            <a:pPr algn="l">
              <a:lnSpc>
                <a:spcPct val="110000"/>
              </a:lnSpc>
            </a:pPr>
            <a:r>
              <a:rPr sz="1600" b="1">
                <a:solidFill>
                  <a:srgbClr val="14202E"/>
                </a:solidFill>
                <a:latin typeface="Arial"/>
              </a:rPr>
              <a:t>Query Selectors: $in, $or, null</a:t>
            </a:r>
          </a:p>
        </p:txBody>
      </p:sp>
      <p:sp>
        <p:nvSpPr>
          <p:cNvPr id="19" name="TextBox 18"/>
          <p:cNvSpPr txBox="1"/>
          <p:nvPr/>
        </p:nvSpPr>
        <p:spPr>
          <a:xfrm>
            <a:off x="1417320" y="5541264"/>
            <a:ext cx="4434840" cy="502920"/>
          </a:xfrm>
          <a:prstGeom prst="rect">
            <a:avLst/>
          </a:prstGeom>
          <a:noFill/>
        </p:spPr>
        <p:txBody>
          <a:bodyPr wrap="square" anchor="t" lIns="73152" rIns="73152" tIns="73152" bIns="73152">
            <a:spAutoFit/>
          </a:bodyPr>
          <a:lstStyle/>
          <a:p>
            <a:pPr algn="l">
              <a:lnSpc>
                <a:spcPct val="110000"/>
              </a:lnSpc>
            </a:pPr>
            <a:r>
              <a:rPr sz="1300" b="0">
                <a:solidFill>
                  <a:srgbClr val="4A5868"/>
                </a:solidFill>
                <a:latin typeface="Consolas"/>
              </a:rPr>
              <a:t>$in · $or · null</a:t>
            </a:r>
          </a:p>
        </p:txBody>
      </p:sp>
      <p:sp>
        <p:nvSpPr>
          <p:cNvPr id="20" name="Rectangle 19"/>
          <p:cNvSpPr/>
          <p:nvPr/>
        </p:nvSpPr>
        <p:spPr>
          <a:xfrm>
            <a:off x="6217920" y="1417320"/>
            <a:ext cx="5394960" cy="1060704"/>
          </a:xfrm>
          <a:prstGeom prst="rect">
            <a:avLst/>
          </a:prstGeom>
          <a:solidFill>
            <a:srgbClr val="FFFFFF"/>
          </a:solidFill>
          <a:ln w="15875">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55080" y="1490472"/>
            <a:ext cx="731520" cy="914400"/>
          </a:xfrm>
          <a:prstGeom prst="rect">
            <a:avLst/>
          </a:prstGeom>
          <a:noFill/>
        </p:spPr>
        <p:txBody>
          <a:bodyPr wrap="square" anchor="t" lIns="73152" rIns="73152" tIns="73152" bIns="73152">
            <a:spAutoFit/>
          </a:bodyPr>
          <a:lstStyle/>
          <a:p>
            <a:pPr algn="l">
              <a:lnSpc>
                <a:spcPct val="110000"/>
              </a:lnSpc>
            </a:pPr>
            <a:r>
              <a:rPr sz="4000" b="1">
                <a:solidFill>
                  <a:srgbClr val="D9480F"/>
                </a:solidFill>
                <a:latin typeface="Arial"/>
              </a:rPr>
              <a:t>5</a:t>
            </a:r>
          </a:p>
        </p:txBody>
      </p:sp>
      <p:sp>
        <p:nvSpPr>
          <p:cNvPr id="22" name="TextBox 21"/>
          <p:cNvSpPr txBox="1"/>
          <p:nvPr/>
        </p:nvSpPr>
        <p:spPr>
          <a:xfrm>
            <a:off x="7086600" y="1508760"/>
            <a:ext cx="4434840" cy="457200"/>
          </a:xfrm>
          <a:prstGeom prst="rect">
            <a:avLst/>
          </a:prstGeom>
          <a:noFill/>
        </p:spPr>
        <p:txBody>
          <a:bodyPr wrap="square" anchor="t" lIns="73152" rIns="73152" tIns="73152" bIns="73152">
            <a:spAutoFit/>
          </a:bodyPr>
          <a:lstStyle/>
          <a:p>
            <a:pPr algn="l">
              <a:lnSpc>
                <a:spcPct val="110000"/>
              </a:lnSpc>
            </a:pPr>
            <a:r>
              <a:rPr sz="1900" b="1">
                <a:solidFill>
                  <a:srgbClr val="14202E"/>
                </a:solidFill>
                <a:latin typeface="Arial"/>
              </a:rPr>
              <a:t>Querying Arrays</a:t>
            </a:r>
          </a:p>
        </p:txBody>
      </p:sp>
      <p:sp>
        <p:nvSpPr>
          <p:cNvPr id="23" name="TextBox 22"/>
          <p:cNvSpPr txBox="1"/>
          <p:nvPr/>
        </p:nvSpPr>
        <p:spPr>
          <a:xfrm>
            <a:off x="7086600" y="1920240"/>
            <a:ext cx="4434840" cy="502920"/>
          </a:xfrm>
          <a:prstGeom prst="rect">
            <a:avLst/>
          </a:prstGeom>
          <a:noFill/>
        </p:spPr>
        <p:txBody>
          <a:bodyPr wrap="square" anchor="t" lIns="73152" rIns="73152" tIns="73152" bIns="73152">
            <a:spAutoFit/>
          </a:bodyPr>
          <a:lstStyle/>
          <a:p>
            <a:pPr algn="l">
              <a:lnSpc>
                <a:spcPct val="110000"/>
              </a:lnSpc>
            </a:pPr>
            <a:r>
              <a:rPr sz="1300" b="0">
                <a:solidFill>
                  <a:srgbClr val="4A5868"/>
                </a:solidFill>
                <a:latin typeface="Consolas"/>
              </a:rPr>
              <a:t>array match · $push · $all · $size</a:t>
            </a:r>
          </a:p>
        </p:txBody>
      </p:sp>
      <p:sp>
        <p:nvSpPr>
          <p:cNvPr id="24" name="Rectangle 23"/>
          <p:cNvSpPr/>
          <p:nvPr/>
        </p:nvSpPr>
        <p:spPr>
          <a:xfrm>
            <a:off x="6217920" y="2624328"/>
            <a:ext cx="5394960" cy="1060704"/>
          </a:xfrm>
          <a:prstGeom prst="rect">
            <a:avLst/>
          </a:prstGeom>
          <a:solidFill>
            <a:srgbClr val="FFFFFF"/>
          </a:solidFill>
          <a:ln w="15875">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5080" y="2697480"/>
            <a:ext cx="731520" cy="914400"/>
          </a:xfrm>
          <a:prstGeom prst="rect">
            <a:avLst/>
          </a:prstGeom>
          <a:noFill/>
        </p:spPr>
        <p:txBody>
          <a:bodyPr wrap="square" anchor="t" lIns="73152" rIns="73152" tIns="73152" bIns="73152">
            <a:spAutoFit/>
          </a:bodyPr>
          <a:lstStyle/>
          <a:p>
            <a:pPr algn="l">
              <a:lnSpc>
                <a:spcPct val="110000"/>
              </a:lnSpc>
            </a:pPr>
            <a:r>
              <a:rPr sz="4000" b="1">
                <a:solidFill>
                  <a:srgbClr val="D9480F"/>
                </a:solidFill>
                <a:latin typeface="Arial"/>
              </a:rPr>
              <a:t>6</a:t>
            </a:r>
          </a:p>
        </p:txBody>
      </p:sp>
      <p:sp>
        <p:nvSpPr>
          <p:cNvPr id="26" name="TextBox 25"/>
          <p:cNvSpPr txBox="1"/>
          <p:nvPr/>
        </p:nvSpPr>
        <p:spPr>
          <a:xfrm>
            <a:off x="7086600" y="2715768"/>
            <a:ext cx="4434840" cy="457200"/>
          </a:xfrm>
          <a:prstGeom prst="rect">
            <a:avLst/>
          </a:prstGeom>
          <a:noFill/>
        </p:spPr>
        <p:txBody>
          <a:bodyPr wrap="square" anchor="t" lIns="73152" rIns="73152" tIns="73152" bIns="73152">
            <a:spAutoFit/>
          </a:bodyPr>
          <a:lstStyle/>
          <a:p>
            <a:pPr algn="l">
              <a:lnSpc>
                <a:spcPct val="110000"/>
              </a:lnSpc>
            </a:pPr>
            <a:r>
              <a:rPr sz="1900" b="1">
                <a:solidFill>
                  <a:srgbClr val="14202E"/>
                </a:solidFill>
                <a:latin typeface="Arial"/>
              </a:rPr>
              <a:t>Arrays &amp; Embedded Documents</a:t>
            </a:r>
          </a:p>
        </p:txBody>
      </p:sp>
      <p:sp>
        <p:nvSpPr>
          <p:cNvPr id="27" name="TextBox 26"/>
          <p:cNvSpPr txBox="1"/>
          <p:nvPr/>
        </p:nvSpPr>
        <p:spPr>
          <a:xfrm>
            <a:off x="7086600" y="3127248"/>
            <a:ext cx="4434840" cy="502920"/>
          </a:xfrm>
          <a:prstGeom prst="rect">
            <a:avLst/>
          </a:prstGeom>
          <a:noFill/>
        </p:spPr>
        <p:txBody>
          <a:bodyPr wrap="square" anchor="t" lIns="73152" rIns="73152" tIns="73152" bIns="73152">
            <a:spAutoFit/>
          </a:bodyPr>
          <a:lstStyle/>
          <a:p>
            <a:pPr algn="l">
              <a:lnSpc>
                <a:spcPct val="110000"/>
              </a:lnSpc>
            </a:pPr>
            <a:r>
              <a:rPr sz="1300" b="0">
                <a:solidFill>
                  <a:srgbClr val="4A5868"/>
                </a:solidFill>
                <a:latin typeface="Consolas"/>
              </a:rPr>
              <a:t>$slice · dot notation · embedded documents</a:t>
            </a:r>
          </a:p>
        </p:txBody>
      </p:sp>
      <p:sp>
        <p:nvSpPr>
          <p:cNvPr id="28" name="Rectangle 27"/>
          <p:cNvSpPr/>
          <p:nvPr/>
        </p:nvSpPr>
        <p:spPr>
          <a:xfrm>
            <a:off x="6217920" y="3831336"/>
            <a:ext cx="5394960" cy="1060704"/>
          </a:xfrm>
          <a:prstGeom prst="rect">
            <a:avLst/>
          </a:prstGeom>
          <a:solidFill>
            <a:srgbClr val="FFFFFF"/>
          </a:solidFill>
          <a:ln w="15875">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55080" y="3904488"/>
            <a:ext cx="731520" cy="914400"/>
          </a:xfrm>
          <a:prstGeom prst="rect">
            <a:avLst/>
          </a:prstGeom>
          <a:noFill/>
        </p:spPr>
        <p:txBody>
          <a:bodyPr wrap="square" anchor="t" lIns="73152" rIns="73152" tIns="73152" bIns="73152">
            <a:spAutoFit/>
          </a:bodyPr>
          <a:lstStyle/>
          <a:p>
            <a:pPr algn="l">
              <a:lnSpc>
                <a:spcPct val="110000"/>
              </a:lnSpc>
            </a:pPr>
            <a:r>
              <a:rPr sz="4000" b="1">
                <a:solidFill>
                  <a:srgbClr val="D9480F"/>
                </a:solidFill>
                <a:latin typeface="Arial"/>
              </a:rPr>
              <a:t>7</a:t>
            </a:r>
          </a:p>
        </p:txBody>
      </p:sp>
      <p:sp>
        <p:nvSpPr>
          <p:cNvPr id="30" name="TextBox 29"/>
          <p:cNvSpPr txBox="1"/>
          <p:nvPr/>
        </p:nvSpPr>
        <p:spPr>
          <a:xfrm>
            <a:off x="7086600" y="3922776"/>
            <a:ext cx="4434840" cy="457200"/>
          </a:xfrm>
          <a:prstGeom prst="rect">
            <a:avLst/>
          </a:prstGeom>
          <a:noFill/>
        </p:spPr>
        <p:txBody>
          <a:bodyPr wrap="square" anchor="t" lIns="73152" rIns="73152" tIns="73152" bIns="73152">
            <a:spAutoFit/>
          </a:bodyPr>
          <a:lstStyle/>
          <a:p>
            <a:pPr algn="l">
              <a:lnSpc>
                <a:spcPct val="110000"/>
              </a:lnSpc>
            </a:pPr>
            <a:r>
              <a:rPr sz="1600" b="1">
                <a:solidFill>
                  <a:srgbClr val="14202E"/>
                </a:solidFill>
                <a:latin typeface="Arial"/>
              </a:rPr>
              <a:t>Cloud Computing &amp; Implementation Types</a:t>
            </a:r>
          </a:p>
        </p:txBody>
      </p:sp>
      <p:sp>
        <p:nvSpPr>
          <p:cNvPr id="31" name="TextBox 30"/>
          <p:cNvSpPr txBox="1"/>
          <p:nvPr/>
        </p:nvSpPr>
        <p:spPr>
          <a:xfrm>
            <a:off x="7086600" y="4334256"/>
            <a:ext cx="4434840" cy="502920"/>
          </a:xfrm>
          <a:prstGeom prst="rect">
            <a:avLst/>
          </a:prstGeom>
          <a:noFill/>
        </p:spPr>
        <p:txBody>
          <a:bodyPr wrap="square" anchor="t" lIns="73152" rIns="73152" tIns="73152" bIns="73152">
            <a:spAutoFit/>
          </a:bodyPr>
          <a:lstStyle/>
          <a:p>
            <a:pPr algn="l">
              <a:lnSpc>
                <a:spcPct val="110000"/>
              </a:lnSpc>
            </a:pPr>
            <a:r>
              <a:rPr sz="1300" b="0">
                <a:solidFill>
                  <a:srgbClr val="4A5868"/>
                </a:solidFill>
                <a:latin typeface="Consolas"/>
              </a:rPr>
              <a:t>public · private · hybrid</a:t>
            </a:r>
          </a:p>
        </p:txBody>
      </p:sp>
      <p:sp>
        <p:nvSpPr>
          <p:cNvPr id="32" name="Rectangle 31"/>
          <p:cNvSpPr/>
          <p:nvPr/>
        </p:nvSpPr>
        <p:spPr>
          <a:xfrm>
            <a:off x="6217920" y="5038344"/>
            <a:ext cx="5394960" cy="1060704"/>
          </a:xfrm>
          <a:prstGeom prst="rect">
            <a:avLst/>
          </a:prstGeom>
          <a:solidFill>
            <a:srgbClr val="FFFFFF"/>
          </a:solidFill>
          <a:ln w="15875">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55080" y="5111496"/>
            <a:ext cx="731520" cy="914400"/>
          </a:xfrm>
          <a:prstGeom prst="rect">
            <a:avLst/>
          </a:prstGeom>
          <a:noFill/>
        </p:spPr>
        <p:txBody>
          <a:bodyPr wrap="square" anchor="t" lIns="73152" rIns="73152" tIns="73152" bIns="73152">
            <a:spAutoFit/>
          </a:bodyPr>
          <a:lstStyle/>
          <a:p>
            <a:pPr algn="l">
              <a:lnSpc>
                <a:spcPct val="110000"/>
              </a:lnSpc>
            </a:pPr>
            <a:r>
              <a:rPr sz="4000" b="1">
                <a:solidFill>
                  <a:srgbClr val="D9480F"/>
                </a:solidFill>
                <a:latin typeface="Arial"/>
              </a:rPr>
              <a:t>8</a:t>
            </a:r>
          </a:p>
        </p:txBody>
      </p:sp>
      <p:sp>
        <p:nvSpPr>
          <p:cNvPr id="34" name="TextBox 33"/>
          <p:cNvSpPr txBox="1"/>
          <p:nvPr/>
        </p:nvSpPr>
        <p:spPr>
          <a:xfrm>
            <a:off x="7086600" y="5129784"/>
            <a:ext cx="4434840" cy="457200"/>
          </a:xfrm>
          <a:prstGeom prst="rect">
            <a:avLst/>
          </a:prstGeom>
          <a:noFill/>
        </p:spPr>
        <p:txBody>
          <a:bodyPr wrap="square" anchor="t" lIns="73152" rIns="73152" tIns="73152" bIns="73152">
            <a:spAutoFit/>
          </a:bodyPr>
          <a:lstStyle/>
          <a:p>
            <a:pPr algn="l">
              <a:lnSpc>
                <a:spcPct val="110000"/>
              </a:lnSpc>
            </a:pPr>
            <a:r>
              <a:rPr sz="1900" b="1">
                <a:solidFill>
                  <a:srgbClr val="14202E"/>
                </a:solidFill>
                <a:latin typeface="Arial"/>
              </a:rPr>
              <a:t>Cloud Service Types &amp; Benefits</a:t>
            </a:r>
          </a:p>
        </p:txBody>
      </p:sp>
      <p:sp>
        <p:nvSpPr>
          <p:cNvPr id="35" name="TextBox 34"/>
          <p:cNvSpPr txBox="1"/>
          <p:nvPr/>
        </p:nvSpPr>
        <p:spPr>
          <a:xfrm>
            <a:off x="7086600" y="5541264"/>
            <a:ext cx="4434840" cy="502920"/>
          </a:xfrm>
          <a:prstGeom prst="rect">
            <a:avLst/>
          </a:prstGeom>
          <a:noFill/>
        </p:spPr>
        <p:txBody>
          <a:bodyPr wrap="square" anchor="t" lIns="73152" rIns="73152" tIns="73152" bIns="73152">
            <a:spAutoFit/>
          </a:bodyPr>
          <a:lstStyle/>
          <a:p>
            <a:pPr algn="l">
              <a:lnSpc>
                <a:spcPct val="110000"/>
              </a:lnSpc>
            </a:pPr>
            <a:r>
              <a:rPr sz="1300" b="0">
                <a:solidFill>
                  <a:srgbClr val="4A5868"/>
                </a:solidFill>
                <a:latin typeface="Consolas"/>
              </a:rPr>
              <a:t>SaaS · PaaS · IaaS · 10 benefits</a:t>
            </a:r>
          </a:p>
        </p:txBody>
      </p:sp>
      <p:sp>
        <p:nvSpPr>
          <p:cNvPr id="36" name="TextBox 35"/>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07, 08, 09 Handouts</a:t>
            </a:r>
          </a:p>
        </p:txBody>
      </p:sp>
      <p:sp>
        <p:nvSpPr>
          <p:cNvPr id="37" name="TextBox 36"/>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0972800" cy="731520"/>
          </a:xfrm>
          <a:prstGeom prst="rect">
            <a:avLst/>
          </a:prstGeom>
          <a:noFill/>
        </p:spPr>
        <p:txBody>
          <a:bodyPr wrap="square" anchor="t" lIns="73152" rIns="73152" tIns="73152" bIns="73152">
            <a:spAutoFit/>
          </a:bodyPr>
          <a:lstStyle/>
          <a:p>
            <a:pPr algn="l">
              <a:lnSpc>
                <a:spcPct val="110000"/>
              </a:lnSpc>
            </a:pPr>
            <a:r>
              <a:rPr sz="3400" b="1">
                <a:solidFill>
                  <a:srgbClr val="14202E"/>
                </a:solidFill>
                <a:latin typeface="Arial"/>
              </a:rPr>
              <a:t>Who presents what</a:t>
            </a:r>
          </a:p>
        </p:txBody>
      </p:sp>
      <p:graphicFrame>
        <p:nvGraphicFramePr>
          <p:cNvPr id="4" name="Table 3"/>
          <p:cNvGraphicFramePr>
            <a:graphicFrameLocks noGrp="1"/>
          </p:cNvGraphicFramePr>
          <p:nvPr/>
        </p:nvGraphicFramePr>
        <p:xfrm>
          <a:off x="548640" y="1325880"/>
          <a:ext cx="11064240" cy="4754880"/>
        </p:xfrm>
        <a:graphic>
          <a:graphicData uri="http://schemas.openxmlformats.org/drawingml/2006/table">
            <a:tbl>
              <a:tblPr firstRow="1" bandRow="1">
                <a:tableStyleId>{5C22544A-7EE6-4342-B048-85BDC9FD1C3A}</a:tableStyleId>
              </a:tblPr>
              <a:tblGrid>
                <a:gridCol w="822960"/>
                <a:gridCol w="7040880"/>
                <a:gridCol w="3200400"/>
              </a:tblGrid>
              <a:tr h="528320">
                <a:tc>
                  <a:txBody>
                    <a:bodyPr/>
                    <a:lstStyle/>
                    <a:p>
                      <a:r>
                        <a:rPr sz="1600" b="1">
                          <a:solidFill>
                            <a:srgbClr val="FFFFFF"/>
                          </a:solidFill>
                          <a:latin typeface="Arial"/>
                        </a:rPr>
                        <a:t>Part</a:t>
                      </a:r>
                    </a:p>
                  </a:txBody>
                  <a:tcPr>
                    <a:solidFill>
                      <a:srgbClr val="14202E"/>
                    </a:solidFill>
                  </a:tcPr>
                </a:tc>
                <a:tc>
                  <a:txBody>
                    <a:bodyPr/>
                    <a:lstStyle/>
                    <a:p>
                      <a:r>
                        <a:rPr sz="1600" b="1">
                          <a:solidFill>
                            <a:srgbClr val="FFFFFF"/>
                          </a:solidFill>
                          <a:latin typeface="Arial"/>
                        </a:rPr>
                        <a:t>Topic</a:t>
                      </a:r>
                    </a:p>
                  </a:txBody>
                  <a:tcPr>
                    <a:solidFill>
                      <a:srgbClr val="14202E"/>
                    </a:solidFill>
                  </a:tcPr>
                </a:tc>
                <a:tc>
                  <a:txBody>
                    <a:bodyPr/>
                    <a:lstStyle/>
                    <a:p>
                      <a:r>
                        <a:rPr sz="1600" b="1">
                          <a:solidFill>
                            <a:srgbClr val="FFFFFF"/>
                          </a:solidFill>
                          <a:latin typeface="Arial"/>
                        </a:rPr>
                        <a:t>Presenter</a:t>
                      </a:r>
                    </a:p>
                  </a:txBody>
                  <a:tcPr>
                    <a:solidFill>
                      <a:srgbClr val="14202E"/>
                    </a:solidFill>
                  </a:tcPr>
                </a:tc>
              </a:tr>
              <a:tr h="528320">
                <a:tc>
                  <a:txBody>
                    <a:bodyPr/>
                    <a:lstStyle/>
                    <a:p>
                      <a:r>
                        <a:rPr sz="1400">
                          <a:solidFill>
                            <a:srgbClr val="14202E"/>
                          </a:solidFill>
                          <a:latin typeface="Arial"/>
                        </a:rPr>
                        <a:t>1</a:t>
                      </a:r>
                    </a:p>
                  </a:txBody>
                  <a:tcPr>
                    <a:solidFill>
                      <a:srgbClr val="FFFFFF"/>
                    </a:solidFill>
                  </a:tcPr>
                </a:tc>
                <a:tc>
                  <a:txBody>
                    <a:bodyPr/>
                    <a:lstStyle/>
                    <a:p>
                      <a:r>
                        <a:rPr sz="1400">
                          <a:solidFill>
                            <a:srgbClr val="14202E"/>
                          </a:solidFill>
                          <a:latin typeface="Arial"/>
                        </a:rPr>
                        <a:t>Create &amp; Delete  ·  insertOne · insertMany · deleteOne · deleteMany</a:t>
                      </a:r>
                    </a:p>
                  </a:txBody>
                  <a:tcPr>
                    <a:solidFill>
                      <a:srgbClr val="FFFFFF"/>
                    </a:solidFill>
                  </a:tcPr>
                </a:tc>
                <a:tc>
                  <a:txBody>
                    <a:bodyPr/>
                    <a:lstStyle/>
                    <a:p>
                      <a:r>
                        <a:rPr sz="1400">
                          <a:solidFill>
                            <a:srgbClr val="14202E"/>
                          </a:solidFill>
                          <a:latin typeface="Arial"/>
                        </a:rPr>
                        <a:t>____________________</a:t>
                      </a:r>
                    </a:p>
                  </a:txBody>
                  <a:tcPr>
                    <a:solidFill>
                      <a:srgbClr val="FFFFFF"/>
                    </a:solidFill>
                  </a:tcPr>
                </a:tc>
              </a:tr>
              <a:tr h="528320">
                <a:tc>
                  <a:txBody>
                    <a:bodyPr/>
                    <a:lstStyle/>
                    <a:p>
                      <a:r>
                        <a:rPr sz="1400">
                          <a:solidFill>
                            <a:srgbClr val="14202E"/>
                          </a:solidFill>
                          <a:latin typeface="Arial"/>
                        </a:rPr>
                        <a:t>2</a:t>
                      </a:r>
                    </a:p>
                  </a:txBody>
                  <a:tcPr>
                    <a:solidFill>
                      <a:srgbClr val="F6F8FA"/>
                    </a:solidFill>
                  </a:tcPr>
                </a:tc>
                <a:tc>
                  <a:txBody>
                    <a:bodyPr/>
                    <a:lstStyle/>
                    <a:p>
                      <a:r>
                        <a:rPr sz="1400">
                          <a:solidFill>
                            <a:srgbClr val="14202E"/>
                          </a:solidFill>
                          <a:latin typeface="Arial"/>
                        </a:rPr>
                        <a:t>Find, Replace &amp; Update  ·  findOne · replaceOne · updateOne · updateMany</a:t>
                      </a:r>
                    </a:p>
                  </a:txBody>
                  <a:tcPr>
                    <a:solidFill>
                      <a:srgbClr val="F6F8FA"/>
                    </a:solidFill>
                  </a:tcPr>
                </a:tc>
                <a:tc>
                  <a:txBody>
                    <a:bodyPr/>
                    <a:lstStyle/>
                    <a:p>
                      <a:r>
                        <a:rPr sz="1400">
                          <a:solidFill>
                            <a:srgbClr val="14202E"/>
                          </a:solidFill>
                          <a:latin typeface="Arial"/>
                        </a:rPr>
                        <a:t>____________________</a:t>
                      </a:r>
                    </a:p>
                  </a:txBody>
                  <a:tcPr>
                    <a:solidFill>
                      <a:srgbClr val="F6F8FA"/>
                    </a:solidFill>
                  </a:tcPr>
                </a:tc>
              </a:tr>
              <a:tr h="528320">
                <a:tc>
                  <a:txBody>
                    <a:bodyPr/>
                    <a:lstStyle/>
                    <a:p>
                      <a:r>
                        <a:rPr sz="1400">
                          <a:solidFill>
                            <a:srgbClr val="14202E"/>
                          </a:solidFill>
                          <a:latin typeface="Arial"/>
                        </a:rPr>
                        <a:t>3</a:t>
                      </a:r>
                    </a:p>
                  </a:txBody>
                  <a:tcPr>
                    <a:solidFill>
                      <a:srgbClr val="FFFFFF"/>
                    </a:solidFill>
                  </a:tcPr>
                </a:tc>
                <a:tc>
                  <a:txBody>
                    <a:bodyPr/>
                    <a:lstStyle/>
                    <a:p>
                      <a:r>
                        <a:rPr sz="1400">
                          <a:solidFill>
                            <a:srgbClr val="14202E"/>
                          </a:solidFill>
                          <a:latin typeface="Arial"/>
                        </a:rPr>
                        <a:t>Query Selectors: Comparison  ·  $lt · $lte · $gt · $gte</a:t>
                      </a:r>
                    </a:p>
                  </a:txBody>
                  <a:tcPr>
                    <a:solidFill>
                      <a:srgbClr val="FFFFFF"/>
                    </a:solidFill>
                  </a:tcPr>
                </a:tc>
                <a:tc>
                  <a:txBody>
                    <a:bodyPr/>
                    <a:lstStyle/>
                    <a:p>
                      <a:r>
                        <a:rPr sz="1400">
                          <a:solidFill>
                            <a:srgbClr val="14202E"/>
                          </a:solidFill>
                          <a:latin typeface="Arial"/>
                        </a:rPr>
                        <a:t>____________________</a:t>
                      </a:r>
                    </a:p>
                  </a:txBody>
                  <a:tcPr>
                    <a:solidFill>
                      <a:srgbClr val="FFFFFF"/>
                    </a:solidFill>
                  </a:tcPr>
                </a:tc>
              </a:tr>
              <a:tr h="528320">
                <a:tc>
                  <a:txBody>
                    <a:bodyPr/>
                    <a:lstStyle/>
                    <a:p>
                      <a:r>
                        <a:rPr sz="1400">
                          <a:solidFill>
                            <a:srgbClr val="14202E"/>
                          </a:solidFill>
                          <a:latin typeface="Arial"/>
                        </a:rPr>
                        <a:t>4</a:t>
                      </a:r>
                    </a:p>
                  </a:txBody>
                  <a:tcPr>
                    <a:solidFill>
                      <a:srgbClr val="F6F8FA"/>
                    </a:solidFill>
                  </a:tcPr>
                </a:tc>
                <a:tc>
                  <a:txBody>
                    <a:bodyPr/>
                    <a:lstStyle/>
                    <a:p>
                      <a:r>
                        <a:rPr sz="1400">
                          <a:solidFill>
                            <a:srgbClr val="14202E"/>
                          </a:solidFill>
                          <a:latin typeface="Arial"/>
                        </a:rPr>
                        <a:t>Query Selectors: $in, $or, null  ·  $in · $or · null</a:t>
                      </a:r>
                    </a:p>
                  </a:txBody>
                  <a:tcPr>
                    <a:solidFill>
                      <a:srgbClr val="F6F8FA"/>
                    </a:solidFill>
                  </a:tcPr>
                </a:tc>
                <a:tc>
                  <a:txBody>
                    <a:bodyPr/>
                    <a:lstStyle/>
                    <a:p>
                      <a:r>
                        <a:rPr sz="1400">
                          <a:solidFill>
                            <a:srgbClr val="14202E"/>
                          </a:solidFill>
                          <a:latin typeface="Arial"/>
                        </a:rPr>
                        <a:t>____________________</a:t>
                      </a:r>
                    </a:p>
                  </a:txBody>
                  <a:tcPr>
                    <a:solidFill>
                      <a:srgbClr val="F6F8FA"/>
                    </a:solidFill>
                  </a:tcPr>
                </a:tc>
              </a:tr>
              <a:tr h="528320">
                <a:tc>
                  <a:txBody>
                    <a:bodyPr/>
                    <a:lstStyle/>
                    <a:p>
                      <a:r>
                        <a:rPr sz="1400">
                          <a:solidFill>
                            <a:srgbClr val="14202E"/>
                          </a:solidFill>
                          <a:latin typeface="Arial"/>
                        </a:rPr>
                        <a:t>5</a:t>
                      </a:r>
                    </a:p>
                  </a:txBody>
                  <a:tcPr>
                    <a:solidFill>
                      <a:srgbClr val="FFFFFF"/>
                    </a:solidFill>
                  </a:tcPr>
                </a:tc>
                <a:tc>
                  <a:txBody>
                    <a:bodyPr/>
                    <a:lstStyle/>
                    <a:p>
                      <a:r>
                        <a:rPr sz="1400">
                          <a:solidFill>
                            <a:srgbClr val="14202E"/>
                          </a:solidFill>
                          <a:latin typeface="Arial"/>
                        </a:rPr>
                        <a:t>Querying Arrays  ·  array match · $push · $all · $size</a:t>
                      </a:r>
                    </a:p>
                  </a:txBody>
                  <a:tcPr>
                    <a:solidFill>
                      <a:srgbClr val="FFFFFF"/>
                    </a:solidFill>
                  </a:tcPr>
                </a:tc>
                <a:tc>
                  <a:txBody>
                    <a:bodyPr/>
                    <a:lstStyle/>
                    <a:p>
                      <a:r>
                        <a:rPr sz="1400">
                          <a:solidFill>
                            <a:srgbClr val="14202E"/>
                          </a:solidFill>
                          <a:latin typeface="Arial"/>
                        </a:rPr>
                        <a:t>____________________</a:t>
                      </a:r>
                    </a:p>
                  </a:txBody>
                  <a:tcPr>
                    <a:solidFill>
                      <a:srgbClr val="FFFFFF"/>
                    </a:solidFill>
                  </a:tcPr>
                </a:tc>
              </a:tr>
              <a:tr h="528320">
                <a:tc>
                  <a:txBody>
                    <a:bodyPr/>
                    <a:lstStyle/>
                    <a:p>
                      <a:r>
                        <a:rPr sz="1400">
                          <a:solidFill>
                            <a:srgbClr val="14202E"/>
                          </a:solidFill>
                          <a:latin typeface="Arial"/>
                        </a:rPr>
                        <a:t>6</a:t>
                      </a:r>
                    </a:p>
                  </a:txBody>
                  <a:tcPr>
                    <a:solidFill>
                      <a:srgbClr val="F6F8FA"/>
                    </a:solidFill>
                  </a:tcPr>
                </a:tc>
                <a:tc>
                  <a:txBody>
                    <a:bodyPr/>
                    <a:lstStyle/>
                    <a:p>
                      <a:r>
                        <a:rPr sz="1400">
                          <a:solidFill>
                            <a:srgbClr val="14202E"/>
                          </a:solidFill>
                          <a:latin typeface="Arial"/>
                        </a:rPr>
                        <a:t>Arrays &amp; Embedded Documents  ·  $slice · dot notation · embedded documents</a:t>
                      </a:r>
                    </a:p>
                  </a:txBody>
                  <a:tcPr>
                    <a:solidFill>
                      <a:srgbClr val="F6F8FA"/>
                    </a:solidFill>
                  </a:tcPr>
                </a:tc>
                <a:tc>
                  <a:txBody>
                    <a:bodyPr/>
                    <a:lstStyle/>
                    <a:p>
                      <a:r>
                        <a:rPr sz="1400">
                          <a:solidFill>
                            <a:srgbClr val="14202E"/>
                          </a:solidFill>
                          <a:latin typeface="Arial"/>
                        </a:rPr>
                        <a:t>____________________</a:t>
                      </a:r>
                    </a:p>
                  </a:txBody>
                  <a:tcPr>
                    <a:solidFill>
                      <a:srgbClr val="F6F8FA"/>
                    </a:solidFill>
                  </a:tcPr>
                </a:tc>
              </a:tr>
              <a:tr h="528320">
                <a:tc>
                  <a:txBody>
                    <a:bodyPr/>
                    <a:lstStyle/>
                    <a:p>
                      <a:r>
                        <a:rPr sz="1400">
                          <a:solidFill>
                            <a:srgbClr val="14202E"/>
                          </a:solidFill>
                          <a:latin typeface="Arial"/>
                        </a:rPr>
                        <a:t>7</a:t>
                      </a:r>
                    </a:p>
                  </a:txBody>
                  <a:tcPr>
                    <a:solidFill>
                      <a:srgbClr val="FFFFFF"/>
                    </a:solidFill>
                  </a:tcPr>
                </a:tc>
                <a:tc>
                  <a:txBody>
                    <a:bodyPr/>
                    <a:lstStyle/>
                    <a:p>
                      <a:r>
                        <a:rPr sz="1400">
                          <a:solidFill>
                            <a:srgbClr val="14202E"/>
                          </a:solidFill>
                          <a:latin typeface="Arial"/>
                        </a:rPr>
                        <a:t>Cloud Computing &amp; Implementation Types  ·  public · private · hybrid</a:t>
                      </a:r>
                    </a:p>
                  </a:txBody>
                  <a:tcPr>
                    <a:solidFill>
                      <a:srgbClr val="FFFFFF"/>
                    </a:solidFill>
                  </a:tcPr>
                </a:tc>
                <a:tc>
                  <a:txBody>
                    <a:bodyPr/>
                    <a:lstStyle/>
                    <a:p>
                      <a:r>
                        <a:rPr sz="1400">
                          <a:solidFill>
                            <a:srgbClr val="14202E"/>
                          </a:solidFill>
                          <a:latin typeface="Arial"/>
                        </a:rPr>
                        <a:t>____________________</a:t>
                      </a:r>
                    </a:p>
                  </a:txBody>
                  <a:tcPr>
                    <a:solidFill>
                      <a:srgbClr val="FFFFFF"/>
                    </a:solidFill>
                  </a:tcPr>
                </a:tc>
              </a:tr>
              <a:tr h="528320">
                <a:tc>
                  <a:txBody>
                    <a:bodyPr/>
                    <a:lstStyle/>
                    <a:p>
                      <a:r>
                        <a:rPr sz="1400">
                          <a:solidFill>
                            <a:srgbClr val="14202E"/>
                          </a:solidFill>
                          <a:latin typeface="Arial"/>
                        </a:rPr>
                        <a:t>8</a:t>
                      </a:r>
                    </a:p>
                  </a:txBody>
                  <a:tcPr>
                    <a:solidFill>
                      <a:srgbClr val="F6F8FA"/>
                    </a:solidFill>
                  </a:tcPr>
                </a:tc>
                <a:tc>
                  <a:txBody>
                    <a:bodyPr/>
                    <a:lstStyle/>
                    <a:p>
                      <a:r>
                        <a:rPr sz="1400">
                          <a:solidFill>
                            <a:srgbClr val="14202E"/>
                          </a:solidFill>
                          <a:latin typeface="Arial"/>
                        </a:rPr>
                        <a:t>Cloud Service Types &amp; Benefits  ·  SaaS · PaaS · IaaS · 10 benefits</a:t>
                      </a:r>
                    </a:p>
                  </a:txBody>
                  <a:tcPr>
                    <a:solidFill>
                      <a:srgbClr val="F6F8FA"/>
                    </a:solidFill>
                  </a:tcPr>
                </a:tc>
                <a:tc>
                  <a:txBody>
                    <a:bodyPr/>
                    <a:lstStyle/>
                    <a:p>
                      <a:r>
                        <a:rPr sz="1400">
                          <a:solidFill>
                            <a:srgbClr val="14202E"/>
                          </a:solidFill>
                          <a:latin typeface="Arial"/>
                        </a:rPr>
                        <a:t>____________________</a:t>
                      </a:r>
                    </a:p>
                  </a:txBody>
                  <a:tcPr>
                    <a:solidFill>
                      <a:srgbClr val="F6F8FA"/>
                    </a:solidFill>
                  </a:tcPr>
                </a:tc>
              </a:tr>
            </a:tbl>
          </a:graphicData>
        </a:graphic>
      </p:graphicFrame>
      <p:sp>
        <p:nvSpPr>
          <p:cNvPr id="5" name="TextBox 4"/>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B6E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10972800" cy="731520"/>
          </a:xfrm>
          <a:prstGeom prst="rect">
            <a:avLst/>
          </a:prstGeom>
          <a:noFill/>
        </p:spPr>
        <p:txBody>
          <a:bodyPr wrap="square" anchor="t" lIns="73152" rIns="73152" tIns="73152" bIns="73152">
            <a:spAutoFit/>
          </a:bodyPr>
          <a:lstStyle/>
          <a:p>
            <a:pPr algn="l">
              <a:lnSpc>
                <a:spcPct val="110000"/>
              </a:lnSpc>
            </a:pPr>
            <a:r>
              <a:rPr sz="3400" b="1">
                <a:solidFill>
                  <a:srgbClr val="14202E"/>
                </a:solidFill>
                <a:latin typeface="Arial"/>
              </a:rPr>
              <a:t>How we checked every command</a:t>
            </a:r>
          </a:p>
        </p:txBody>
      </p:sp>
      <p:sp>
        <p:nvSpPr>
          <p:cNvPr id="4" name="TextBox 3"/>
          <p:cNvSpPr txBox="1"/>
          <p:nvPr/>
        </p:nvSpPr>
        <p:spPr>
          <a:xfrm>
            <a:off x="548640" y="1463040"/>
            <a:ext cx="5852160" cy="4572000"/>
          </a:xfrm>
          <a:prstGeom prst="rect">
            <a:avLst/>
          </a:prstGeom>
          <a:noFill/>
        </p:spPr>
        <p:txBody>
          <a:bodyPr wrap="square" anchor="t" lIns="73152" rIns="73152" tIns="73152" bIns="73152">
            <a:spAutoFit/>
          </a:bodyPr>
          <a:lstStyle/>
          <a:p>
            <a:pPr algn="l">
              <a:lnSpc>
                <a:spcPct val="115000"/>
              </a:lnSpc>
            </a:pPr>
            <a:r>
              <a:rPr sz="1900" b="1">
                <a:solidFill>
                  <a:srgbClr val="D9480F"/>
                </a:solidFill>
                <a:latin typeface="Arial"/>
              </a:rPr>
              <a:t>▸  </a:t>
            </a:r>
            <a:r>
              <a:rPr sz="1900" b="0">
                <a:solidFill>
                  <a:srgbClr val="14202E"/>
                </a:solidFill>
                <a:latin typeface="Arial"/>
              </a:rPr>
              <a:t>Installed a real MongoDB server and the mongosh shell.</a:t>
            </a:r>
          </a:p>
          <a:p>
            <a:pPr algn="l">
              <a:lnSpc>
                <a:spcPct val="115000"/>
              </a:lnSpc>
            </a:pPr>
            <a:r>
              <a:rPr sz="1900" b="1">
                <a:solidFill>
                  <a:srgbClr val="D9480F"/>
                </a:solidFill>
                <a:latin typeface="Arial"/>
              </a:rPr>
              <a:t>▸  </a:t>
            </a:r>
            <a:r>
              <a:rPr sz="1900" b="0">
                <a:solidFill>
                  <a:srgbClr val="14202E"/>
                </a:solidFill>
                <a:latin typeface="Arial"/>
              </a:rPr>
              <a:t>Ran each handout command, in slide order, on a fresh database.</a:t>
            </a:r>
          </a:p>
          <a:p>
            <a:pPr algn="l">
              <a:lnSpc>
                <a:spcPct val="115000"/>
              </a:lnSpc>
            </a:pPr>
            <a:r>
              <a:rPr sz="1900" b="1">
                <a:solidFill>
                  <a:srgbClr val="D9480F"/>
                </a:solidFill>
                <a:latin typeface="Arial"/>
              </a:rPr>
              <a:t>▸  </a:t>
            </a:r>
            <a:r>
              <a:rPr sz="1900" b="0">
                <a:solidFill>
                  <a:srgbClr val="14202E"/>
                </a:solidFill>
                <a:latin typeface="Arial"/>
              </a:rPr>
              <a:t>Pasted the shell's real output. No retyping.</a:t>
            </a:r>
          </a:p>
          <a:p>
            <a:pPr algn="l">
              <a:lnSpc>
                <a:spcPct val="115000"/>
              </a:lnSpc>
            </a:pPr>
            <a:r>
              <a:rPr sz="1900" b="1">
                <a:solidFill>
                  <a:srgbClr val="D9480F"/>
                </a:solidFill>
                <a:latin typeface="Arial"/>
              </a:rPr>
              <a:t>▸  </a:t>
            </a:r>
            <a:r>
              <a:rPr sz="1900" b="0">
                <a:solidFill>
                  <a:srgbClr val="14202E"/>
                </a:solidFill>
                <a:latin typeface="Arial"/>
              </a:rPr>
              <a:t>Script and raw results are in the repo: verification/.</a:t>
            </a:r>
          </a:p>
          <a:p>
            <a:pPr algn="l">
              <a:lnSpc>
                <a:spcPct val="115000"/>
              </a:lnSpc>
            </a:pPr>
            <a:r>
              <a:rPr sz="1900" b="1">
                <a:solidFill>
                  <a:srgbClr val="D9480F"/>
                </a:solidFill>
                <a:latin typeface="Arial"/>
              </a:rPr>
              <a:t>▸  </a:t>
            </a:r>
            <a:r>
              <a:rPr sz="1900" b="0">
                <a:solidFill>
                  <a:srgbClr val="14202E"/>
                </a:solidFill>
                <a:latin typeface="Arial"/>
              </a:rPr>
              <a:t>One outline item failed: "$null". Part 4 shows the error.</a:t>
            </a:r>
          </a:p>
        </p:txBody>
      </p:sp>
      <p:sp>
        <p:nvSpPr>
          <p:cNvPr id="5" name="Rectangle 4"/>
          <p:cNvSpPr/>
          <p:nvPr/>
        </p:nvSpPr>
        <p:spPr>
          <a:xfrm>
            <a:off x="6766560" y="1463040"/>
            <a:ext cx="4846320" cy="182880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766560" y="1463040"/>
            <a:ext cx="484632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THE COMMAND OUR OUTLINE ASKED FOR</a:t>
            </a:r>
          </a:p>
        </p:txBody>
      </p:sp>
      <p:sp>
        <p:nvSpPr>
          <p:cNvPr id="7" name="TextBox 6"/>
          <p:cNvSpPr txBox="1"/>
          <p:nvPr/>
        </p:nvSpPr>
        <p:spPr>
          <a:xfrm>
            <a:off x="6821424" y="1755648"/>
            <a:ext cx="4736592" cy="1499616"/>
          </a:xfrm>
          <a:prstGeom prst="rect">
            <a:avLst/>
          </a:prstGeom>
          <a:noFill/>
        </p:spPr>
        <p:txBody>
          <a:bodyPr wrap="square" anchor="t" lIns="73152" rIns="73152" tIns="73152" bIns="73152">
            <a:spAutoFit/>
          </a:bodyPr>
          <a:lstStyle/>
          <a:p>
            <a:pPr algn="l">
              <a:lnSpc>
                <a:spcPct val="100000"/>
              </a:lnSpc>
            </a:pPr>
            <a:r>
              <a:rPr sz="1150" b="0">
                <a:solidFill>
                  <a:srgbClr val="E6ECF2"/>
                </a:solidFill>
                <a:latin typeface="Consolas"/>
              </a:rPr>
              <a:t>&gt; db.raffle.find({"claimed_by" : {"$null" : true}})</a:t>
            </a:r>
          </a:p>
        </p:txBody>
      </p:sp>
      <p:sp>
        <p:nvSpPr>
          <p:cNvPr id="8" name="Rectangle 7"/>
          <p:cNvSpPr/>
          <p:nvPr/>
        </p:nvSpPr>
        <p:spPr>
          <a:xfrm>
            <a:off x="6766560" y="3383280"/>
            <a:ext cx="4846320" cy="128016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66560" y="3383280"/>
            <a:ext cx="484632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WHAT THE SERVER SAID</a:t>
            </a:r>
          </a:p>
        </p:txBody>
      </p:sp>
      <p:sp>
        <p:nvSpPr>
          <p:cNvPr id="10" name="TextBox 9"/>
          <p:cNvSpPr txBox="1"/>
          <p:nvPr/>
        </p:nvSpPr>
        <p:spPr>
          <a:xfrm>
            <a:off x="6821424" y="3675888"/>
            <a:ext cx="4736592" cy="950976"/>
          </a:xfrm>
          <a:prstGeom prst="rect">
            <a:avLst/>
          </a:prstGeom>
          <a:noFill/>
        </p:spPr>
        <p:txBody>
          <a:bodyPr wrap="square" anchor="t" lIns="73152" rIns="73152" tIns="73152" bIns="73152">
            <a:spAutoFit/>
          </a:bodyPr>
          <a:lstStyle/>
          <a:p>
            <a:pPr algn="l">
              <a:lnSpc>
                <a:spcPct val="100000"/>
              </a:lnSpc>
            </a:pPr>
            <a:r>
              <a:rPr sz="1431" b="0">
                <a:solidFill>
                  <a:srgbClr val="FFA99E"/>
                </a:solidFill>
                <a:latin typeface="Consolas"/>
              </a:rPr>
              <a:t>MongoServerError: unknown operator: $null</a:t>
            </a:r>
          </a:p>
        </p:txBody>
      </p:sp>
      <p:sp>
        <p:nvSpPr>
          <p:cNvPr id="11" name="TextBox 10"/>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verification/run_commands.py, verification/results.json</a:t>
            </a:r>
          </a:p>
        </p:txBody>
      </p:sp>
      <p:sp>
        <p:nvSpPr>
          <p:cNvPr id="12" name="TextBox 11"/>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202E"/>
        </a:solidFill>
        <a:effectLst/>
      </p:bgPr>
    </p:bg>
    <p:spTree>
      <p:nvGrpSpPr>
        <p:cNvPr id="1" name=""/>
        <p:cNvGrpSpPr/>
        <p:nvPr/>
      </p:nvGrpSpPr>
      <p:grpSpPr/>
      <p:sp>
        <p:nvSpPr>
          <p:cNvPr id="2" name="TextBox 1"/>
          <p:cNvSpPr txBox="1"/>
          <p:nvPr/>
        </p:nvSpPr>
        <p:spPr>
          <a:xfrm>
            <a:off x="548640" y="1280160"/>
            <a:ext cx="3657600" cy="2377440"/>
          </a:xfrm>
          <a:prstGeom prst="rect">
            <a:avLst/>
          </a:prstGeom>
          <a:noFill/>
        </p:spPr>
        <p:txBody>
          <a:bodyPr wrap="square" anchor="t" lIns="73152" rIns="73152" tIns="73152" bIns="73152">
            <a:spAutoFit/>
          </a:bodyPr>
          <a:lstStyle/>
          <a:p>
            <a:pPr algn="l">
              <a:lnSpc>
                <a:spcPct val="110000"/>
              </a:lnSpc>
            </a:pPr>
            <a:r>
              <a:rPr sz="17000" b="1">
                <a:solidFill>
                  <a:srgbClr val="D9480F"/>
                </a:solidFill>
                <a:latin typeface="Arial"/>
              </a:rPr>
              <a:t>1</a:t>
            </a:r>
          </a:p>
        </p:txBody>
      </p:sp>
      <p:sp>
        <p:nvSpPr>
          <p:cNvPr id="3" name="TextBox 2"/>
          <p:cNvSpPr txBox="1"/>
          <p:nvPr/>
        </p:nvSpPr>
        <p:spPr>
          <a:xfrm>
            <a:off x="3840480" y="822960"/>
            <a:ext cx="7863840" cy="1828800"/>
          </a:xfrm>
          <a:prstGeom prst="rect">
            <a:avLst/>
          </a:prstGeom>
          <a:noFill/>
        </p:spPr>
        <p:txBody>
          <a:bodyPr wrap="square" anchor="b" lIns="73152" rIns="73152" tIns="73152" bIns="73152">
            <a:spAutoFit/>
          </a:bodyPr>
          <a:lstStyle/>
          <a:p>
            <a:pPr algn="l">
              <a:lnSpc>
                <a:spcPct val="95000"/>
              </a:lnSpc>
            </a:pPr>
            <a:r>
              <a:rPr sz="4000" b="1">
                <a:solidFill>
                  <a:srgbClr val="FFFFFF"/>
                </a:solidFill>
                <a:latin typeface="Arial"/>
              </a:rPr>
              <a:t>Create &amp; Delete</a:t>
            </a:r>
          </a:p>
        </p:txBody>
      </p:sp>
      <p:sp>
        <p:nvSpPr>
          <p:cNvPr id="4" name="TextBox 3"/>
          <p:cNvSpPr txBox="1"/>
          <p:nvPr/>
        </p:nvSpPr>
        <p:spPr>
          <a:xfrm>
            <a:off x="3840480" y="2743200"/>
            <a:ext cx="7863840" cy="548640"/>
          </a:xfrm>
          <a:prstGeom prst="rect">
            <a:avLst/>
          </a:prstGeom>
          <a:noFill/>
        </p:spPr>
        <p:txBody>
          <a:bodyPr wrap="square" anchor="t" lIns="73152" rIns="73152" tIns="73152" bIns="73152">
            <a:spAutoFit/>
          </a:bodyPr>
          <a:lstStyle/>
          <a:p>
            <a:pPr algn="l">
              <a:lnSpc>
                <a:spcPct val="110000"/>
              </a:lnSpc>
            </a:pPr>
            <a:r>
              <a:rPr sz="2000" b="0">
                <a:solidFill>
                  <a:srgbClr val="9FE0C9"/>
                </a:solidFill>
                <a:latin typeface="Consolas"/>
              </a:rPr>
              <a:t>insertOne · insertMany · deleteOne · deleteMany</a:t>
            </a:r>
          </a:p>
        </p:txBody>
      </p:sp>
      <p:sp>
        <p:nvSpPr>
          <p:cNvPr id="5" name="TextBox 4"/>
          <p:cNvSpPr txBox="1"/>
          <p:nvPr/>
        </p:nvSpPr>
        <p:spPr>
          <a:xfrm>
            <a:off x="3840480" y="3474720"/>
            <a:ext cx="7863840" cy="1097280"/>
          </a:xfrm>
          <a:prstGeom prst="rect">
            <a:avLst/>
          </a:prstGeom>
          <a:noFill/>
        </p:spPr>
        <p:txBody>
          <a:bodyPr wrap="square" anchor="t" lIns="73152" rIns="73152" tIns="73152" bIns="73152">
            <a:spAutoFit/>
          </a:bodyPr>
          <a:lstStyle/>
          <a:p>
            <a:pPr algn="l">
              <a:lnSpc>
                <a:spcPct val="110000"/>
              </a:lnSpc>
            </a:pPr>
            <a:r>
              <a:rPr sz="2800" b="0">
                <a:solidFill>
                  <a:srgbClr val="F2B27A"/>
                </a:solidFill>
                <a:latin typeface="Arial"/>
              </a:rPr>
              <a:t>“Documents in, documents out.”</a:t>
            </a:r>
          </a:p>
        </p:txBody>
      </p:sp>
      <p:sp>
        <p:nvSpPr>
          <p:cNvPr id="6" name="TextBox 5"/>
          <p:cNvSpPr txBox="1"/>
          <p:nvPr/>
        </p:nvSpPr>
        <p:spPr>
          <a:xfrm>
            <a:off x="3840480" y="4846320"/>
            <a:ext cx="7863840" cy="548640"/>
          </a:xfrm>
          <a:prstGeom prst="rect">
            <a:avLst/>
          </a:prstGeom>
          <a:noFill/>
        </p:spPr>
        <p:txBody>
          <a:bodyPr wrap="square" anchor="t" lIns="73152" rIns="73152" tIns="73152" bIns="73152">
            <a:spAutoFit/>
          </a:bodyPr>
          <a:lstStyle/>
          <a:p>
            <a:pPr algn="l">
              <a:lnSpc>
                <a:spcPct val="110000"/>
              </a:lnSpc>
            </a:pPr>
            <a:r>
              <a:rPr sz="2000" b="0">
                <a:solidFill>
                  <a:srgbClr val="E6ECF2"/>
                </a:solidFill>
                <a:latin typeface="Arial"/>
              </a:rPr>
              <a:t>Presenter: ____________________  (complete example part)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1  ·  CREATE &amp; DELETE</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Same idea, new names</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Tables are collections. Rows are documents.</a:t>
            </a:r>
          </a:p>
        </p:txBody>
      </p:sp>
      <p:graphicFrame>
        <p:nvGraphicFramePr>
          <p:cNvPr id="6" name="Table 5"/>
          <p:cNvGraphicFramePr>
            <a:graphicFrameLocks noGrp="1"/>
          </p:cNvGraphicFramePr>
          <p:nvPr/>
        </p:nvGraphicFramePr>
        <p:xfrm>
          <a:off x="548640" y="1828800"/>
          <a:ext cx="11094415" cy="2834640"/>
        </p:xfrm>
        <a:graphic>
          <a:graphicData uri="http://schemas.openxmlformats.org/drawingml/2006/table">
            <a:tbl>
              <a:tblPr firstRow="1" bandRow="1">
                <a:tableStyleId>{5C22544A-7EE6-4342-B048-85BDC9FD1C3A}</a:tableStyleId>
              </a:tblPr>
              <a:tblGrid>
                <a:gridCol w="5547207"/>
                <a:gridCol w="5547208"/>
              </a:tblGrid>
              <a:tr h="566928">
                <a:tc>
                  <a:txBody>
                    <a:bodyPr/>
                    <a:lstStyle/>
                    <a:p>
                      <a:r>
                        <a:rPr sz="1800" b="1">
                          <a:solidFill>
                            <a:srgbClr val="FFFFFF"/>
                          </a:solidFill>
                          <a:latin typeface="Arial"/>
                        </a:rPr>
                        <a:t>SQL</a:t>
                      </a:r>
                    </a:p>
                  </a:txBody>
                  <a:tcPr>
                    <a:solidFill>
                      <a:srgbClr val="14202E"/>
                    </a:solidFill>
                  </a:tcPr>
                </a:tc>
                <a:tc>
                  <a:txBody>
                    <a:bodyPr/>
                    <a:lstStyle/>
                    <a:p>
                      <a:r>
                        <a:rPr sz="1800" b="1">
                          <a:solidFill>
                            <a:srgbClr val="FFFFFF"/>
                          </a:solidFill>
                          <a:latin typeface="Arial"/>
                        </a:rPr>
                        <a:t>MongoDB</a:t>
                      </a:r>
                    </a:p>
                  </a:txBody>
                  <a:tcPr>
                    <a:solidFill>
                      <a:srgbClr val="14202E"/>
                    </a:solidFill>
                  </a:tcPr>
                </a:tc>
              </a:tr>
              <a:tr h="566928">
                <a:tc>
                  <a:txBody>
                    <a:bodyPr/>
                    <a:lstStyle/>
                    <a:p>
                      <a:r>
                        <a:rPr sz="2200" b="1">
                          <a:solidFill>
                            <a:srgbClr val="14202E"/>
                          </a:solidFill>
                          <a:latin typeface="Arial"/>
                        </a:rPr>
                        <a:t>Database</a:t>
                      </a:r>
                    </a:p>
                  </a:txBody>
                  <a:tcPr anchor="ctr">
                    <a:solidFill>
                      <a:srgbClr val="FFFFFF"/>
                    </a:solidFill>
                  </a:tcPr>
                </a:tc>
                <a:tc>
                  <a:txBody>
                    <a:bodyPr/>
                    <a:lstStyle/>
                    <a:p>
                      <a:r>
                        <a:rPr sz="2200" b="0">
                          <a:solidFill>
                            <a:srgbClr val="14202E"/>
                          </a:solidFill>
                          <a:latin typeface="Arial"/>
                        </a:rPr>
                        <a:t>Database</a:t>
                      </a:r>
                    </a:p>
                  </a:txBody>
                  <a:tcPr anchor="ctr">
                    <a:solidFill>
                      <a:srgbClr val="FFFFFF"/>
                    </a:solidFill>
                  </a:tcPr>
                </a:tc>
              </a:tr>
              <a:tr h="566928">
                <a:tc>
                  <a:txBody>
                    <a:bodyPr/>
                    <a:lstStyle/>
                    <a:p>
                      <a:r>
                        <a:rPr sz="2200" b="1">
                          <a:solidFill>
                            <a:srgbClr val="14202E"/>
                          </a:solidFill>
                          <a:latin typeface="Arial"/>
                        </a:rPr>
                        <a:t>Table</a:t>
                      </a:r>
                    </a:p>
                  </a:txBody>
                  <a:tcPr anchor="ctr">
                    <a:solidFill>
                      <a:srgbClr val="F6F8FA"/>
                    </a:solidFill>
                  </a:tcPr>
                </a:tc>
                <a:tc>
                  <a:txBody>
                    <a:bodyPr/>
                    <a:lstStyle/>
                    <a:p>
                      <a:r>
                        <a:rPr sz="2200" b="0">
                          <a:solidFill>
                            <a:srgbClr val="14202E"/>
                          </a:solidFill>
                          <a:latin typeface="Arial"/>
                        </a:rPr>
                        <a:t>Collection</a:t>
                      </a:r>
                    </a:p>
                  </a:txBody>
                  <a:tcPr anchor="ctr">
                    <a:solidFill>
                      <a:srgbClr val="F6F8FA"/>
                    </a:solidFill>
                  </a:tcPr>
                </a:tc>
              </a:tr>
              <a:tr h="566928">
                <a:tc>
                  <a:txBody>
                    <a:bodyPr/>
                    <a:lstStyle/>
                    <a:p>
                      <a:r>
                        <a:rPr sz="2200" b="1">
                          <a:solidFill>
                            <a:srgbClr val="14202E"/>
                          </a:solidFill>
                          <a:latin typeface="Arial"/>
                        </a:rPr>
                        <a:t>Row</a:t>
                      </a:r>
                    </a:p>
                  </a:txBody>
                  <a:tcPr anchor="ctr">
                    <a:solidFill>
                      <a:srgbClr val="FFFFFF"/>
                    </a:solidFill>
                  </a:tcPr>
                </a:tc>
                <a:tc>
                  <a:txBody>
                    <a:bodyPr/>
                    <a:lstStyle/>
                    <a:p>
                      <a:r>
                        <a:rPr sz="2200" b="0">
                          <a:solidFill>
                            <a:srgbClr val="14202E"/>
                          </a:solidFill>
                          <a:latin typeface="Arial"/>
                        </a:rPr>
                        <a:t>Document</a:t>
                      </a:r>
                    </a:p>
                  </a:txBody>
                  <a:tcPr anchor="ctr">
                    <a:solidFill>
                      <a:srgbClr val="FFFFFF"/>
                    </a:solidFill>
                  </a:tcPr>
                </a:tc>
              </a:tr>
              <a:tr h="566928">
                <a:tc>
                  <a:txBody>
                    <a:bodyPr/>
                    <a:lstStyle/>
                    <a:p>
                      <a:r>
                        <a:rPr sz="2200" b="1">
                          <a:solidFill>
                            <a:srgbClr val="14202E"/>
                          </a:solidFill>
                          <a:latin typeface="Arial"/>
                        </a:rPr>
                        <a:t>Column</a:t>
                      </a:r>
                    </a:p>
                  </a:txBody>
                  <a:tcPr anchor="ctr">
                    <a:solidFill>
                      <a:srgbClr val="F6F8FA"/>
                    </a:solidFill>
                  </a:tcPr>
                </a:tc>
                <a:tc>
                  <a:txBody>
                    <a:bodyPr/>
                    <a:lstStyle/>
                    <a:p>
                      <a:r>
                        <a:rPr sz="2200" b="0">
                          <a:solidFill>
                            <a:srgbClr val="14202E"/>
                          </a:solidFill>
                          <a:latin typeface="Arial"/>
                        </a:rPr>
                        <a:t>Field</a:t>
                      </a:r>
                    </a:p>
                  </a:txBody>
                  <a:tcPr anchor="ctr">
                    <a:solidFill>
                      <a:srgbClr val="F6F8FA"/>
                    </a:solidFill>
                  </a:tcPr>
                </a:tc>
              </a:tr>
            </a:tbl>
          </a:graphicData>
        </a:graphic>
      </p:graphicFrame>
      <p:sp>
        <p:nvSpPr>
          <p:cNvPr id="7" name="TextBox 6"/>
          <p:cNvSpPr txBox="1"/>
          <p:nvPr/>
        </p:nvSpPr>
        <p:spPr>
          <a:xfrm>
            <a:off x="548640" y="4892040"/>
            <a:ext cx="11094415" cy="731520"/>
          </a:xfrm>
          <a:prstGeom prst="rect">
            <a:avLst/>
          </a:prstGeom>
          <a:noFill/>
        </p:spPr>
        <p:txBody>
          <a:bodyPr wrap="square" anchor="t" lIns="73152" rIns="73152" tIns="73152" bIns="73152">
            <a:spAutoFit/>
          </a:bodyPr>
          <a:lstStyle/>
          <a:p>
            <a:pPr algn="l">
              <a:lnSpc>
                <a:spcPct val="115000"/>
              </a:lnSpc>
            </a:pPr>
            <a:r>
              <a:rPr sz="1700" b="1">
                <a:solidFill>
                  <a:srgbClr val="D9480F"/>
                </a:solidFill>
                <a:latin typeface="Arial"/>
              </a:rPr>
              <a:t>▸  </a:t>
            </a:r>
            <a:r>
              <a:rPr sz="1700" b="0">
                <a:solidFill>
                  <a:srgbClr val="14202E"/>
                </a:solidFill>
                <a:latin typeface="Arial"/>
              </a:rPr>
              <a:t>A collection is a table with a dynamic schema.</a:t>
            </a:r>
          </a:p>
          <a:p>
            <a:pPr algn="l">
              <a:lnSpc>
                <a:spcPct val="115000"/>
              </a:lnSpc>
            </a:pPr>
            <a:r>
              <a:rPr sz="1700" b="1">
                <a:solidFill>
                  <a:srgbClr val="D9480F"/>
                </a:solidFill>
                <a:latin typeface="Arial"/>
              </a:rPr>
              <a:t>▸  </a:t>
            </a:r>
            <a:r>
              <a:rPr sz="1700" b="0">
                <a:solidFill>
                  <a:srgbClr val="14202E"/>
                </a:solidFill>
                <a:latin typeface="Arial"/>
              </a:rPr>
              <a:t>Every document has a unique "_id" key in its collection.</a:t>
            </a:r>
          </a:p>
        </p:txBody>
      </p:sp>
      <p:sp>
        <p:nvSpPr>
          <p:cNvPr id="8" name="TextBox 7"/>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07 Handout p.2-3, Table 2</a:t>
            </a:r>
          </a:p>
        </p:txBody>
      </p:sp>
      <p:sp>
        <p:nvSpPr>
          <p:cNvPr id="9" name="TextBox 8"/>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1  ·  CREATE &amp; DELETE</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insertOne: add one document</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One document in. MongoDB hands it an _id.</a:t>
            </a:r>
          </a:p>
        </p:txBody>
      </p:sp>
      <p:sp>
        <p:nvSpPr>
          <p:cNvPr id="6" name="Rectangle 5"/>
          <p:cNvSpPr/>
          <p:nvPr/>
        </p:nvSpPr>
        <p:spPr>
          <a:xfrm>
            <a:off x="548640" y="1737360"/>
            <a:ext cx="7040880" cy="749808"/>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6931152" cy="420624"/>
          </a:xfrm>
          <a:prstGeom prst="rect">
            <a:avLst/>
          </a:prstGeom>
          <a:noFill/>
        </p:spPr>
        <p:txBody>
          <a:bodyPr wrap="square" anchor="t" lIns="73152" rIns="73152" tIns="73152" bIns="73152">
            <a:spAutoFit/>
          </a:bodyPr>
          <a:lstStyle/>
          <a:p>
            <a:pPr algn="l">
              <a:lnSpc>
                <a:spcPct val="100000"/>
              </a:lnSpc>
            </a:pPr>
            <a:r>
              <a:rPr sz="1423" b="0">
                <a:solidFill>
                  <a:srgbClr val="E6ECF2"/>
                </a:solidFill>
                <a:latin typeface="Consolas"/>
              </a:rPr>
              <a:t>&gt; db.movies.insertOne({"title" : "Stand by Me"})</a:t>
            </a:r>
          </a:p>
        </p:txBody>
      </p:sp>
      <p:sp>
        <p:nvSpPr>
          <p:cNvPr id="9" name="Rectangle 8"/>
          <p:cNvSpPr/>
          <p:nvPr/>
        </p:nvSpPr>
        <p:spPr>
          <a:xfrm>
            <a:off x="548640" y="2578608"/>
            <a:ext cx="7040880" cy="3730752"/>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578608"/>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REAL OUTPUT</a:t>
            </a:r>
          </a:p>
        </p:txBody>
      </p:sp>
      <p:sp>
        <p:nvSpPr>
          <p:cNvPr id="11" name="TextBox 10"/>
          <p:cNvSpPr txBox="1"/>
          <p:nvPr/>
        </p:nvSpPr>
        <p:spPr>
          <a:xfrm>
            <a:off x="603504" y="2871216"/>
            <a:ext cx="6931152" cy="3401568"/>
          </a:xfrm>
          <a:prstGeom prst="rect">
            <a:avLst/>
          </a:prstGeom>
          <a:noFill/>
        </p:spPr>
        <p:txBody>
          <a:bodyPr wrap="square" anchor="t" lIns="73152" rIns="73152" tIns="73152" bIns="73152">
            <a:spAutoFit/>
          </a:bodyPr>
          <a:lstStyle/>
          <a:p>
            <a:pPr algn="l">
              <a:lnSpc>
                <a:spcPct val="100000"/>
              </a:lnSpc>
            </a:pPr>
            <a:r>
              <a:rPr sz="1747" b="0">
                <a:solidFill>
                  <a:srgbClr val="9FE0C9"/>
                </a:solidFill>
                <a:latin typeface="Consolas"/>
              </a:rPr>
              <a:t>{</a:t>
            </a:r>
          </a:p>
          <a:p>
            <a:pPr algn="l">
              <a:lnSpc>
                <a:spcPct val="100000"/>
              </a:lnSpc>
            </a:pPr>
            <a:r>
              <a:rPr sz="1747" b="0">
                <a:solidFill>
                  <a:srgbClr val="9FE0C9"/>
                </a:solidFill>
                <a:latin typeface="Consolas"/>
              </a:rPr>
              <a:t>  acknowledged: true,</a:t>
            </a:r>
          </a:p>
          <a:p>
            <a:pPr algn="l">
              <a:lnSpc>
                <a:spcPct val="100000"/>
              </a:lnSpc>
            </a:pPr>
            <a:r>
              <a:rPr sz="1747" b="0">
                <a:solidFill>
                  <a:srgbClr val="9FE0C9"/>
                </a:solidFill>
                <a:latin typeface="Consolas"/>
              </a:rPr>
              <a:t>  insertedId: ObjectId('6ae45e30f1c27252bf544ca7')</a:t>
            </a:r>
          </a:p>
          <a:p>
            <a:pPr algn="l">
              <a:lnSpc>
                <a:spcPct val="100000"/>
              </a:lnSpc>
            </a:pPr>
            <a:r>
              <a:rPr sz="1747" b="0">
                <a:solidFill>
                  <a:srgbClr val="9FE0C9"/>
                </a:solidFill>
                <a:latin typeface="Consolas"/>
              </a:rPr>
              <a:t>}</a:t>
            </a:r>
          </a:p>
        </p:txBody>
      </p:sp>
      <p:sp>
        <p:nvSpPr>
          <p:cNvPr id="12" name="TextBox 11"/>
          <p:cNvSpPr txBox="1"/>
          <p:nvPr/>
        </p:nvSpPr>
        <p:spPr>
          <a:xfrm>
            <a:off x="7863840" y="1737360"/>
            <a:ext cx="3916375" cy="4480560"/>
          </a:xfrm>
          <a:prstGeom prst="rect">
            <a:avLst/>
          </a:prstGeom>
          <a:noFill/>
        </p:spPr>
        <p:txBody>
          <a:bodyPr wrap="square" anchor="t" lIns="73152" rIns="73152" tIns="73152" bIns="73152">
            <a:spAutoFit/>
          </a:bodyPr>
          <a:lstStyle/>
          <a:p>
            <a:pPr algn="l">
              <a:lnSpc>
                <a:spcPct val="115000"/>
              </a:lnSpc>
            </a:pPr>
            <a:r>
              <a:rPr sz="1800" b="1">
                <a:solidFill>
                  <a:srgbClr val="D9480F"/>
                </a:solidFill>
                <a:latin typeface="Arial"/>
              </a:rPr>
              <a:t>▸  </a:t>
            </a:r>
            <a:r>
              <a:rPr sz="1800" b="0">
                <a:solidFill>
                  <a:srgbClr val="14202E"/>
                </a:solidFill>
                <a:latin typeface="Arial"/>
              </a:rPr>
              <a:t>No _id given, so MongoDB generated an ObjectId.</a:t>
            </a:r>
          </a:p>
          <a:p>
            <a:pPr algn="l">
              <a:lnSpc>
                <a:spcPct val="115000"/>
              </a:lnSpc>
            </a:pPr>
            <a:r>
              <a:rPr sz="1800" b="1">
                <a:solidFill>
                  <a:srgbClr val="D9480F"/>
                </a:solidFill>
                <a:latin typeface="Arial"/>
              </a:rPr>
              <a:t>▸  </a:t>
            </a:r>
            <a:r>
              <a:rPr sz="1800" b="0">
                <a:solidFill>
                  <a:srgbClr val="14202E"/>
                </a:solidFill>
                <a:latin typeface="Arial"/>
              </a:rPr>
              <a:t>The movies collection did not exist; the first insert created it.</a:t>
            </a:r>
          </a:p>
        </p:txBody>
      </p:sp>
      <p:sp>
        <p:nvSpPr>
          <p:cNvPr id="13" name="TextBox 12"/>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p.1; 07 Handout p.3</a:t>
            </a:r>
          </a:p>
        </p:txBody>
      </p:sp>
      <p:sp>
        <p:nvSpPr>
          <p:cNvPr id="14" name="TextBox 13"/>
          <p:cNvSpPr txBox="1"/>
          <p:nvPr/>
        </p:nvSpPr>
        <p:spPr>
          <a:xfrm>
            <a:off x="8138160" y="6419088"/>
            <a:ext cx="3429000" cy="329184"/>
          </a:xfrm>
          <a:prstGeom prst="rect">
            <a:avLst/>
          </a:prstGeom>
          <a:noFill/>
        </p:spPr>
        <p:txBody>
          <a:bodyPr wrap="square" anchor="t" lIns="73152" rIns="73152" tIns="73152" bIns="73152">
            <a:spAutoFit/>
          </a:bodyPr>
          <a:lstStyle/>
          <a:p>
            <a:pPr algn="r">
              <a:lnSpc>
                <a:spcPct val="110000"/>
              </a:lnSpc>
            </a:pPr>
            <a:r>
              <a:rPr sz="900" b="0">
                <a:solidFill>
                  <a:srgbClr val="0B6E61"/>
                </a:solidFill>
                <a:latin typeface="Arial"/>
              </a:rPr>
              <a:t>✓ Verified live on MongoDB 8.0.4 + mongosh 2.3.8 (2026-10-30)</a:t>
            </a:r>
          </a:p>
        </p:txBody>
      </p:sp>
      <p:sp>
        <p:nvSpPr>
          <p:cNvPr id="15" name="TextBox 14"/>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1  ·  CREATE &amp; DELETE</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insertMany: add several at once</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Many documents, one trip.</a:t>
            </a:r>
          </a:p>
        </p:txBody>
      </p:sp>
      <p:sp>
        <p:nvSpPr>
          <p:cNvPr id="6" name="Rectangle 5"/>
          <p:cNvSpPr/>
          <p:nvPr/>
        </p:nvSpPr>
        <p:spPr>
          <a:xfrm>
            <a:off x="548640" y="1737360"/>
            <a:ext cx="7040880" cy="173736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6931152" cy="1408176"/>
          </a:xfrm>
          <a:prstGeom prst="rect">
            <a:avLst/>
          </a:prstGeom>
          <a:noFill/>
        </p:spPr>
        <p:txBody>
          <a:bodyPr wrap="square" anchor="t" lIns="73152" rIns="73152" tIns="73152" bIns="73152">
            <a:spAutoFit/>
          </a:bodyPr>
          <a:lstStyle/>
          <a:p>
            <a:pPr algn="l">
              <a:lnSpc>
                <a:spcPct val="100000"/>
              </a:lnSpc>
            </a:pPr>
            <a:r>
              <a:rPr sz="1602" b="0">
                <a:solidFill>
                  <a:srgbClr val="E6ECF2"/>
                </a:solidFill>
                <a:latin typeface="Consolas"/>
              </a:rPr>
              <a:t>&gt; db.movies.insertMany([</a:t>
            </a:r>
          </a:p>
          <a:p>
            <a:pPr algn="l">
              <a:lnSpc>
                <a:spcPct val="100000"/>
              </a:lnSpc>
            </a:pPr>
            <a:r>
              <a:rPr sz="1602" b="0">
                <a:solidFill>
                  <a:srgbClr val="E6ECF2"/>
                </a:solidFill>
                <a:latin typeface="Consolas"/>
              </a:rPr>
              <a:t>    {"title" : "Ghostbusters"},</a:t>
            </a:r>
          </a:p>
          <a:p>
            <a:pPr algn="l">
              <a:lnSpc>
                <a:spcPct val="100000"/>
              </a:lnSpc>
            </a:pPr>
            <a:r>
              <a:rPr sz="1602" b="0">
                <a:solidFill>
                  <a:srgbClr val="E6ECF2"/>
                </a:solidFill>
                <a:latin typeface="Consolas"/>
              </a:rPr>
              <a:t>    {"title" : "E.T."},</a:t>
            </a:r>
          </a:p>
          <a:p>
            <a:pPr algn="l">
              <a:lnSpc>
                <a:spcPct val="100000"/>
              </a:lnSpc>
            </a:pPr>
            <a:r>
              <a:rPr sz="1602" b="0">
                <a:solidFill>
                  <a:srgbClr val="E6ECF2"/>
                </a:solidFill>
                <a:latin typeface="Consolas"/>
              </a:rPr>
              <a:t>    {"title" : "Blade Runner"}</a:t>
            </a:r>
          </a:p>
          <a:p>
            <a:pPr algn="l">
              <a:lnSpc>
                <a:spcPct val="100000"/>
              </a:lnSpc>
            </a:pPr>
            <a:r>
              <a:rPr sz="1602" b="0">
                <a:solidFill>
                  <a:srgbClr val="E6ECF2"/>
                </a:solidFill>
                <a:latin typeface="Consolas"/>
              </a:rPr>
              <a:t>  ])</a:t>
            </a:r>
          </a:p>
        </p:txBody>
      </p:sp>
      <p:sp>
        <p:nvSpPr>
          <p:cNvPr id="9" name="Rectangle 8"/>
          <p:cNvSpPr/>
          <p:nvPr/>
        </p:nvSpPr>
        <p:spPr>
          <a:xfrm>
            <a:off x="548640" y="3566160"/>
            <a:ext cx="7040880" cy="274320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5661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REAL OUTPUT</a:t>
            </a:r>
          </a:p>
        </p:txBody>
      </p:sp>
      <p:sp>
        <p:nvSpPr>
          <p:cNvPr id="11" name="TextBox 10"/>
          <p:cNvSpPr txBox="1"/>
          <p:nvPr/>
        </p:nvSpPr>
        <p:spPr>
          <a:xfrm>
            <a:off x="603504" y="3858768"/>
            <a:ext cx="6931152" cy="2414016"/>
          </a:xfrm>
          <a:prstGeom prst="rect">
            <a:avLst/>
          </a:prstGeom>
          <a:noFill/>
        </p:spPr>
        <p:txBody>
          <a:bodyPr wrap="square" anchor="t" lIns="73152" rIns="73152" tIns="73152" bIns="73152">
            <a:spAutoFit/>
          </a:bodyPr>
          <a:lstStyle/>
          <a:p>
            <a:pPr algn="l">
              <a:lnSpc>
                <a:spcPct val="100000"/>
              </a:lnSpc>
            </a:pPr>
            <a:r>
              <a:rPr sz="1800" b="0">
                <a:solidFill>
                  <a:srgbClr val="9FE0C9"/>
                </a:solidFill>
                <a:latin typeface="Consolas"/>
              </a:rPr>
              <a:t>{</a:t>
            </a:r>
          </a:p>
          <a:p>
            <a:pPr algn="l">
              <a:lnSpc>
                <a:spcPct val="100000"/>
              </a:lnSpc>
            </a:pPr>
            <a:r>
              <a:rPr sz="1800" b="0">
                <a:solidFill>
                  <a:srgbClr val="9FE0C9"/>
                </a:solidFill>
                <a:latin typeface="Consolas"/>
              </a:rPr>
              <a:t>  acknowledged: true,</a:t>
            </a:r>
          </a:p>
          <a:p>
            <a:pPr algn="l">
              <a:lnSpc>
                <a:spcPct val="100000"/>
              </a:lnSpc>
            </a:pPr>
            <a:r>
              <a:rPr sz="1800" b="0">
                <a:solidFill>
                  <a:srgbClr val="9FE0C9"/>
                </a:solidFill>
                <a:latin typeface="Consolas"/>
              </a:rPr>
              <a:t>  insertedIds: {</a:t>
            </a:r>
          </a:p>
          <a:p>
            <a:pPr algn="l">
              <a:lnSpc>
                <a:spcPct val="100000"/>
              </a:lnSpc>
            </a:pPr>
            <a:r>
              <a:rPr sz="1800" b="0">
                <a:solidFill>
                  <a:srgbClr val="9FE0C9"/>
                </a:solidFill>
                <a:latin typeface="Consolas"/>
              </a:rPr>
              <a:t>    '0': ObjectId('6ae45e300fd0e3adfc544ca7'),</a:t>
            </a:r>
          </a:p>
          <a:p>
            <a:pPr algn="l">
              <a:lnSpc>
                <a:spcPct val="100000"/>
              </a:lnSpc>
            </a:pPr>
            <a:r>
              <a:rPr sz="1800" b="0">
                <a:solidFill>
                  <a:srgbClr val="9FE0C9"/>
                </a:solidFill>
                <a:latin typeface="Consolas"/>
              </a:rPr>
              <a:t>    '1': ObjectId('6ae45e300fd0e3adfc544ca8'),</a:t>
            </a:r>
          </a:p>
          <a:p>
            <a:pPr algn="l">
              <a:lnSpc>
                <a:spcPct val="100000"/>
              </a:lnSpc>
            </a:pPr>
            <a:r>
              <a:rPr sz="1800" b="0">
                <a:solidFill>
                  <a:srgbClr val="9FE0C9"/>
                </a:solidFill>
                <a:latin typeface="Consolas"/>
              </a:rPr>
              <a:t>    '2': ObjectId('6ae45e300fd0e3adfc544ca9')</a:t>
            </a:r>
          </a:p>
          <a:p>
            <a:pPr algn="l">
              <a:lnSpc>
                <a:spcPct val="100000"/>
              </a:lnSpc>
            </a:pPr>
            <a:r>
              <a:rPr sz="1800" b="0">
                <a:solidFill>
                  <a:srgbClr val="9FE0C9"/>
                </a:solidFill>
                <a:latin typeface="Consolas"/>
              </a:rPr>
              <a:t>  }</a:t>
            </a:r>
          </a:p>
          <a:p>
            <a:pPr algn="l">
              <a:lnSpc>
                <a:spcPct val="100000"/>
              </a:lnSpc>
            </a:pPr>
            <a:r>
              <a:rPr sz="1800" b="0">
                <a:solidFill>
                  <a:srgbClr val="9FE0C9"/>
                </a:solidFill>
                <a:latin typeface="Consolas"/>
              </a:rPr>
              <a:t>}</a:t>
            </a:r>
          </a:p>
        </p:txBody>
      </p:sp>
      <p:sp>
        <p:nvSpPr>
          <p:cNvPr id="12" name="TextBox 11"/>
          <p:cNvSpPr txBox="1"/>
          <p:nvPr/>
        </p:nvSpPr>
        <p:spPr>
          <a:xfrm>
            <a:off x="7863840" y="1737360"/>
            <a:ext cx="3916375" cy="4480560"/>
          </a:xfrm>
          <a:prstGeom prst="rect">
            <a:avLst/>
          </a:prstGeom>
          <a:noFill/>
        </p:spPr>
        <p:txBody>
          <a:bodyPr wrap="square" anchor="t" lIns="73152" rIns="73152" tIns="73152" bIns="73152">
            <a:spAutoFit/>
          </a:bodyPr>
          <a:lstStyle/>
          <a:p>
            <a:pPr algn="l">
              <a:lnSpc>
                <a:spcPct val="115000"/>
              </a:lnSpc>
            </a:pPr>
            <a:r>
              <a:rPr sz="1800" b="1">
                <a:solidFill>
                  <a:srgbClr val="D9480F"/>
                </a:solidFill>
                <a:latin typeface="Arial"/>
              </a:rPr>
              <a:t>▸  </a:t>
            </a:r>
            <a:r>
              <a:rPr sz="1800" b="0">
                <a:solidFill>
                  <a:srgbClr val="14202E"/>
                </a:solidFill>
                <a:latin typeface="Arial"/>
              </a:rPr>
              <a:t>Pass an array of documents.</a:t>
            </a:r>
          </a:p>
          <a:p>
            <a:pPr algn="l">
              <a:lnSpc>
                <a:spcPct val="115000"/>
              </a:lnSpc>
            </a:pPr>
            <a:r>
              <a:rPr sz="1800" b="1">
                <a:solidFill>
                  <a:srgbClr val="D9480F"/>
                </a:solidFill>
                <a:latin typeface="Arial"/>
              </a:rPr>
              <a:t>▸  </a:t>
            </a:r>
            <a:r>
              <a:rPr sz="1800" b="0">
                <a:solidFill>
                  <a:srgbClr val="14202E"/>
                </a:solidFill>
                <a:latin typeface="Arial"/>
              </a:rPr>
              <a:t>The result lists one insertedId per document, in array order.</a:t>
            </a:r>
          </a:p>
        </p:txBody>
      </p:sp>
      <p:sp>
        <p:nvSpPr>
          <p:cNvPr id="13" name="TextBox 12"/>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p.1</a:t>
            </a:r>
          </a:p>
        </p:txBody>
      </p:sp>
      <p:sp>
        <p:nvSpPr>
          <p:cNvPr id="14" name="TextBox 13"/>
          <p:cNvSpPr txBox="1"/>
          <p:nvPr/>
        </p:nvSpPr>
        <p:spPr>
          <a:xfrm>
            <a:off x="8138160" y="6419088"/>
            <a:ext cx="3429000" cy="329184"/>
          </a:xfrm>
          <a:prstGeom prst="rect">
            <a:avLst/>
          </a:prstGeom>
          <a:noFill/>
        </p:spPr>
        <p:txBody>
          <a:bodyPr wrap="square" anchor="t" lIns="73152" rIns="73152" tIns="73152" bIns="73152">
            <a:spAutoFit/>
          </a:bodyPr>
          <a:lstStyle/>
          <a:p>
            <a:pPr algn="r">
              <a:lnSpc>
                <a:spcPct val="110000"/>
              </a:lnSpc>
            </a:pPr>
            <a:r>
              <a:rPr sz="900" b="0">
                <a:solidFill>
                  <a:srgbClr val="0B6E61"/>
                </a:solidFill>
                <a:latin typeface="Arial"/>
              </a:rPr>
              <a:t>✓ Verified live on MongoDB 8.0.4 + mongosh 2.3.8 (2026-10-30)</a:t>
            </a:r>
          </a:p>
        </p:txBody>
      </p:sp>
      <p:sp>
        <p:nvSpPr>
          <p:cNvPr id="15" name="TextBox 14"/>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1  ·  CREATE &amp; DELETE</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Ordered vs unordered: what happens on an error</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Ordered stops at the error. Unordered keeps going.</a:t>
            </a:r>
          </a:p>
        </p:txBody>
      </p:sp>
      <p:sp>
        <p:nvSpPr>
          <p:cNvPr id="6" name="Rectangle 5"/>
          <p:cNvSpPr/>
          <p:nvPr/>
        </p:nvSpPr>
        <p:spPr>
          <a:xfrm>
            <a:off x="548640" y="1737360"/>
            <a:ext cx="5486400" cy="141732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5376672" cy="1088136"/>
          </a:xfrm>
          <a:prstGeom prst="rect">
            <a:avLst/>
          </a:prstGeom>
          <a:noFill/>
        </p:spPr>
        <p:txBody>
          <a:bodyPr wrap="square" anchor="t" lIns="73152" rIns="73152" tIns="73152" bIns="73152">
            <a:spAutoFit/>
          </a:bodyPr>
          <a:lstStyle/>
          <a:p>
            <a:pPr algn="l">
              <a:lnSpc>
                <a:spcPct val="100000"/>
              </a:lnSpc>
            </a:pPr>
            <a:r>
              <a:rPr sz="1000" b="0">
                <a:solidFill>
                  <a:srgbClr val="7F91A4"/>
                </a:solidFill>
                <a:latin typeface="Consolas"/>
              </a:rPr>
              <a:t>  // unordered: duplicate _id 4 in the middle</a:t>
            </a:r>
          </a:p>
          <a:p>
            <a:pPr algn="l">
              <a:lnSpc>
                <a:spcPct val="100000"/>
              </a:lnSpc>
            </a:pPr>
            <a:r>
              <a:rPr sz="1000" b="0">
                <a:solidFill>
                  <a:srgbClr val="E6ECF2"/>
                </a:solidFill>
                <a:latin typeface="Consolas"/>
              </a:rPr>
              <a:t>&gt; db.movies.insertMany([</a:t>
            </a:r>
          </a:p>
          <a:p>
            <a:pPr algn="l">
              <a:lnSpc>
                <a:spcPct val="100000"/>
              </a:lnSpc>
            </a:pPr>
            <a:r>
              <a:rPr sz="1000" b="0">
                <a:solidFill>
                  <a:srgbClr val="E6ECF2"/>
                </a:solidFill>
                <a:latin typeface="Consolas"/>
              </a:rPr>
              <a:t>    {"_id" : 3, "title" : "Sixteen Candles"},</a:t>
            </a:r>
          </a:p>
          <a:p>
            <a:pPr algn="l">
              <a:lnSpc>
                <a:spcPct val="100000"/>
              </a:lnSpc>
            </a:pPr>
            <a:r>
              <a:rPr sz="1000" b="0">
                <a:solidFill>
                  <a:srgbClr val="E6ECF2"/>
                </a:solidFill>
                <a:latin typeface="Consolas"/>
              </a:rPr>
              <a:t>    {"_id" : 4, "title" : "The Terminator"},</a:t>
            </a:r>
          </a:p>
          <a:p>
            <a:pPr algn="l">
              <a:lnSpc>
                <a:spcPct val="100000"/>
              </a:lnSpc>
            </a:pPr>
            <a:r>
              <a:rPr sz="1000" b="0">
                <a:solidFill>
                  <a:srgbClr val="E6ECF2"/>
                </a:solidFill>
                <a:latin typeface="Consolas"/>
              </a:rPr>
              <a:t>    {"_id" : 4, "title" : "The Princess Bride"},</a:t>
            </a:r>
          </a:p>
          <a:p>
            <a:pPr algn="l">
              <a:lnSpc>
                <a:spcPct val="100000"/>
              </a:lnSpc>
            </a:pPr>
            <a:r>
              <a:rPr sz="1000" b="0">
                <a:solidFill>
                  <a:srgbClr val="E6ECF2"/>
                </a:solidFill>
                <a:latin typeface="Consolas"/>
              </a:rPr>
              <a:t>    {"_id" : 5, "title" : "Scarface"}</a:t>
            </a:r>
          </a:p>
          <a:p>
            <a:pPr algn="l">
              <a:lnSpc>
                <a:spcPct val="100000"/>
              </a:lnSpc>
            </a:pPr>
            <a:r>
              <a:rPr sz="1000" b="0">
                <a:solidFill>
                  <a:srgbClr val="E6ECF2"/>
                </a:solidFill>
                <a:latin typeface="Consolas"/>
              </a:rPr>
              <a:t>  ], {"ordered" : false})</a:t>
            </a:r>
          </a:p>
        </p:txBody>
      </p:sp>
      <p:sp>
        <p:nvSpPr>
          <p:cNvPr id="9" name="Rectangle 8"/>
          <p:cNvSpPr/>
          <p:nvPr/>
        </p:nvSpPr>
        <p:spPr>
          <a:xfrm>
            <a:off x="548640" y="3246120"/>
            <a:ext cx="5486400" cy="301752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246120"/>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REAL OUTPUT</a:t>
            </a:r>
          </a:p>
        </p:txBody>
      </p:sp>
      <p:sp>
        <p:nvSpPr>
          <p:cNvPr id="11" name="TextBox 10"/>
          <p:cNvSpPr txBox="1"/>
          <p:nvPr/>
        </p:nvSpPr>
        <p:spPr>
          <a:xfrm>
            <a:off x="603504" y="3538728"/>
            <a:ext cx="5376672" cy="2688336"/>
          </a:xfrm>
          <a:prstGeom prst="rect">
            <a:avLst/>
          </a:prstGeom>
          <a:noFill/>
        </p:spPr>
        <p:txBody>
          <a:bodyPr wrap="square" anchor="t" lIns="73152" rIns="73152" tIns="73152" bIns="73152">
            <a:spAutoFit/>
          </a:bodyPr>
          <a:lstStyle/>
          <a:p>
            <a:pPr algn="l">
              <a:lnSpc>
                <a:spcPct val="100000"/>
              </a:lnSpc>
            </a:pPr>
            <a:r>
              <a:rPr sz="1000" b="0">
                <a:solidFill>
                  <a:srgbClr val="FFA99E"/>
                </a:solidFill>
                <a:latin typeface="Consolas"/>
              </a:rPr>
              <a:t>MongoBulkWriteError:</a:t>
            </a:r>
          </a:p>
          <a:p>
            <a:pPr algn="l">
              <a:lnSpc>
                <a:spcPct val="100000"/>
              </a:lnSpc>
            </a:pPr>
            <a:r>
              <a:rPr sz="1000" b="0">
                <a:solidFill>
                  <a:srgbClr val="9FE0C9"/>
                </a:solidFill>
                <a:latin typeface="Consolas"/>
              </a:rPr>
              <a:t>E11000 duplicate key error collection: adbs.movies index: _id_ dup key: { _id: 4 }</a:t>
            </a:r>
          </a:p>
          <a:p>
            <a:pPr algn="l">
              <a:lnSpc>
                <a:spcPct val="100000"/>
              </a:lnSpc>
            </a:pPr>
            <a:r>
              <a:rPr sz="1000" b="0">
                <a:solidFill>
                  <a:srgbClr val="9FE0C9"/>
                </a:solidFill>
                <a:latin typeface="Consolas"/>
              </a:rPr>
              <a:t> </a:t>
            </a:r>
          </a:p>
          <a:p>
            <a:pPr algn="l">
              <a:lnSpc>
                <a:spcPct val="100000"/>
              </a:lnSpc>
            </a:pPr>
            <a:r>
              <a:rPr sz="1000" b="0">
                <a:solidFill>
                  <a:srgbClr val="7F91A4"/>
                </a:solidFill>
                <a:latin typeface="Consolas"/>
              </a:rPr>
              <a:t>// countDocuments({_id: {$in: [3,4,5]}})</a:t>
            </a:r>
          </a:p>
          <a:p>
            <a:pPr algn="l">
              <a:lnSpc>
                <a:spcPct val="100000"/>
              </a:lnSpc>
            </a:pPr>
            <a:r>
              <a:rPr sz="1000" b="0">
                <a:solidFill>
                  <a:srgbClr val="9FE0C9"/>
                </a:solidFill>
                <a:latin typeface="Consolas"/>
              </a:rPr>
              <a:t>3   </a:t>
            </a:r>
            <a:r>
              <a:rPr sz="1000" b="0">
                <a:solidFill>
                  <a:srgbClr val="F2B27A"/>
                </a:solidFill>
                <a:latin typeface="Consolas"/>
              </a:rPr>
              <a:t>&lt;- 3, 4, 5 saved; only the duplicate failed</a:t>
            </a:r>
          </a:p>
        </p:txBody>
      </p:sp>
      <p:sp>
        <p:nvSpPr>
          <p:cNvPr id="12" name="Rectangle 11"/>
          <p:cNvSpPr/>
          <p:nvPr/>
        </p:nvSpPr>
        <p:spPr>
          <a:xfrm>
            <a:off x="6153912" y="1737360"/>
            <a:ext cx="5486400" cy="141732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53912" y="1737360"/>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14" name="TextBox 13"/>
          <p:cNvSpPr txBox="1"/>
          <p:nvPr/>
        </p:nvSpPr>
        <p:spPr>
          <a:xfrm>
            <a:off x="6208776" y="2029968"/>
            <a:ext cx="5376672" cy="1088136"/>
          </a:xfrm>
          <a:prstGeom prst="rect">
            <a:avLst/>
          </a:prstGeom>
          <a:noFill/>
        </p:spPr>
        <p:txBody>
          <a:bodyPr wrap="square" anchor="t" lIns="73152" rIns="73152" tIns="73152" bIns="73152">
            <a:spAutoFit/>
          </a:bodyPr>
          <a:lstStyle/>
          <a:p>
            <a:pPr algn="l">
              <a:lnSpc>
                <a:spcPct val="100000"/>
              </a:lnSpc>
            </a:pPr>
            <a:r>
              <a:rPr sz="1155" b="0">
                <a:solidFill>
                  <a:srgbClr val="7F91A4"/>
                </a:solidFill>
                <a:latin typeface="Consolas"/>
              </a:rPr>
              <a:t>  // ordered (the default)</a:t>
            </a:r>
          </a:p>
          <a:p>
            <a:pPr algn="l">
              <a:lnSpc>
                <a:spcPct val="100000"/>
              </a:lnSpc>
            </a:pPr>
            <a:r>
              <a:rPr sz="1155" b="0">
                <a:solidFill>
                  <a:srgbClr val="E6ECF2"/>
                </a:solidFill>
                <a:latin typeface="Consolas"/>
              </a:rPr>
              <a:t>&gt; db.ordered.insertMany([{"_id":1}, {"_id":1}, {"_id":2}])</a:t>
            </a:r>
          </a:p>
          <a:p>
            <a:pPr algn="l">
              <a:lnSpc>
                <a:spcPct val="100000"/>
              </a:lnSpc>
            </a:pPr>
            <a:r>
              <a:rPr sz="1155" b="0">
                <a:solidFill>
                  <a:srgbClr val="E6ECF2"/>
                </a:solidFill>
                <a:latin typeface="Consolas"/>
              </a:rPr>
              <a:t>&gt; db.ordered.countDocuments()</a:t>
            </a:r>
          </a:p>
        </p:txBody>
      </p:sp>
      <p:sp>
        <p:nvSpPr>
          <p:cNvPr id="15" name="Rectangle 14"/>
          <p:cNvSpPr/>
          <p:nvPr/>
        </p:nvSpPr>
        <p:spPr>
          <a:xfrm>
            <a:off x="6153912" y="3246120"/>
            <a:ext cx="5486400" cy="301752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53912" y="3246120"/>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REAL OUTPUT</a:t>
            </a:r>
          </a:p>
        </p:txBody>
      </p:sp>
      <p:sp>
        <p:nvSpPr>
          <p:cNvPr id="17" name="TextBox 16"/>
          <p:cNvSpPr txBox="1"/>
          <p:nvPr/>
        </p:nvSpPr>
        <p:spPr>
          <a:xfrm>
            <a:off x="6208776" y="3538728"/>
            <a:ext cx="5376672" cy="2688336"/>
          </a:xfrm>
          <a:prstGeom prst="rect">
            <a:avLst/>
          </a:prstGeom>
          <a:noFill/>
        </p:spPr>
        <p:txBody>
          <a:bodyPr wrap="square" anchor="t" lIns="73152" rIns="73152" tIns="73152" bIns="73152">
            <a:spAutoFit/>
          </a:bodyPr>
          <a:lstStyle/>
          <a:p>
            <a:pPr algn="l">
              <a:lnSpc>
                <a:spcPct val="100000"/>
              </a:lnSpc>
            </a:pPr>
            <a:r>
              <a:rPr sz="1264" b="0">
                <a:solidFill>
                  <a:srgbClr val="9FE0C9"/>
                </a:solidFill>
                <a:latin typeface="Consolas"/>
              </a:rPr>
              <a:t>1   </a:t>
            </a:r>
            <a:r>
              <a:rPr sz="1264" b="0">
                <a:solidFill>
                  <a:srgbClr val="F2B27A"/>
                </a:solidFill>
                <a:latin typeface="Consolas"/>
              </a:rPr>
              <a:t>&lt;- stopped at the duplicate; _id 2 never inserted</a:t>
            </a:r>
          </a:p>
        </p:txBody>
      </p:sp>
      <p:sp>
        <p:nvSpPr>
          <p:cNvPr id="18" name="TextBox 17"/>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p.1</a:t>
            </a:r>
          </a:p>
        </p:txBody>
      </p:sp>
      <p:sp>
        <p:nvSpPr>
          <p:cNvPr id="19" name="TextBox 18"/>
          <p:cNvSpPr txBox="1"/>
          <p:nvPr/>
        </p:nvSpPr>
        <p:spPr>
          <a:xfrm>
            <a:off x="8138160" y="6419088"/>
            <a:ext cx="3429000" cy="329184"/>
          </a:xfrm>
          <a:prstGeom prst="rect">
            <a:avLst/>
          </a:prstGeom>
          <a:noFill/>
        </p:spPr>
        <p:txBody>
          <a:bodyPr wrap="square" anchor="t" lIns="73152" rIns="73152" tIns="73152" bIns="73152">
            <a:spAutoFit/>
          </a:bodyPr>
          <a:lstStyle/>
          <a:p>
            <a:pPr algn="r">
              <a:lnSpc>
                <a:spcPct val="110000"/>
              </a:lnSpc>
            </a:pPr>
            <a:r>
              <a:rPr sz="900" b="0">
                <a:solidFill>
                  <a:srgbClr val="0B6E61"/>
                </a:solidFill>
                <a:latin typeface="Arial"/>
              </a:rPr>
              <a:t>✓ Verified live on MongoDB 8.0.4 + mongosh 2.3.8 (2026-10-30)</a:t>
            </a:r>
          </a:p>
        </p:txBody>
      </p:sp>
      <p:sp>
        <p:nvSpPr>
          <p:cNvPr id="20" name="TextBox 19"/>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1  ·  CREATE &amp; DELETE</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deleteOne: remove the first match</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deleteOne removes one. Even if many match.</a:t>
            </a:r>
          </a:p>
        </p:txBody>
      </p:sp>
      <p:sp>
        <p:nvSpPr>
          <p:cNvPr id="6" name="Rectangle 5"/>
          <p:cNvSpPr/>
          <p:nvPr/>
        </p:nvSpPr>
        <p:spPr>
          <a:xfrm>
            <a:off x="548640" y="1737360"/>
            <a:ext cx="7040880" cy="1490472"/>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6931152" cy="1161288"/>
          </a:xfrm>
          <a:prstGeom prst="rect">
            <a:avLst/>
          </a:prstGeom>
          <a:noFill/>
        </p:spPr>
        <p:txBody>
          <a:bodyPr wrap="square" anchor="t" lIns="73152" rIns="73152" tIns="73152" bIns="73152">
            <a:spAutoFit/>
          </a:bodyPr>
          <a:lstStyle/>
          <a:p>
            <a:pPr algn="l">
              <a:lnSpc>
                <a:spcPct val="100000"/>
              </a:lnSpc>
            </a:pPr>
            <a:r>
              <a:rPr sz="1456" b="0">
                <a:solidFill>
                  <a:srgbClr val="7F91A4"/>
                </a:solidFill>
                <a:latin typeface="Consolas"/>
              </a:rPr>
              <a:t>  // two documents match y: 1985</a:t>
            </a:r>
          </a:p>
          <a:p>
            <a:pPr algn="l">
              <a:lnSpc>
                <a:spcPct val="100000"/>
              </a:lnSpc>
            </a:pPr>
            <a:r>
              <a:rPr sz="1456" b="0">
                <a:solidFill>
                  <a:srgbClr val="E6ECF2"/>
                </a:solidFill>
                <a:latin typeface="Consolas"/>
              </a:rPr>
              <a:t>&gt; db.scratch2.insertMany([{_id:1, y:1985}, {_id:2, y:1985}])</a:t>
            </a:r>
          </a:p>
          <a:p>
            <a:pPr algn="l">
              <a:lnSpc>
                <a:spcPct val="100000"/>
              </a:lnSpc>
            </a:pPr>
            <a:r>
              <a:rPr sz="1456" b="0">
                <a:solidFill>
                  <a:srgbClr val="E6ECF2"/>
                </a:solidFill>
                <a:latin typeface="Consolas"/>
              </a:rPr>
              <a:t>&gt; db.scratch2.deleteOne({y : 1985})</a:t>
            </a:r>
          </a:p>
          <a:p>
            <a:pPr algn="l">
              <a:lnSpc>
                <a:spcPct val="100000"/>
              </a:lnSpc>
            </a:pPr>
            <a:r>
              <a:rPr sz="1456" b="0">
                <a:solidFill>
                  <a:srgbClr val="E6ECF2"/>
                </a:solidFill>
                <a:latin typeface="Consolas"/>
              </a:rPr>
              <a:t>&gt; db.scratch2.find()</a:t>
            </a:r>
          </a:p>
        </p:txBody>
      </p:sp>
      <p:sp>
        <p:nvSpPr>
          <p:cNvPr id="9" name="Rectangle 8"/>
          <p:cNvSpPr/>
          <p:nvPr/>
        </p:nvSpPr>
        <p:spPr>
          <a:xfrm>
            <a:off x="548640" y="3319272"/>
            <a:ext cx="7040880" cy="2990088"/>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319272"/>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REAL OUTPUT</a:t>
            </a:r>
          </a:p>
        </p:txBody>
      </p:sp>
      <p:sp>
        <p:nvSpPr>
          <p:cNvPr id="11" name="TextBox 10"/>
          <p:cNvSpPr txBox="1"/>
          <p:nvPr/>
        </p:nvSpPr>
        <p:spPr>
          <a:xfrm>
            <a:off x="603504" y="3611880"/>
            <a:ext cx="6931152" cy="2660904"/>
          </a:xfrm>
          <a:prstGeom prst="rect">
            <a:avLst/>
          </a:prstGeom>
          <a:noFill/>
        </p:spPr>
        <p:txBody>
          <a:bodyPr wrap="square" anchor="t" lIns="73152" rIns="73152" tIns="73152" bIns="73152">
            <a:spAutoFit/>
          </a:bodyPr>
          <a:lstStyle/>
          <a:p>
            <a:pPr algn="l">
              <a:lnSpc>
                <a:spcPct val="100000"/>
              </a:lnSpc>
            </a:pPr>
            <a:r>
              <a:rPr sz="1800" b="0">
                <a:solidFill>
                  <a:srgbClr val="9FE0C9"/>
                </a:solidFill>
                <a:latin typeface="Consolas"/>
              </a:rPr>
              <a:t>[ { _id: 2, y: 1985 } ]</a:t>
            </a:r>
          </a:p>
        </p:txBody>
      </p:sp>
      <p:sp>
        <p:nvSpPr>
          <p:cNvPr id="12" name="TextBox 11"/>
          <p:cNvSpPr txBox="1"/>
          <p:nvPr/>
        </p:nvSpPr>
        <p:spPr>
          <a:xfrm>
            <a:off x="7863840" y="1737360"/>
            <a:ext cx="3916375" cy="4480560"/>
          </a:xfrm>
          <a:prstGeom prst="rect">
            <a:avLst/>
          </a:prstGeom>
          <a:noFill/>
        </p:spPr>
        <p:txBody>
          <a:bodyPr wrap="square" anchor="t" lIns="73152" rIns="73152" tIns="73152" bIns="73152">
            <a:spAutoFit/>
          </a:bodyPr>
          <a:lstStyle/>
          <a:p>
            <a:pPr algn="l">
              <a:lnSpc>
                <a:spcPct val="115000"/>
              </a:lnSpc>
            </a:pPr>
            <a:r>
              <a:rPr sz="1800" b="1">
                <a:solidFill>
                  <a:srgbClr val="D9480F"/>
                </a:solidFill>
                <a:latin typeface="Arial"/>
              </a:rPr>
              <a:t>▸  </a:t>
            </a:r>
            <a:r>
              <a:rPr sz="1800" b="0">
                <a:solidFill>
                  <a:srgbClr val="14202E"/>
                </a:solidFill>
                <a:latin typeface="Arial"/>
              </a:rPr>
              <a:t>Two documents matched; only one was deleted.</a:t>
            </a:r>
          </a:p>
          <a:p>
            <a:pPr algn="l">
              <a:lnSpc>
                <a:spcPct val="115000"/>
              </a:lnSpc>
            </a:pPr>
            <a:r>
              <a:rPr sz="1800" b="1">
                <a:solidFill>
                  <a:srgbClr val="D9480F"/>
                </a:solidFill>
                <a:latin typeface="Arial"/>
              </a:rPr>
              <a:t>▸  </a:t>
            </a:r>
            <a:r>
              <a:rPr sz="1800" b="0">
                <a:solidFill>
                  <a:srgbClr val="14202E"/>
                </a:solidFill>
                <a:latin typeface="Arial"/>
              </a:rPr>
              <a:t>Handout example: db.movies.deleteOne({"_id" : 4}).</a:t>
            </a:r>
          </a:p>
        </p:txBody>
      </p:sp>
      <p:sp>
        <p:nvSpPr>
          <p:cNvPr id="13" name="TextBox 12"/>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p.1</a:t>
            </a:r>
          </a:p>
        </p:txBody>
      </p:sp>
      <p:sp>
        <p:nvSpPr>
          <p:cNvPr id="14" name="TextBox 13"/>
          <p:cNvSpPr txBox="1"/>
          <p:nvPr/>
        </p:nvSpPr>
        <p:spPr>
          <a:xfrm>
            <a:off x="8138160" y="6419088"/>
            <a:ext cx="3429000" cy="329184"/>
          </a:xfrm>
          <a:prstGeom prst="rect">
            <a:avLst/>
          </a:prstGeom>
          <a:noFill/>
        </p:spPr>
        <p:txBody>
          <a:bodyPr wrap="square" anchor="t" lIns="73152" rIns="73152" tIns="73152" bIns="73152">
            <a:spAutoFit/>
          </a:bodyPr>
          <a:lstStyle/>
          <a:p>
            <a:pPr algn="r">
              <a:lnSpc>
                <a:spcPct val="110000"/>
              </a:lnSpc>
            </a:pPr>
            <a:r>
              <a:rPr sz="900" b="0">
                <a:solidFill>
                  <a:srgbClr val="0B6E61"/>
                </a:solidFill>
                <a:latin typeface="Arial"/>
              </a:rPr>
              <a:t>✓ Verified live on MongoDB 8.0.4 + mongosh 2.3.8 (2026-10-30)</a:t>
            </a:r>
          </a:p>
        </p:txBody>
      </p:sp>
      <p:sp>
        <p:nvSpPr>
          <p:cNvPr id="15" name="TextBox 14"/>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1  ·  CREATE &amp; DELETE</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deleteMany: remove every match</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deleteMany clears every match.</a:t>
            </a:r>
          </a:p>
        </p:txBody>
      </p:sp>
      <p:sp>
        <p:nvSpPr>
          <p:cNvPr id="6" name="Rectangle 5"/>
          <p:cNvSpPr/>
          <p:nvPr/>
        </p:nvSpPr>
        <p:spPr>
          <a:xfrm>
            <a:off x="548640" y="1737360"/>
            <a:ext cx="7040880" cy="749808"/>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6931152" cy="420624"/>
          </a:xfrm>
          <a:prstGeom prst="rect">
            <a:avLst/>
          </a:prstGeom>
          <a:noFill/>
        </p:spPr>
        <p:txBody>
          <a:bodyPr wrap="square" anchor="t" lIns="73152" rIns="73152" tIns="73152" bIns="73152">
            <a:spAutoFit/>
          </a:bodyPr>
          <a:lstStyle/>
          <a:p>
            <a:pPr algn="l">
              <a:lnSpc>
                <a:spcPct val="100000"/>
              </a:lnSpc>
            </a:pPr>
            <a:r>
              <a:rPr sz="1423" b="0">
                <a:solidFill>
                  <a:srgbClr val="E6ECF2"/>
                </a:solidFill>
                <a:latin typeface="Consolas"/>
              </a:rPr>
              <a:t>&gt; db.movies.deleteMany({"year" : 1985})</a:t>
            </a:r>
          </a:p>
        </p:txBody>
      </p:sp>
      <p:sp>
        <p:nvSpPr>
          <p:cNvPr id="9" name="Rectangle 8"/>
          <p:cNvSpPr/>
          <p:nvPr/>
        </p:nvSpPr>
        <p:spPr>
          <a:xfrm>
            <a:off x="548640" y="2578608"/>
            <a:ext cx="7040880" cy="3730752"/>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578608"/>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REAL OUTPUT</a:t>
            </a:r>
          </a:p>
        </p:txBody>
      </p:sp>
      <p:sp>
        <p:nvSpPr>
          <p:cNvPr id="11" name="TextBox 10"/>
          <p:cNvSpPr txBox="1"/>
          <p:nvPr/>
        </p:nvSpPr>
        <p:spPr>
          <a:xfrm>
            <a:off x="603504" y="2871216"/>
            <a:ext cx="6931152" cy="3401568"/>
          </a:xfrm>
          <a:prstGeom prst="rect">
            <a:avLst/>
          </a:prstGeom>
          <a:noFill/>
        </p:spPr>
        <p:txBody>
          <a:bodyPr wrap="square" anchor="t" lIns="73152" rIns="73152" tIns="73152" bIns="73152">
            <a:spAutoFit/>
          </a:bodyPr>
          <a:lstStyle/>
          <a:p>
            <a:pPr algn="l">
              <a:lnSpc>
                <a:spcPct val="100000"/>
              </a:lnSpc>
            </a:pPr>
            <a:r>
              <a:rPr sz="1800" b="0">
                <a:solidFill>
                  <a:srgbClr val="9FE0C9"/>
                </a:solidFill>
                <a:latin typeface="Consolas"/>
              </a:rPr>
              <a:t>{ acknowledged: true, deletedCount: 2 }</a:t>
            </a:r>
          </a:p>
        </p:txBody>
      </p:sp>
      <p:sp>
        <p:nvSpPr>
          <p:cNvPr id="12" name="TextBox 11"/>
          <p:cNvSpPr txBox="1"/>
          <p:nvPr/>
        </p:nvSpPr>
        <p:spPr>
          <a:xfrm>
            <a:off x="7863840" y="1737360"/>
            <a:ext cx="3916375" cy="4480560"/>
          </a:xfrm>
          <a:prstGeom prst="rect">
            <a:avLst/>
          </a:prstGeom>
          <a:noFill/>
        </p:spPr>
        <p:txBody>
          <a:bodyPr wrap="square" anchor="t" lIns="73152" rIns="73152" tIns="73152" bIns="73152">
            <a:spAutoFit/>
          </a:bodyPr>
          <a:lstStyle/>
          <a:p>
            <a:pPr algn="l">
              <a:lnSpc>
                <a:spcPct val="115000"/>
              </a:lnSpc>
            </a:pPr>
            <a:r>
              <a:rPr sz="1800" b="1">
                <a:solidFill>
                  <a:srgbClr val="D9480F"/>
                </a:solidFill>
                <a:latin typeface="Arial"/>
              </a:rPr>
              <a:t>▸  </a:t>
            </a:r>
            <a:r>
              <a:rPr sz="1800" b="0">
                <a:solidFill>
                  <a:srgbClr val="14202E"/>
                </a:solidFill>
                <a:latin typeface="Arial"/>
              </a:rPr>
              <a:t>Two movies had year 1985; both are gone.</a:t>
            </a:r>
          </a:p>
          <a:p>
            <a:pPr algn="l">
              <a:lnSpc>
                <a:spcPct val="115000"/>
              </a:lnSpc>
            </a:pPr>
            <a:r>
              <a:rPr sz="1800" b="1">
                <a:solidFill>
                  <a:srgbClr val="D9480F"/>
                </a:solidFill>
                <a:latin typeface="Arial"/>
              </a:rPr>
              <a:t>▸  </a:t>
            </a:r>
            <a:r>
              <a:rPr sz="1800" b="0">
                <a:solidFill>
                  <a:srgbClr val="14202E"/>
                </a:solidFill>
                <a:latin typeface="Arial"/>
              </a:rPr>
              <a:t>deletedCount is your receipt.</a:t>
            </a:r>
          </a:p>
        </p:txBody>
      </p:sp>
      <p:sp>
        <p:nvSpPr>
          <p:cNvPr id="13" name="TextBox 12"/>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p.1</a:t>
            </a:r>
          </a:p>
        </p:txBody>
      </p:sp>
      <p:sp>
        <p:nvSpPr>
          <p:cNvPr id="14" name="TextBox 13"/>
          <p:cNvSpPr txBox="1"/>
          <p:nvPr/>
        </p:nvSpPr>
        <p:spPr>
          <a:xfrm>
            <a:off x="8138160" y="6419088"/>
            <a:ext cx="3429000" cy="329184"/>
          </a:xfrm>
          <a:prstGeom prst="rect">
            <a:avLst/>
          </a:prstGeom>
          <a:noFill/>
        </p:spPr>
        <p:txBody>
          <a:bodyPr wrap="square" anchor="t" lIns="73152" rIns="73152" tIns="73152" bIns="73152">
            <a:spAutoFit/>
          </a:bodyPr>
          <a:lstStyle/>
          <a:p>
            <a:pPr algn="r">
              <a:lnSpc>
                <a:spcPct val="110000"/>
              </a:lnSpc>
            </a:pPr>
            <a:r>
              <a:rPr sz="900" b="0">
                <a:solidFill>
                  <a:srgbClr val="0B6E61"/>
                </a:solidFill>
                <a:latin typeface="Arial"/>
              </a:rPr>
              <a:t>✓ Verified live on MongoDB 8.0.4 + mongosh 2.3.8 (2026-10-30)</a:t>
            </a:r>
          </a:p>
        </p:txBody>
      </p:sp>
      <p:sp>
        <p:nvSpPr>
          <p:cNvPr id="15" name="TextBox 14"/>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B42318"/>
                </a:solidFill>
                <a:latin typeface="Arial"/>
              </a:rPr>
              <a:t>PART 1  ·  CREATE &amp; DELETE</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Trap: an empty filter deletes everything</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Empty filter, empty collection.</a:t>
            </a:r>
          </a:p>
        </p:txBody>
      </p:sp>
      <p:sp>
        <p:nvSpPr>
          <p:cNvPr id="6" name="Rectangle 5"/>
          <p:cNvSpPr/>
          <p:nvPr/>
        </p:nvSpPr>
        <p:spPr>
          <a:xfrm>
            <a:off x="548640" y="1737360"/>
            <a:ext cx="7040880" cy="173736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6931152" cy="1408176"/>
          </a:xfrm>
          <a:prstGeom prst="rect">
            <a:avLst/>
          </a:prstGeom>
          <a:noFill/>
        </p:spPr>
        <p:txBody>
          <a:bodyPr wrap="square" anchor="t" lIns="73152" rIns="73152" tIns="73152" bIns="73152">
            <a:spAutoFit/>
          </a:bodyPr>
          <a:lstStyle/>
          <a:p>
            <a:pPr algn="l">
              <a:lnSpc>
                <a:spcPct val="100000"/>
              </a:lnSpc>
            </a:pPr>
            <a:r>
              <a:rPr sz="1602" b="0">
                <a:solidFill>
                  <a:srgbClr val="E6ECF2"/>
                </a:solidFill>
                <a:latin typeface="Consolas"/>
              </a:rPr>
              <a:t>&gt; db.scratch.insertMany([{a:1}, {a:2}, {a:3}])</a:t>
            </a:r>
          </a:p>
          <a:p>
            <a:pPr algn="l">
              <a:lnSpc>
                <a:spcPct val="100000"/>
              </a:lnSpc>
            </a:pPr>
            <a:r>
              <a:rPr sz="1602" b="0">
                <a:solidFill>
                  <a:srgbClr val="E6ECF2"/>
                </a:solidFill>
                <a:latin typeface="Consolas"/>
              </a:rPr>
              <a:t>&gt; db.scratch.deleteMany({})</a:t>
            </a:r>
          </a:p>
          <a:p>
            <a:pPr algn="l">
              <a:lnSpc>
                <a:spcPct val="100000"/>
              </a:lnSpc>
            </a:pPr>
            <a:r>
              <a:rPr sz="1602" b="0">
                <a:solidFill>
                  <a:srgbClr val="E6ECF2"/>
                </a:solidFill>
                <a:latin typeface="Consolas"/>
              </a:rPr>
              <a:t>  </a:t>
            </a:r>
          </a:p>
          <a:p>
            <a:pPr algn="l">
              <a:lnSpc>
                <a:spcPct val="100000"/>
              </a:lnSpc>
            </a:pPr>
            <a:r>
              <a:rPr sz="1602" b="0">
                <a:solidFill>
                  <a:srgbClr val="7F91A4"/>
                </a:solidFill>
                <a:latin typeface="Consolas"/>
              </a:rPr>
              <a:t>  // 07 Handout uses the old method:</a:t>
            </a:r>
          </a:p>
          <a:p>
            <a:pPr algn="l">
              <a:lnSpc>
                <a:spcPct val="100000"/>
              </a:lnSpc>
            </a:pPr>
            <a:r>
              <a:rPr sz="1602" b="0">
                <a:solidFill>
                  <a:srgbClr val="E6ECF2"/>
                </a:solidFill>
                <a:latin typeface="Consolas"/>
              </a:rPr>
              <a:t>&gt; db.movies.remove({"_id" : 5})</a:t>
            </a:r>
          </a:p>
        </p:txBody>
      </p:sp>
      <p:sp>
        <p:nvSpPr>
          <p:cNvPr id="9" name="Rectangle 8"/>
          <p:cNvSpPr/>
          <p:nvPr/>
        </p:nvSpPr>
        <p:spPr>
          <a:xfrm>
            <a:off x="548640" y="3566160"/>
            <a:ext cx="7040880" cy="274320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5661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REAL OUTPUT</a:t>
            </a:r>
          </a:p>
        </p:txBody>
      </p:sp>
      <p:sp>
        <p:nvSpPr>
          <p:cNvPr id="11" name="TextBox 10"/>
          <p:cNvSpPr txBox="1"/>
          <p:nvPr/>
        </p:nvSpPr>
        <p:spPr>
          <a:xfrm>
            <a:off x="603504" y="3858768"/>
            <a:ext cx="6931152" cy="2414016"/>
          </a:xfrm>
          <a:prstGeom prst="rect">
            <a:avLst/>
          </a:prstGeom>
          <a:noFill/>
        </p:spPr>
        <p:txBody>
          <a:bodyPr wrap="square" anchor="t" lIns="73152" rIns="73152" tIns="73152" bIns="73152">
            <a:spAutoFit/>
          </a:bodyPr>
          <a:lstStyle/>
          <a:p>
            <a:pPr algn="l">
              <a:lnSpc>
                <a:spcPct val="100000"/>
              </a:lnSpc>
            </a:pPr>
            <a:r>
              <a:rPr sz="1506" b="0">
                <a:solidFill>
                  <a:srgbClr val="9FE0C9"/>
                </a:solidFill>
                <a:latin typeface="Consolas"/>
              </a:rPr>
              <a:t>{ acknowledged: true, deletedCount: 3 }   </a:t>
            </a:r>
            <a:r>
              <a:rPr sz="1506" b="0">
                <a:solidFill>
                  <a:srgbClr val="F2B27A"/>
                </a:solidFill>
                <a:latin typeface="Consolas"/>
              </a:rPr>
              <a:t>&lt;- all 3 gone</a:t>
            </a:r>
          </a:p>
          <a:p>
            <a:pPr algn="l">
              <a:lnSpc>
                <a:spcPct val="100000"/>
              </a:lnSpc>
            </a:pPr>
            <a:r>
              <a:rPr sz="1506" b="0">
                <a:solidFill>
                  <a:srgbClr val="9FE0C9"/>
                </a:solidFill>
                <a:latin typeface="Consolas"/>
              </a:rPr>
              <a:t> </a:t>
            </a:r>
          </a:p>
          <a:p>
            <a:pPr algn="l">
              <a:lnSpc>
                <a:spcPct val="100000"/>
              </a:lnSpc>
            </a:pPr>
            <a:r>
              <a:rPr sz="1506" b="0">
                <a:solidFill>
                  <a:srgbClr val="9FE0C9"/>
                </a:solidFill>
                <a:latin typeface="Consolas"/>
              </a:rPr>
              <a:t>DeprecationWarning: Collection.remove() is deprecated.</a:t>
            </a:r>
          </a:p>
          <a:p>
            <a:pPr algn="l">
              <a:lnSpc>
                <a:spcPct val="100000"/>
              </a:lnSpc>
            </a:pPr>
            <a:r>
              <a:rPr sz="1506" b="0">
                <a:solidFill>
                  <a:srgbClr val="9FE0C9"/>
                </a:solidFill>
                <a:latin typeface="Consolas"/>
              </a:rPr>
              <a:t>Use deleteOne, deleteMany, findOneAndDelete, or bulkWrite.</a:t>
            </a:r>
          </a:p>
          <a:p>
            <a:pPr algn="l">
              <a:lnSpc>
                <a:spcPct val="100000"/>
              </a:lnSpc>
            </a:pPr>
            <a:r>
              <a:rPr sz="1506" b="0">
                <a:solidFill>
                  <a:srgbClr val="9FE0C9"/>
                </a:solidFill>
                <a:latin typeface="Consolas"/>
              </a:rPr>
              <a:t>{ acknowledged: true, deletedCount: 1 }</a:t>
            </a:r>
          </a:p>
        </p:txBody>
      </p:sp>
      <p:sp>
        <p:nvSpPr>
          <p:cNvPr id="12" name="Rectangle 11"/>
          <p:cNvSpPr/>
          <p:nvPr/>
        </p:nvSpPr>
        <p:spPr>
          <a:xfrm>
            <a:off x="7863840" y="1737360"/>
            <a:ext cx="3916375" cy="384048"/>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0" y="1737360"/>
            <a:ext cx="3916375" cy="384048"/>
          </a:xfrm>
          <a:prstGeom prst="rect">
            <a:avLst/>
          </a:prstGeom>
          <a:noFill/>
        </p:spPr>
        <p:txBody>
          <a:bodyPr wrap="square" anchor="ctr" lIns="109728" rIns="109728" tIns="109728" bIns="109728">
            <a:spAutoFit/>
          </a:bodyPr>
          <a:lstStyle/>
          <a:p>
            <a:pPr algn="l">
              <a:lnSpc>
                <a:spcPct val="110000"/>
              </a:lnSpc>
            </a:pPr>
            <a:r>
              <a:rPr sz="1300" b="1">
                <a:solidFill>
                  <a:srgbClr val="FFFFFF"/>
                </a:solidFill>
                <a:latin typeface="Arial"/>
              </a:rPr>
              <a:t>WHAT GOES WRONG</a:t>
            </a:r>
          </a:p>
        </p:txBody>
      </p:sp>
      <p:sp>
        <p:nvSpPr>
          <p:cNvPr id="14" name="TextBox 13"/>
          <p:cNvSpPr txBox="1"/>
          <p:nvPr/>
        </p:nvSpPr>
        <p:spPr>
          <a:xfrm>
            <a:off x="7863840" y="2240280"/>
            <a:ext cx="3916375" cy="4023360"/>
          </a:xfrm>
          <a:prstGeom prst="rect">
            <a:avLst/>
          </a:prstGeom>
          <a:noFill/>
        </p:spPr>
        <p:txBody>
          <a:bodyPr wrap="square" anchor="t" lIns="73152" rIns="73152" tIns="73152" bIns="73152">
            <a:spAutoFit/>
          </a:bodyPr>
          <a:lstStyle/>
          <a:p>
            <a:pPr algn="l">
              <a:lnSpc>
                <a:spcPct val="115000"/>
              </a:lnSpc>
            </a:pPr>
            <a:r>
              <a:rPr sz="1800" b="1">
                <a:solidFill>
                  <a:srgbClr val="D9480F"/>
                </a:solidFill>
                <a:latin typeface="Arial"/>
              </a:rPr>
              <a:t>▸  </a:t>
            </a:r>
            <a:r>
              <a:rPr sz="1800" b="0">
                <a:solidFill>
                  <a:srgbClr val="14202E"/>
                </a:solidFill>
                <a:latin typeface="Arial"/>
              </a:rPr>
              <a:t>{} matches every document. Check the filter before Enter.</a:t>
            </a:r>
          </a:p>
          <a:p>
            <a:pPr algn="l">
              <a:lnSpc>
                <a:spcPct val="115000"/>
              </a:lnSpc>
            </a:pPr>
            <a:r>
              <a:rPr sz="1800" b="1">
                <a:solidFill>
                  <a:srgbClr val="D9480F"/>
                </a:solidFill>
                <a:latin typeface="Arial"/>
              </a:rPr>
              <a:t>▸  </a:t>
            </a:r>
            <a:r>
              <a:rPr sz="1800" b="0">
                <a:solidFill>
                  <a:srgbClr val="14202E"/>
                </a:solidFill>
                <a:latin typeface="Arial"/>
              </a:rPr>
              <a:t>remove() still runs but mongosh flags it deprecated. Use deleteOne / deleteMany.</a:t>
            </a:r>
          </a:p>
        </p:txBody>
      </p:sp>
      <p:sp>
        <p:nvSpPr>
          <p:cNvPr id="15" name="TextBox 14"/>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07 Handout p.4; mongosh 2.3.8 output</a:t>
            </a:r>
          </a:p>
        </p:txBody>
      </p:sp>
      <p:sp>
        <p:nvSpPr>
          <p:cNvPr id="16" name="TextBox 15"/>
          <p:cNvSpPr txBox="1"/>
          <p:nvPr/>
        </p:nvSpPr>
        <p:spPr>
          <a:xfrm>
            <a:off x="8138160" y="6419088"/>
            <a:ext cx="3429000" cy="329184"/>
          </a:xfrm>
          <a:prstGeom prst="rect">
            <a:avLst/>
          </a:prstGeom>
          <a:noFill/>
        </p:spPr>
        <p:txBody>
          <a:bodyPr wrap="square" anchor="t" lIns="73152" rIns="73152" tIns="73152" bIns="73152">
            <a:spAutoFit/>
          </a:bodyPr>
          <a:lstStyle/>
          <a:p>
            <a:pPr algn="r">
              <a:lnSpc>
                <a:spcPct val="110000"/>
              </a:lnSpc>
            </a:pPr>
            <a:r>
              <a:rPr sz="900" b="0">
                <a:solidFill>
                  <a:srgbClr val="0B6E61"/>
                </a:solidFill>
                <a:latin typeface="Arial"/>
              </a:rPr>
              <a:t>✓ Verified live on MongoDB 8.0.4 + mongosh 2.3.8 (2026-10-30)</a:t>
            </a:r>
          </a:p>
        </p:txBody>
      </p:sp>
      <p:sp>
        <p:nvSpPr>
          <p:cNvPr id="17" name="TextBox 16"/>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4202E"/>
        </a:solidFill>
        <a:effectLst/>
      </p:bgPr>
    </p:bg>
    <p:spTree>
      <p:nvGrpSpPr>
        <p:cNvPr id="1" name=""/>
        <p:cNvGrpSpPr/>
        <p:nvPr/>
      </p:nvGrpSpPr>
      <p:grpSpPr/>
      <p:sp>
        <p:nvSpPr>
          <p:cNvPr id="2" name="TextBox 1"/>
          <p:cNvSpPr txBox="1"/>
          <p:nvPr/>
        </p:nvSpPr>
        <p:spPr>
          <a:xfrm>
            <a:off x="548640" y="1280160"/>
            <a:ext cx="3657600" cy="2377440"/>
          </a:xfrm>
          <a:prstGeom prst="rect">
            <a:avLst/>
          </a:prstGeom>
          <a:noFill/>
        </p:spPr>
        <p:txBody>
          <a:bodyPr wrap="square" anchor="t" lIns="73152" rIns="73152" tIns="73152" bIns="73152">
            <a:spAutoFit/>
          </a:bodyPr>
          <a:lstStyle/>
          <a:p>
            <a:pPr algn="l">
              <a:lnSpc>
                <a:spcPct val="110000"/>
              </a:lnSpc>
            </a:pPr>
            <a:r>
              <a:rPr sz="17000" b="1">
                <a:solidFill>
                  <a:srgbClr val="D9480F"/>
                </a:solidFill>
                <a:latin typeface="Arial"/>
              </a:rPr>
              <a:t>2</a:t>
            </a:r>
          </a:p>
        </p:txBody>
      </p:sp>
      <p:sp>
        <p:nvSpPr>
          <p:cNvPr id="3" name="TextBox 2"/>
          <p:cNvSpPr txBox="1"/>
          <p:nvPr/>
        </p:nvSpPr>
        <p:spPr>
          <a:xfrm>
            <a:off x="3840480" y="822960"/>
            <a:ext cx="7863840" cy="1828800"/>
          </a:xfrm>
          <a:prstGeom prst="rect">
            <a:avLst/>
          </a:prstGeom>
          <a:noFill/>
        </p:spPr>
        <p:txBody>
          <a:bodyPr wrap="square" anchor="b" lIns="73152" rIns="73152" tIns="73152" bIns="73152">
            <a:spAutoFit/>
          </a:bodyPr>
          <a:lstStyle/>
          <a:p>
            <a:pPr algn="l">
              <a:lnSpc>
                <a:spcPct val="95000"/>
              </a:lnSpc>
            </a:pPr>
            <a:r>
              <a:rPr sz="4000" b="1">
                <a:solidFill>
                  <a:srgbClr val="FFFFFF"/>
                </a:solidFill>
                <a:latin typeface="Arial"/>
              </a:rPr>
              <a:t>Find, Replace &amp; Update</a:t>
            </a:r>
          </a:p>
        </p:txBody>
      </p:sp>
      <p:sp>
        <p:nvSpPr>
          <p:cNvPr id="4" name="TextBox 3"/>
          <p:cNvSpPr txBox="1"/>
          <p:nvPr/>
        </p:nvSpPr>
        <p:spPr>
          <a:xfrm>
            <a:off x="3840480" y="2743200"/>
            <a:ext cx="7863840" cy="548640"/>
          </a:xfrm>
          <a:prstGeom prst="rect">
            <a:avLst/>
          </a:prstGeom>
          <a:noFill/>
        </p:spPr>
        <p:txBody>
          <a:bodyPr wrap="square" anchor="t" lIns="73152" rIns="73152" tIns="73152" bIns="73152">
            <a:spAutoFit/>
          </a:bodyPr>
          <a:lstStyle/>
          <a:p>
            <a:pPr algn="l">
              <a:lnSpc>
                <a:spcPct val="110000"/>
              </a:lnSpc>
            </a:pPr>
            <a:r>
              <a:rPr sz="2000" b="0">
                <a:solidFill>
                  <a:srgbClr val="9FE0C9"/>
                </a:solidFill>
                <a:latin typeface="Consolas"/>
              </a:rPr>
              <a:t>findOne · replaceOne · updateOne · updateMany</a:t>
            </a:r>
          </a:p>
        </p:txBody>
      </p:sp>
      <p:sp>
        <p:nvSpPr>
          <p:cNvPr id="5" name="TextBox 4"/>
          <p:cNvSpPr txBox="1"/>
          <p:nvPr/>
        </p:nvSpPr>
        <p:spPr>
          <a:xfrm>
            <a:off x="3840480" y="3474720"/>
            <a:ext cx="7863840" cy="1097280"/>
          </a:xfrm>
          <a:prstGeom prst="rect">
            <a:avLst/>
          </a:prstGeom>
          <a:noFill/>
        </p:spPr>
        <p:txBody>
          <a:bodyPr wrap="square" anchor="t" lIns="73152" rIns="73152" tIns="73152" bIns="73152">
            <a:spAutoFit/>
          </a:bodyPr>
          <a:lstStyle/>
          <a:p>
            <a:pPr algn="l">
              <a:lnSpc>
                <a:spcPct val="110000"/>
              </a:lnSpc>
            </a:pPr>
            <a:r>
              <a:rPr sz="2800" b="0">
                <a:solidFill>
                  <a:srgbClr val="F2B27A"/>
                </a:solidFill>
                <a:latin typeface="Arial"/>
              </a:rPr>
              <a:t>“Find it first. Then change it.”</a:t>
            </a:r>
          </a:p>
        </p:txBody>
      </p:sp>
      <p:sp>
        <p:nvSpPr>
          <p:cNvPr id="6" name="TextBox 5"/>
          <p:cNvSpPr txBox="1"/>
          <p:nvPr/>
        </p:nvSpPr>
        <p:spPr>
          <a:xfrm>
            <a:off x="3840480" y="4846320"/>
            <a:ext cx="7863840" cy="548640"/>
          </a:xfrm>
          <a:prstGeom prst="rect">
            <a:avLst/>
          </a:prstGeom>
          <a:noFill/>
        </p:spPr>
        <p:txBody>
          <a:bodyPr wrap="square" anchor="t" lIns="73152" rIns="73152" tIns="73152" bIns="73152">
            <a:spAutoFit/>
          </a:bodyPr>
          <a:lstStyle/>
          <a:p>
            <a:pPr algn="l">
              <a:lnSpc>
                <a:spcPct val="110000"/>
              </a:lnSpc>
            </a:pPr>
            <a:r>
              <a:rPr sz="2000" b="0">
                <a:solidFill>
                  <a:srgbClr val="E6ECF2"/>
                </a:solidFill>
                <a:latin typeface="Arial"/>
              </a:rPr>
              <a:t>Presenter: ____________________</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2  ·  FIND, REPLACE &amp; UPDATE  ·  BLUEPRINT  ·  OWNER: ____________</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findOne: one document, or null</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findOne gives one document. No match gives null.</a:t>
            </a:r>
          </a:p>
        </p:txBody>
      </p:sp>
      <p:sp>
        <p:nvSpPr>
          <p:cNvPr id="6" name="Rectangle 5"/>
          <p:cNvSpPr/>
          <p:nvPr/>
        </p:nvSpPr>
        <p:spPr>
          <a:xfrm>
            <a:off x="548640" y="1737360"/>
            <a:ext cx="5486400" cy="141732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5376672" cy="1088136"/>
          </a:xfrm>
          <a:prstGeom prst="rect">
            <a:avLst/>
          </a:prstGeom>
          <a:noFill/>
        </p:spPr>
        <p:txBody>
          <a:bodyPr wrap="square" anchor="t" lIns="73152" rIns="73152" tIns="73152" bIns="73152">
            <a:spAutoFit/>
          </a:bodyPr>
          <a:lstStyle/>
          <a:p>
            <a:pPr algn="l">
              <a:lnSpc>
                <a:spcPct val="100000"/>
              </a:lnSpc>
            </a:pPr>
            <a:r>
              <a:rPr sz="1368" b="0">
                <a:solidFill>
                  <a:srgbClr val="E6ECF2"/>
                </a:solidFill>
                <a:latin typeface="Consolas"/>
              </a:rPr>
              <a:t>&gt; db.users.findOne({"name" : "Joe"}, {"_id" : 0})</a:t>
            </a:r>
          </a:p>
        </p:txBody>
      </p:sp>
      <p:sp>
        <p:nvSpPr>
          <p:cNvPr id="9" name="Rectangle 8"/>
          <p:cNvSpPr/>
          <p:nvPr/>
        </p:nvSpPr>
        <p:spPr>
          <a:xfrm>
            <a:off x="548640" y="3246120"/>
            <a:ext cx="5486400" cy="3017520"/>
          </a:xfrm>
          <a:prstGeom prst="rect">
            <a:avLst/>
          </a:prstGeom>
          <a:solidFill>
            <a:srgbClr val="FFF4E5"/>
          </a:solidFill>
          <a:ln w="15875">
            <a:solidFill>
              <a:srgbClr val="D948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246120"/>
            <a:ext cx="5486400" cy="3017520"/>
          </a:xfrm>
          <a:prstGeom prst="rect">
            <a:avLst/>
          </a:prstGeom>
          <a:noFill/>
        </p:spPr>
        <p:txBody>
          <a:bodyPr wrap="square" anchor="ctr" lIns="228600" rIns="228600" tIns="228600" bIns="228600">
            <a:spAutoFit/>
          </a:bodyPr>
          <a:lstStyle/>
          <a:p>
            <a:pPr algn="ctr">
              <a:lnSpc>
                <a:spcPct val="110000"/>
              </a:lnSpc>
            </a:pPr>
            <a:r>
              <a:rPr sz="1400" b="1">
                <a:solidFill>
                  <a:srgbClr val="D9480F"/>
                </a:solidFill>
                <a:latin typeface="Arial"/>
              </a:rPr>
              <a:t>YOUR OUTPUT GOES HERE</a:t>
            </a:r>
          </a:p>
          <a:p>
            <a:pPr algn="ctr">
              <a:lnSpc>
                <a:spcPct val="110000"/>
              </a:lnSpc>
            </a:pPr>
            <a:r>
              <a:rPr sz="1300" b="0">
                <a:solidFill>
                  <a:srgbClr val="14202E"/>
                </a:solidFill>
                <a:latin typeface="Arial"/>
              </a:rPr>
              <a:t>Run the command in mongosh or Compass (seed lines are in your guide), then paste the real output or a screenshot.</a:t>
            </a:r>
          </a:p>
        </p:txBody>
      </p:sp>
      <p:sp>
        <p:nvSpPr>
          <p:cNvPr id="11" name="Rectangle 10"/>
          <p:cNvSpPr/>
          <p:nvPr/>
        </p:nvSpPr>
        <p:spPr>
          <a:xfrm>
            <a:off x="6153912" y="1737360"/>
            <a:ext cx="5486400" cy="141732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53912" y="1737360"/>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13" name="TextBox 12"/>
          <p:cNvSpPr txBox="1"/>
          <p:nvPr/>
        </p:nvSpPr>
        <p:spPr>
          <a:xfrm>
            <a:off x="6208776" y="2029968"/>
            <a:ext cx="5376672" cy="1088136"/>
          </a:xfrm>
          <a:prstGeom prst="rect">
            <a:avLst/>
          </a:prstGeom>
          <a:noFill/>
        </p:spPr>
        <p:txBody>
          <a:bodyPr wrap="square" anchor="t" lIns="73152" rIns="73152" tIns="73152" bIns="73152">
            <a:spAutoFit/>
          </a:bodyPr>
          <a:lstStyle/>
          <a:p>
            <a:pPr algn="l">
              <a:lnSpc>
                <a:spcPct val="100000"/>
              </a:lnSpc>
            </a:pPr>
            <a:r>
              <a:rPr sz="1719" b="0">
                <a:solidFill>
                  <a:srgbClr val="E6ECF2"/>
                </a:solidFill>
                <a:latin typeface="Consolas"/>
              </a:rPr>
              <a:t>&gt; db.users.findOne({"name" : "Nobody"})</a:t>
            </a:r>
          </a:p>
        </p:txBody>
      </p:sp>
      <p:sp>
        <p:nvSpPr>
          <p:cNvPr id="14" name="Rectangle 13"/>
          <p:cNvSpPr/>
          <p:nvPr/>
        </p:nvSpPr>
        <p:spPr>
          <a:xfrm>
            <a:off x="6153912" y="3246120"/>
            <a:ext cx="5486400" cy="3017520"/>
          </a:xfrm>
          <a:prstGeom prst="rect">
            <a:avLst/>
          </a:prstGeom>
          <a:solidFill>
            <a:srgbClr val="FFF4E5"/>
          </a:solidFill>
          <a:ln w="15875">
            <a:solidFill>
              <a:srgbClr val="D948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53912" y="3246120"/>
            <a:ext cx="5486400" cy="3017520"/>
          </a:xfrm>
          <a:prstGeom prst="rect">
            <a:avLst/>
          </a:prstGeom>
          <a:noFill/>
        </p:spPr>
        <p:txBody>
          <a:bodyPr wrap="square" anchor="ctr" lIns="228600" rIns="228600" tIns="228600" bIns="228600">
            <a:spAutoFit/>
          </a:bodyPr>
          <a:lstStyle/>
          <a:p>
            <a:pPr algn="ctr">
              <a:lnSpc>
                <a:spcPct val="110000"/>
              </a:lnSpc>
            </a:pPr>
            <a:r>
              <a:rPr sz="1400" b="1">
                <a:solidFill>
                  <a:srgbClr val="D9480F"/>
                </a:solidFill>
                <a:latin typeface="Arial"/>
              </a:rPr>
              <a:t>YOUR OUTPUT GOES HERE</a:t>
            </a:r>
          </a:p>
          <a:p>
            <a:pPr algn="ctr">
              <a:lnSpc>
                <a:spcPct val="110000"/>
              </a:lnSpc>
            </a:pPr>
            <a:r>
              <a:rPr sz="1300" b="0">
                <a:solidFill>
                  <a:srgbClr val="14202E"/>
                </a:solidFill>
                <a:latin typeface="Arial"/>
              </a:rPr>
              <a:t>Run the command in mongosh or Compass (seed lines are in your guide), then paste the real output or a screenshot.</a:t>
            </a:r>
          </a:p>
        </p:txBody>
      </p:sp>
      <p:sp>
        <p:nvSpPr>
          <p:cNvPr id="16" name="TextBox 15"/>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p.1-3</a:t>
            </a:r>
          </a:p>
        </p:txBody>
      </p:sp>
      <p:sp>
        <p:nvSpPr>
          <p:cNvPr id="17" name="TextBox 16"/>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2  ·  FIND, REPLACE &amp; UPDATE  ·  BLUEPRINT  ·  OWNER: ____________</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replaceOne: swap the whole document</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replaceOne swaps the body. The _id stays.</a:t>
            </a:r>
          </a:p>
        </p:txBody>
      </p:sp>
      <p:sp>
        <p:nvSpPr>
          <p:cNvPr id="6" name="Rectangle 5"/>
          <p:cNvSpPr/>
          <p:nvPr/>
        </p:nvSpPr>
        <p:spPr>
          <a:xfrm>
            <a:off x="548640" y="1737360"/>
            <a:ext cx="7040880" cy="1984248"/>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6931152" cy="1655064"/>
          </a:xfrm>
          <a:prstGeom prst="rect">
            <a:avLst/>
          </a:prstGeom>
          <a:noFill/>
        </p:spPr>
        <p:txBody>
          <a:bodyPr wrap="square" anchor="t" lIns="73152" rIns="73152" tIns="73152" bIns="73152">
            <a:spAutoFit/>
          </a:bodyPr>
          <a:lstStyle/>
          <a:p>
            <a:pPr algn="l">
              <a:lnSpc>
                <a:spcPct val="100000"/>
              </a:lnSpc>
            </a:pPr>
            <a:r>
              <a:rPr sz="1532" b="0">
                <a:solidFill>
                  <a:srgbClr val="E6ECF2"/>
                </a:solidFill>
                <a:latin typeface="Consolas"/>
              </a:rPr>
              <a:t>&gt; var joe = db.users.findOne({"name" : "Joe"})</a:t>
            </a:r>
          </a:p>
          <a:p>
            <a:pPr algn="l">
              <a:lnSpc>
                <a:spcPct val="100000"/>
              </a:lnSpc>
            </a:pPr>
            <a:r>
              <a:rPr sz="1532" b="0">
                <a:solidFill>
                  <a:srgbClr val="E6ECF2"/>
                </a:solidFill>
                <a:latin typeface="Consolas"/>
              </a:rPr>
              <a:t>&gt; joe.relationships = {"friends" : joe.friends,</a:t>
            </a:r>
          </a:p>
          <a:p>
            <a:pPr algn="l">
              <a:lnSpc>
                <a:spcPct val="100000"/>
              </a:lnSpc>
            </a:pPr>
            <a:r>
              <a:rPr sz="1532" b="0">
                <a:solidFill>
                  <a:srgbClr val="E6ECF2"/>
                </a:solidFill>
                <a:latin typeface="Consolas"/>
              </a:rPr>
              <a:t>                       "enemies" : joe.enemies}</a:t>
            </a:r>
          </a:p>
          <a:p>
            <a:pPr algn="l">
              <a:lnSpc>
                <a:spcPct val="100000"/>
              </a:lnSpc>
            </a:pPr>
            <a:r>
              <a:rPr sz="1532" b="0">
                <a:solidFill>
                  <a:srgbClr val="E6ECF2"/>
                </a:solidFill>
                <a:latin typeface="Consolas"/>
              </a:rPr>
              <a:t>&gt; joe.username = joe.name</a:t>
            </a:r>
          </a:p>
          <a:p>
            <a:pPr algn="l">
              <a:lnSpc>
                <a:spcPct val="100000"/>
              </a:lnSpc>
            </a:pPr>
            <a:r>
              <a:rPr sz="1532" b="0">
                <a:solidFill>
                  <a:srgbClr val="E6ECF2"/>
                </a:solidFill>
                <a:latin typeface="Consolas"/>
              </a:rPr>
              <a:t>&gt; delete joe.friends; delete joe.enemies; delete joe.name</a:t>
            </a:r>
          </a:p>
          <a:p>
            <a:pPr algn="l">
              <a:lnSpc>
                <a:spcPct val="100000"/>
              </a:lnSpc>
            </a:pPr>
            <a:r>
              <a:rPr sz="1532" b="0">
                <a:solidFill>
                  <a:srgbClr val="E6ECF2"/>
                </a:solidFill>
                <a:latin typeface="Consolas"/>
              </a:rPr>
              <a:t>&gt; db.users.replaceOne({"name" : "Joe"}, joe)</a:t>
            </a:r>
          </a:p>
        </p:txBody>
      </p:sp>
      <p:sp>
        <p:nvSpPr>
          <p:cNvPr id="9" name="Rectangle 8"/>
          <p:cNvSpPr/>
          <p:nvPr/>
        </p:nvSpPr>
        <p:spPr>
          <a:xfrm>
            <a:off x="548640" y="3813048"/>
            <a:ext cx="7040880" cy="2496312"/>
          </a:xfrm>
          <a:prstGeom prst="rect">
            <a:avLst/>
          </a:prstGeom>
          <a:solidFill>
            <a:srgbClr val="FFF4E5"/>
          </a:solidFill>
          <a:ln w="15875">
            <a:solidFill>
              <a:srgbClr val="D948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813048"/>
            <a:ext cx="7040880" cy="2496312"/>
          </a:xfrm>
          <a:prstGeom prst="rect">
            <a:avLst/>
          </a:prstGeom>
          <a:noFill/>
        </p:spPr>
        <p:txBody>
          <a:bodyPr wrap="square" anchor="ctr" lIns="228600" rIns="228600" tIns="228600" bIns="228600">
            <a:spAutoFit/>
          </a:bodyPr>
          <a:lstStyle/>
          <a:p>
            <a:pPr algn="ctr">
              <a:lnSpc>
                <a:spcPct val="110000"/>
              </a:lnSpc>
            </a:pPr>
            <a:r>
              <a:rPr sz="1400" b="1">
                <a:solidFill>
                  <a:srgbClr val="D9480F"/>
                </a:solidFill>
                <a:latin typeface="Arial"/>
              </a:rPr>
              <a:t>YOUR OUTPUT GOES HERE</a:t>
            </a:r>
          </a:p>
          <a:p>
            <a:pPr algn="ctr">
              <a:lnSpc>
                <a:spcPct val="110000"/>
              </a:lnSpc>
            </a:pPr>
            <a:r>
              <a:rPr sz="1300" b="0">
                <a:solidFill>
                  <a:srgbClr val="14202E"/>
                </a:solidFill>
                <a:latin typeface="Arial"/>
              </a:rPr>
              <a:t>Run the command in mongosh or Compass (seed lines are in your guide), then paste the real output or a screenshot.</a:t>
            </a:r>
          </a:p>
        </p:txBody>
      </p:sp>
      <p:sp>
        <p:nvSpPr>
          <p:cNvPr id="11" name="TextBox 10"/>
          <p:cNvSpPr txBox="1"/>
          <p:nvPr/>
        </p:nvSpPr>
        <p:spPr>
          <a:xfrm>
            <a:off x="7863840" y="1737360"/>
            <a:ext cx="3916375" cy="4480560"/>
          </a:xfrm>
          <a:prstGeom prst="rect">
            <a:avLst/>
          </a:prstGeom>
          <a:noFill/>
        </p:spPr>
        <p:txBody>
          <a:bodyPr wrap="square" anchor="t" lIns="73152" rIns="73152" tIns="73152" bIns="73152">
            <a:spAutoFit/>
          </a:bodyPr>
          <a:lstStyle/>
          <a:p>
            <a:pPr algn="l">
              <a:lnSpc>
                <a:spcPct val="115000"/>
              </a:lnSpc>
            </a:pPr>
            <a:r>
              <a:rPr sz="1700" b="1">
                <a:solidFill>
                  <a:srgbClr val="D9480F"/>
                </a:solidFill>
                <a:latin typeface="Arial"/>
              </a:rPr>
              <a:t>▸  </a:t>
            </a:r>
            <a:r>
              <a:rPr sz="1700" b="0">
                <a:solidFill>
                  <a:srgbClr val="14202E"/>
                </a:solidFill>
                <a:latin typeface="Arial"/>
              </a:rPr>
              <a:t>Explain in your own words:</a:t>
            </a:r>
          </a:p>
          <a:p>
            <a:pPr algn="l">
              <a:lnSpc>
                <a:spcPct val="115000"/>
              </a:lnSpc>
            </a:pPr>
            <a:r>
              <a:rPr sz="1700" b="1">
                <a:solidFill>
                  <a:srgbClr val="D9480F"/>
                </a:solidFill>
                <a:latin typeface="Arial"/>
              </a:rPr>
              <a:t>▸  </a:t>
            </a:r>
            <a:r>
              <a:rPr sz="1700" b="0">
                <a:solidFill>
                  <a:srgbClr val="14202E"/>
                </a:solidFill>
                <a:latin typeface="Arial"/>
              </a:rPr>
              <a:t>______________________</a:t>
            </a:r>
          </a:p>
          <a:p>
            <a:pPr algn="l">
              <a:lnSpc>
                <a:spcPct val="115000"/>
              </a:lnSpc>
            </a:pPr>
            <a:r>
              <a:rPr sz="1700" b="1">
                <a:solidFill>
                  <a:srgbClr val="D9480F"/>
                </a:solidFill>
                <a:latin typeface="Arial"/>
              </a:rPr>
              <a:t>▸  </a:t>
            </a:r>
            <a:r>
              <a:rPr sz="1700" b="0">
                <a:solidFill>
                  <a:srgbClr val="14202E"/>
                </a:solidFill>
                <a:latin typeface="Arial"/>
              </a:rPr>
              <a:t>______________________</a:t>
            </a:r>
          </a:p>
          <a:p>
            <a:pPr algn="l">
              <a:lnSpc>
                <a:spcPct val="115000"/>
              </a:lnSpc>
            </a:pPr>
            <a:r>
              <a:rPr sz="1700" b="1">
                <a:solidFill>
                  <a:srgbClr val="D9480F"/>
                </a:solidFill>
                <a:latin typeface="Arial"/>
              </a:rPr>
              <a:t>▸  </a:t>
            </a:r>
            <a:r>
              <a:rPr sz="1700" b="0">
                <a:solidFill>
                  <a:srgbClr val="14202E"/>
                </a:solidFill>
                <a:latin typeface="Arial"/>
              </a:rPr>
              <a:t>Hint: speaker notes.</a:t>
            </a:r>
          </a:p>
        </p:txBody>
      </p:sp>
      <p:sp>
        <p:nvSpPr>
          <p:cNvPr id="12" name="TextBox 11"/>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p.1-2</a:t>
            </a:r>
          </a:p>
        </p:txBody>
      </p:sp>
      <p:sp>
        <p:nvSpPr>
          <p:cNvPr id="13" name="TextBox 12"/>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2  ·  FIND, REPLACE &amp; UPDATE  ·  BLUEPRINT  ·  OWNER: ____________</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updateOne: change one field with $set / $unset</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$set adds or changes. $unset removes.</a:t>
            </a:r>
          </a:p>
        </p:txBody>
      </p:sp>
      <p:sp>
        <p:nvSpPr>
          <p:cNvPr id="6" name="Rectangle 5"/>
          <p:cNvSpPr/>
          <p:nvPr/>
        </p:nvSpPr>
        <p:spPr>
          <a:xfrm>
            <a:off x="548640" y="1737360"/>
            <a:ext cx="7040880" cy="173736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6931152" cy="1408176"/>
          </a:xfrm>
          <a:prstGeom prst="rect">
            <a:avLst/>
          </a:prstGeom>
          <a:noFill/>
        </p:spPr>
        <p:txBody>
          <a:bodyPr wrap="square" anchor="t" lIns="73152" rIns="73152" tIns="73152" bIns="73152">
            <a:spAutoFit/>
          </a:bodyPr>
          <a:lstStyle/>
          <a:p>
            <a:pPr algn="l">
              <a:lnSpc>
                <a:spcPct val="100000"/>
              </a:lnSpc>
            </a:pPr>
            <a:r>
              <a:rPr sz="1560" b="0">
                <a:solidFill>
                  <a:srgbClr val="E6ECF2"/>
                </a:solidFill>
                <a:latin typeface="Consolas"/>
              </a:rPr>
              <a:t>&gt; db.users.updateOne({"name" : "John"},</a:t>
            </a:r>
          </a:p>
          <a:p>
            <a:pPr algn="l">
              <a:lnSpc>
                <a:spcPct val="100000"/>
              </a:lnSpc>
            </a:pPr>
            <a:r>
              <a:rPr sz="1560" b="0">
                <a:solidFill>
                  <a:srgbClr val="E6ECF2"/>
                </a:solidFill>
                <a:latin typeface="Consolas"/>
              </a:rPr>
              <a:t>    {"$set" : {"favorite book" : "Green Eggs and Ham"}})</a:t>
            </a:r>
          </a:p>
          <a:p>
            <a:pPr algn="l">
              <a:lnSpc>
                <a:spcPct val="100000"/>
              </a:lnSpc>
            </a:pPr>
            <a:r>
              <a:rPr sz="1560" b="0">
                <a:solidFill>
                  <a:srgbClr val="E6ECF2"/>
                </a:solidFill>
                <a:latin typeface="Consolas"/>
              </a:rPr>
              <a:t>  </a:t>
            </a:r>
          </a:p>
          <a:p>
            <a:pPr algn="l">
              <a:lnSpc>
                <a:spcPct val="100000"/>
              </a:lnSpc>
            </a:pPr>
            <a:r>
              <a:rPr sz="1560" b="0">
                <a:solidFill>
                  <a:srgbClr val="E6ECF2"/>
                </a:solidFill>
                <a:latin typeface="Consolas"/>
              </a:rPr>
              <a:t>&gt; db.users.updateOne({"name" : "John"},</a:t>
            </a:r>
          </a:p>
          <a:p>
            <a:pPr algn="l">
              <a:lnSpc>
                <a:spcPct val="100000"/>
              </a:lnSpc>
            </a:pPr>
            <a:r>
              <a:rPr sz="1560" b="0">
                <a:solidFill>
                  <a:srgbClr val="E6ECF2"/>
                </a:solidFill>
                <a:latin typeface="Consolas"/>
              </a:rPr>
              <a:t>    {"$unset" : {"favorite book" : 1}})</a:t>
            </a:r>
          </a:p>
        </p:txBody>
      </p:sp>
      <p:sp>
        <p:nvSpPr>
          <p:cNvPr id="9" name="Rectangle 8"/>
          <p:cNvSpPr/>
          <p:nvPr/>
        </p:nvSpPr>
        <p:spPr>
          <a:xfrm>
            <a:off x="548640" y="3566160"/>
            <a:ext cx="7040880" cy="2743200"/>
          </a:xfrm>
          <a:prstGeom prst="rect">
            <a:avLst/>
          </a:prstGeom>
          <a:solidFill>
            <a:srgbClr val="FFF4E5"/>
          </a:solidFill>
          <a:ln w="15875">
            <a:solidFill>
              <a:srgbClr val="D948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566160"/>
            <a:ext cx="7040880" cy="2743200"/>
          </a:xfrm>
          <a:prstGeom prst="rect">
            <a:avLst/>
          </a:prstGeom>
          <a:noFill/>
        </p:spPr>
        <p:txBody>
          <a:bodyPr wrap="square" anchor="ctr" lIns="228600" rIns="228600" tIns="228600" bIns="228600">
            <a:spAutoFit/>
          </a:bodyPr>
          <a:lstStyle/>
          <a:p>
            <a:pPr algn="ctr">
              <a:lnSpc>
                <a:spcPct val="110000"/>
              </a:lnSpc>
            </a:pPr>
            <a:r>
              <a:rPr sz="1400" b="1">
                <a:solidFill>
                  <a:srgbClr val="D9480F"/>
                </a:solidFill>
                <a:latin typeface="Arial"/>
              </a:rPr>
              <a:t>YOUR OUTPUT GOES HERE</a:t>
            </a:r>
          </a:p>
          <a:p>
            <a:pPr algn="ctr">
              <a:lnSpc>
                <a:spcPct val="110000"/>
              </a:lnSpc>
            </a:pPr>
            <a:r>
              <a:rPr sz="1300" b="0">
                <a:solidFill>
                  <a:srgbClr val="14202E"/>
                </a:solidFill>
                <a:latin typeface="Arial"/>
              </a:rPr>
              <a:t>Run the command in mongosh or Compass (seed lines are in your guide), then paste the real output or a screenshot.</a:t>
            </a:r>
          </a:p>
        </p:txBody>
      </p:sp>
      <p:sp>
        <p:nvSpPr>
          <p:cNvPr id="11" name="TextBox 10"/>
          <p:cNvSpPr txBox="1"/>
          <p:nvPr/>
        </p:nvSpPr>
        <p:spPr>
          <a:xfrm>
            <a:off x="7863840" y="1737360"/>
            <a:ext cx="3916375" cy="4480560"/>
          </a:xfrm>
          <a:prstGeom prst="rect">
            <a:avLst/>
          </a:prstGeom>
          <a:noFill/>
        </p:spPr>
        <p:txBody>
          <a:bodyPr wrap="square" anchor="t" lIns="73152" rIns="73152" tIns="73152" bIns="73152">
            <a:spAutoFit/>
          </a:bodyPr>
          <a:lstStyle/>
          <a:p>
            <a:pPr algn="l">
              <a:lnSpc>
                <a:spcPct val="115000"/>
              </a:lnSpc>
            </a:pPr>
            <a:r>
              <a:rPr sz="1700" b="1">
                <a:solidFill>
                  <a:srgbClr val="D9480F"/>
                </a:solidFill>
                <a:latin typeface="Arial"/>
              </a:rPr>
              <a:t>▸  </a:t>
            </a:r>
            <a:r>
              <a:rPr sz="1700" b="0">
                <a:solidFill>
                  <a:srgbClr val="14202E"/>
                </a:solidFill>
                <a:latin typeface="Arial"/>
              </a:rPr>
              <a:t>Explain in your own words:</a:t>
            </a:r>
          </a:p>
          <a:p>
            <a:pPr algn="l">
              <a:lnSpc>
                <a:spcPct val="115000"/>
              </a:lnSpc>
            </a:pPr>
            <a:r>
              <a:rPr sz="1700" b="1">
                <a:solidFill>
                  <a:srgbClr val="D9480F"/>
                </a:solidFill>
                <a:latin typeface="Arial"/>
              </a:rPr>
              <a:t>▸  </a:t>
            </a:r>
            <a:r>
              <a:rPr sz="1700" b="0">
                <a:solidFill>
                  <a:srgbClr val="14202E"/>
                </a:solidFill>
                <a:latin typeface="Arial"/>
              </a:rPr>
              <a:t>______________________</a:t>
            </a:r>
          </a:p>
          <a:p>
            <a:pPr algn="l">
              <a:lnSpc>
                <a:spcPct val="115000"/>
              </a:lnSpc>
            </a:pPr>
            <a:r>
              <a:rPr sz="1700" b="1">
                <a:solidFill>
                  <a:srgbClr val="D9480F"/>
                </a:solidFill>
                <a:latin typeface="Arial"/>
              </a:rPr>
              <a:t>▸  </a:t>
            </a:r>
            <a:r>
              <a:rPr sz="1700" b="0">
                <a:solidFill>
                  <a:srgbClr val="14202E"/>
                </a:solidFill>
                <a:latin typeface="Arial"/>
              </a:rPr>
              <a:t>______________________</a:t>
            </a:r>
          </a:p>
          <a:p>
            <a:pPr algn="l">
              <a:lnSpc>
                <a:spcPct val="115000"/>
              </a:lnSpc>
            </a:pPr>
            <a:r>
              <a:rPr sz="1700" b="1">
                <a:solidFill>
                  <a:srgbClr val="D9480F"/>
                </a:solidFill>
                <a:latin typeface="Arial"/>
              </a:rPr>
              <a:t>▸  </a:t>
            </a:r>
            <a:r>
              <a:rPr sz="1700" b="0">
                <a:solidFill>
                  <a:srgbClr val="14202E"/>
                </a:solidFill>
                <a:latin typeface="Arial"/>
              </a:rPr>
              <a:t>Hint: speaker notes.</a:t>
            </a:r>
          </a:p>
        </p:txBody>
      </p:sp>
      <p:sp>
        <p:nvSpPr>
          <p:cNvPr id="12" name="TextBox 11"/>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p.2</a:t>
            </a:r>
          </a:p>
        </p:txBody>
      </p:sp>
      <p:sp>
        <p:nvSpPr>
          <p:cNvPr id="13" name="TextBox 12"/>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2  ·  FIND, REPLACE &amp; UPDATE  ·  BLUEPRINT  ·  OWNER: ____________</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updateMany: same change, every match</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One rule, every match.</a:t>
            </a:r>
          </a:p>
        </p:txBody>
      </p:sp>
      <p:sp>
        <p:nvSpPr>
          <p:cNvPr id="6" name="Rectangle 5"/>
          <p:cNvSpPr/>
          <p:nvPr/>
        </p:nvSpPr>
        <p:spPr>
          <a:xfrm>
            <a:off x="548640" y="1737360"/>
            <a:ext cx="7040880" cy="996696"/>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6931152" cy="667512"/>
          </a:xfrm>
          <a:prstGeom prst="rect">
            <a:avLst/>
          </a:prstGeom>
          <a:noFill/>
        </p:spPr>
        <p:txBody>
          <a:bodyPr wrap="square" anchor="t" lIns="73152" rIns="73152" tIns="73152" bIns="73152">
            <a:spAutoFit/>
          </a:bodyPr>
          <a:lstStyle/>
          <a:p>
            <a:pPr algn="l">
              <a:lnSpc>
                <a:spcPct val="100000"/>
              </a:lnSpc>
            </a:pPr>
            <a:r>
              <a:rPr sz="1535" b="0">
                <a:solidFill>
                  <a:srgbClr val="E6ECF2"/>
                </a:solidFill>
                <a:latin typeface="Consolas"/>
              </a:rPr>
              <a:t>&gt; db.bday.updateMany({"birthday" : "10/13/1978"},</a:t>
            </a:r>
          </a:p>
          <a:p>
            <a:pPr algn="l">
              <a:lnSpc>
                <a:spcPct val="100000"/>
              </a:lnSpc>
            </a:pPr>
            <a:r>
              <a:rPr sz="1535" b="0">
                <a:solidFill>
                  <a:srgbClr val="E6ECF2"/>
                </a:solidFill>
                <a:latin typeface="Consolas"/>
              </a:rPr>
              <a:t>    {"$set" : {"gift" : "Happy Birthday!"}})</a:t>
            </a:r>
          </a:p>
        </p:txBody>
      </p:sp>
      <p:sp>
        <p:nvSpPr>
          <p:cNvPr id="9" name="Rectangle 8"/>
          <p:cNvSpPr/>
          <p:nvPr/>
        </p:nvSpPr>
        <p:spPr>
          <a:xfrm>
            <a:off x="548640" y="2825496"/>
            <a:ext cx="7040880" cy="3483864"/>
          </a:xfrm>
          <a:prstGeom prst="rect">
            <a:avLst/>
          </a:prstGeom>
          <a:solidFill>
            <a:srgbClr val="FFF4E5"/>
          </a:solidFill>
          <a:ln w="15875">
            <a:solidFill>
              <a:srgbClr val="D948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825496"/>
            <a:ext cx="7040880" cy="3483864"/>
          </a:xfrm>
          <a:prstGeom prst="rect">
            <a:avLst/>
          </a:prstGeom>
          <a:noFill/>
        </p:spPr>
        <p:txBody>
          <a:bodyPr wrap="square" anchor="ctr" lIns="228600" rIns="228600" tIns="228600" bIns="228600">
            <a:spAutoFit/>
          </a:bodyPr>
          <a:lstStyle/>
          <a:p>
            <a:pPr algn="ctr">
              <a:lnSpc>
                <a:spcPct val="110000"/>
              </a:lnSpc>
            </a:pPr>
            <a:r>
              <a:rPr sz="1400" b="1">
                <a:solidFill>
                  <a:srgbClr val="D9480F"/>
                </a:solidFill>
                <a:latin typeface="Arial"/>
              </a:rPr>
              <a:t>YOUR OUTPUT GOES HERE</a:t>
            </a:r>
          </a:p>
          <a:p>
            <a:pPr algn="ctr">
              <a:lnSpc>
                <a:spcPct val="110000"/>
              </a:lnSpc>
            </a:pPr>
            <a:r>
              <a:rPr sz="1300" b="0">
                <a:solidFill>
                  <a:srgbClr val="14202E"/>
                </a:solidFill>
                <a:latin typeface="Arial"/>
              </a:rPr>
              <a:t>Run the command in mongosh or Compass (seed lines are in your guide), then paste the real output or a screenshot.</a:t>
            </a:r>
          </a:p>
        </p:txBody>
      </p:sp>
      <p:sp>
        <p:nvSpPr>
          <p:cNvPr id="11" name="TextBox 10"/>
          <p:cNvSpPr txBox="1"/>
          <p:nvPr/>
        </p:nvSpPr>
        <p:spPr>
          <a:xfrm>
            <a:off x="7863840" y="1737360"/>
            <a:ext cx="3916375" cy="4480560"/>
          </a:xfrm>
          <a:prstGeom prst="rect">
            <a:avLst/>
          </a:prstGeom>
          <a:noFill/>
        </p:spPr>
        <p:txBody>
          <a:bodyPr wrap="square" anchor="t" lIns="73152" rIns="73152" tIns="73152" bIns="73152">
            <a:spAutoFit/>
          </a:bodyPr>
          <a:lstStyle/>
          <a:p>
            <a:pPr algn="l">
              <a:lnSpc>
                <a:spcPct val="115000"/>
              </a:lnSpc>
            </a:pPr>
            <a:r>
              <a:rPr sz="1700" b="1">
                <a:solidFill>
                  <a:srgbClr val="D9480F"/>
                </a:solidFill>
                <a:latin typeface="Arial"/>
              </a:rPr>
              <a:t>▸  </a:t>
            </a:r>
            <a:r>
              <a:rPr sz="1700" b="0">
                <a:solidFill>
                  <a:srgbClr val="14202E"/>
                </a:solidFill>
                <a:latin typeface="Arial"/>
              </a:rPr>
              <a:t>Explain in your own words:</a:t>
            </a:r>
          </a:p>
          <a:p>
            <a:pPr algn="l">
              <a:lnSpc>
                <a:spcPct val="115000"/>
              </a:lnSpc>
            </a:pPr>
            <a:r>
              <a:rPr sz="1700" b="1">
                <a:solidFill>
                  <a:srgbClr val="D9480F"/>
                </a:solidFill>
                <a:latin typeface="Arial"/>
              </a:rPr>
              <a:t>▸  </a:t>
            </a:r>
            <a:r>
              <a:rPr sz="1700" b="0">
                <a:solidFill>
                  <a:srgbClr val="14202E"/>
                </a:solidFill>
                <a:latin typeface="Arial"/>
              </a:rPr>
              <a:t>______________________</a:t>
            </a:r>
          </a:p>
          <a:p>
            <a:pPr algn="l">
              <a:lnSpc>
                <a:spcPct val="115000"/>
              </a:lnSpc>
            </a:pPr>
            <a:r>
              <a:rPr sz="1700" b="1">
                <a:solidFill>
                  <a:srgbClr val="D9480F"/>
                </a:solidFill>
                <a:latin typeface="Arial"/>
              </a:rPr>
              <a:t>▸  </a:t>
            </a:r>
            <a:r>
              <a:rPr sz="1700" b="0">
                <a:solidFill>
                  <a:srgbClr val="14202E"/>
                </a:solidFill>
                <a:latin typeface="Arial"/>
              </a:rPr>
              <a:t>______________________</a:t>
            </a:r>
          </a:p>
          <a:p>
            <a:pPr algn="l">
              <a:lnSpc>
                <a:spcPct val="115000"/>
              </a:lnSpc>
            </a:pPr>
            <a:r>
              <a:rPr sz="1700" b="1">
                <a:solidFill>
                  <a:srgbClr val="D9480F"/>
                </a:solidFill>
                <a:latin typeface="Arial"/>
              </a:rPr>
              <a:t>▸  </a:t>
            </a:r>
            <a:r>
              <a:rPr sz="1700" b="0">
                <a:solidFill>
                  <a:srgbClr val="14202E"/>
                </a:solidFill>
                <a:latin typeface="Arial"/>
              </a:rPr>
              <a:t>Hint: speaker notes.</a:t>
            </a:r>
          </a:p>
        </p:txBody>
      </p:sp>
      <p:sp>
        <p:nvSpPr>
          <p:cNvPr id="12" name="TextBox 11"/>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p.3</a:t>
            </a:r>
          </a:p>
        </p:txBody>
      </p:sp>
      <p:sp>
        <p:nvSpPr>
          <p:cNvPr id="13" name="TextBox 12"/>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B42318"/>
                </a:solidFill>
                <a:latin typeface="Arial"/>
              </a:rPr>
              <a:t>PART 2  ·  FIND, REPLACE &amp; UPDATE  ·  BLUEPRINT  ·  OWNER: ____________</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Trap: updateOne without an operator</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No $, no update.</a:t>
            </a:r>
          </a:p>
        </p:txBody>
      </p:sp>
      <p:sp>
        <p:nvSpPr>
          <p:cNvPr id="6" name="Rectangle 5"/>
          <p:cNvSpPr/>
          <p:nvPr/>
        </p:nvSpPr>
        <p:spPr>
          <a:xfrm>
            <a:off x="548640" y="1737360"/>
            <a:ext cx="7040880" cy="749808"/>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6931152" cy="420624"/>
          </a:xfrm>
          <a:prstGeom prst="rect">
            <a:avLst/>
          </a:prstGeom>
          <a:noFill/>
        </p:spPr>
        <p:txBody>
          <a:bodyPr wrap="square" anchor="t" lIns="73152" rIns="73152" tIns="73152" bIns="73152">
            <a:spAutoFit/>
          </a:bodyPr>
          <a:lstStyle/>
          <a:p>
            <a:pPr algn="l">
              <a:lnSpc>
                <a:spcPct val="100000"/>
              </a:lnSpc>
            </a:pPr>
            <a:r>
              <a:rPr sz="1423" b="0">
                <a:solidFill>
                  <a:srgbClr val="E6ECF2"/>
                </a:solidFill>
                <a:latin typeface="Consolas"/>
              </a:rPr>
              <a:t>&gt; db.users.updateOne({"name" : "John"}, {"age" : 25})</a:t>
            </a:r>
          </a:p>
        </p:txBody>
      </p:sp>
      <p:sp>
        <p:nvSpPr>
          <p:cNvPr id="9" name="Rectangle 8"/>
          <p:cNvSpPr/>
          <p:nvPr/>
        </p:nvSpPr>
        <p:spPr>
          <a:xfrm>
            <a:off x="548640" y="2578608"/>
            <a:ext cx="7040880" cy="3730752"/>
          </a:xfrm>
          <a:prstGeom prst="rect">
            <a:avLst/>
          </a:prstGeom>
          <a:solidFill>
            <a:srgbClr val="FFF4E5"/>
          </a:solidFill>
          <a:ln w="15875">
            <a:solidFill>
              <a:srgbClr val="D948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578608"/>
            <a:ext cx="7040880" cy="3730752"/>
          </a:xfrm>
          <a:prstGeom prst="rect">
            <a:avLst/>
          </a:prstGeom>
          <a:noFill/>
        </p:spPr>
        <p:txBody>
          <a:bodyPr wrap="square" anchor="ctr" lIns="228600" rIns="228600" tIns="228600" bIns="228600">
            <a:spAutoFit/>
          </a:bodyPr>
          <a:lstStyle/>
          <a:p>
            <a:pPr algn="ctr">
              <a:lnSpc>
                <a:spcPct val="110000"/>
              </a:lnSpc>
            </a:pPr>
            <a:r>
              <a:rPr sz="1400" b="1">
                <a:solidFill>
                  <a:srgbClr val="D9480F"/>
                </a:solidFill>
                <a:latin typeface="Arial"/>
              </a:rPr>
              <a:t>YOUR OUTPUT GOES HERE</a:t>
            </a:r>
          </a:p>
          <a:p>
            <a:pPr algn="ctr">
              <a:lnSpc>
                <a:spcPct val="110000"/>
              </a:lnSpc>
            </a:pPr>
            <a:r>
              <a:rPr sz="1300" b="0">
                <a:solidFill>
                  <a:srgbClr val="14202E"/>
                </a:solidFill>
                <a:latin typeface="Arial"/>
              </a:rPr>
              <a:t>Run the command in mongosh or Compass (seed lines are in your guide), then paste the real output or a screenshot.</a:t>
            </a:r>
          </a:p>
        </p:txBody>
      </p:sp>
      <p:sp>
        <p:nvSpPr>
          <p:cNvPr id="11" name="TextBox 10"/>
          <p:cNvSpPr txBox="1"/>
          <p:nvPr/>
        </p:nvSpPr>
        <p:spPr>
          <a:xfrm>
            <a:off x="7863840" y="1737360"/>
            <a:ext cx="3916375" cy="4480560"/>
          </a:xfrm>
          <a:prstGeom prst="rect">
            <a:avLst/>
          </a:prstGeom>
          <a:noFill/>
        </p:spPr>
        <p:txBody>
          <a:bodyPr wrap="square" anchor="t" lIns="73152" rIns="73152" tIns="73152" bIns="73152">
            <a:spAutoFit/>
          </a:bodyPr>
          <a:lstStyle/>
          <a:p>
            <a:pPr algn="l">
              <a:lnSpc>
                <a:spcPct val="115000"/>
              </a:lnSpc>
            </a:pPr>
            <a:r>
              <a:rPr sz="1700" b="1">
                <a:solidFill>
                  <a:srgbClr val="D9480F"/>
                </a:solidFill>
                <a:latin typeface="Arial"/>
              </a:rPr>
              <a:t>▸  </a:t>
            </a:r>
            <a:r>
              <a:rPr sz="1700" b="0">
                <a:solidFill>
                  <a:srgbClr val="14202E"/>
                </a:solidFill>
                <a:latin typeface="Arial"/>
              </a:rPr>
              <a:t>Explain in your own words:</a:t>
            </a:r>
          </a:p>
          <a:p>
            <a:pPr algn="l">
              <a:lnSpc>
                <a:spcPct val="115000"/>
              </a:lnSpc>
            </a:pPr>
            <a:r>
              <a:rPr sz="1700" b="1">
                <a:solidFill>
                  <a:srgbClr val="D9480F"/>
                </a:solidFill>
                <a:latin typeface="Arial"/>
              </a:rPr>
              <a:t>▸  </a:t>
            </a:r>
            <a:r>
              <a:rPr sz="1700" b="0">
                <a:solidFill>
                  <a:srgbClr val="14202E"/>
                </a:solidFill>
                <a:latin typeface="Arial"/>
              </a:rPr>
              <a:t>______________________</a:t>
            </a:r>
          </a:p>
          <a:p>
            <a:pPr algn="l">
              <a:lnSpc>
                <a:spcPct val="115000"/>
              </a:lnSpc>
            </a:pPr>
            <a:r>
              <a:rPr sz="1700" b="1">
                <a:solidFill>
                  <a:srgbClr val="D9480F"/>
                </a:solidFill>
                <a:latin typeface="Arial"/>
              </a:rPr>
              <a:t>▸  </a:t>
            </a:r>
            <a:r>
              <a:rPr sz="1700" b="0">
                <a:solidFill>
                  <a:srgbClr val="14202E"/>
                </a:solidFill>
                <a:latin typeface="Arial"/>
              </a:rPr>
              <a:t>______________________</a:t>
            </a:r>
          </a:p>
          <a:p>
            <a:pPr algn="l">
              <a:lnSpc>
                <a:spcPct val="115000"/>
              </a:lnSpc>
            </a:pPr>
            <a:r>
              <a:rPr sz="1700" b="1">
                <a:solidFill>
                  <a:srgbClr val="D9480F"/>
                </a:solidFill>
                <a:latin typeface="Arial"/>
              </a:rPr>
              <a:t>▸  </a:t>
            </a:r>
            <a:r>
              <a:rPr sz="1700" b="0">
                <a:solidFill>
                  <a:srgbClr val="14202E"/>
                </a:solidFill>
                <a:latin typeface="Arial"/>
              </a:rPr>
              <a:t>Hint: speaker notes.</a:t>
            </a:r>
          </a:p>
        </p:txBody>
      </p:sp>
      <p:sp>
        <p:nvSpPr>
          <p:cNvPr id="12" name="TextBox 11"/>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mongosh 2.3.8 output</a:t>
            </a:r>
          </a:p>
        </p:txBody>
      </p:sp>
      <p:sp>
        <p:nvSpPr>
          <p:cNvPr id="13" name="TextBox 12"/>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4202E"/>
        </a:solidFill>
        <a:effectLst/>
      </p:bgPr>
    </p:bg>
    <p:spTree>
      <p:nvGrpSpPr>
        <p:cNvPr id="1" name=""/>
        <p:cNvGrpSpPr/>
        <p:nvPr/>
      </p:nvGrpSpPr>
      <p:grpSpPr/>
      <p:sp>
        <p:nvSpPr>
          <p:cNvPr id="2" name="TextBox 1"/>
          <p:cNvSpPr txBox="1"/>
          <p:nvPr/>
        </p:nvSpPr>
        <p:spPr>
          <a:xfrm>
            <a:off x="548640" y="1280160"/>
            <a:ext cx="3657600" cy="2377440"/>
          </a:xfrm>
          <a:prstGeom prst="rect">
            <a:avLst/>
          </a:prstGeom>
          <a:noFill/>
        </p:spPr>
        <p:txBody>
          <a:bodyPr wrap="square" anchor="t" lIns="73152" rIns="73152" tIns="73152" bIns="73152">
            <a:spAutoFit/>
          </a:bodyPr>
          <a:lstStyle/>
          <a:p>
            <a:pPr algn="l">
              <a:lnSpc>
                <a:spcPct val="110000"/>
              </a:lnSpc>
            </a:pPr>
            <a:r>
              <a:rPr sz="17000" b="1">
                <a:solidFill>
                  <a:srgbClr val="D9480F"/>
                </a:solidFill>
                <a:latin typeface="Arial"/>
              </a:rPr>
              <a:t>3</a:t>
            </a:r>
          </a:p>
        </p:txBody>
      </p:sp>
      <p:sp>
        <p:nvSpPr>
          <p:cNvPr id="3" name="TextBox 2"/>
          <p:cNvSpPr txBox="1"/>
          <p:nvPr/>
        </p:nvSpPr>
        <p:spPr>
          <a:xfrm>
            <a:off x="3840480" y="822960"/>
            <a:ext cx="7863840" cy="1828800"/>
          </a:xfrm>
          <a:prstGeom prst="rect">
            <a:avLst/>
          </a:prstGeom>
          <a:noFill/>
        </p:spPr>
        <p:txBody>
          <a:bodyPr wrap="square" anchor="b" lIns="73152" rIns="73152" tIns="73152" bIns="73152">
            <a:spAutoFit/>
          </a:bodyPr>
          <a:lstStyle/>
          <a:p>
            <a:pPr algn="l">
              <a:lnSpc>
                <a:spcPct val="95000"/>
              </a:lnSpc>
            </a:pPr>
            <a:r>
              <a:rPr sz="4000" b="1">
                <a:solidFill>
                  <a:srgbClr val="FFFFFF"/>
                </a:solidFill>
                <a:latin typeface="Arial"/>
              </a:rPr>
              <a:t>Query Selectors: Comparison</a:t>
            </a:r>
          </a:p>
        </p:txBody>
      </p:sp>
      <p:sp>
        <p:nvSpPr>
          <p:cNvPr id="4" name="TextBox 3"/>
          <p:cNvSpPr txBox="1"/>
          <p:nvPr/>
        </p:nvSpPr>
        <p:spPr>
          <a:xfrm>
            <a:off x="3840480" y="2743200"/>
            <a:ext cx="7863840" cy="548640"/>
          </a:xfrm>
          <a:prstGeom prst="rect">
            <a:avLst/>
          </a:prstGeom>
          <a:noFill/>
        </p:spPr>
        <p:txBody>
          <a:bodyPr wrap="square" anchor="t" lIns="73152" rIns="73152" tIns="73152" bIns="73152">
            <a:spAutoFit/>
          </a:bodyPr>
          <a:lstStyle/>
          <a:p>
            <a:pPr algn="l">
              <a:lnSpc>
                <a:spcPct val="110000"/>
              </a:lnSpc>
            </a:pPr>
            <a:r>
              <a:rPr sz="2000" b="0">
                <a:solidFill>
                  <a:srgbClr val="9FE0C9"/>
                </a:solidFill>
                <a:latin typeface="Consolas"/>
              </a:rPr>
              <a:t>$lt · $lte · $gt · $gte</a:t>
            </a:r>
          </a:p>
        </p:txBody>
      </p:sp>
      <p:sp>
        <p:nvSpPr>
          <p:cNvPr id="5" name="TextBox 4"/>
          <p:cNvSpPr txBox="1"/>
          <p:nvPr/>
        </p:nvSpPr>
        <p:spPr>
          <a:xfrm>
            <a:off x="3840480" y="3474720"/>
            <a:ext cx="7863840" cy="1097280"/>
          </a:xfrm>
          <a:prstGeom prst="rect">
            <a:avLst/>
          </a:prstGeom>
          <a:noFill/>
        </p:spPr>
        <p:txBody>
          <a:bodyPr wrap="square" anchor="t" lIns="73152" rIns="73152" tIns="73152" bIns="73152">
            <a:spAutoFit/>
          </a:bodyPr>
          <a:lstStyle/>
          <a:p>
            <a:pPr algn="l">
              <a:lnSpc>
                <a:spcPct val="110000"/>
              </a:lnSpc>
            </a:pPr>
            <a:r>
              <a:rPr sz="2800" b="0">
                <a:solidFill>
                  <a:srgbClr val="F2B27A"/>
                </a:solidFill>
                <a:latin typeface="Arial"/>
              </a:rPr>
              <a:t>“Less, less-or-equal, greater, greater-or-equal.”</a:t>
            </a:r>
          </a:p>
        </p:txBody>
      </p:sp>
      <p:sp>
        <p:nvSpPr>
          <p:cNvPr id="6" name="TextBox 5"/>
          <p:cNvSpPr txBox="1"/>
          <p:nvPr/>
        </p:nvSpPr>
        <p:spPr>
          <a:xfrm>
            <a:off x="3840480" y="4846320"/>
            <a:ext cx="7863840" cy="548640"/>
          </a:xfrm>
          <a:prstGeom prst="rect">
            <a:avLst/>
          </a:prstGeom>
          <a:noFill/>
        </p:spPr>
        <p:txBody>
          <a:bodyPr wrap="square" anchor="t" lIns="73152" rIns="73152" tIns="73152" bIns="73152">
            <a:spAutoFit/>
          </a:bodyPr>
          <a:lstStyle/>
          <a:p>
            <a:pPr algn="l">
              <a:lnSpc>
                <a:spcPct val="110000"/>
              </a:lnSpc>
            </a:pPr>
            <a:r>
              <a:rPr sz="2000" b="0">
                <a:solidFill>
                  <a:srgbClr val="E6ECF2"/>
                </a:solidFill>
                <a:latin typeface="Arial"/>
              </a:rPr>
              <a:t>Presenter: ____________________</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3  ·  QUERY SELECTORS: COMPARISON  ·  BLUEPRINT  ·  OWNER: ____________</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Four operators, four symbols</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The e means equal is allowed.</a:t>
            </a:r>
          </a:p>
        </p:txBody>
      </p:sp>
      <p:graphicFrame>
        <p:nvGraphicFramePr>
          <p:cNvPr id="6" name="Table 5"/>
          <p:cNvGraphicFramePr>
            <a:graphicFrameLocks noGrp="1"/>
          </p:cNvGraphicFramePr>
          <p:nvPr/>
        </p:nvGraphicFramePr>
        <p:xfrm>
          <a:off x="548640" y="1828800"/>
          <a:ext cx="11094415" cy="3657600"/>
        </p:xfrm>
        <a:graphic>
          <a:graphicData uri="http://schemas.openxmlformats.org/drawingml/2006/table">
            <a:tbl>
              <a:tblPr firstRow="1" bandRow="1">
                <a:tableStyleId>{5C22544A-7EE6-4342-B048-85BDC9FD1C3A}</a:tableStyleId>
              </a:tblPr>
              <a:tblGrid>
                <a:gridCol w="2773603"/>
                <a:gridCol w="2773603"/>
                <a:gridCol w="2773603"/>
                <a:gridCol w="2773606"/>
              </a:tblGrid>
              <a:tr h="731520">
                <a:tc>
                  <a:txBody>
                    <a:bodyPr/>
                    <a:lstStyle/>
                    <a:p>
                      <a:r>
                        <a:rPr sz="1600" b="1">
                          <a:solidFill>
                            <a:srgbClr val="FFFFFF"/>
                          </a:solidFill>
                          <a:latin typeface="Arial"/>
                        </a:rPr>
                        <a:t>Operator</a:t>
                      </a:r>
                    </a:p>
                  </a:txBody>
                  <a:tcPr>
                    <a:solidFill>
                      <a:srgbClr val="14202E"/>
                    </a:solidFill>
                  </a:tcPr>
                </a:tc>
                <a:tc>
                  <a:txBody>
                    <a:bodyPr/>
                    <a:lstStyle/>
                    <a:p>
                      <a:r>
                        <a:rPr sz="1600" b="1">
                          <a:solidFill>
                            <a:srgbClr val="FFFFFF"/>
                          </a:solidFill>
                          <a:latin typeface="Arial"/>
                        </a:rPr>
                        <a:t>Means</a:t>
                      </a:r>
                    </a:p>
                  </a:txBody>
                  <a:tcPr>
                    <a:solidFill>
                      <a:srgbClr val="14202E"/>
                    </a:solidFill>
                  </a:tcPr>
                </a:tc>
                <a:tc>
                  <a:txBody>
                    <a:bodyPr/>
                    <a:lstStyle/>
                    <a:p>
                      <a:r>
                        <a:rPr sz="1600" b="1">
                          <a:solidFill>
                            <a:srgbClr val="FFFFFF"/>
                          </a:solidFill>
                          <a:latin typeface="Arial"/>
                        </a:rPr>
                        <a:t>Symbol</a:t>
                      </a:r>
                    </a:p>
                  </a:txBody>
                  <a:tcPr>
                    <a:solidFill>
                      <a:srgbClr val="14202E"/>
                    </a:solidFill>
                  </a:tcPr>
                </a:tc>
                <a:tc>
                  <a:txBody>
                    <a:bodyPr/>
                    <a:lstStyle/>
                    <a:p>
                      <a:r>
                        <a:rPr sz="1600" b="1">
                          <a:solidFill>
                            <a:srgbClr val="FFFFFF"/>
                          </a:solidFill>
                          <a:latin typeface="Arial"/>
                        </a:rPr>
                        <a:t>vs 18: ages 17 / 18 / 24</a:t>
                      </a:r>
                    </a:p>
                  </a:txBody>
                  <a:tcPr>
                    <a:solidFill>
                      <a:srgbClr val="14202E"/>
                    </a:solidFill>
                  </a:tcPr>
                </a:tc>
              </a:tr>
              <a:tr h="731520">
                <a:tc>
                  <a:txBody>
                    <a:bodyPr/>
                    <a:lstStyle/>
                    <a:p>
                      <a:r>
                        <a:rPr sz="1500" b="1">
                          <a:solidFill>
                            <a:srgbClr val="D9480F"/>
                          </a:solidFill>
                          <a:latin typeface="Consolas"/>
                        </a:rPr>
                        <a:t>$lt</a:t>
                      </a:r>
                    </a:p>
                  </a:txBody>
                  <a:tcPr anchor="ctr">
                    <a:solidFill>
                      <a:srgbClr val="FFFFFF"/>
                    </a:solidFill>
                  </a:tcPr>
                </a:tc>
                <a:tc>
                  <a:txBody>
                    <a:bodyPr/>
                    <a:lstStyle/>
                    <a:p>
                      <a:r>
                        <a:rPr sz="1500" b="0">
                          <a:solidFill>
                            <a:srgbClr val="14202E"/>
                          </a:solidFill>
                          <a:latin typeface="Arial"/>
                        </a:rPr>
                        <a:t>________________</a:t>
                      </a:r>
                    </a:p>
                  </a:txBody>
                  <a:tcPr anchor="ctr">
                    <a:solidFill>
                      <a:srgbClr val="FFF4E5"/>
                    </a:solidFill>
                  </a:tcPr>
                </a:tc>
                <a:tc>
                  <a:txBody>
                    <a:bodyPr/>
                    <a:lstStyle/>
                    <a:p>
                      <a:r>
                        <a:rPr sz="1500" b="0">
                          <a:solidFill>
                            <a:srgbClr val="14202E"/>
                          </a:solidFill>
                          <a:latin typeface="Arial"/>
                        </a:rPr>
                        <a:t>________________</a:t>
                      </a:r>
                    </a:p>
                  </a:txBody>
                  <a:tcPr anchor="ctr">
                    <a:solidFill>
                      <a:srgbClr val="FFF4E5"/>
                    </a:solidFill>
                  </a:tcPr>
                </a:tc>
                <a:tc>
                  <a:txBody>
                    <a:bodyPr/>
                    <a:lstStyle/>
                    <a:p>
                      <a:r>
                        <a:rPr sz="1500" b="0">
                          <a:solidFill>
                            <a:srgbClr val="14202E"/>
                          </a:solidFill>
                          <a:latin typeface="Arial"/>
                        </a:rPr>
                        <a:t>________________</a:t>
                      </a:r>
                    </a:p>
                  </a:txBody>
                  <a:tcPr anchor="ctr">
                    <a:solidFill>
                      <a:srgbClr val="FFF4E5"/>
                    </a:solidFill>
                  </a:tcPr>
                </a:tc>
              </a:tr>
              <a:tr h="731520">
                <a:tc>
                  <a:txBody>
                    <a:bodyPr/>
                    <a:lstStyle/>
                    <a:p>
                      <a:r>
                        <a:rPr sz="1500" b="1">
                          <a:solidFill>
                            <a:srgbClr val="D9480F"/>
                          </a:solidFill>
                          <a:latin typeface="Consolas"/>
                        </a:rPr>
                        <a:t>$lte</a:t>
                      </a:r>
                    </a:p>
                  </a:txBody>
                  <a:tcPr anchor="ctr">
                    <a:solidFill>
                      <a:srgbClr val="F6F8FA"/>
                    </a:solidFill>
                  </a:tcPr>
                </a:tc>
                <a:tc>
                  <a:txBody>
                    <a:bodyPr/>
                    <a:lstStyle/>
                    <a:p>
                      <a:r>
                        <a:rPr sz="1500" b="0">
                          <a:solidFill>
                            <a:srgbClr val="14202E"/>
                          </a:solidFill>
                          <a:latin typeface="Arial"/>
                        </a:rPr>
                        <a:t>________________</a:t>
                      </a:r>
                    </a:p>
                  </a:txBody>
                  <a:tcPr anchor="ctr">
                    <a:solidFill>
                      <a:srgbClr val="FFF4E5"/>
                    </a:solidFill>
                  </a:tcPr>
                </a:tc>
                <a:tc>
                  <a:txBody>
                    <a:bodyPr/>
                    <a:lstStyle/>
                    <a:p>
                      <a:r>
                        <a:rPr sz="1500" b="0">
                          <a:solidFill>
                            <a:srgbClr val="14202E"/>
                          </a:solidFill>
                          <a:latin typeface="Arial"/>
                        </a:rPr>
                        <a:t>________________</a:t>
                      </a:r>
                    </a:p>
                  </a:txBody>
                  <a:tcPr anchor="ctr">
                    <a:solidFill>
                      <a:srgbClr val="FFF4E5"/>
                    </a:solidFill>
                  </a:tcPr>
                </a:tc>
                <a:tc>
                  <a:txBody>
                    <a:bodyPr/>
                    <a:lstStyle/>
                    <a:p>
                      <a:r>
                        <a:rPr sz="1500" b="0">
                          <a:solidFill>
                            <a:srgbClr val="14202E"/>
                          </a:solidFill>
                          <a:latin typeface="Arial"/>
                        </a:rPr>
                        <a:t>________________</a:t>
                      </a:r>
                    </a:p>
                  </a:txBody>
                  <a:tcPr anchor="ctr">
                    <a:solidFill>
                      <a:srgbClr val="FFF4E5"/>
                    </a:solidFill>
                  </a:tcPr>
                </a:tc>
              </a:tr>
              <a:tr h="731520">
                <a:tc>
                  <a:txBody>
                    <a:bodyPr/>
                    <a:lstStyle/>
                    <a:p>
                      <a:r>
                        <a:rPr sz="1500" b="1">
                          <a:solidFill>
                            <a:srgbClr val="D9480F"/>
                          </a:solidFill>
                          <a:latin typeface="Consolas"/>
                        </a:rPr>
                        <a:t>$gt</a:t>
                      </a:r>
                    </a:p>
                  </a:txBody>
                  <a:tcPr anchor="ctr">
                    <a:solidFill>
                      <a:srgbClr val="FFFFFF"/>
                    </a:solidFill>
                  </a:tcPr>
                </a:tc>
                <a:tc>
                  <a:txBody>
                    <a:bodyPr/>
                    <a:lstStyle/>
                    <a:p>
                      <a:r>
                        <a:rPr sz="1500" b="0">
                          <a:solidFill>
                            <a:srgbClr val="14202E"/>
                          </a:solidFill>
                          <a:latin typeface="Arial"/>
                        </a:rPr>
                        <a:t>________________</a:t>
                      </a:r>
                    </a:p>
                  </a:txBody>
                  <a:tcPr anchor="ctr">
                    <a:solidFill>
                      <a:srgbClr val="FFF4E5"/>
                    </a:solidFill>
                  </a:tcPr>
                </a:tc>
                <a:tc>
                  <a:txBody>
                    <a:bodyPr/>
                    <a:lstStyle/>
                    <a:p>
                      <a:r>
                        <a:rPr sz="1500" b="0">
                          <a:solidFill>
                            <a:srgbClr val="14202E"/>
                          </a:solidFill>
                          <a:latin typeface="Arial"/>
                        </a:rPr>
                        <a:t>________________</a:t>
                      </a:r>
                    </a:p>
                  </a:txBody>
                  <a:tcPr anchor="ctr">
                    <a:solidFill>
                      <a:srgbClr val="FFF4E5"/>
                    </a:solidFill>
                  </a:tcPr>
                </a:tc>
                <a:tc>
                  <a:txBody>
                    <a:bodyPr/>
                    <a:lstStyle/>
                    <a:p>
                      <a:r>
                        <a:rPr sz="1500" b="0">
                          <a:solidFill>
                            <a:srgbClr val="14202E"/>
                          </a:solidFill>
                          <a:latin typeface="Arial"/>
                        </a:rPr>
                        <a:t>________________</a:t>
                      </a:r>
                    </a:p>
                  </a:txBody>
                  <a:tcPr anchor="ctr">
                    <a:solidFill>
                      <a:srgbClr val="FFF4E5"/>
                    </a:solidFill>
                  </a:tcPr>
                </a:tc>
              </a:tr>
              <a:tr h="731520">
                <a:tc>
                  <a:txBody>
                    <a:bodyPr/>
                    <a:lstStyle/>
                    <a:p>
                      <a:r>
                        <a:rPr sz="1500" b="1">
                          <a:solidFill>
                            <a:srgbClr val="D9480F"/>
                          </a:solidFill>
                          <a:latin typeface="Consolas"/>
                        </a:rPr>
                        <a:t>$gte</a:t>
                      </a:r>
                    </a:p>
                  </a:txBody>
                  <a:tcPr anchor="ctr">
                    <a:solidFill>
                      <a:srgbClr val="F6F8FA"/>
                    </a:solidFill>
                  </a:tcPr>
                </a:tc>
                <a:tc>
                  <a:txBody>
                    <a:bodyPr/>
                    <a:lstStyle/>
                    <a:p>
                      <a:r>
                        <a:rPr sz="1500" b="0">
                          <a:solidFill>
                            <a:srgbClr val="14202E"/>
                          </a:solidFill>
                          <a:latin typeface="Arial"/>
                        </a:rPr>
                        <a:t>________________</a:t>
                      </a:r>
                    </a:p>
                  </a:txBody>
                  <a:tcPr anchor="ctr">
                    <a:solidFill>
                      <a:srgbClr val="FFF4E5"/>
                    </a:solidFill>
                  </a:tcPr>
                </a:tc>
                <a:tc>
                  <a:txBody>
                    <a:bodyPr/>
                    <a:lstStyle/>
                    <a:p>
                      <a:r>
                        <a:rPr sz="1500" b="0">
                          <a:solidFill>
                            <a:srgbClr val="14202E"/>
                          </a:solidFill>
                          <a:latin typeface="Arial"/>
                        </a:rPr>
                        <a:t>________________</a:t>
                      </a:r>
                    </a:p>
                  </a:txBody>
                  <a:tcPr anchor="ctr">
                    <a:solidFill>
                      <a:srgbClr val="FFF4E5"/>
                    </a:solidFill>
                  </a:tcPr>
                </a:tc>
                <a:tc>
                  <a:txBody>
                    <a:bodyPr/>
                    <a:lstStyle/>
                    <a:p>
                      <a:r>
                        <a:rPr sz="1500" b="0">
                          <a:solidFill>
                            <a:srgbClr val="14202E"/>
                          </a:solidFill>
                          <a:latin typeface="Arial"/>
                        </a:rPr>
                        <a:t>________________</a:t>
                      </a:r>
                    </a:p>
                  </a:txBody>
                  <a:tcPr anchor="ctr">
                    <a:solidFill>
                      <a:srgbClr val="FFF4E5"/>
                    </a:solidFill>
                  </a:tcPr>
                </a:tc>
              </a:tr>
            </a:tbl>
          </a:graphicData>
        </a:graphic>
      </p:graphicFrame>
      <p:sp>
        <p:nvSpPr>
          <p:cNvPr id="7" name="TextBox 6"/>
          <p:cNvSpPr txBox="1"/>
          <p:nvPr/>
        </p:nvSpPr>
        <p:spPr>
          <a:xfrm>
            <a:off x="548640" y="5715000"/>
            <a:ext cx="11094415" cy="731520"/>
          </a:xfrm>
          <a:prstGeom prst="rect">
            <a:avLst/>
          </a:prstGeom>
          <a:noFill/>
        </p:spPr>
        <p:txBody>
          <a:bodyPr wrap="square" anchor="t" lIns="73152" rIns="73152" tIns="73152" bIns="73152">
            <a:spAutoFit/>
          </a:bodyPr>
          <a:lstStyle/>
          <a:p>
            <a:pPr algn="l">
              <a:lnSpc>
                <a:spcPct val="115000"/>
              </a:lnSpc>
            </a:pPr>
            <a:r>
              <a:rPr sz="1700" b="1">
                <a:solidFill>
                  <a:srgbClr val="D9480F"/>
                </a:solidFill>
                <a:latin typeface="Arial"/>
              </a:rPr>
              <a:t>▸  </a:t>
            </a:r>
            <a:r>
              <a:rPr sz="1700" b="0">
                <a:solidFill>
                  <a:srgbClr val="14202E"/>
                </a:solidFill>
                <a:latin typeface="Arial"/>
              </a:rPr>
              <a:t>Sample data: Ana 17, Ben 18, Cara 24, Dan 30, Eli 31.</a:t>
            </a:r>
          </a:p>
        </p:txBody>
      </p:sp>
      <p:sp>
        <p:nvSpPr>
          <p:cNvPr id="8" name="TextBox 7"/>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p.3</a:t>
            </a:r>
          </a:p>
        </p:txBody>
      </p:sp>
      <p:sp>
        <p:nvSpPr>
          <p:cNvPr id="9" name="TextBox 8"/>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3  ·  QUERY SELECTORS: COMPARISON  ·  BLUEPRINT  ·  OWNER: ____________</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$lt and $lte</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18 is out with $lt, in with $lte.</a:t>
            </a:r>
          </a:p>
        </p:txBody>
      </p:sp>
      <p:sp>
        <p:nvSpPr>
          <p:cNvPr id="6" name="Rectangle 5"/>
          <p:cNvSpPr/>
          <p:nvPr/>
        </p:nvSpPr>
        <p:spPr>
          <a:xfrm>
            <a:off x="548640" y="1737360"/>
            <a:ext cx="5486400" cy="141732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5376672" cy="1088136"/>
          </a:xfrm>
          <a:prstGeom prst="rect">
            <a:avLst/>
          </a:prstGeom>
          <a:noFill/>
        </p:spPr>
        <p:txBody>
          <a:bodyPr wrap="square" anchor="t" lIns="73152" rIns="73152" tIns="73152" bIns="73152">
            <a:spAutoFit/>
          </a:bodyPr>
          <a:lstStyle/>
          <a:p>
            <a:pPr algn="l">
              <a:lnSpc>
                <a:spcPct val="100000"/>
              </a:lnSpc>
            </a:pPr>
            <a:r>
              <a:rPr sz="1218" b="0">
                <a:solidFill>
                  <a:srgbClr val="E6ECF2"/>
                </a:solidFill>
                <a:latin typeface="Consolas"/>
              </a:rPr>
              <a:t>&gt; db.students.find({"age" : {"$lt" : 18}}, {"_id" : 0})</a:t>
            </a:r>
          </a:p>
        </p:txBody>
      </p:sp>
      <p:sp>
        <p:nvSpPr>
          <p:cNvPr id="9" name="Rectangle 8"/>
          <p:cNvSpPr/>
          <p:nvPr/>
        </p:nvSpPr>
        <p:spPr>
          <a:xfrm>
            <a:off x="548640" y="3246120"/>
            <a:ext cx="5486400" cy="3017520"/>
          </a:xfrm>
          <a:prstGeom prst="rect">
            <a:avLst/>
          </a:prstGeom>
          <a:solidFill>
            <a:srgbClr val="FFF4E5"/>
          </a:solidFill>
          <a:ln w="15875">
            <a:solidFill>
              <a:srgbClr val="D948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246120"/>
            <a:ext cx="5486400" cy="3017520"/>
          </a:xfrm>
          <a:prstGeom prst="rect">
            <a:avLst/>
          </a:prstGeom>
          <a:noFill/>
        </p:spPr>
        <p:txBody>
          <a:bodyPr wrap="square" anchor="ctr" lIns="228600" rIns="228600" tIns="228600" bIns="228600">
            <a:spAutoFit/>
          </a:bodyPr>
          <a:lstStyle/>
          <a:p>
            <a:pPr algn="ctr">
              <a:lnSpc>
                <a:spcPct val="110000"/>
              </a:lnSpc>
            </a:pPr>
            <a:r>
              <a:rPr sz="1400" b="1">
                <a:solidFill>
                  <a:srgbClr val="D9480F"/>
                </a:solidFill>
                <a:latin typeface="Arial"/>
              </a:rPr>
              <a:t>YOUR OUTPUT GOES HERE</a:t>
            </a:r>
          </a:p>
          <a:p>
            <a:pPr algn="ctr">
              <a:lnSpc>
                <a:spcPct val="110000"/>
              </a:lnSpc>
            </a:pPr>
            <a:r>
              <a:rPr sz="1300" b="0">
                <a:solidFill>
                  <a:srgbClr val="14202E"/>
                </a:solidFill>
                <a:latin typeface="Arial"/>
              </a:rPr>
              <a:t>Run the command in mongosh or Compass (seed lines are in your guide), then paste the real output or a screenshot.</a:t>
            </a:r>
          </a:p>
        </p:txBody>
      </p:sp>
      <p:sp>
        <p:nvSpPr>
          <p:cNvPr id="11" name="Rectangle 10"/>
          <p:cNvSpPr/>
          <p:nvPr/>
        </p:nvSpPr>
        <p:spPr>
          <a:xfrm>
            <a:off x="6153912" y="1737360"/>
            <a:ext cx="5486400" cy="141732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53912" y="1737360"/>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13" name="TextBox 12"/>
          <p:cNvSpPr txBox="1"/>
          <p:nvPr/>
        </p:nvSpPr>
        <p:spPr>
          <a:xfrm>
            <a:off x="6208776" y="2029968"/>
            <a:ext cx="5376672" cy="1088136"/>
          </a:xfrm>
          <a:prstGeom prst="rect">
            <a:avLst/>
          </a:prstGeom>
          <a:noFill/>
        </p:spPr>
        <p:txBody>
          <a:bodyPr wrap="square" anchor="t" lIns="73152" rIns="73152" tIns="73152" bIns="73152">
            <a:spAutoFit/>
          </a:bodyPr>
          <a:lstStyle/>
          <a:p>
            <a:pPr algn="l">
              <a:lnSpc>
                <a:spcPct val="100000"/>
              </a:lnSpc>
            </a:pPr>
            <a:r>
              <a:rPr sz="1197" b="0">
                <a:solidFill>
                  <a:srgbClr val="E6ECF2"/>
                </a:solidFill>
                <a:latin typeface="Consolas"/>
              </a:rPr>
              <a:t>&gt; db.students.find({"age" : {"$lte" : 18}}, {"_id" : 0})</a:t>
            </a:r>
          </a:p>
        </p:txBody>
      </p:sp>
      <p:sp>
        <p:nvSpPr>
          <p:cNvPr id="14" name="Rectangle 13"/>
          <p:cNvSpPr/>
          <p:nvPr/>
        </p:nvSpPr>
        <p:spPr>
          <a:xfrm>
            <a:off x="6153912" y="3246120"/>
            <a:ext cx="5486400" cy="3017520"/>
          </a:xfrm>
          <a:prstGeom prst="rect">
            <a:avLst/>
          </a:prstGeom>
          <a:solidFill>
            <a:srgbClr val="FFF4E5"/>
          </a:solidFill>
          <a:ln w="15875">
            <a:solidFill>
              <a:srgbClr val="D948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53912" y="3246120"/>
            <a:ext cx="5486400" cy="3017520"/>
          </a:xfrm>
          <a:prstGeom prst="rect">
            <a:avLst/>
          </a:prstGeom>
          <a:noFill/>
        </p:spPr>
        <p:txBody>
          <a:bodyPr wrap="square" anchor="ctr" lIns="228600" rIns="228600" tIns="228600" bIns="228600">
            <a:spAutoFit/>
          </a:bodyPr>
          <a:lstStyle/>
          <a:p>
            <a:pPr algn="ctr">
              <a:lnSpc>
                <a:spcPct val="110000"/>
              </a:lnSpc>
            </a:pPr>
            <a:r>
              <a:rPr sz="1400" b="1">
                <a:solidFill>
                  <a:srgbClr val="D9480F"/>
                </a:solidFill>
                <a:latin typeface="Arial"/>
              </a:rPr>
              <a:t>YOUR OUTPUT GOES HERE</a:t>
            </a:r>
          </a:p>
          <a:p>
            <a:pPr algn="ctr">
              <a:lnSpc>
                <a:spcPct val="110000"/>
              </a:lnSpc>
            </a:pPr>
            <a:r>
              <a:rPr sz="1300" b="0">
                <a:solidFill>
                  <a:srgbClr val="14202E"/>
                </a:solidFill>
                <a:latin typeface="Arial"/>
              </a:rPr>
              <a:t>Run the command in mongosh or Compass (seed lines are in your guide), then paste the real output or a screenshot.</a:t>
            </a:r>
          </a:p>
        </p:txBody>
      </p:sp>
      <p:sp>
        <p:nvSpPr>
          <p:cNvPr id="16" name="TextBox 15"/>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p.3</a:t>
            </a:r>
          </a:p>
        </p:txBody>
      </p:sp>
      <p:sp>
        <p:nvSpPr>
          <p:cNvPr id="17" name="TextBox 16"/>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3  ·  QUERY SELECTORS: COMPARISON  ·  BLUEPRINT  ·  OWNER: ____________</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$gt and $gte</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30 is out with $gt, in with $gte.</a:t>
            </a:r>
          </a:p>
        </p:txBody>
      </p:sp>
      <p:sp>
        <p:nvSpPr>
          <p:cNvPr id="6" name="Rectangle 5"/>
          <p:cNvSpPr/>
          <p:nvPr/>
        </p:nvSpPr>
        <p:spPr>
          <a:xfrm>
            <a:off x="548640" y="1737360"/>
            <a:ext cx="5486400" cy="141732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5376672" cy="1088136"/>
          </a:xfrm>
          <a:prstGeom prst="rect">
            <a:avLst/>
          </a:prstGeom>
          <a:noFill/>
        </p:spPr>
        <p:txBody>
          <a:bodyPr wrap="square" anchor="t" lIns="73152" rIns="73152" tIns="73152" bIns="73152">
            <a:spAutoFit/>
          </a:bodyPr>
          <a:lstStyle/>
          <a:p>
            <a:pPr algn="l">
              <a:lnSpc>
                <a:spcPct val="100000"/>
              </a:lnSpc>
            </a:pPr>
            <a:r>
              <a:rPr sz="1218" b="0">
                <a:solidFill>
                  <a:srgbClr val="E6ECF2"/>
                </a:solidFill>
                <a:latin typeface="Consolas"/>
              </a:rPr>
              <a:t>&gt; db.students.find({"age" : {"$gt" : 30}}, {"_id" : 0})</a:t>
            </a:r>
          </a:p>
        </p:txBody>
      </p:sp>
      <p:sp>
        <p:nvSpPr>
          <p:cNvPr id="9" name="Rectangle 8"/>
          <p:cNvSpPr/>
          <p:nvPr/>
        </p:nvSpPr>
        <p:spPr>
          <a:xfrm>
            <a:off x="548640" y="3246120"/>
            <a:ext cx="5486400" cy="3017520"/>
          </a:xfrm>
          <a:prstGeom prst="rect">
            <a:avLst/>
          </a:prstGeom>
          <a:solidFill>
            <a:srgbClr val="FFF4E5"/>
          </a:solidFill>
          <a:ln w="15875">
            <a:solidFill>
              <a:srgbClr val="D948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246120"/>
            <a:ext cx="5486400" cy="3017520"/>
          </a:xfrm>
          <a:prstGeom prst="rect">
            <a:avLst/>
          </a:prstGeom>
          <a:noFill/>
        </p:spPr>
        <p:txBody>
          <a:bodyPr wrap="square" anchor="ctr" lIns="228600" rIns="228600" tIns="228600" bIns="228600">
            <a:spAutoFit/>
          </a:bodyPr>
          <a:lstStyle/>
          <a:p>
            <a:pPr algn="ctr">
              <a:lnSpc>
                <a:spcPct val="110000"/>
              </a:lnSpc>
            </a:pPr>
            <a:r>
              <a:rPr sz="1400" b="1">
                <a:solidFill>
                  <a:srgbClr val="D9480F"/>
                </a:solidFill>
                <a:latin typeface="Arial"/>
              </a:rPr>
              <a:t>YOUR OUTPUT GOES HERE</a:t>
            </a:r>
          </a:p>
          <a:p>
            <a:pPr algn="ctr">
              <a:lnSpc>
                <a:spcPct val="110000"/>
              </a:lnSpc>
            </a:pPr>
            <a:r>
              <a:rPr sz="1300" b="0">
                <a:solidFill>
                  <a:srgbClr val="14202E"/>
                </a:solidFill>
                <a:latin typeface="Arial"/>
              </a:rPr>
              <a:t>Run the command in mongosh or Compass (seed lines are in your guide), then paste the real output or a screenshot.</a:t>
            </a:r>
          </a:p>
        </p:txBody>
      </p:sp>
      <p:sp>
        <p:nvSpPr>
          <p:cNvPr id="11" name="Rectangle 10"/>
          <p:cNvSpPr/>
          <p:nvPr/>
        </p:nvSpPr>
        <p:spPr>
          <a:xfrm>
            <a:off x="6153912" y="1737360"/>
            <a:ext cx="5486400" cy="141732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53912" y="1737360"/>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13" name="TextBox 12"/>
          <p:cNvSpPr txBox="1"/>
          <p:nvPr/>
        </p:nvSpPr>
        <p:spPr>
          <a:xfrm>
            <a:off x="6208776" y="2029968"/>
            <a:ext cx="5376672" cy="1088136"/>
          </a:xfrm>
          <a:prstGeom prst="rect">
            <a:avLst/>
          </a:prstGeom>
          <a:noFill/>
        </p:spPr>
        <p:txBody>
          <a:bodyPr wrap="square" anchor="t" lIns="73152" rIns="73152" tIns="73152" bIns="73152">
            <a:spAutoFit/>
          </a:bodyPr>
          <a:lstStyle/>
          <a:p>
            <a:pPr algn="l">
              <a:lnSpc>
                <a:spcPct val="100000"/>
              </a:lnSpc>
            </a:pPr>
            <a:r>
              <a:rPr sz="1197" b="0">
                <a:solidFill>
                  <a:srgbClr val="E6ECF2"/>
                </a:solidFill>
                <a:latin typeface="Consolas"/>
              </a:rPr>
              <a:t>&gt; db.students.find({"age" : {"$gte" : 30}}, {"_id" : 0})</a:t>
            </a:r>
          </a:p>
        </p:txBody>
      </p:sp>
      <p:sp>
        <p:nvSpPr>
          <p:cNvPr id="14" name="Rectangle 13"/>
          <p:cNvSpPr/>
          <p:nvPr/>
        </p:nvSpPr>
        <p:spPr>
          <a:xfrm>
            <a:off x="6153912" y="3246120"/>
            <a:ext cx="5486400" cy="3017520"/>
          </a:xfrm>
          <a:prstGeom prst="rect">
            <a:avLst/>
          </a:prstGeom>
          <a:solidFill>
            <a:srgbClr val="FFF4E5"/>
          </a:solidFill>
          <a:ln w="15875">
            <a:solidFill>
              <a:srgbClr val="D948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53912" y="3246120"/>
            <a:ext cx="5486400" cy="3017520"/>
          </a:xfrm>
          <a:prstGeom prst="rect">
            <a:avLst/>
          </a:prstGeom>
          <a:noFill/>
        </p:spPr>
        <p:txBody>
          <a:bodyPr wrap="square" anchor="ctr" lIns="228600" rIns="228600" tIns="228600" bIns="228600">
            <a:spAutoFit/>
          </a:bodyPr>
          <a:lstStyle/>
          <a:p>
            <a:pPr algn="ctr">
              <a:lnSpc>
                <a:spcPct val="110000"/>
              </a:lnSpc>
            </a:pPr>
            <a:r>
              <a:rPr sz="1400" b="1">
                <a:solidFill>
                  <a:srgbClr val="D9480F"/>
                </a:solidFill>
                <a:latin typeface="Arial"/>
              </a:rPr>
              <a:t>YOUR OUTPUT GOES HERE</a:t>
            </a:r>
          </a:p>
          <a:p>
            <a:pPr algn="ctr">
              <a:lnSpc>
                <a:spcPct val="110000"/>
              </a:lnSpc>
            </a:pPr>
            <a:r>
              <a:rPr sz="1300" b="0">
                <a:solidFill>
                  <a:srgbClr val="14202E"/>
                </a:solidFill>
                <a:latin typeface="Arial"/>
              </a:rPr>
              <a:t>Run the command in mongosh or Compass (seed lines are in your guide), then paste the real output or a screenshot.</a:t>
            </a:r>
          </a:p>
        </p:txBody>
      </p:sp>
      <p:sp>
        <p:nvSpPr>
          <p:cNvPr id="16" name="TextBox 15"/>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p.3</a:t>
            </a:r>
          </a:p>
        </p:txBody>
      </p:sp>
      <p:sp>
        <p:nvSpPr>
          <p:cNvPr id="17" name="TextBox 16"/>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3  ·  QUERY SELECTORS: COMPARISON  ·  BLUEPRINT  ·  OWNER: ____________</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Combine them: a range</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Two operators, one field, one range.</a:t>
            </a:r>
          </a:p>
        </p:txBody>
      </p:sp>
      <p:sp>
        <p:nvSpPr>
          <p:cNvPr id="6" name="Rectangle 5"/>
          <p:cNvSpPr/>
          <p:nvPr/>
        </p:nvSpPr>
        <p:spPr>
          <a:xfrm>
            <a:off x="548640" y="1737360"/>
            <a:ext cx="7040880" cy="996696"/>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6931152" cy="667512"/>
          </a:xfrm>
          <a:prstGeom prst="rect">
            <a:avLst/>
          </a:prstGeom>
          <a:noFill/>
        </p:spPr>
        <p:txBody>
          <a:bodyPr wrap="square" anchor="t" lIns="73152" rIns="73152" tIns="73152" bIns="73152">
            <a:spAutoFit/>
          </a:bodyPr>
          <a:lstStyle/>
          <a:p>
            <a:pPr algn="l">
              <a:lnSpc>
                <a:spcPct val="100000"/>
              </a:lnSpc>
            </a:pPr>
            <a:r>
              <a:rPr sz="1535" b="0">
                <a:solidFill>
                  <a:srgbClr val="E6ECF2"/>
                </a:solidFill>
                <a:latin typeface="Consolas"/>
              </a:rPr>
              <a:t>&gt; db.students.find({"age" : {"$gte" : 18, "$lte" : 30}},</a:t>
            </a:r>
          </a:p>
          <a:p>
            <a:pPr algn="l">
              <a:lnSpc>
                <a:spcPct val="100000"/>
              </a:lnSpc>
            </a:pPr>
            <a:r>
              <a:rPr sz="1535" b="0">
                <a:solidFill>
                  <a:srgbClr val="E6ECF2"/>
                </a:solidFill>
                <a:latin typeface="Consolas"/>
              </a:rPr>
              <a:t>                   {"_id" : 0})</a:t>
            </a:r>
          </a:p>
        </p:txBody>
      </p:sp>
      <p:sp>
        <p:nvSpPr>
          <p:cNvPr id="9" name="Rectangle 8"/>
          <p:cNvSpPr/>
          <p:nvPr/>
        </p:nvSpPr>
        <p:spPr>
          <a:xfrm>
            <a:off x="548640" y="2825496"/>
            <a:ext cx="7040880" cy="3483864"/>
          </a:xfrm>
          <a:prstGeom prst="rect">
            <a:avLst/>
          </a:prstGeom>
          <a:solidFill>
            <a:srgbClr val="FFF4E5"/>
          </a:solidFill>
          <a:ln w="15875">
            <a:solidFill>
              <a:srgbClr val="D948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825496"/>
            <a:ext cx="7040880" cy="3483864"/>
          </a:xfrm>
          <a:prstGeom prst="rect">
            <a:avLst/>
          </a:prstGeom>
          <a:noFill/>
        </p:spPr>
        <p:txBody>
          <a:bodyPr wrap="square" anchor="ctr" lIns="228600" rIns="228600" tIns="228600" bIns="228600">
            <a:spAutoFit/>
          </a:bodyPr>
          <a:lstStyle/>
          <a:p>
            <a:pPr algn="ctr">
              <a:lnSpc>
                <a:spcPct val="110000"/>
              </a:lnSpc>
            </a:pPr>
            <a:r>
              <a:rPr sz="1400" b="1">
                <a:solidFill>
                  <a:srgbClr val="D9480F"/>
                </a:solidFill>
                <a:latin typeface="Arial"/>
              </a:rPr>
              <a:t>YOUR OUTPUT GOES HERE</a:t>
            </a:r>
          </a:p>
          <a:p>
            <a:pPr algn="ctr">
              <a:lnSpc>
                <a:spcPct val="110000"/>
              </a:lnSpc>
            </a:pPr>
            <a:r>
              <a:rPr sz="1300" b="0">
                <a:solidFill>
                  <a:srgbClr val="14202E"/>
                </a:solidFill>
                <a:latin typeface="Arial"/>
              </a:rPr>
              <a:t>Run the command in mongosh or Compass (seed lines are in your guide), then paste the real output or a screenshot.</a:t>
            </a:r>
          </a:p>
        </p:txBody>
      </p:sp>
      <p:sp>
        <p:nvSpPr>
          <p:cNvPr id="11" name="TextBox 10"/>
          <p:cNvSpPr txBox="1"/>
          <p:nvPr/>
        </p:nvSpPr>
        <p:spPr>
          <a:xfrm>
            <a:off x="7863840" y="1737360"/>
            <a:ext cx="3916375" cy="4480560"/>
          </a:xfrm>
          <a:prstGeom prst="rect">
            <a:avLst/>
          </a:prstGeom>
          <a:noFill/>
        </p:spPr>
        <p:txBody>
          <a:bodyPr wrap="square" anchor="t" lIns="73152" rIns="73152" tIns="73152" bIns="73152">
            <a:spAutoFit/>
          </a:bodyPr>
          <a:lstStyle/>
          <a:p>
            <a:pPr algn="l">
              <a:lnSpc>
                <a:spcPct val="115000"/>
              </a:lnSpc>
            </a:pPr>
            <a:r>
              <a:rPr sz="1700" b="1">
                <a:solidFill>
                  <a:srgbClr val="D9480F"/>
                </a:solidFill>
                <a:latin typeface="Arial"/>
              </a:rPr>
              <a:t>▸  </a:t>
            </a:r>
            <a:r>
              <a:rPr sz="1700" b="0">
                <a:solidFill>
                  <a:srgbClr val="14202E"/>
                </a:solidFill>
                <a:latin typeface="Arial"/>
              </a:rPr>
              <a:t>Explain in your own words:</a:t>
            </a:r>
          </a:p>
          <a:p>
            <a:pPr algn="l">
              <a:lnSpc>
                <a:spcPct val="115000"/>
              </a:lnSpc>
            </a:pPr>
            <a:r>
              <a:rPr sz="1700" b="1">
                <a:solidFill>
                  <a:srgbClr val="D9480F"/>
                </a:solidFill>
                <a:latin typeface="Arial"/>
              </a:rPr>
              <a:t>▸  </a:t>
            </a:r>
            <a:r>
              <a:rPr sz="1700" b="0">
                <a:solidFill>
                  <a:srgbClr val="14202E"/>
                </a:solidFill>
                <a:latin typeface="Arial"/>
              </a:rPr>
              <a:t>______________________</a:t>
            </a:r>
          </a:p>
          <a:p>
            <a:pPr algn="l">
              <a:lnSpc>
                <a:spcPct val="115000"/>
              </a:lnSpc>
            </a:pPr>
            <a:r>
              <a:rPr sz="1700" b="1">
                <a:solidFill>
                  <a:srgbClr val="D9480F"/>
                </a:solidFill>
                <a:latin typeface="Arial"/>
              </a:rPr>
              <a:t>▸  </a:t>
            </a:r>
            <a:r>
              <a:rPr sz="1700" b="0">
                <a:solidFill>
                  <a:srgbClr val="14202E"/>
                </a:solidFill>
                <a:latin typeface="Arial"/>
              </a:rPr>
              <a:t>______________________</a:t>
            </a:r>
          </a:p>
          <a:p>
            <a:pPr algn="l">
              <a:lnSpc>
                <a:spcPct val="115000"/>
              </a:lnSpc>
            </a:pPr>
            <a:r>
              <a:rPr sz="1700" b="1">
                <a:solidFill>
                  <a:srgbClr val="D9480F"/>
                </a:solidFill>
                <a:latin typeface="Arial"/>
              </a:rPr>
              <a:t>▸  </a:t>
            </a:r>
            <a:r>
              <a:rPr sz="1700" b="0">
                <a:solidFill>
                  <a:srgbClr val="14202E"/>
                </a:solidFill>
                <a:latin typeface="Arial"/>
              </a:rPr>
              <a:t>Hint: speaker notes.</a:t>
            </a:r>
          </a:p>
        </p:txBody>
      </p:sp>
      <p:sp>
        <p:nvSpPr>
          <p:cNvPr id="12" name="TextBox 11"/>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p.3</a:t>
            </a:r>
          </a:p>
        </p:txBody>
      </p:sp>
      <p:sp>
        <p:nvSpPr>
          <p:cNvPr id="13" name="TextBox 12"/>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B42318"/>
                </a:solidFill>
                <a:latin typeface="Arial"/>
              </a:rPr>
              <a:t>PART 3  ·  QUERY SELECTORS: COMPARISON  ·  BLUEPRINT  ·  OWNER: ____________</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Trap: a number stored as text</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"20" is text, not twenty.</a:t>
            </a:r>
          </a:p>
        </p:txBody>
      </p:sp>
      <p:sp>
        <p:nvSpPr>
          <p:cNvPr id="6" name="Rectangle 5"/>
          <p:cNvSpPr/>
          <p:nvPr/>
        </p:nvSpPr>
        <p:spPr>
          <a:xfrm>
            <a:off x="548640" y="1737360"/>
            <a:ext cx="7040880" cy="1490472"/>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6931152" cy="1161288"/>
          </a:xfrm>
          <a:prstGeom prst="rect">
            <a:avLst/>
          </a:prstGeom>
          <a:noFill/>
        </p:spPr>
        <p:txBody>
          <a:bodyPr wrap="square" anchor="t" lIns="73152" rIns="73152" tIns="73152" bIns="73152">
            <a:spAutoFit/>
          </a:bodyPr>
          <a:lstStyle/>
          <a:p>
            <a:pPr algn="l">
              <a:lnSpc>
                <a:spcPct val="100000"/>
              </a:lnSpc>
            </a:pPr>
            <a:r>
              <a:rPr sz="1588" b="0">
                <a:solidFill>
                  <a:srgbClr val="7F91A4"/>
                </a:solidFill>
                <a:latin typeface="Consolas"/>
              </a:rPr>
              <a:t>  // Fay's age was typed as a string</a:t>
            </a:r>
          </a:p>
          <a:p>
            <a:pPr algn="l">
              <a:lnSpc>
                <a:spcPct val="100000"/>
              </a:lnSpc>
            </a:pPr>
            <a:r>
              <a:rPr sz="1588" b="0">
                <a:solidFill>
                  <a:srgbClr val="E6ECF2"/>
                </a:solidFill>
                <a:latin typeface="Consolas"/>
              </a:rPr>
              <a:t>&gt; db.students.insertOne({"name" : "Fay", "age" : "20"})</a:t>
            </a:r>
          </a:p>
          <a:p>
            <a:pPr algn="l">
              <a:lnSpc>
                <a:spcPct val="100000"/>
              </a:lnSpc>
            </a:pPr>
            <a:r>
              <a:rPr sz="1588" b="0">
                <a:solidFill>
                  <a:srgbClr val="E6ECF2"/>
                </a:solidFill>
                <a:latin typeface="Consolas"/>
              </a:rPr>
              <a:t>&gt; db.students.find({"age" : {"$gte" : 18}},</a:t>
            </a:r>
          </a:p>
          <a:p>
            <a:pPr algn="l">
              <a:lnSpc>
                <a:spcPct val="100000"/>
              </a:lnSpc>
            </a:pPr>
            <a:r>
              <a:rPr sz="1588" b="0">
                <a:solidFill>
                  <a:srgbClr val="E6ECF2"/>
                </a:solidFill>
                <a:latin typeface="Consolas"/>
              </a:rPr>
              <a:t>                   {"_id" : 0, "name" : 1})</a:t>
            </a:r>
          </a:p>
        </p:txBody>
      </p:sp>
      <p:sp>
        <p:nvSpPr>
          <p:cNvPr id="9" name="Rectangle 8"/>
          <p:cNvSpPr/>
          <p:nvPr/>
        </p:nvSpPr>
        <p:spPr>
          <a:xfrm>
            <a:off x="548640" y="3319272"/>
            <a:ext cx="7040880" cy="2990088"/>
          </a:xfrm>
          <a:prstGeom prst="rect">
            <a:avLst/>
          </a:prstGeom>
          <a:solidFill>
            <a:srgbClr val="FFF4E5"/>
          </a:solidFill>
          <a:ln w="15875">
            <a:solidFill>
              <a:srgbClr val="D948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319272"/>
            <a:ext cx="7040880" cy="2990088"/>
          </a:xfrm>
          <a:prstGeom prst="rect">
            <a:avLst/>
          </a:prstGeom>
          <a:noFill/>
        </p:spPr>
        <p:txBody>
          <a:bodyPr wrap="square" anchor="ctr" lIns="228600" rIns="228600" tIns="228600" bIns="228600">
            <a:spAutoFit/>
          </a:bodyPr>
          <a:lstStyle/>
          <a:p>
            <a:pPr algn="ctr">
              <a:lnSpc>
                <a:spcPct val="110000"/>
              </a:lnSpc>
            </a:pPr>
            <a:r>
              <a:rPr sz="1400" b="1">
                <a:solidFill>
                  <a:srgbClr val="D9480F"/>
                </a:solidFill>
                <a:latin typeface="Arial"/>
              </a:rPr>
              <a:t>YOUR OUTPUT GOES HERE</a:t>
            </a:r>
          </a:p>
          <a:p>
            <a:pPr algn="ctr">
              <a:lnSpc>
                <a:spcPct val="110000"/>
              </a:lnSpc>
            </a:pPr>
            <a:r>
              <a:rPr sz="1300" b="0">
                <a:solidFill>
                  <a:srgbClr val="14202E"/>
                </a:solidFill>
                <a:latin typeface="Arial"/>
              </a:rPr>
              <a:t>Run the command in mongosh or Compass (seed lines are in your guide), then paste the real output or a screenshot.</a:t>
            </a:r>
          </a:p>
        </p:txBody>
      </p:sp>
      <p:sp>
        <p:nvSpPr>
          <p:cNvPr id="11" name="TextBox 10"/>
          <p:cNvSpPr txBox="1"/>
          <p:nvPr/>
        </p:nvSpPr>
        <p:spPr>
          <a:xfrm>
            <a:off x="7863840" y="1737360"/>
            <a:ext cx="3916375" cy="4480560"/>
          </a:xfrm>
          <a:prstGeom prst="rect">
            <a:avLst/>
          </a:prstGeom>
          <a:noFill/>
        </p:spPr>
        <p:txBody>
          <a:bodyPr wrap="square" anchor="t" lIns="73152" rIns="73152" tIns="73152" bIns="73152">
            <a:spAutoFit/>
          </a:bodyPr>
          <a:lstStyle/>
          <a:p>
            <a:pPr algn="l">
              <a:lnSpc>
                <a:spcPct val="115000"/>
              </a:lnSpc>
            </a:pPr>
            <a:r>
              <a:rPr sz="1700" b="1">
                <a:solidFill>
                  <a:srgbClr val="D9480F"/>
                </a:solidFill>
                <a:latin typeface="Arial"/>
              </a:rPr>
              <a:t>▸  </a:t>
            </a:r>
            <a:r>
              <a:rPr sz="1700" b="0">
                <a:solidFill>
                  <a:srgbClr val="14202E"/>
                </a:solidFill>
                <a:latin typeface="Arial"/>
              </a:rPr>
              <a:t>Explain in your own words:</a:t>
            </a:r>
          </a:p>
          <a:p>
            <a:pPr algn="l">
              <a:lnSpc>
                <a:spcPct val="115000"/>
              </a:lnSpc>
            </a:pPr>
            <a:r>
              <a:rPr sz="1700" b="1">
                <a:solidFill>
                  <a:srgbClr val="D9480F"/>
                </a:solidFill>
                <a:latin typeface="Arial"/>
              </a:rPr>
              <a:t>▸  </a:t>
            </a:r>
            <a:r>
              <a:rPr sz="1700" b="0">
                <a:solidFill>
                  <a:srgbClr val="14202E"/>
                </a:solidFill>
                <a:latin typeface="Arial"/>
              </a:rPr>
              <a:t>______________________</a:t>
            </a:r>
          </a:p>
          <a:p>
            <a:pPr algn="l">
              <a:lnSpc>
                <a:spcPct val="115000"/>
              </a:lnSpc>
            </a:pPr>
            <a:r>
              <a:rPr sz="1700" b="1">
                <a:solidFill>
                  <a:srgbClr val="D9480F"/>
                </a:solidFill>
                <a:latin typeface="Arial"/>
              </a:rPr>
              <a:t>▸  </a:t>
            </a:r>
            <a:r>
              <a:rPr sz="1700" b="0">
                <a:solidFill>
                  <a:srgbClr val="14202E"/>
                </a:solidFill>
                <a:latin typeface="Arial"/>
              </a:rPr>
              <a:t>______________________</a:t>
            </a:r>
          </a:p>
          <a:p>
            <a:pPr algn="l">
              <a:lnSpc>
                <a:spcPct val="115000"/>
              </a:lnSpc>
            </a:pPr>
            <a:r>
              <a:rPr sz="1700" b="1">
                <a:solidFill>
                  <a:srgbClr val="D9480F"/>
                </a:solidFill>
                <a:latin typeface="Arial"/>
              </a:rPr>
              <a:t>▸  </a:t>
            </a:r>
            <a:r>
              <a:rPr sz="1700" b="0">
                <a:solidFill>
                  <a:srgbClr val="14202E"/>
                </a:solidFill>
                <a:latin typeface="Arial"/>
              </a:rPr>
              <a:t>Hint: speaker notes.</a:t>
            </a:r>
          </a:p>
        </p:txBody>
      </p:sp>
      <p:sp>
        <p:nvSpPr>
          <p:cNvPr id="12" name="TextBox 11"/>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mongosh 2.3.8 output</a:t>
            </a:r>
          </a:p>
        </p:txBody>
      </p:sp>
      <p:sp>
        <p:nvSpPr>
          <p:cNvPr id="13" name="TextBox 12"/>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4202E"/>
        </a:solidFill>
        <a:effectLst/>
      </p:bgPr>
    </p:bg>
    <p:spTree>
      <p:nvGrpSpPr>
        <p:cNvPr id="1" name=""/>
        <p:cNvGrpSpPr/>
        <p:nvPr/>
      </p:nvGrpSpPr>
      <p:grpSpPr/>
      <p:sp>
        <p:nvSpPr>
          <p:cNvPr id="2" name="TextBox 1"/>
          <p:cNvSpPr txBox="1"/>
          <p:nvPr/>
        </p:nvSpPr>
        <p:spPr>
          <a:xfrm>
            <a:off x="548640" y="1280160"/>
            <a:ext cx="3657600" cy="2377440"/>
          </a:xfrm>
          <a:prstGeom prst="rect">
            <a:avLst/>
          </a:prstGeom>
          <a:noFill/>
        </p:spPr>
        <p:txBody>
          <a:bodyPr wrap="square" anchor="t" lIns="73152" rIns="73152" tIns="73152" bIns="73152">
            <a:spAutoFit/>
          </a:bodyPr>
          <a:lstStyle/>
          <a:p>
            <a:pPr algn="l">
              <a:lnSpc>
                <a:spcPct val="110000"/>
              </a:lnSpc>
            </a:pPr>
            <a:r>
              <a:rPr sz="17000" b="1">
                <a:solidFill>
                  <a:srgbClr val="D9480F"/>
                </a:solidFill>
                <a:latin typeface="Arial"/>
              </a:rPr>
              <a:t>4</a:t>
            </a:r>
          </a:p>
        </p:txBody>
      </p:sp>
      <p:sp>
        <p:nvSpPr>
          <p:cNvPr id="3" name="TextBox 2"/>
          <p:cNvSpPr txBox="1"/>
          <p:nvPr/>
        </p:nvSpPr>
        <p:spPr>
          <a:xfrm>
            <a:off x="3840480" y="822960"/>
            <a:ext cx="7863840" cy="1828800"/>
          </a:xfrm>
          <a:prstGeom prst="rect">
            <a:avLst/>
          </a:prstGeom>
          <a:noFill/>
        </p:spPr>
        <p:txBody>
          <a:bodyPr wrap="square" anchor="b" lIns="73152" rIns="73152" tIns="73152" bIns="73152">
            <a:spAutoFit/>
          </a:bodyPr>
          <a:lstStyle/>
          <a:p>
            <a:pPr algn="l">
              <a:lnSpc>
                <a:spcPct val="95000"/>
              </a:lnSpc>
            </a:pPr>
            <a:r>
              <a:rPr sz="4000" b="1">
                <a:solidFill>
                  <a:srgbClr val="FFFFFF"/>
                </a:solidFill>
                <a:latin typeface="Arial"/>
              </a:rPr>
              <a:t>Query Selectors: $in, $or, null</a:t>
            </a:r>
          </a:p>
        </p:txBody>
      </p:sp>
      <p:sp>
        <p:nvSpPr>
          <p:cNvPr id="4" name="TextBox 3"/>
          <p:cNvSpPr txBox="1"/>
          <p:nvPr/>
        </p:nvSpPr>
        <p:spPr>
          <a:xfrm>
            <a:off x="3840480" y="2743200"/>
            <a:ext cx="7863840" cy="548640"/>
          </a:xfrm>
          <a:prstGeom prst="rect">
            <a:avLst/>
          </a:prstGeom>
          <a:noFill/>
        </p:spPr>
        <p:txBody>
          <a:bodyPr wrap="square" anchor="t" lIns="73152" rIns="73152" tIns="73152" bIns="73152">
            <a:spAutoFit/>
          </a:bodyPr>
          <a:lstStyle/>
          <a:p>
            <a:pPr algn="l">
              <a:lnSpc>
                <a:spcPct val="110000"/>
              </a:lnSpc>
            </a:pPr>
            <a:r>
              <a:rPr sz="2000" b="0">
                <a:solidFill>
                  <a:srgbClr val="9FE0C9"/>
                </a:solidFill>
                <a:latin typeface="Consolas"/>
              </a:rPr>
              <a:t>$in · $or · null</a:t>
            </a:r>
          </a:p>
        </p:txBody>
      </p:sp>
      <p:sp>
        <p:nvSpPr>
          <p:cNvPr id="5" name="TextBox 4"/>
          <p:cNvSpPr txBox="1"/>
          <p:nvPr/>
        </p:nvSpPr>
        <p:spPr>
          <a:xfrm>
            <a:off x="3840480" y="3474720"/>
            <a:ext cx="7863840" cy="1097280"/>
          </a:xfrm>
          <a:prstGeom prst="rect">
            <a:avLst/>
          </a:prstGeom>
          <a:noFill/>
        </p:spPr>
        <p:txBody>
          <a:bodyPr wrap="square" anchor="t" lIns="73152" rIns="73152" tIns="73152" bIns="73152">
            <a:spAutoFit/>
          </a:bodyPr>
          <a:lstStyle/>
          <a:p>
            <a:pPr algn="l">
              <a:lnSpc>
                <a:spcPct val="110000"/>
              </a:lnSpc>
            </a:pPr>
            <a:r>
              <a:rPr sz="2800" b="0">
                <a:solidFill>
                  <a:srgbClr val="F2B27A"/>
                </a:solidFill>
                <a:latin typeface="Arial"/>
              </a:rPr>
              <a:t>“One field, many values. Many fields, any match.”</a:t>
            </a:r>
          </a:p>
        </p:txBody>
      </p:sp>
      <p:sp>
        <p:nvSpPr>
          <p:cNvPr id="6" name="TextBox 5"/>
          <p:cNvSpPr txBox="1"/>
          <p:nvPr/>
        </p:nvSpPr>
        <p:spPr>
          <a:xfrm>
            <a:off x="3840480" y="4846320"/>
            <a:ext cx="7863840" cy="548640"/>
          </a:xfrm>
          <a:prstGeom prst="rect">
            <a:avLst/>
          </a:prstGeom>
          <a:noFill/>
        </p:spPr>
        <p:txBody>
          <a:bodyPr wrap="square" anchor="t" lIns="73152" rIns="73152" tIns="73152" bIns="73152">
            <a:spAutoFit/>
          </a:bodyPr>
          <a:lstStyle/>
          <a:p>
            <a:pPr algn="l">
              <a:lnSpc>
                <a:spcPct val="110000"/>
              </a:lnSpc>
            </a:pPr>
            <a:r>
              <a:rPr sz="2000" b="0">
                <a:solidFill>
                  <a:srgbClr val="E6ECF2"/>
                </a:solidFill>
                <a:latin typeface="Arial"/>
              </a:rPr>
              <a:t>Presenter: ____________________</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4  ·  QUERY SELECTORS: $IN, $OR, NULL  ·  BLUEPRINT  ·  OWNER: ____________</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$in: any of these values, one field</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$in is a guest list for one field.</a:t>
            </a:r>
          </a:p>
        </p:txBody>
      </p:sp>
      <p:sp>
        <p:nvSpPr>
          <p:cNvPr id="6" name="Rectangle 5"/>
          <p:cNvSpPr/>
          <p:nvPr/>
        </p:nvSpPr>
        <p:spPr>
          <a:xfrm>
            <a:off x="548640" y="1737360"/>
            <a:ext cx="7040880" cy="996696"/>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6931152" cy="667512"/>
          </a:xfrm>
          <a:prstGeom prst="rect">
            <a:avLst/>
          </a:prstGeom>
          <a:noFill/>
        </p:spPr>
        <p:txBody>
          <a:bodyPr wrap="square" anchor="t" lIns="73152" rIns="73152" tIns="73152" bIns="73152">
            <a:spAutoFit/>
          </a:bodyPr>
          <a:lstStyle/>
          <a:p>
            <a:pPr algn="l">
              <a:lnSpc>
                <a:spcPct val="100000"/>
              </a:lnSpc>
            </a:pPr>
            <a:r>
              <a:rPr sz="1480" b="0">
                <a:solidFill>
                  <a:srgbClr val="E6ECF2"/>
                </a:solidFill>
                <a:latin typeface="Consolas"/>
              </a:rPr>
              <a:t>&gt; db.raffle.find({"ticket_no" : {"$in" : [725, 542, 390]}},</a:t>
            </a:r>
          </a:p>
          <a:p>
            <a:pPr algn="l">
              <a:lnSpc>
                <a:spcPct val="100000"/>
              </a:lnSpc>
            </a:pPr>
            <a:r>
              <a:rPr sz="1480" b="0">
                <a:solidFill>
                  <a:srgbClr val="E6ECF2"/>
                </a:solidFill>
                <a:latin typeface="Consolas"/>
              </a:rPr>
              <a:t>                 {"_id" : 0})</a:t>
            </a:r>
          </a:p>
        </p:txBody>
      </p:sp>
      <p:sp>
        <p:nvSpPr>
          <p:cNvPr id="9" name="Rectangle 8"/>
          <p:cNvSpPr/>
          <p:nvPr/>
        </p:nvSpPr>
        <p:spPr>
          <a:xfrm>
            <a:off x="548640" y="2825496"/>
            <a:ext cx="7040880" cy="3483864"/>
          </a:xfrm>
          <a:prstGeom prst="rect">
            <a:avLst/>
          </a:prstGeom>
          <a:solidFill>
            <a:srgbClr val="FFF4E5"/>
          </a:solidFill>
          <a:ln w="15875">
            <a:solidFill>
              <a:srgbClr val="D948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825496"/>
            <a:ext cx="7040880" cy="3483864"/>
          </a:xfrm>
          <a:prstGeom prst="rect">
            <a:avLst/>
          </a:prstGeom>
          <a:noFill/>
        </p:spPr>
        <p:txBody>
          <a:bodyPr wrap="square" anchor="ctr" lIns="228600" rIns="228600" tIns="228600" bIns="228600">
            <a:spAutoFit/>
          </a:bodyPr>
          <a:lstStyle/>
          <a:p>
            <a:pPr algn="ctr">
              <a:lnSpc>
                <a:spcPct val="110000"/>
              </a:lnSpc>
            </a:pPr>
            <a:r>
              <a:rPr sz="1400" b="1">
                <a:solidFill>
                  <a:srgbClr val="D9480F"/>
                </a:solidFill>
                <a:latin typeface="Arial"/>
              </a:rPr>
              <a:t>YOUR OUTPUT GOES HERE</a:t>
            </a:r>
          </a:p>
          <a:p>
            <a:pPr algn="ctr">
              <a:lnSpc>
                <a:spcPct val="110000"/>
              </a:lnSpc>
            </a:pPr>
            <a:r>
              <a:rPr sz="1300" b="0">
                <a:solidFill>
                  <a:srgbClr val="14202E"/>
                </a:solidFill>
                <a:latin typeface="Arial"/>
              </a:rPr>
              <a:t>Run the command in mongosh or Compass (seed lines are in your guide), then paste the real output or a screenshot.</a:t>
            </a:r>
          </a:p>
        </p:txBody>
      </p:sp>
      <p:sp>
        <p:nvSpPr>
          <p:cNvPr id="11" name="TextBox 10"/>
          <p:cNvSpPr txBox="1"/>
          <p:nvPr/>
        </p:nvSpPr>
        <p:spPr>
          <a:xfrm>
            <a:off x="7863840" y="1737360"/>
            <a:ext cx="3916375" cy="4480560"/>
          </a:xfrm>
          <a:prstGeom prst="rect">
            <a:avLst/>
          </a:prstGeom>
          <a:noFill/>
        </p:spPr>
        <p:txBody>
          <a:bodyPr wrap="square" anchor="t" lIns="73152" rIns="73152" tIns="73152" bIns="73152">
            <a:spAutoFit/>
          </a:bodyPr>
          <a:lstStyle/>
          <a:p>
            <a:pPr algn="l">
              <a:lnSpc>
                <a:spcPct val="115000"/>
              </a:lnSpc>
            </a:pPr>
            <a:r>
              <a:rPr sz="1700" b="1">
                <a:solidFill>
                  <a:srgbClr val="D9480F"/>
                </a:solidFill>
                <a:latin typeface="Arial"/>
              </a:rPr>
              <a:t>▸  </a:t>
            </a:r>
            <a:r>
              <a:rPr sz="1700" b="0">
                <a:solidFill>
                  <a:srgbClr val="14202E"/>
                </a:solidFill>
                <a:latin typeface="Arial"/>
              </a:rPr>
              <a:t>Explain in your own words:</a:t>
            </a:r>
          </a:p>
          <a:p>
            <a:pPr algn="l">
              <a:lnSpc>
                <a:spcPct val="115000"/>
              </a:lnSpc>
            </a:pPr>
            <a:r>
              <a:rPr sz="1700" b="1">
                <a:solidFill>
                  <a:srgbClr val="D9480F"/>
                </a:solidFill>
                <a:latin typeface="Arial"/>
              </a:rPr>
              <a:t>▸  </a:t>
            </a:r>
            <a:r>
              <a:rPr sz="1700" b="0">
                <a:solidFill>
                  <a:srgbClr val="14202E"/>
                </a:solidFill>
                <a:latin typeface="Arial"/>
              </a:rPr>
              <a:t>______________________</a:t>
            </a:r>
          </a:p>
          <a:p>
            <a:pPr algn="l">
              <a:lnSpc>
                <a:spcPct val="115000"/>
              </a:lnSpc>
            </a:pPr>
            <a:r>
              <a:rPr sz="1700" b="1">
                <a:solidFill>
                  <a:srgbClr val="D9480F"/>
                </a:solidFill>
                <a:latin typeface="Arial"/>
              </a:rPr>
              <a:t>▸  </a:t>
            </a:r>
            <a:r>
              <a:rPr sz="1700" b="0">
                <a:solidFill>
                  <a:srgbClr val="14202E"/>
                </a:solidFill>
                <a:latin typeface="Arial"/>
              </a:rPr>
              <a:t>______________________</a:t>
            </a:r>
          </a:p>
          <a:p>
            <a:pPr algn="l">
              <a:lnSpc>
                <a:spcPct val="115000"/>
              </a:lnSpc>
            </a:pPr>
            <a:r>
              <a:rPr sz="1700" b="1">
                <a:solidFill>
                  <a:srgbClr val="D9480F"/>
                </a:solidFill>
                <a:latin typeface="Arial"/>
              </a:rPr>
              <a:t>▸  </a:t>
            </a:r>
            <a:r>
              <a:rPr sz="1700" b="0">
                <a:solidFill>
                  <a:srgbClr val="14202E"/>
                </a:solidFill>
                <a:latin typeface="Arial"/>
              </a:rPr>
              <a:t>Hint: speaker notes.</a:t>
            </a:r>
          </a:p>
        </p:txBody>
      </p:sp>
      <p:sp>
        <p:nvSpPr>
          <p:cNvPr id="12" name="TextBox 11"/>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p.3</a:t>
            </a:r>
          </a:p>
        </p:txBody>
      </p:sp>
      <p:sp>
        <p:nvSpPr>
          <p:cNvPr id="13" name="TextBox 12"/>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4  ·  QUERY SELECTORS: $IN, $OR, NULL  ·  BLUEPRINT  ·  OWNER: ____________</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$or: any of these conditions, any fields</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$or: pass any one test.</a:t>
            </a:r>
          </a:p>
        </p:txBody>
      </p:sp>
      <p:sp>
        <p:nvSpPr>
          <p:cNvPr id="6" name="Rectangle 5"/>
          <p:cNvSpPr/>
          <p:nvPr/>
        </p:nvSpPr>
        <p:spPr>
          <a:xfrm>
            <a:off x="548640" y="1737360"/>
            <a:ext cx="7040880" cy="1243584"/>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6931152" cy="914400"/>
          </a:xfrm>
          <a:prstGeom prst="rect">
            <a:avLst/>
          </a:prstGeom>
          <a:noFill/>
        </p:spPr>
        <p:txBody>
          <a:bodyPr wrap="square" anchor="t" lIns="73152" rIns="73152" tIns="73152" bIns="73152">
            <a:spAutoFit/>
          </a:bodyPr>
          <a:lstStyle/>
          <a:p>
            <a:pPr algn="l">
              <a:lnSpc>
                <a:spcPct val="100000"/>
              </a:lnSpc>
            </a:pPr>
            <a:r>
              <a:rPr sz="1572" b="0">
                <a:solidFill>
                  <a:srgbClr val="E6ECF2"/>
                </a:solidFill>
                <a:latin typeface="Consolas"/>
              </a:rPr>
              <a:t>&gt; db.raffle.find({"$or" : [{"ticket_no" : 725},</a:t>
            </a:r>
          </a:p>
          <a:p>
            <a:pPr algn="l">
              <a:lnSpc>
                <a:spcPct val="100000"/>
              </a:lnSpc>
            </a:pPr>
            <a:r>
              <a:rPr sz="1572" b="0">
                <a:solidFill>
                  <a:srgbClr val="E6ECF2"/>
                </a:solidFill>
                <a:latin typeface="Consolas"/>
              </a:rPr>
              <a:t>                           {"winner" : true}]},</a:t>
            </a:r>
          </a:p>
          <a:p>
            <a:pPr algn="l">
              <a:lnSpc>
                <a:spcPct val="100000"/>
              </a:lnSpc>
            </a:pPr>
            <a:r>
              <a:rPr sz="1572" b="0">
                <a:solidFill>
                  <a:srgbClr val="E6ECF2"/>
                </a:solidFill>
                <a:latin typeface="Consolas"/>
              </a:rPr>
              <a:t>                 {"_id" : 0})</a:t>
            </a:r>
          </a:p>
        </p:txBody>
      </p:sp>
      <p:sp>
        <p:nvSpPr>
          <p:cNvPr id="9" name="Rectangle 8"/>
          <p:cNvSpPr/>
          <p:nvPr/>
        </p:nvSpPr>
        <p:spPr>
          <a:xfrm>
            <a:off x="548640" y="3072384"/>
            <a:ext cx="7040880" cy="3236976"/>
          </a:xfrm>
          <a:prstGeom prst="rect">
            <a:avLst/>
          </a:prstGeom>
          <a:solidFill>
            <a:srgbClr val="FFF4E5"/>
          </a:solidFill>
          <a:ln w="15875">
            <a:solidFill>
              <a:srgbClr val="D948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072384"/>
            <a:ext cx="7040880" cy="3236976"/>
          </a:xfrm>
          <a:prstGeom prst="rect">
            <a:avLst/>
          </a:prstGeom>
          <a:noFill/>
        </p:spPr>
        <p:txBody>
          <a:bodyPr wrap="square" anchor="ctr" lIns="228600" rIns="228600" tIns="228600" bIns="228600">
            <a:spAutoFit/>
          </a:bodyPr>
          <a:lstStyle/>
          <a:p>
            <a:pPr algn="ctr">
              <a:lnSpc>
                <a:spcPct val="110000"/>
              </a:lnSpc>
            </a:pPr>
            <a:r>
              <a:rPr sz="1400" b="1">
                <a:solidFill>
                  <a:srgbClr val="D9480F"/>
                </a:solidFill>
                <a:latin typeface="Arial"/>
              </a:rPr>
              <a:t>YOUR OUTPUT GOES HERE</a:t>
            </a:r>
          </a:p>
          <a:p>
            <a:pPr algn="ctr">
              <a:lnSpc>
                <a:spcPct val="110000"/>
              </a:lnSpc>
            </a:pPr>
            <a:r>
              <a:rPr sz="1300" b="0">
                <a:solidFill>
                  <a:srgbClr val="14202E"/>
                </a:solidFill>
                <a:latin typeface="Arial"/>
              </a:rPr>
              <a:t>Run the command in mongosh or Compass (seed lines are in your guide), then paste the real output or a screenshot.</a:t>
            </a:r>
          </a:p>
        </p:txBody>
      </p:sp>
      <p:sp>
        <p:nvSpPr>
          <p:cNvPr id="11" name="TextBox 10"/>
          <p:cNvSpPr txBox="1"/>
          <p:nvPr/>
        </p:nvSpPr>
        <p:spPr>
          <a:xfrm>
            <a:off x="7863840" y="1737360"/>
            <a:ext cx="3916375" cy="4480560"/>
          </a:xfrm>
          <a:prstGeom prst="rect">
            <a:avLst/>
          </a:prstGeom>
          <a:noFill/>
        </p:spPr>
        <p:txBody>
          <a:bodyPr wrap="square" anchor="t" lIns="73152" rIns="73152" tIns="73152" bIns="73152">
            <a:spAutoFit/>
          </a:bodyPr>
          <a:lstStyle/>
          <a:p>
            <a:pPr algn="l">
              <a:lnSpc>
                <a:spcPct val="115000"/>
              </a:lnSpc>
            </a:pPr>
            <a:r>
              <a:rPr sz="1700" b="1">
                <a:solidFill>
                  <a:srgbClr val="D9480F"/>
                </a:solidFill>
                <a:latin typeface="Arial"/>
              </a:rPr>
              <a:t>▸  </a:t>
            </a:r>
            <a:r>
              <a:rPr sz="1700" b="0">
                <a:solidFill>
                  <a:srgbClr val="14202E"/>
                </a:solidFill>
                <a:latin typeface="Arial"/>
              </a:rPr>
              <a:t>Explain in your own words:</a:t>
            </a:r>
          </a:p>
          <a:p>
            <a:pPr algn="l">
              <a:lnSpc>
                <a:spcPct val="115000"/>
              </a:lnSpc>
            </a:pPr>
            <a:r>
              <a:rPr sz="1700" b="1">
                <a:solidFill>
                  <a:srgbClr val="D9480F"/>
                </a:solidFill>
                <a:latin typeface="Arial"/>
              </a:rPr>
              <a:t>▸  </a:t>
            </a:r>
            <a:r>
              <a:rPr sz="1700" b="0">
                <a:solidFill>
                  <a:srgbClr val="14202E"/>
                </a:solidFill>
                <a:latin typeface="Arial"/>
              </a:rPr>
              <a:t>______________________</a:t>
            </a:r>
          </a:p>
          <a:p>
            <a:pPr algn="l">
              <a:lnSpc>
                <a:spcPct val="115000"/>
              </a:lnSpc>
            </a:pPr>
            <a:r>
              <a:rPr sz="1700" b="1">
                <a:solidFill>
                  <a:srgbClr val="D9480F"/>
                </a:solidFill>
                <a:latin typeface="Arial"/>
              </a:rPr>
              <a:t>▸  </a:t>
            </a:r>
            <a:r>
              <a:rPr sz="1700" b="0">
                <a:solidFill>
                  <a:srgbClr val="14202E"/>
                </a:solidFill>
                <a:latin typeface="Arial"/>
              </a:rPr>
              <a:t>______________________</a:t>
            </a:r>
          </a:p>
          <a:p>
            <a:pPr algn="l">
              <a:lnSpc>
                <a:spcPct val="115000"/>
              </a:lnSpc>
            </a:pPr>
            <a:r>
              <a:rPr sz="1700" b="1">
                <a:solidFill>
                  <a:srgbClr val="D9480F"/>
                </a:solidFill>
                <a:latin typeface="Arial"/>
              </a:rPr>
              <a:t>▸  </a:t>
            </a:r>
            <a:r>
              <a:rPr sz="1700" b="0">
                <a:solidFill>
                  <a:srgbClr val="14202E"/>
                </a:solidFill>
                <a:latin typeface="Arial"/>
              </a:rPr>
              <a:t>Hint: speaker notes.</a:t>
            </a:r>
          </a:p>
        </p:txBody>
      </p:sp>
      <p:sp>
        <p:nvSpPr>
          <p:cNvPr id="12" name="TextBox 11"/>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p.3</a:t>
            </a:r>
          </a:p>
        </p:txBody>
      </p:sp>
      <p:sp>
        <p:nvSpPr>
          <p:cNvPr id="13" name="TextBox 12"/>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B42318"/>
                </a:solidFill>
                <a:latin typeface="Arial"/>
              </a:rPr>
              <a:t>PART 4  ·  QUERY SELECTORS: $IN, $OR, NULL  ·  BLUEPRINT  ·  OWNER: ____________</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Premise check: "$null" is not an operator</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There is no $null. Write null.</a:t>
            </a:r>
          </a:p>
        </p:txBody>
      </p:sp>
      <p:sp>
        <p:nvSpPr>
          <p:cNvPr id="6" name="Rectangle 5"/>
          <p:cNvSpPr/>
          <p:nvPr/>
        </p:nvSpPr>
        <p:spPr>
          <a:xfrm>
            <a:off x="548640" y="1737360"/>
            <a:ext cx="7040880" cy="749808"/>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6931152" cy="420624"/>
          </a:xfrm>
          <a:prstGeom prst="rect">
            <a:avLst/>
          </a:prstGeom>
          <a:noFill/>
        </p:spPr>
        <p:txBody>
          <a:bodyPr wrap="square" anchor="t" lIns="73152" rIns="73152" tIns="73152" bIns="73152">
            <a:spAutoFit/>
          </a:bodyPr>
          <a:lstStyle/>
          <a:p>
            <a:pPr algn="l">
              <a:lnSpc>
                <a:spcPct val="100000"/>
              </a:lnSpc>
            </a:pPr>
            <a:r>
              <a:rPr sz="1423" b="0">
                <a:solidFill>
                  <a:srgbClr val="E6ECF2"/>
                </a:solidFill>
                <a:latin typeface="Consolas"/>
              </a:rPr>
              <a:t>&gt; db.raffle.find({"claimed_by" : {"$null" : true}})</a:t>
            </a:r>
          </a:p>
        </p:txBody>
      </p:sp>
      <p:sp>
        <p:nvSpPr>
          <p:cNvPr id="9" name="Rectangle 8"/>
          <p:cNvSpPr/>
          <p:nvPr/>
        </p:nvSpPr>
        <p:spPr>
          <a:xfrm>
            <a:off x="548640" y="2578608"/>
            <a:ext cx="7040880" cy="3730752"/>
          </a:xfrm>
          <a:prstGeom prst="rect">
            <a:avLst/>
          </a:prstGeom>
          <a:solidFill>
            <a:srgbClr val="FFF4E5"/>
          </a:solidFill>
          <a:ln w="15875">
            <a:solidFill>
              <a:srgbClr val="D948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578608"/>
            <a:ext cx="7040880" cy="3730752"/>
          </a:xfrm>
          <a:prstGeom prst="rect">
            <a:avLst/>
          </a:prstGeom>
          <a:noFill/>
        </p:spPr>
        <p:txBody>
          <a:bodyPr wrap="square" anchor="ctr" lIns="228600" rIns="228600" tIns="228600" bIns="228600">
            <a:spAutoFit/>
          </a:bodyPr>
          <a:lstStyle/>
          <a:p>
            <a:pPr algn="ctr">
              <a:lnSpc>
                <a:spcPct val="110000"/>
              </a:lnSpc>
            </a:pPr>
            <a:r>
              <a:rPr sz="1400" b="1">
                <a:solidFill>
                  <a:srgbClr val="D9480F"/>
                </a:solidFill>
                <a:latin typeface="Arial"/>
              </a:rPr>
              <a:t>YOUR OUTPUT GOES HERE</a:t>
            </a:r>
          </a:p>
          <a:p>
            <a:pPr algn="ctr">
              <a:lnSpc>
                <a:spcPct val="110000"/>
              </a:lnSpc>
            </a:pPr>
            <a:r>
              <a:rPr sz="1300" b="0">
                <a:solidFill>
                  <a:srgbClr val="14202E"/>
                </a:solidFill>
                <a:latin typeface="Arial"/>
              </a:rPr>
              <a:t>Run the command in mongosh or Compass (seed lines are in your guide), then paste the real output or a screenshot.</a:t>
            </a:r>
          </a:p>
        </p:txBody>
      </p:sp>
      <p:sp>
        <p:nvSpPr>
          <p:cNvPr id="11" name="TextBox 10"/>
          <p:cNvSpPr txBox="1"/>
          <p:nvPr/>
        </p:nvSpPr>
        <p:spPr>
          <a:xfrm>
            <a:off x="7863840" y="1737360"/>
            <a:ext cx="3916375" cy="4480560"/>
          </a:xfrm>
          <a:prstGeom prst="rect">
            <a:avLst/>
          </a:prstGeom>
          <a:noFill/>
        </p:spPr>
        <p:txBody>
          <a:bodyPr wrap="square" anchor="t" lIns="73152" rIns="73152" tIns="73152" bIns="73152">
            <a:spAutoFit/>
          </a:bodyPr>
          <a:lstStyle/>
          <a:p>
            <a:pPr algn="l">
              <a:lnSpc>
                <a:spcPct val="115000"/>
              </a:lnSpc>
            </a:pPr>
            <a:r>
              <a:rPr sz="1700" b="1">
                <a:solidFill>
                  <a:srgbClr val="D9480F"/>
                </a:solidFill>
                <a:latin typeface="Arial"/>
              </a:rPr>
              <a:t>▸  </a:t>
            </a:r>
            <a:r>
              <a:rPr sz="1700" b="0">
                <a:solidFill>
                  <a:srgbClr val="14202E"/>
                </a:solidFill>
                <a:latin typeface="Arial"/>
              </a:rPr>
              <a:t>Explain in your own words:</a:t>
            </a:r>
          </a:p>
          <a:p>
            <a:pPr algn="l">
              <a:lnSpc>
                <a:spcPct val="115000"/>
              </a:lnSpc>
            </a:pPr>
            <a:r>
              <a:rPr sz="1700" b="1">
                <a:solidFill>
                  <a:srgbClr val="D9480F"/>
                </a:solidFill>
                <a:latin typeface="Arial"/>
              </a:rPr>
              <a:t>▸  </a:t>
            </a:r>
            <a:r>
              <a:rPr sz="1700" b="0">
                <a:solidFill>
                  <a:srgbClr val="14202E"/>
                </a:solidFill>
                <a:latin typeface="Arial"/>
              </a:rPr>
              <a:t>______________________</a:t>
            </a:r>
          </a:p>
          <a:p>
            <a:pPr algn="l">
              <a:lnSpc>
                <a:spcPct val="115000"/>
              </a:lnSpc>
            </a:pPr>
            <a:r>
              <a:rPr sz="1700" b="1">
                <a:solidFill>
                  <a:srgbClr val="D9480F"/>
                </a:solidFill>
                <a:latin typeface="Arial"/>
              </a:rPr>
              <a:t>▸  </a:t>
            </a:r>
            <a:r>
              <a:rPr sz="1700" b="0">
                <a:solidFill>
                  <a:srgbClr val="14202E"/>
                </a:solidFill>
                <a:latin typeface="Arial"/>
              </a:rPr>
              <a:t>______________________</a:t>
            </a:r>
          </a:p>
          <a:p>
            <a:pPr algn="l">
              <a:lnSpc>
                <a:spcPct val="115000"/>
              </a:lnSpc>
            </a:pPr>
            <a:r>
              <a:rPr sz="1700" b="1">
                <a:solidFill>
                  <a:srgbClr val="D9480F"/>
                </a:solidFill>
                <a:latin typeface="Arial"/>
              </a:rPr>
              <a:t>▸  </a:t>
            </a:r>
            <a:r>
              <a:rPr sz="1700" b="0">
                <a:solidFill>
                  <a:srgbClr val="14202E"/>
                </a:solidFill>
                <a:latin typeface="Arial"/>
              </a:rPr>
              <a:t>Hint: speaker notes.</a:t>
            </a:r>
          </a:p>
        </p:txBody>
      </p:sp>
      <p:sp>
        <p:nvSpPr>
          <p:cNvPr id="12" name="TextBox 11"/>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mongosh 2.3.8 output; MongoDB Manual, Query for Null or Missing Fields</a:t>
            </a:r>
          </a:p>
        </p:txBody>
      </p:sp>
      <p:sp>
        <p:nvSpPr>
          <p:cNvPr id="13" name="TextBox 12"/>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4  ·  QUERY SELECTORS: $IN, $OR, NULL  ·  BLUEPRINT  ·  OWNER: ____________</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null matches null AND missing</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null means 'null or not there'.</a:t>
            </a:r>
          </a:p>
        </p:txBody>
      </p:sp>
      <p:sp>
        <p:nvSpPr>
          <p:cNvPr id="6" name="Rectangle 5"/>
          <p:cNvSpPr/>
          <p:nvPr/>
        </p:nvSpPr>
        <p:spPr>
          <a:xfrm>
            <a:off x="548640" y="1737360"/>
            <a:ext cx="5486400" cy="141732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5376672" cy="1088136"/>
          </a:xfrm>
          <a:prstGeom prst="rect">
            <a:avLst/>
          </a:prstGeom>
          <a:noFill/>
        </p:spPr>
        <p:txBody>
          <a:bodyPr wrap="square" anchor="t" lIns="73152" rIns="73152" tIns="73152" bIns="73152">
            <a:spAutoFit/>
          </a:bodyPr>
          <a:lstStyle/>
          <a:p>
            <a:pPr algn="l">
              <a:lnSpc>
                <a:spcPct val="100000"/>
              </a:lnSpc>
            </a:pPr>
            <a:r>
              <a:rPr sz="1457" b="0">
                <a:solidFill>
                  <a:srgbClr val="E6ECF2"/>
                </a:solidFill>
                <a:latin typeface="Consolas"/>
              </a:rPr>
              <a:t>&gt; db.raffle.find({"claimed_by" : null},</a:t>
            </a:r>
          </a:p>
          <a:p>
            <a:pPr algn="l">
              <a:lnSpc>
                <a:spcPct val="100000"/>
              </a:lnSpc>
            </a:pPr>
            <a:r>
              <a:rPr sz="1457" b="0">
                <a:solidFill>
                  <a:srgbClr val="E6ECF2"/>
                </a:solidFill>
                <a:latin typeface="Consolas"/>
              </a:rPr>
              <a:t>                 {"_id" : 0, "ticket_no" : 1})</a:t>
            </a:r>
          </a:p>
        </p:txBody>
      </p:sp>
      <p:sp>
        <p:nvSpPr>
          <p:cNvPr id="9" name="Rectangle 8"/>
          <p:cNvSpPr/>
          <p:nvPr/>
        </p:nvSpPr>
        <p:spPr>
          <a:xfrm>
            <a:off x="548640" y="3246120"/>
            <a:ext cx="5486400" cy="3017520"/>
          </a:xfrm>
          <a:prstGeom prst="rect">
            <a:avLst/>
          </a:prstGeom>
          <a:solidFill>
            <a:srgbClr val="FFF4E5"/>
          </a:solidFill>
          <a:ln w="15875">
            <a:solidFill>
              <a:srgbClr val="D948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246120"/>
            <a:ext cx="5486400" cy="3017520"/>
          </a:xfrm>
          <a:prstGeom prst="rect">
            <a:avLst/>
          </a:prstGeom>
          <a:noFill/>
        </p:spPr>
        <p:txBody>
          <a:bodyPr wrap="square" anchor="ctr" lIns="228600" rIns="228600" tIns="228600" bIns="228600">
            <a:spAutoFit/>
          </a:bodyPr>
          <a:lstStyle/>
          <a:p>
            <a:pPr algn="ctr">
              <a:lnSpc>
                <a:spcPct val="110000"/>
              </a:lnSpc>
            </a:pPr>
            <a:r>
              <a:rPr sz="1400" b="1">
                <a:solidFill>
                  <a:srgbClr val="D9480F"/>
                </a:solidFill>
                <a:latin typeface="Arial"/>
              </a:rPr>
              <a:t>YOUR OUTPUT GOES HERE</a:t>
            </a:r>
          </a:p>
          <a:p>
            <a:pPr algn="ctr">
              <a:lnSpc>
                <a:spcPct val="110000"/>
              </a:lnSpc>
            </a:pPr>
            <a:r>
              <a:rPr sz="1300" b="0">
                <a:solidFill>
                  <a:srgbClr val="14202E"/>
                </a:solidFill>
                <a:latin typeface="Arial"/>
              </a:rPr>
              <a:t>Run the command in mongosh or Compass (seed lines are in your guide), then paste the real output or a screenshot.</a:t>
            </a:r>
          </a:p>
        </p:txBody>
      </p:sp>
      <p:sp>
        <p:nvSpPr>
          <p:cNvPr id="11" name="Rectangle 10"/>
          <p:cNvSpPr/>
          <p:nvPr/>
        </p:nvSpPr>
        <p:spPr>
          <a:xfrm>
            <a:off x="6153912" y="1737360"/>
            <a:ext cx="5486400" cy="141732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53912" y="1737360"/>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13" name="TextBox 12"/>
          <p:cNvSpPr txBox="1"/>
          <p:nvPr/>
        </p:nvSpPr>
        <p:spPr>
          <a:xfrm>
            <a:off x="6208776" y="2029968"/>
            <a:ext cx="5376672" cy="1088136"/>
          </a:xfrm>
          <a:prstGeom prst="rect">
            <a:avLst/>
          </a:prstGeom>
          <a:noFill/>
        </p:spPr>
        <p:txBody>
          <a:bodyPr wrap="square" anchor="t" lIns="73152" rIns="73152" tIns="73152" bIns="73152">
            <a:spAutoFit/>
          </a:bodyPr>
          <a:lstStyle/>
          <a:p>
            <a:pPr algn="l">
              <a:lnSpc>
                <a:spcPct val="100000"/>
              </a:lnSpc>
            </a:pPr>
            <a:r>
              <a:rPr sz="1264" b="0">
                <a:solidFill>
                  <a:srgbClr val="7F91A4"/>
                </a:solidFill>
                <a:latin typeface="Consolas"/>
              </a:rPr>
              <a:t>  // only documents where the value is really null</a:t>
            </a:r>
          </a:p>
          <a:p>
            <a:pPr algn="l">
              <a:lnSpc>
                <a:spcPct val="100000"/>
              </a:lnSpc>
            </a:pPr>
            <a:r>
              <a:rPr sz="1264" b="0">
                <a:solidFill>
                  <a:srgbClr val="E6ECF2"/>
                </a:solidFill>
                <a:latin typeface="Consolas"/>
              </a:rPr>
              <a:t>&gt; db.raffle.find({"claimed_by" : {"$type" : "null"}},</a:t>
            </a:r>
          </a:p>
          <a:p>
            <a:pPr algn="l">
              <a:lnSpc>
                <a:spcPct val="100000"/>
              </a:lnSpc>
            </a:pPr>
            <a:r>
              <a:rPr sz="1264" b="0">
                <a:solidFill>
                  <a:srgbClr val="E6ECF2"/>
                </a:solidFill>
                <a:latin typeface="Consolas"/>
              </a:rPr>
              <a:t>                 {"_id" : 0, "ticket_no" : 1})</a:t>
            </a:r>
          </a:p>
        </p:txBody>
      </p:sp>
      <p:sp>
        <p:nvSpPr>
          <p:cNvPr id="14" name="Rectangle 13"/>
          <p:cNvSpPr/>
          <p:nvPr/>
        </p:nvSpPr>
        <p:spPr>
          <a:xfrm>
            <a:off x="6153912" y="3246120"/>
            <a:ext cx="5486400" cy="3017520"/>
          </a:xfrm>
          <a:prstGeom prst="rect">
            <a:avLst/>
          </a:prstGeom>
          <a:solidFill>
            <a:srgbClr val="FFF4E5"/>
          </a:solidFill>
          <a:ln w="15875">
            <a:solidFill>
              <a:srgbClr val="D948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53912" y="3246120"/>
            <a:ext cx="5486400" cy="3017520"/>
          </a:xfrm>
          <a:prstGeom prst="rect">
            <a:avLst/>
          </a:prstGeom>
          <a:noFill/>
        </p:spPr>
        <p:txBody>
          <a:bodyPr wrap="square" anchor="ctr" lIns="228600" rIns="228600" tIns="228600" bIns="228600">
            <a:spAutoFit/>
          </a:bodyPr>
          <a:lstStyle/>
          <a:p>
            <a:pPr algn="ctr">
              <a:lnSpc>
                <a:spcPct val="110000"/>
              </a:lnSpc>
            </a:pPr>
            <a:r>
              <a:rPr sz="1400" b="1">
                <a:solidFill>
                  <a:srgbClr val="D9480F"/>
                </a:solidFill>
                <a:latin typeface="Arial"/>
              </a:rPr>
              <a:t>YOUR OUTPUT GOES HERE</a:t>
            </a:r>
          </a:p>
          <a:p>
            <a:pPr algn="ctr">
              <a:lnSpc>
                <a:spcPct val="110000"/>
              </a:lnSpc>
            </a:pPr>
            <a:r>
              <a:rPr sz="1300" b="0">
                <a:solidFill>
                  <a:srgbClr val="14202E"/>
                </a:solidFill>
                <a:latin typeface="Arial"/>
              </a:rPr>
              <a:t>Run the command in mongosh or Compass (seed lines are in your guide), then paste the real output or a screenshot.</a:t>
            </a:r>
          </a:p>
        </p:txBody>
      </p:sp>
      <p:sp>
        <p:nvSpPr>
          <p:cNvPr id="16" name="TextBox 15"/>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MongoDB Manual, Query for Null or Missing Fields (read 2026-10-30)</a:t>
            </a:r>
          </a:p>
        </p:txBody>
      </p:sp>
      <p:sp>
        <p:nvSpPr>
          <p:cNvPr id="17" name="TextBox 16"/>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4202E"/>
        </a:solidFill>
        <a:effectLst/>
      </p:bgPr>
    </p:bg>
    <p:spTree>
      <p:nvGrpSpPr>
        <p:cNvPr id="1" name=""/>
        <p:cNvGrpSpPr/>
        <p:nvPr/>
      </p:nvGrpSpPr>
      <p:grpSpPr/>
      <p:sp>
        <p:nvSpPr>
          <p:cNvPr id="2" name="TextBox 1"/>
          <p:cNvSpPr txBox="1"/>
          <p:nvPr/>
        </p:nvSpPr>
        <p:spPr>
          <a:xfrm>
            <a:off x="548640" y="1280160"/>
            <a:ext cx="3657600" cy="2377440"/>
          </a:xfrm>
          <a:prstGeom prst="rect">
            <a:avLst/>
          </a:prstGeom>
          <a:noFill/>
        </p:spPr>
        <p:txBody>
          <a:bodyPr wrap="square" anchor="t" lIns="73152" rIns="73152" tIns="73152" bIns="73152">
            <a:spAutoFit/>
          </a:bodyPr>
          <a:lstStyle/>
          <a:p>
            <a:pPr algn="l">
              <a:lnSpc>
                <a:spcPct val="110000"/>
              </a:lnSpc>
            </a:pPr>
            <a:r>
              <a:rPr sz="17000" b="1">
                <a:solidFill>
                  <a:srgbClr val="D9480F"/>
                </a:solidFill>
                <a:latin typeface="Arial"/>
              </a:rPr>
              <a:t>5</a:t>
            </a:r>
          </a:p>
        </p:txBody>
      </p:sp>
      <p:sp>
        <p:nvSpPr>
          <p:cNvPr id="3" name="TextBox 2"/>
          <p:cNvSpPr txBox="1"/>
          <p:nvPr/>
        </p:nvSpPr>
        <p:spPr>
          <a:xfrm>
            <a:off x="3840480" y="822960"/>
            <a:ext cx="7863840" cy="1828800"/>
          </a:xfrm>
          <a:prstGeom prst="rect">
            <a:avLst/>
          </a:prstGeom>
          <a:noFill/>
        </p:spPr>
        <p:txBody>
          <a:bodyPr wrap="square" anchor="b" lIns="73152" rIns="73152" tIns="73152" bIns="73152">
            <a:spAutoFit/>
          </a:bodyPr>
          <a:lstStyle/>
          <a:p>
            <a:pPr algn="l">
              <a:lnSpc>
                <a:spcPct val="95000"/>
              </a:lnSpc>
            </a:pPr>
            <a:r>
              <a:rPr sz="4000" b="1">
                <a:solidFill>
                  <a:srgbClr val="FFFFFF"/>
                </a:solidFill>
                <a:latin typeface="Arial"/>
              </a:rPr>
              <a:t>Querying Arrays</a:t>
            </a:r>
          </a:p>
        </p:txBody>
      </p:sp>
      <p:sp>
        <p:nvSpPr>
          <p:cNvPr id="4" name="TextBox 3"/>
          <p:cNvSpPr txBox="1"/>
          <p:nvPr/>
        </p:nvSpPr>
        <p:spPr>
          <a:xfrm>
            <a:off x="3840480" y="2743200"/>
            <a:ext cx="7863840" cy="548640"/>
          </a:xfrm>
          <a:prstGeom prst="rect">
            <a:avLst/>
          </a:prstGeom>
          <a:noFill/>
        </p:spPr>
        <p:txBody>
          <a:bodyPr wrap="square" anchor="t" lIns="73152" rIns="73152" tIns="73152" bIns="73152">
            <a:spAutoFit/>
          </a:bodyPr>
          <a:lstStyle/>
          <a:p>
            <a:pPr algn="l">
              <a:lnSpc>
                <a:spcPct val="110000"/>
              </a:lnSpc>
            </a:pPr>
            <a:r>
              <a:rPr sz="2000" b="0">
                <a:solidFill>
                  <a:srgbClr val="9FE0C9"/>
                </a:solidFill>
                <a:latin typeface="Consolas"/>
              </a:rPr>
              <a:t>array match · $push · $all · $size</a:t>
            </a:r>
          </a:p>
        </p:txBody>
      </p:sp>
      <p:sp>
        <p:nvSpPr>
          <p:cNvPr id="5" name="TextBox 4"/>
          <p:cNvSpPr txBox="1"/>
          <p:nvPr/>
        </p:nvSpPr>
        <p:spPr>
          <a:xfrm>
            <a:off x="3840480" y="3474720"/>
            <a:ext cx="7863840" cy="1097280"/>
          </a:xfrm>
          <a:prstGeom prst="rect">
            <a:avLst/>
          </a:prstGeom>
          <a:noFill/>
        </p:spPr>
        <p:txBody>
          <a:bodyPr wrap="square" anchor="t" lIns="73152" rIns="73152" tIns="73152" bIns="73152">
            <a:spAutoFit/>
          </a:bodyPr>
          <a:lstStyle/>
          <a:p>
            <a:pPr algn="l">
              <a:lnSpc>
                <a:spcPct val="110000"/>
              </a:lnSpc>
            </a:pPr>
            <a:r>
              <a:rPr sz="2800" b="0">
                <a:solidFill>
                  <a:srgbClr val="F2B27A"/>
                </a:solidFill>
                <a:latin typeface="Arial"/>
              </a:rPr>
              <a:t>“Arrays answer like single values.”</a:t>
            </a:r>
          </a:p>
        </p:txBody>
      </p:sp>
      <p:sp>
        <p:nvSpPr>
          <p:cNvPr id="6" name="TextBox 5"/>
          <p:cNvSpPr txBox="1"/>
          <p:nvPr/>
        </p:nvSpPr>
        <p:spPr>
          <a:xfrm>
            <a:off x="3840480" y="4846320"/>
            <a:ext cx="7863840" cy="548640"/>
          </a:xfrm>
          <a:prstGeom prst="rect">
            <a:avLst/>
          </a:prstGeom>
          <a:noFill/>
        </p:spPr>
        <p:txBody>
          <a:bodyPr wrap="square" anchor="t" lIns="73152" rIns="73152" tIns="73152" bIns="73152">
            <a:spAutoFit/>
          </a:bodyPr>
          <a:lstStyle/>
          <a:p>
            <a:pPr algn="l">
              <a:lnSpc>
                <a:spcPct val="110000"/>
              </a:lnSpc>
            </a:pPr>
            <a:r>
              <a:rPr sz="2000" b="0">
                <a:solidFill>
                  <a:srgbClr val="E6ECF2"/>
                </a:solidFill>
                <a:latin typeface="Arial"/>
              </a:rPr>
              <a:t>Presenter: ____________________</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5  ·  QUERYING ARRAYS  ·  BLUEPRINT  ·  OWNER: ____________</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Match one element: just ask for it</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Ask for banana, get every basket with a banana.</a:t>
            </a:r>
          </a:p>
        </p:txBody>
      </p:sp>
      <p:sp>
        <p:nvSpPr>
          <p:cNvPr id="6" name="Rectangle 5"/>
          <p:cNvSpPr/>
          <p:nvPr/>
        </p:nvSpPr>
        <p:spPr>
          <a:xfrm>
            <a:off x="548640" y="1737360"/>
            <a:ext cx="7040880" cy="749808"/>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6931152" cy="420624"/>
          </a:xfrm>
          <a:prstGeom prst="rect">
            <a:avLst/>
          </a:prstGeom>
          <a:noFill/>
        </p:spPr>
        <p:txBody>
          <a:bodyPr wrap="square" anchor="t" lIns="73152" rIns="73152" tIns="73152" bIns="73152">
            <a:spAutoFit/>
          </a:bodyPr>
          <a:lstStyle/>
          <a:p>
            <a:pPr algn="l">
              <a:lnSpc>
                <a:spcPct val="100000"/>
              </a:lnSpc>
            </a:pPr>
            <a:r>
              <a:rPr sz="1423" b="0">
                <a:solidFill>
                  <a:srgbClr val="E6ECF2"/>
                </a:solidFill>
                <a:latin typeface="Consolas"/>
              </a:rPr>
              <a:t>&gt; db.food.find({"fruit" : "banana"})</a:t>
            </a:r>
          </a:p>
        </p:txBody>
      </p:sp>
      <p:sp>
        <p:nvSpPr>
          <p:cNvPr id="9" name="Rectangle 8"/>
          <p:cNvSpPr/>
          <p:nvPr/>
        </p:nvSpPr>
        <p:spPr>
          <a:xfrm>
            <a:off x="548640" y="2578608"/>
            <a:ext cx="7040880" cy="3730752"/>
          </a:xfrm>
          <a:prstGeom prst="rect">
            <a:avLst/>
          </a:prstGeom>
          <a:solidFill>
            <a:srgbClr val="FFF4E5"/>
          </a:solidFill>
          <a:ln w="15875">
            <a:solidFill>
              <a:srgbClr val="D948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578608"/>
            <a:ext cx="7040880" cy="3730752"/>
          </a:xfrm>
          <a:prstGeom prst="rect">
            <a:avLst/>
          </a:prstGeom>
          <a:noFill/>
        </p:spPr>
        <p:txBody>
          <a:bodyPr wrap="square" anchor="ctr" lIns="228600" rIns="228600" tIns="228600" bIns="228600">
            <a:spAutoFit/>
          </a:bodyPr>
          <a:lstStyle/>
          <a:p>
            <a:pPr algn="ctr">
              <a:lnSpc>
                <a:spcPct val="110000"/>
              </a:lnSpc>
            </a:pPr>
            <a:r>
              <a:rPr sz="1400" b="1">
                <a:solidFill>
                  <a:srgbClr val="D9480F"/>
                </a:solidFill>
                <a:latin typeface="Arial"/>
              </a:rPr>
              <a:t>YOUR OUTPUT GOES HERE</a:t>
            </a:r>
          </a:p>
          <a:p>
            <a:pPr algn="ctr">
              <a:lnSpc>
                <a:spcPct val="110000"/>
              </a:lnSpc>
            </a:pPr>
            <a:r>
              <a:rPr sz="1300" b="0">
                <a:solidFill>
                  <a:srgbClr val="14202E"/>
                </a:solidFill>
                <a:latin typeface="Arial"/>
              </a:rPr>
              <a:t>Run the command in mongosh or Compass (seed lines are in your guide), then paste the real output or a screenshot.</a:t>
            </a:r>
          </a:p>
        </p:txBody>
      </p:sp>
      <p:sp>
        <p:nvSpPr>
          <p:cNvPr id="11" name="TextBox 10"/>
          <p:cNvSpPr txBox="1"/>
          <p:nvPr/>
        </p:nvSpPr>
        <p:spPr>
          <a:xfrm>
            <a:off x="7863840" y="1737360"/>
            <a:ext cx="3916375" cy="4480560"/>
          </a:xfrm>
          <a:prstGeom prst="rect">
            <a:avLst/>
          </a:prstGeom>
          <a:noFill/>
        </p:spPr>
        <p:txBody>
          <a:bodyPr wrap="square" anchor="t" lIns="73152" rIns="73152" tIns="73152" bIns="73152">
            <a:spAutoFit/>
          </a:bodyPr>
          <a:lstStyle/>
          <a:p>
            <a:pPr algn="l">
              <a:lnSpc>
                <a:spcPct val="115000"/>
              </a:lnSpc>
            </a:pPr>
            <a:r>
              <a:rPr sz="1700" b="1">
                <a:solidFill>
                  <a:srgbClr val="D9480F"/>
                </a:solidFill>
                <a:latin typeface="Arial"/>
              </a:rPr>
              <a:t>▸  </a:t>
            </a:r>
            <a:r>
              <a:rPr sz="1700" b="0">
                <a:solidFill>
                  <a:srgbClr val="14202E"/>
                </a:solidFill>
                <a:latin typeface="Arial"/>
              </a:rPr>
              <a:t>Explain in your own words:</a:t>
            </a:r>
          </a:p>
          <a:p>
            <a:pPr algn="l">
              <a:lnSpc>
                <a:spcPct val="115000"/>
              </a:lnSpc>
            </a:pPr>
            <a:r>
              <a:rPr sz="1700" b="1">
                <a:solidFill>
                  <a:srgbClr val="D9480F"/>
                </a:solidFill>
                <a:latin typeface="Arial"/>
              </a:rPr>
              <a:t>▸  </a:t>
            </a:r>
            <a:r>
              <a:rPr sz="1700" b="0">
                <a:solidFill>
                  <a:srgbClr val="14202E"/>
                </a:solidFill>
                <a:latin typeface="Arial"/>
              </a:rPr>
              <a:t>______________________</a:t>
            </a:r>
          </a:p>
          <a:p>
            <a:pPr algn="l">
              <a:lnSpc>
                <a:spcPct val="115000"/>
              </a:lnSpc>
            </a:pPr>
            <a:r>
              <a:rPr sz="1700" b="1">
                <a:solidFill>
                  <a:srgbClr val="D9480F"/>
                </a:solidFill>
                <a:latin typeface="Arial"/>
              </a:rPr>
              <a:t>▸  </a:t>
            </a:r>
            <a:r>
              <a:rPr sz="1700" b="0">
                <a:solidFill>
                  <a:srgbClr val="14202E"/>
                </a:solidFill>
                <a:latin typeface="Arial"/>
              </a:rPr>
              <a:t>______________________</a:t>
            </a:r>
          </a:p>
          <a:p>
            <a:pPr algn="l">
              <a:lnSpc>
                <a:spcPct val="115000"/>
              </a:lnSpc>
            </a:pPr>
            <a:r>
              <a:rPr sz="1700" b="1">
                <a:solidFill>
                  <a:srgbClr val="D9480F"/>
                </a:solidFill>
                <a:latin typeface="Arial"/>
              </a:rPr>
              <a:t>▸  </a:t>
            </a:r>
            <a:r>
              <a:rPr sz="1700" b="0">
                <a:solidFill>
                  <a:srgbClr val="14202E"/>
                </a:solidFill>
                <a:latin typeface="Arial"/>
              </a:rPr>
              <a:t>Hint: speaker notes.</a:t>
            </a:r>
          </a:p>
        </p:txBody>
      </p:sp>
      <p:sp>
        <p:nvSpPr>
          <p:cNvPr id="12" name="TextBox 11"/>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p.4</a:t>
            </a:r>
          </a:p>
        </p:txBody>
      </p:sp>
      <p:sp>
        <p:nvSpPr>
          <p:cNvPr id="13" name="TextBox 12"/>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5  ·  QUERYING ARRAYS  ·  BLUEPRINT  ·  OWNER: ____________</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Insert an element: $push</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$push adds to the end.</a:t>
            </a:r>
          </a:p>
        </p:txBody>
      </p:sp>
      <p:sp>
        <p:nvSpPr>
          <p:cNvPr id="6" name="Rectangle 5"/>
          <p:cNvSpPr/>
          <p:nvPr/>
        </p:nvSpPr>
        <p:spPr>
          <a:xfrm>
            <a:off x="548640" y="1737360"/>
            <a:ext cx="7040880" cy="1984248"/>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6931152" cy="1655064"/>
          </a:xfrm>
          <a:prstGeom prst="rect">
            <a:avLst/>
          </a:prstGeom>
          <a:noFill/>
        </p:spPr>
        <p:txBody>
          <a:bodyPr wrap="square" anchor="t" lIns="73152" rIns="73152" tIns="73152" bIns="73152">
            <a:spAutoFit/>
          </a:bodyPr>
          <a:lstStyle/>
          <a:p>
            <a:pPr algn="l">
              <a:lnSpc>
                <a:spcPct val="100000"/>
              </a:lnSpc>
            </a:pPr>
            <a:r>
              <a:rPr sz="1506" b="0">
                <a:solidFill>
                  <a:srgbClr val="E6ECF2"/>
                </a:solidFill>
                <a:latin typeface="Consolas"/>
              </a:rPr>
              <a:t>&gt; db.food.updateOne({"_id" : 2},</a:t>
            </a:r>
          </a:p>
          <a:p>
            <a:pPr algn="l">
              <a:lnSpc>
                <a:spcPct val="100000"/>
              </a:lnSpc>
            </a:pPr>
            <a:r>
              <a:rPr sz="1506" b="0">
                <a:solidFill>
                  <a:srgbClr val="E6ECF2"/>
                </a:solidFill>
                <a:latin typeface="Consolas"/>
              </a:rPr>
              <a:t>    {"$push" : {"fruit" : "mango"}})</a:t>
            </a:r>
          </a:p>
          <a:p>
            <a:pPr algn="l">
              <a:lnSpc>
                <a:spcPct val="100000"/>
              </a:lnSpc>
            </a:pPr>
            <a:r>
              <a:rPr sz="1506" b="0">
                <a:solidFill>
                  <a:srgbClr val="E6ECF2"/>
                </a:solidFill>
                <a:latin typeface="Consolas"/>
              </a:rPr>
              <a:t>  </a:t>
            </a:r>
          </a:p>
          <a:p>
            <a:pPr algn="l">
              <a:lnSpc>
                <a:spcPct val="100000"/>
              </a:lnSpc>
            </a:pPr>
            <a:r>
              <a:rPr sz="1506" b="0">
                <a:solidFill>
                  <a:srgbClr val="7F91A4"/>
                </a:solidFill>
                <a:latin typeface="Consolas"/>
              </a:rPr>
              <a:t>  // several at once: $each</a:t>
            </a:r>
          </a:p>
          <a:p>
            <a:pPr algn="l">
              <a:lnSpc>
                <a:spcPct val="100000"/>
              </a:lnSpc>
            </a:pPr>
            <a:r>
              <a:rPr sz="1506" b="0">
                <a:solidFill>
                  <a:srgbClr val="E6ECF2"/>
                </a:solidFill>
                <a:latin typeface="Consolas"/>
              </a:rPr>
              <a:t>&gt; db.food.updateOne({"_id" : 3},</a:t>
            </a:r>
          </a:p>
          <a:p>
            <a:pPr algn="l">
              <a:lnSpc>
                <a:spcPct val="100000"/>
              </a:lnSpc>
            </a:pPr>
            <a:r>
              <a:rPr sz="1506" b="0">
                <a:solidFill>
                  <a:srgbClr val="E6ECF2"/>
                </a:solidFill>
                <a:latin typeface="Consolas"/>
              </a:rPr>
              <a:t>    {"$push" : {"fruit" : {"$each" : ["grape", "lime"]}}})</a:t>
            </a:r>
          </a:p>
        </p:txBody>
      </p:sp>
      <p:sp>
        <p:nvSpPr>
          <p:cNvPr id="9" name="Rectangle 8"/>
          <p:cNvSpPr/>
          <p:nvPr/>
        </p:nvSpPr>
        <p:spPr>
          <a:xfrm>
            <a:off x="548640" y="3813048"/>
            <a:ext cx="7040880" cy="2496312"/>
          </a:xfrm>
          <a:prstGeom prst="rect">
            <a:avLst/>
          </a:prstGeom>
          <a:solidFill>
            <a:srgbClr val="FFF4E5"/>
          </a:solidFill>
          <a:ln w="15875">
            <a:solidFill>
              <a:srgbClr val="D948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813048"/>
            <a:ext cx="7040880" cy="2496312"/>
          </a:xfrm>
          <a:prstGeom prst="rect">
            <a:avLst/>
          </a:prstGeom>
          <a:noFill/>
        </p:spPr>
        <p:txBody>
          <a:bodyPr wrap="square" anchor="ctr" lIns="228600" rIns="228600" tIns="228600" bIns="228600">
            <a:spAutoFit/>
          </a:bodyPr>
          <a:lstStyle/>
          <a:p>
            <a:pPr algn="ctr">
              <a:lnSpc>
                <a:spcPct val="110000"/>
              </a:lnSpc>
            </a:pPr>
            <a:r>
              <a:rPr sz="1400" b="1">
                <a:solidFill>
                  <a:srgbClr val="D9480F"/>
                </a:solidFill>
                <a:latin typeface="Arial"/>
              </a:rPr>
              <a:t>YOUR OUTPUT GOES HERE</a:t>
            </a:r>
          </a:p>
          <a:p>
            <a:pPr algn="ctr">
              <a:lnSpc>
                <a:spcPct val="110000"/>
              </a:lnSpc>
            </a:pPr>
            <a:r>
              <a:rPr sz="1300" b="0">
                <a:solidFill>
                  <a:srgbClr val="14202E"/>
                </a:solidFill>
                <a:latin typeface="Arial"/>
              </a:rPr>
              <a:t>Run the command in mongosh or Compass (seed lines are in your guide), then paste the real output or a screenshot.</a:t>
            </a:r>
          </a:p>
        </p:txBody>
      </p:sp>
      <p:sp>
        <p:nvSpPr>
          <p:cNvPr id="11" name="TextBox 10"/>
          <p:cNvSpPr txBox="1"/>
          <p:nvPr/>
        </p:nvSpPr>
        <p:spPr>
          <a:xfrm>
            <a:off x="7863840" y="1737360"/>
            <a:ext cx="3916375" cy="4480560"/>
          </a:xfrm>
          <a:prstGeom prst="rect">
            <a:avLst/>
          </a:prstGeom>
          <a:noFill/>
        </p:spPr>
        <p:txBody>
          <a:bodyPr wrap="square" anchor="t" lIns="73152" rIns="73152" tIns="73152" bIns="73152">
            <a:spAutoFit/>
          </a:bodyPr>
          <a:lstStyle/>
          <a:p>
            <a:pPr algn="l">
              <a:lnSpc>
                <a:spcPct val="115000"/>
              </a:lnSpc>
            </a:pPr>
            <a:r>
              <a:rPr sz="1700" b="1">
                <a:solidFill>
                  <a:srgbClr val="D9480F"/>
                </a:solidFill>
                <a:latin typeface="Arial"/>
              </a:rPr>
              <a:t>▸  </a:t>
            </a:r>
            <a:r>
              <a:rPr sz="1700" b="0">
                <a:solidFill>
                  <a:srgbClr val="14202E"/>
                </a:solidFill>
                <a:latin typeface="Arial"/>
              </a:rPr>
              <a:t>Explain in your own words:</a:t>
            </a:r>
          </a:p>
          <a:p>
            <a:pPr algn="l">
              <a:lnSpc>
                <a:spcPct val="115000"/>
              </a:lnSpc>
            </a:pPr>
            <a:r>
              <a:rPr sz="1700" b="1">
                <a:solidFill>
                  <a:srgbClr val="D9480F"/>
                </a:solidFill>
                <a:latin typeface="Arial"/>
              </a:rPr>
              <a:t>▸  </a:t>
            </a:r>
            <a:r>
              <a:rPr sz="1700" b="0">
                <a:solidFill>
                  <a:srgbClr val="14202E"/>
                </a:solidFill>
                <a:latin typeface="Arial"/>
              </a:rPr>
              <a:t>______________________</a:t>
            </a:r>
          </a:p>
          <a:p>
            <a:pPr algn="l">
              <a:lnSpc>
                <a:spcPct val="115000"/>
              </a:lnSpc>
            </a:pPr>
            <a:r>
              <a:rPr sz="1700" b="1">
                <a:solidFill>
                  <a:srgbClr val="D9480F"/>
                </a:solidFill>
                <a:latin typeface="Arial"/>
              </a:rPr>
              <a:t>▸  </a:t>
            </a:r>
            <a:r>
              <a:rPr sz="1700" b="0">
                <a:solidFill>
                  <a:srgbClr val="14202E"/>
                </a:solidFill>
                <a:latin typeface="Arial"/>
              </a:rPr>
              <a:t>______________________</a:t>
            </a:r>
          </a:p>
          <a:p>
            <a:pPr algn="l">
              <a:lnSpc>
                <a:spcPct val="115000"/>
              </a:lnSpc>
            </a:pPr>
            <a:r>
              <a:rPr sz="1700" b="1">
                <a:solidFill>
                  <a:srgbClr val="D9480F"/>
                </a:solidFill>
                <a:latin typeface="Arial"/>
              </a:rPr>
              <a:t>▸  </a:t>
            </a:r>
            <a:r>
              <a:rPr sz="1700" b="0">
                <a:solidFill>
                  <a:srgbClr val="14202E"/>
                </a:solidFill>
                <a:latin typeface="Arial"/>
              </a:rPr>
              <a:t>Hint: speaker notes.</a:t>
            </a:r>
          </a:p>
        </p:txBody>
      </p:sp>
      <p:sp>
        <p:nvSpPr>
          <p:cNvPr id="12" name="TextBox 11"/>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MongoDB Manual, $push (read 2026-10-30)</a:t>
            </a:r>
          </a:p>
        </p:txBody>
      </p:sp>
      <p:sp>
        <p:nvSpPr>
          <p:cNvPr id="13" name="TextBox 12"/>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5  ·  QUERYING ARRAYS  ·  BLUEPRINT  ·  OWNER: ____________</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$all: must contain every listed element</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$all: has them all, any order.</a:t>
            </a:r>
          </a:p>
        </p:txBody>
      </p:sp>
      <p:sp>
        <p:nvSpPr>
          <p:cNvPr id="6" name="Rectangle 5"/>
          <p:cNvSpPr/>
          <p:nvPr/>
        </p:nvSpPr>
        <p:spPr>
          <a:xfrm>
            <a:off x="548640" y="1737360"/>
            <a:ext cx="7040880" cy="749808"/>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6931152" cy="420624"/>
          </a:xfrm>
          <a:prstGeom prst="rect">
            <a:avLst/>
          </a:prstGeom>
          <a:noFill/>
        </p:spPr>
        <p:txBody>
          <a:bodyPr wrap="square" anchor="t" lIns="73152" rIns="73152" tIns="73152" bIns="73152">
            <a:spAutoFit/>
          </a:bodyPr>
          <a:lstStyle/>
          <a:p>
            <a:pPr algn="l">
              <a:lnSpc>
                <a:spcPct val="100000"/>
              </a:lnSpc>
            </a:pPr>
            <a:r>
              <a:rPr sz="1423" b="0">
                <a:solidFill>
                  <a:srgbClr val="E6ECF2"/>
                </a:solidFill>
                <a:latin typeface="Consolas"/>
              </a:rPr>
              <a:t>&gt; db.food.find({"fruit" : {"$all" : ["apple", "banana"]}})</a:t>
            </a:r>
          </a:p>
        </p:txBody>
      </p:sp>
      <p:sp>
        <p:nvSpPr>
          <p:cNvPr id="9" name="Rectangle 8"/>
          <p:cNvSpPr/>
          <p:nvPr/>
        </p:nvSpPr>
        <p:spPr>
          <a:xfrm>
            <a:off x="548640" y="2578608"/>
            <a:ext cx="7040880" cy="3730752"/>
          </a:xfrm>
          <a:prstGeom prst="rect">
            <a:avLst/>
          </a:prstGeom>
          <a:solidFill>
            <a:srgbClr val="FFF4E5"/>
          </a:solidFill>
          <a:ln w="15875">
            <a:solidFill>
              <a:srgbClr val="D948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578608"/>
            <a:ext cx="7040880" cy="3730752"/>
          </a:xfrm>
          <a:prstGeom prst="rect">
            <a:avLst/>
          </a:prstGeom>
          <a:noFill/>
        </p:spPr>
        <p:txBody>
          <a:bodyPr wrap="square" anchor="ctr" lIns="228600" rIns="228600" tIns="228600" bIns="228600">
            <a:spAutoFit/>
          </a:bodyPr>
          <a:lstStyle/>
          <a:p>
            <a:pPr algn="ctr">
              <a:lnSpc>
                <a:spcPct val="110000"/>
              </a:lnSpc>
            </a:pPr>
            <a:r>
              <a:rPr sz="1400" b="1">
                <a:solidFill>
                  <a:srgbClr val="D9480F"/>
                </a:solidFill>
                <a:latin typeface="Arial"/>
              </a:rPr>
              <a:t>YOUR OUTPUT GOES HERE</a:t>
            </a:r>
          </a:p>
          <a:p>
            <a:pPr algn="ctr">
              <a:lnSpc>
                <a:spcPct val="110000"/>
              </a:lnSpc>
            </a:pPr>
            <a:r>
              <a:rPr sz="1300" b="0">
                <a:solidFill>
                  <a:srgbClr val="14202E"/>
                </a:solidFill>
                <a:latin typeface="Arial"/>
              </a:rPr>
              <a:t>Run the command in mongosh or Compass (seed lines are in your guide), then paste the real output or a screenshot.</a:t>
            </a:r>
          </a:p>
        </p:txBody>
      </p:sp>
      <p:sp>
        <p:nvSpPr>
          <p:cNvPr id="11" name="TextBox 10"/>
          <p:cNvSpPr txBox="1"/>
          <p:nvPr/>
        </p:nvSpPr>
        <p:spPr>
          <a:xfrm>
            <a:off x="7863840" y="1737360"/>
            <a:ext cx="3916375" cy="4480560"/>
          </a:xfrm>
          <a:prstGeom prst="rect">
            <a:avLst/>
          </a:prstGeom>
          <a:noFill/>
        </p:spPr>
        <p:txBody>
          <a:bodyPr wrap="square" anchor="t" lIns="73152" rIns="73152" tIns="73152" bIns="73152">
            <a:spAutoFit/>
          </a:bodyPr>
          <a:lstStyle/>
          <a:p>
            <a:pPr algn="l">
              <a:lnSpc>
                <a:spcPct val="115000"/>
              </a:lnSpc>
            </a:pPr>
            <a:r>
              <a:rPr sz="1700" b="1">
                <a:solidFill>
                  <a:srgbClr val="D9480F"/>
                </a:solidFill>
                <a:latin typeface="Arial"/>
              </a:rPr>
              <a:t>▸  </a:t>
            </a:r>
            <a:r>
              <a:rPr sz="1700" b="0">
                <a:solidFill>
                  <a:srgbClr val="14202E"/>
                </a:solidFill>
                <a:latin typeface="Arial"/>
              </a:rPr>
              <a:t>Explain in your own words:</a:t>
            </a:r>
          </a:p>
          <a:p>
            <a:pPr algn="l">
              <a:lnSpc>
                <a:spcPct val="115000"/>
              </a:lnSpc>
            </a:pPr>
            <a:r>
              <a:rPr sz="1700" b="1">
                <a:solidFill>
                  <a:srgbClr val="D9480F"/>
                </a:solidFill>
                <a:latin typeface="Arial"/>
              </a:rPr>
              <a:t>▸  </a:t>
            </a:r>
            <a:r>
              <a:rPr sz="1700" b="0">
                <a:solidFill>
                  <a:srgbClr val="14202E"/>
                </a:solidFill>
                <a:latin typeface="Arial"/>
              </a:rPr>
              <a:t>______________________</a:t>
            </a:r>
          </a:p>
          <a:p>
            <a:pPr algn="l">
              <a:lnSpc>
                <a:spcPct val="115000"/>
              </a:lnSpc>
            </a:pPr>
            <a:r>
              <a:rPr sz="1700" b="1">
                <a:solidFill>
                  <a:srgbClr val="D9480F"/>
                </a:solidFill>
                <a:latin typeface="Arial"/>
              </a:rPr>
              <a:t>▸  </a:t>
            </a:r>
            <a:r>
              <a:rPr sz="1700" b="0">
                <a:solidFill>
                  <a:srgbClr val="14202E"/>
                </a:solidFill>
                <a:latin typeface="Arial"/>
              </a:rPr>
              <a:t>______________________</a:t>
            </a:r>
          </a:p>
          <a:p>
            <a:pPr algn="l">
              <a:lnSpc>
                <a:spcPct val="115000"/>
              </a:lnSpc>
            </a:pPr>
            <a:r>
              <a:rPr sz="1700" b="1">
                <a:solidFill>
                  <a:srgbClr val="D9480F"/>
                </a:solidFill>
                <a:latin typeface="Arial"/>
              </a:rPr>
              <a:t>▸  </a:t>
            </a:r>
            <a:r>
              <a:rPr sz="1700" b="0">
                <a:solidFill>
                  <a:srgbClr val="14202E"/>
                </a:solidFill>
                <a:latin typeface="Arial"/>
              </a:rPr>
              <a:t>Hint: speaker notes.</a:t>
            </a:r>
          </a:p>
        </p:txBody>
      </p:sp>
      <p:sp>
        <p:nvSpPr>
          <p:cNvPr id="12" name="TextBox 11"/>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p.4</a:t>
            </a:r>
          </a:p>
        </p:txBody>
      </p:sp>
      <p:sp>
        <p:nvSpPr>
          <p:cNvPr id="13" name="TextBox 12"/>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5  ·  QUERYING ARRAYS  ·  BLUEPRINT  ·  OWNER: ____________</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$size: match by array length</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$size counts. Exactly.</a:t>
            </a:r>
          </a:p>
        </p:txBody>
      </p:sp>
      <p:sp>
        <p:nvSpPr>
          <p:cNvPr id="6" name="Rectangle 5"/>
          <p:cNvSpPr/>
          <p:nvPr/>
        </p:nvSpPr>
        <p:spPr>
          <a:xfrm>
            <a:off x="548640" y="1737360"/>
            <a:ext cx="5486400" cy="141732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5376672" cy="1088136"/>
          </a:xfrm>
          <a:prstGeom prst="rect">
            <a:avLst/>
          </a:prstGeom>
          <a:noFill/>
        </p:spPr>
        <p:txBody>
          <a:bodyPr wrap="square" anchor="t" lIns="73152" rIns="73152" tIns="73152" bIns="73152">
            <a:spAutoFit/>
          </a:bodyPr>
          <a:lstStyle/>
          <a:p>
            <a:pPr algn="l">
              <a:lnSpc>
                <a:spcPct val="100000"/>
              </a:lnSpc>
            </a:pPr>
            <a:r>
              <a:rPr sz="1635" b="0">
                <a:solidFill>
                  <a:srgbClr val="E6ECF2"/>
                </a:solidFill>
                <a:latin typeface="Consolas"/>
              </a:rPr>
              <a:t>&gt; db.food.find({"fruit" : {"$size" : 4}})</a:t>
            </a:r>
          </a:p>
          <a:p>
            <a:pPr algn="l">
              <a:lnSpc>
                <a:spcPct val="100000"/>
              </a:lnSpc>
            </a:pPr>
            <a:r>
              <a:rPr sz="1635" b="0">
                <a:solidFill>
                  <a:srgbClr val="7F91A4"/>
                </a:solidFill>
                <a:latin typeface="Consolas"/>
              </a:rPr>
              <a:t>  // after the $push of mango</a:t>
            </a:r>
          </a:p>
        </p:txBody>
      </p:sp>
      <p:sp>
        <p:nvSpPr>
          <p:cNvPr id="9" name="Rectangle 8"/>
          <p:cNvSpPr/>
          <p:nvPr/>
        </p:nvSpPr>
        <p:spPr>
          <a:xfrm>
            <a:off x="548640" y="3246120"/>
            <a:ext cx="5486400" cy="3017520"/>
          </a:xfrm>
          <a:prstGeom prst="rect">
            <a:avLst/>
          </a:prstGeom>
          <a:solidFill>
            <a:srgbClr val="FFF4E5"/>
          </a:solidFill>
          <a:ln w="15875">
            <a:solidFill>
              <a:srgbClr val="D948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246120"/>
            <a:ext cx="5486400" cy="3017520"/>
          </a:xfrm>
          <a:prstGeom prst="rect">
            <a:avLst/>
          </a:prstGeom>
          <a:noFill/>
        </p:spPr>
        <p:txBody>
          <a:bodyPr wrap="square" anchor="ctr" lIns="228600" rIns="228600" tIns="228600" bIns="228600">
            <a:spAutoFit/>
          </a:bodyPr>
          <a:lstStyle/>
          <a:p>
            <a:pPr algn="ctr">
              <a:lnSpc>
                <a:spcPct val="110000"/>
              </a:lnSpc>
            </a:pPr>
            <a:r>
              <a:rPr sz="1400" b="1">
                <a:solidFill>
                  <a:srgbClr val="D9480F"/>
                </a:solidFill>
                <a:latin typeface="Arial"/>
              </a:rPr>
              <a:t>YOUR OUTPUT GOES HERE</a:t>
            </a:r>
          </a:p>
          <a:p>
            <a:pPr algn="ctr">
              <a:lnSpc>
                <a:spcPct val="110000"/>
              </a:lnSpc>
            </a:pPr>
            <a:r>
              <a:rPr sz="1300" b="0">
                <a:solidFill>
                  <a:srgbClr val="14202E"/>
                </a:solidFill>
                <a:latin typeface="Arial"/>
              </a:rPr>
              <a:t>Run the command in mongosh or Compass (seed lines are in your guide), then paste the real output or a screenshot.</a:t>
            </a:r>
          </a:p>
        </p:txBody>
      </p:sp>
      <p:sp>
        <p:nvSpPr>
          <p:cNvPr id="11" name="Rectangle 10"/>
          <p:cNvSpPr/>
          <p:nvPr/>
        </p:nvSpPr>
        <p:spPr>
          <a:xfrm>
            <a:off x="6153912" y="1737360"/>
            <a:ext cx="5486400" cy="141732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53912" y="1737360"/>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13" name="TextBox 12"/>
          <p:cNvSpPr txBox="1"/>
          <p:nvPr/>
        </p:nvSpPr>
        <p:spPr>
          <a:xfrm>
            <a:off x="6208776" y="2029968"/>
            <a:ext cx="5376672" cy="1088136"/>
          </a:xfrm>
          <a:prstGeom prst="rect">
            <a:avLst/>
          </a:prstGeom>
          <a:noFill/>
        </p:spPr>
        <p:txBody>
          <a:bodyPr wrap="square" anchor="t" lIns="73152" rIns="73152" tIns="73152" bIns="73152">
            <a:spAutoFit/>
          </a:bodyPr>
          <a:lstStyle/>
          <a:p>
            <a:pPr algn="l">
              <a:lnSpc>
                <a:spcPct val="100000"/>
              </a:lnSpc>
            </a:pPr>
            <a:r>
              <a:rPr sz="1314" b="0">
                <a:solidFill>
                  <a:srgbClr val="7F91A4"/>
                </a:solidFill>
                <a:latin typeface="Consolas"/>
              </a:rPr>
              <a:t>  // ranges are not allowed</a:t>
            </a:r>
          </a:p>
          <a:p>
            <a:pPr algn="l">
              <a:lnSpc>
                <a:spcPct val="100000"/>
              </a:lnSpc>
            </a:pPr>
            <a:r>
              <a:rPr sz="1314" b="0">
                <a:solidFill>
                  <a:srgbClr val="E6ECF2"/>
                </a:solidFill>
                <a:latin typeface="Consolas"/>
              </a:rPr>
              <a:t>&gt; db.food.find({"fruit" : {"$size" : {"$gt" : 3}}})</a:t>
            </a:r>
          </a:p>
        </p:txBody>
      </p:sp>
      <p:sp>
        <p:nvSpPr>
          <p:cNvPr id="14" name="Rectangle 13"/>
          <p:cNvSpPr/>
          <p:nvPr/>
        </p:nvSpPr>
        <p:spPr>
          <a:xfrm>
            <a:off x="6153912" y="3246120"/>
            <a:ext cx="5486400" cy="3017520"/>
          </a:xfrm>
          <a:prstGeom prst="rect">
            <a:avLst/>
          </a:prstGeom>
          <a:solidFill>
            <a:srgbClr val="FFF4E5"/>
          </a:solidFill>
          <a:ln w="15875">
            <a:solidFill>
              <a:srgbClr val="D948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53912" y="3246120"/>
            <a:ext cx="5486400" cy="3017520"/>
          </a:xfrm>
          <a:prstGeom prst="rect">
            <a:avLst/>
          </a:prstGeom>
          <a:noFill/>
        </p:spPr>
        <p:txBody>
          <a:bodyPr wrap="square" anchor="ctr" lIns="228600" rIns="228600" tIns="228600" bIns="228600">
            <a:spAutoFit/>
          </a:bodyPr>
          <a:lstStyle/>
          <a:p>
            <a:pPr algn="ctr">
              <a:lnSpc>
                <a:spcPct val="110000"/>
              </a:lnSpc>
            </a:pPr>
            <a:r>
              <a:rPr sz="1400" b="1">
                <a:solidFill>
                  <a:srgbClr val="D9480F"/>
                </a:solidFill>
                <a:latin typeface="Arial"/>
              </a:rPr>
              <a:t>YOUR OUTPUT GOES HERE</a:t>
            </a:r>
          </a:p>
          <a:p>
            <a:pPr algn="ctr">
              <a:lnSpc>
                <a:spcPct val="110000"/>
              </a:lnSpc>
            </a:pPr>
            <a:r>
              <a:rPr sz="1300" b="0">
                <a:solidFill>
                  <a:srgbClr val="14202E"/>
                </a:solidFill>
                <a:latin typeface="Arial"/>
              </a:rPr>
              <a:t>Run the command in mongosh or Compass (seed lines are in your guide), then paste the real output or a screenshot.</a:t>
            </a:r>
          </a:p>
        </p:txBody>
      </p:sp>
      <p:sp>
        <p:nvSpPr>
          <p:cNvPr id="16" name="TextBox 15"/>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p.4; mongosh 2.3.8 output</a:t>
            </a:r>
          </a:p>
        </p:txBody>
      </p:sp>
      <p:sp>
        <p:nvSpPr>
          <p:cNvPr id="17" name="TextBox 16"/>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4202E"/>
        </a:solidFill>
        <a:effectLst/>
      </p:bgPr>
    </p:bg>
    <p:spTree>
      <p:nvGrpSpPr>
        <p:cNvPr id="1" name=""/>
        <p:cNvGrpSpPr/>
        <p:nvPr/>
      </p:nvGrpSpPr>
      <p:grpSpPr/>
      <p:sp>
        <p:nvSpPr>
          <p:cNvPr id="2" name="TextBox 1"/>
          <p:cNvSpPr txBox="1"/>
          <p:nvPr/>
        </p:nvSpPr>
        <p:spPr>
          <a:xfrm>
            <a:off x="548640" y="1280160"/>
            <a:ext cx="3657600" cy="2377440"/>
          </a:xfrm>
          <a:prstGeom prst="rect">
            <a:avLst/>
          </a:prstGeom>
          <a:noFill/>
        </p:spPr>
        <p:txBody>
          <a:bodyPr wrap="square" anchor="t" lIns="73152" rIns="73152" tIns="73152" bIns="73152">
            <a:spAutoFit/>
          </a:bodyPr>
          <a:lstStyle/>
          <a:p>
            <a:pPr algn="l">
              <a:lnSpc>
                <a:spcPct val="110000"/>
              </a:lnSpc>
            </a:pPr>
            <a:r>
              <a:rPr sz="17000" b="1">
                <a:solidFill>
                  <a:srgbClr val="D9480F"/>
                </a:solidFill>
                <a:latin typeface="Arial"/>
              </a:rPr>
              <a:t>6</a:t>
            </a:r>
          </a:p>
        </p:txBody>
      </p:sp>
      <p:sp>
        <p:nvSpPr>
          <p:cNvPr id="3" name="TextBox 2"/>
          <p:cNvSpPr txBox="1"/>
          <p:nvPr/>
        </p:nvSpPr>
        <p:spPr>
          <a:xfrm>
            <a:off x="3840480" y="822960"/>
            <a:ext cx="7863840" cy="1828800"/>
          </a:xfrm>
          <a:prstGeom prst="rect">
            <a:avLst/>
          </a:prstGeom>
          <a:noFill/>
        </p:spPr>
        <p:txBody>
          <a:bodyPr wrap="square" anchor="b" lIns="73152" rIns="73152" tIns="73152" bIns="73152">
            <a:spAutoFit/>
          </a:bodyPr>
          <a:lstStyle/>
          <a:p>
            <a:pPr algn="l">
              <a:lnSpc>
                <a:spcPct val="95000"/>
              </a:lnSpc>
            </a:pPr>
            <a:r>
              <a:rPr sz="4000" b="1">
                <a:solidFill>
                  <a:srgbClr val="FFFFFF"/>
                </a:solidFill>
                <a:latin typeface="Arial"/>
              </a:rPr>
              <a:t>Arrays &amp; Embedded Documents</a:t>
            </a:r>
          </a:p>
        </p:txBody>
      </p:sp>
      <p:sp>
        <p:nvSpPr>
          <p:cNvPr id="4" name="TextBox 3"/>
          <p:cNvSpPr txBox="1"/>
          <p:nvPr/>
        </p:nvSpPr>
        <p:spPr>
          <a:xfrm>
            <a:off x="3840480" y="2743200"/>
            <a:ext cx="7863840" cy="548640"/>
          </a:xfrm>
          <a:prstGeom prst="rect">
            <a:avLst/>
          </a:prstGeom>
          <a:noFill/>
        </p:spPr>
        <p:txBody>
          <a:bodyPr wrap="square" anchor="t" lIns="73152" rIns="73152" tIns="73152" bIns="73152">
            <a:spAutoFit/>
          </a:bodyPr>
          <a:lstStyle/>
          <a:p>
            <a:pPr algn="l">
              <a:lnSpc>
                <a:spcPct val="110000"/>
              </a:lnSpc>
            </a:pPr>
            <a:r>
              <a:rPr sz="2000" b="0">
                <a:solidFill>
                  <a:srgbClr val="9FE0C9"/>
                </a:solidFill>
                <a:latin typeface="Consolas"/>
              </a:rPr>
              <a:t>$slice · dot notation · embedded documents</a:t>
            </a:r>
          </a:p>
        </p:txBody>
      </p:sp>
      <p:sp>
        <p:nvSpPr>
          <p:cNvPr id="5" name="TextBox 4"/>
          <p:cNvSpPr txBox="1"/>
          <p:nvPr/>
        </p:nvSpPr>
        <p:spPr>
          <a:xfrm>
            <a:off x="3840480" y="3474720"/>
            <a:ext cx="7863840" cy="1097280"/>
          </a:xfrm>
          <a:prstGeom prst="rect">
            <a:avLst/>
          </a:prstGeom>
          <a:noFill/>
        </p:spPr>
        <p:txBody>
          <a:bodyPr wrap="square" anchor="t" lIns="73152" rIns="73152" tIns="73152" bIns="73152">
            <a:spAutoFit/>
          </a:bodyPr>
          <a:lstStyle/>
          <a:p>
            <a:pPr algn="l">
              <a:lnSpc>
                <a:spcPct val="110000"/>
              </a:lnSpc>
            </a:pPr>
            <a:r>
              <a:rPr sz="2800" b="0">
                <a:solidFill>
                  <a:srgbClr val="F2B27A"/>
                </a:solidFill>
                <a:latin typeface="Arial"/>
              </a:rPr>
              <a:t>“Trim what you see. Reach inside with a dot.”</a:t>
            </a:r>
          </a:p>
        </p:txBody>
      </p:sp>
      <p:sp>
        <p:nvSpPr>
          <p:cNvPr id="6" name="TextBox 5"/>
          <p:cNvSpPr txBox="1"/>
          <p:nvPr/>
        </p:nvSpPr>
        <p:spPr>
          <a:xfrm>
            <a:off x="3840480" y="4846320"/>
            <a:ext cx="7863840" cy="548640"/>
          </a:xfrm>
          <a:prstGeom prst="rect">
            <a:avLst/>
          </a:prstGeom>
          <a:noFill/>
        </p:spPr>
        <p:txBody>
          <a:bodyPr wrap="square" anchor="t" lIns="73152" rIns="73152" tIns="73152" bIns="73152">
            <a:spAutoFit/>
          </a:bodyPr>
          <a:lstStyle/>
          <a:p>
            <a:pPr algn="l">
              <a:lnSpc>
                <a:spcPct val="110000"/>
              </a:lnSpc>
            </a:pPr>
            <a:r>
              <a:rPr sz="2000" b="0">
                <a:solidFill>
                  <a:srgbClr val="E6ECF2"/>
                </a:solidFill>
                <a:latin typeface="Arial"/>
              </a:rPr>
              <a:t>Presenter: ____________________</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6  ·  ARRAYS &amp; EMBEDDED DOCUMENTS  ·  BLUEPRINT  ·  OWNER: ____________</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$slice: first N or last N elements</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Positive from the front, negative from the back.</a:t>
            </a:r>
          </a:p>
        </p:txBody>
      </p:sp>
      <p:sp>
        <p:nvSpPr>
          <p:cNvPr id="6" name="Rectangle 5"/>
          <p:cNvSpPr/>
          <p:nvPr/>
        </p:nvSpPr>
        <p:spPr>
          <a:xfrm>
            <a:off x="548640" y="1737360"/>
            <a:ext cx="7040880" cy="1490472"/>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6931152" cy="1161288"/>
          </a:xfrm>
          <a:prstGeom prst="rect">
            <a:avLst/>
          </a:prstGeom>
          <a:noFill/>
        </p:spPr>
        <p:txBody>
          <a:bodyPr wrap="square" anchor="t" lIns="73152" rIns="73152" tIns="73152" bIns="73152">
            <a:spAutoFit/>
          </a:bodyPr>
          <a:lstStyle/>
          <a:p>
            <a:pPr algn="l">
              <a:lnSpc>
                <a:spcPct val="100000"/>
              </a:lnSpc>
            </a:pPr>
            <a:r>
              <a:rPr sz="1386" b="0">
                <a:solidFill>
                  <a:srgbClr val="7F91A4"/>
                </a:solidFill>
                <a:latin typeface="Consolas"/>
              </a:rPr>
              <a:t>  // a post with 40 comments: c1 ... c40</a:t>
            </a:r>
          </a:p>
          <a:p>
            <a:pPr algn="l">
              <a:lnSpc>
                <a:spcPct val="100000"/>
              </a:lnSpc>
            </a:pPr>
            <a:r>
              <a:rPr sz="1386" b="0">
                <a:solidFill>
                  <a:srgbClr val="E6ECF2"/>
                </a:solidFill>
                <a:latin typeface="Consolas"/>
              </a:rPr>
              <a:t>&gt; db.posts.findOne({"_id" : 1}, {"comments" : {"$slice" : 3}})</a:t>
            </a:r>
          </a:p>
          <a:p>
            <a:pPr algn="l">
              <a:lnSpc>
                <a:spcPct val="100000"/>
              </a:lnSpc>
            </a:pPr>
            <a:r>
              <a:rPr sz="1386" b="0">
                <a:solidFill>
                  <a:srgbClr val="E6ECF2"/>
                </a:solidFill>
                <a:latin typeface="Consolas"/>
              </a:rPr>
              <a:t>  </a:t>
            </a:r>
          </a:p>
          <a:p>
            <a:pPr algn="l">
              <a:lnSpc>
                <a:spcPct val="100000"/>
              </a:lnSpc>
            </a:pPr>
            <a:r>
              <a:rPr sz="1386" b="0">
                <a:solidFill>
                  <a:srgbClr val="E6ECF2"/>
                </a:solidFill>
                <a:latin typeface="Consolas"/>
              </a:rPr>
              <a:t>&gt; db.posts.findOne({"_id" : 1}, {"comments" : {"$slice" : -3}})</a:t>
            </a:r>
          </a:p>
        </p:txBody>
      </p:sp>
      <p:sp>
        <p:nvSpPr>
          <p:cNvPr id="9" name="Rectangle 8"/>
          <p:cNvSpPr/>
          <p:nvPr/>
        </p:nvSpPr>
        <p:spPr>
          <a:xfrm>
            <a:off x="548640" y="3319272"/>
            <a:ext cx="7040880" cy="2990088"/>
          </a:xfrm>
          <a:prstGeom prst="rect">
            <a:avLst/>
          </a:prstGeom>
          <a:solidFill>
            <a:srgbClr val="FFF4E5"/>
          </a:solidFill>
          <a:ln w="15875">
            <a:solidFill>
              <a:srgbClr val="D948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319272"/>
            <a:ext cx="7040880" cy="2990088"/>
          </a:xfrm>
          <a:prstGeom prst="rect">
            <a:avLst/>
          </a:prstGeom>
          <a:noFill/>
        </p:spPr>
        <p:txBody>
          <a:bodyPr wrap="square" anchor="ctr" lIns="228600" rIns="228600" tIns="228600" bIns="228600">
            <a:spAutoFit/>
          </a:bodyPr>
          <a:lstStyle/>
          <a:p>
            <a:pPr algn="ctr">
              <a:lnSpc>
                <a:spcPct val="110000"/>
              </a:lnSpc>
            </a:pPr>
            <a:r>
              <a:rPr sz="1400" b="1">
                <a:solidFill>
                  <a:srgbClr val="D9480F"/>
                </a:solidFill>
                <a:latin typeface="Arial"/>
              </a:rPr>
              <a:t>YOUR OUTPUT GOES HERE</a:t>
            </a:r>
          </a:p>
          <a:p>
            <a:pPr algn="ctr">
              <a:lnSpc>
                <a:spcPct val="110000"/>
              </a:lnSpc>
            </a:pPr>
            <a:r>
              <a:rPr sz="1300" b="0">
                <a:solidFill>
                  <a:srgbClr val="14202E"/>
                </a:solidFill>
                <a:latin typeface="Arial"/>
              </a:rPr>
              <a:t>Run the command in mongosh or Compass (seed lines are in your guide), then paste the real output or a screenshot.</a:t>
            </a:r>
          </a:p>
        </p:txBody>
      </p:sp>
      <p:sp>
        <p:nvSpPr>
          <p:cNvPr id="11" name="TextBox 10"/>
          <p:cNvSpPr txBox="1"/>
          <p:nvPr/>
        </p:nvSpPr>
        <p:spPr>
          <a:xfrm>
            <a:off x="7863840" y="1737360"/>
            <a:ext cx="3916375" cy="4480560"/>
          </a:xfrm>
          <a:prstGeom prst="rect">
            <a:avLst/>
          </a:prstGeom>
          <a:noFill/>
        </p:spPr>
        <p:txBody>
          <a:bodyPr wrap="square" anchor="t" lIns="73152" rIns="73152" tIns="73152" bIns="73152">
            <a:spAutoFit/>
          </a:bodyPr>
          <a:lstStyle/>
          <a:p>
            <a:pPr algn="l">
              <a:lnSpc>
                <a:spcPct val="115000"/>
              </a:lnSpc>
            </a:pPr>
            <a:r>
              <a:rPr sz="1700" b="1">
                <a:solidFill>
                  <a:srgbClr val="D9480F"/>
                </a:solidFill>
                <a:latin typeface="Arial"/>
              </a:rPr>
              <a:t>▸  </a:t>
            </a:r>
            <a:r>
              <a:rPr sz="1700" b="0">
                <a:solidFill>
                  <a:srgbClr val="14202E"/>
                </a:solidFill>
                <a:latin typeface="Arial"/>
              </a:rPr>
              <a:t>Explain in your own words:</a:t>
            </a:r>
          </a:p>
          <a:p>
            <a:pPr algn="l">
              <a:lnSpc>
                <a:spcPct val="115000"/>
              </a:lnSpc>
            </a:pPr>
            <a:r>
              <a:rPr sz="1700" b="1">
                <a:solidFill>
                  <a:srgbClr val="D9480F"/>
                </a:solidFill>
                <a:latin typeface="Arial"/>
              </a:rPr>
              <a:t>▸  </a:t>
            </a:r>
            <a:r>
              <a:rPr sz="1700" b="0">
                <a:solidFill>
                  <a:srgbClr val="14202E"/>
                </a:solidFill>
                <a:latin typeface="Arial"/>
              </a:rPr>
              <a:t>______________________</a:t>
            </a:r>
          </a:p>
          <a:p>
            <a:pPr algn="l">
              <a:lnSpc>
                <a:spcPct val="115000"/>
              </a:lnSpc>
            </a:pPr>
            <a:r>
              <a:rPr sz="1700" b="1">
                <a:solidFill>
                  <a:srgbClr val="D9480F"/>
                </a:solidFill>
                <a:latin typeface="Arial"/>
              </a:rPr>
              <a:t>▸  </a:t>
            </a:r>
            <a:r>
              <a:rPr sz="1700" b="0">
                <a:solidFill>
                  <a:srgbClr val="14202E"/>
                </a:solidFill>
                <a:latin typeface="Arial"/>
              </a:rPr>
              <a:t>______________________</a:t>
            </a:r>
          </a:p>
          <a:p>
            <a:pPr algn="l">
              <a:lnSpc>
                <a:spcPct val="115000"/>
              </a:lnSpc>
            </a:pPr>
            <a:r>
              <a:rPr sz="1700" b="1">
                <a:solidFill>
                  <a:srgbClr val="D9480F"/>
                </a:solidFill>
                <a:latin typeface="Arial"/>
              </a:rPr>
              <a:t>▸  </a:t>
            </a:r>
            <a:r>
              <a:rPr sz="1700" b="0">
                <a:solidFill>
                  <a:srgbClr val="14202E"/>
                </a:solidFill>
                <a:latin typeface="Arial"/>
              </a:rPr>
              <a:t>Hint: speaker notes.</a:t>
            </a:r>
          </a:p>
        </p:txBody>
      </p:sp>
      <p:sp>
        <p:nvSpPr>
          <p:cNvPr id="12" name="TextBox 11"/>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p.4</a:t>
            </a:r>
          </a:p>
        </p:txBody>
      </p:sp>
      <p:sp>
        <p:nvSpPr>
          <p:cNvPr id="13" name="TextBox 12"/>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6  ·  ARRAYS &amp; EMBEDDED DOCUMENTS  ·  BLUEPRINT  ·  OWNER: ____________</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$slice with [skip, limit]: a page</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Skip 23, take 10.</a:t>
            </a:r>
          </a:p>
        </p:txBody>
      </p:sp>
      <p:sp>
        <p:nvSpPr>
          <p:cNvPr id="6" name="Rectangle 5"/>
          <p:cNvSpPr/>
          <p:nvPr/>
        </p:nvSpPr>
        <p:spPr>
          <a:xfrm>
            <a:off x="548640" y="1737360"/>
            <a:ext cx="7040880" cy="996696"/>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6931152" cy="667512"/>
          </a:xfrm>
          <a:prstGeom prst="rect">
            <a:avLst/>
          </a:prstGeom>
          <a:noFill/>
        </p:spPr>
        <p:txBody>
          <a:bodyPr wrap="square" anchor="t" lIns="73152" rIns="73152" tIns="73152" bIns="73152">
            <a:spAutoFit/>
          </a:bodyPr>
          <a:lstStyle/>
          <a:p>
            <a:pPr algn="l">
              <a:lnSpc>
                <a:spcPct val="100000"/>
              </a:lnSpc>
            </a:pPr>
            <a:r>
              <a:rPr sz="1535" b="0">
                <a:solidFill>
                  <a:srgbClr val="E6ECF2"/>
                </a:solidFill>
                <a:latin typeface="Consolas"/>
              </a:rPr>
              <a:t>&gt; db.posts.findOne({"_id" : 1},</a:t>
            </a:r>
          </a:p>
          <a:p>
            <a:pPr algn="l">
              <a:lnSpc>
                <a:spcPct val="100000"/>
              </a:lnSpc>
            </a:pPr>
            <a:r>
              <a:rPr sz="1535" b="0">
                <a:solidFill>
                  <a:srgbClr val="E6ECF2"/>
                </a:solidFill>
                <a:latin typeface="Consolas"/>
              </a:rPr>
              <a:t>    {"comments" : {"$slice" : [23, 10]}})</a:t>
            </a:r>
          </a:p>
        </p:txBody>
      </p:sp>
      <p:sp>
        <p:nvSpPr>
          <p:cNvPr id="9" name="Rectangle 8"/>
          <p:cNvSpPr/>
          <p:nvPr/>
        </p:nvSpPr>
        <p:spPr>
          <a:xfrm>
            <a:off x="548640" y="2825496"/>
            <a:ext cx="7040880" cy="3483864"/>
          </a:xfrm>
          <a:prstGeom prst="rect">
            <a:avLst/>
          </a:prstGeom>
          <a:solidFill>
            <a:srgbClr val="FFF4E5"/>
          </a:solidFill>
          <a:ln w="15875">
            <a:solidFill>
              <a:srgbClr val="D948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825496"/>
            <a:ext cx="7040880" cy="3483864"/>
          </a:xfrm>
          <a:prstGeom prst="rect">
            <a:avLst/>
          </a:prstGeom>
          <a:noFill/>
        </p:spPr>
        <p:txBody>
          <a:bodyPr wrap="square" anchor="ctr" lIns="228600" rIns="228600" tIns="228600" bIns="228600">
            <a:spAutoFit/>
          </a:bodyPr>
          <a:lstStyle/>
          <a:p>
            <a:pPr algn="ctr">
              <a:lnSpc>
                <a:spcPct val="110000"/>
              </a:lnSpc>
            </a:pPr>
            <a:r>
              <a:rPr sz="1400" b="1">
                <a:solidFill>
                  <a:srgbClr val="D9480F"/>
                </a:solidFill>
                <a:latin typeface="Arial"/>
              </a:rPr>
              <a:t>YOUR OUTPUT GOES HERE</a:t>
            </a:r>
          </a:p>
          <a:p>
            <a:pPr algn="ctr">
              <a:lnSpc>
                <a:spcPct val="110000"/>
              </a:lnSpc>
            </a:pPr>
            <a:r>
              <a:rPr sz="1300" b="0">
                <a:solidFill>
                  <a:srgbClr val="14202E"/>
                </a:solidFill>
                <a:latin typeface="Arial"/>
              </a:rPr>
              <a:t>Run the command in mongosh or Compass (seed lines are in your guide), then paste the real output or a screenshot.</a:t>
            </a:r>
          </a:p>
        </p:txBody>
      </p:sp>
      <p:sp>
        <p:nvSpPr>
          <p:cNvPr id="11" name="TextBox 10"/>
          <p:cNvSpPr txBox="1"/>
          <p:nvPr/>
        </p:nvSpPr>
        <p:spPr>
          <a:xfrm>
            <a:off x="7863840" y="1737360"/>
            <a:ext cx="3916375" cy="4480560"/>
          </a:xfrm>
          <a:prstGeom prst="rect">
            <a:avLst/>
          </a:prstGeom>
          <a:noFill/>
        </p:spPr>
        <p:txBody>
          <a:bodyPr wrap="square" anchor="t" lIns="73152" rIns="73152" tIns="73152" bIns="73152">
            <a:spAutoFit/>
          </a:bodyPr>
          <a:lstStyle/>
          <a:p>
            <a:pPr algn="l">
              <a:lnSpc>
                <a:spcPct val="115000"/>
              </a:lnSpc>
            </a:pPr>
            <a:r>
              <a:rPr sz="1700" b="1">
                <a:solidFill>
                  <a:srgbClr val="D9480F"/>
                </a:solidFill>
                <a:latin typeface="Arial"/>
              </a:rPr>
              <a:t>▸  </a:t>
            </a:r>
            <a:r>
              <a:rPr sz="1700" b="0">
                <a:solidFill>
                  <a:srgbClr val="14202E"/>
                </a:solidFill>
                <a:latin typeface="Arial"/>
              </a:rPr>
              <a:t>Explain in your own words:</a:t>
            </a:r>
          </a:p>
          <a:p>
            <a:pPr algn="l">
              <a:lnSpc>
                <a:spcPct val="115000"/>
              </a:lnSpc>
            </a:pPr>
            <a:r>
              <a:rPr sz="1700" b="1">
                <a:solidFill>
                  <a:srgbClr val="D9480F"/>
                </a:solidFill>
                <a:latin typeface="Arial"/>
              </a:rPr>
              <a:t>▸  </a:t>
            </a:r>
            <a:r>
              <a:rPr sz="1700" b="0">
                <a:solidFill>
                  <a:srgbClr val="14202E"/>
                </a:solidFill>
                <a:latin typeface="Arial"/>
              </a:rPr>
              <a:t>______________________</a:t>
            </a:r>
          </a:p>
          <a:p>
            <a:pPr algn="l">
              <a:lnSpc>
                <a:spcPct val="115000"/>
              </a:lnSpc>
            </a:pPr>
            <a:r>
              <a:rPr sz="1700" b="1">
                <a:solidFill>
                  <a:srgbClr val="D9480F"/>
                </a:solidFill>
                <a:latin typeface="Arial"/>
              </a:rPr>
              <a:t>▸  </a:t>
            </a:r>
            <a:r>
              <a:rPr sz="1700" b="0">
                <a:solidFill>
                  <a:srgbClr val="14202E"/>
                </a:solidFill>
                <a:latin typeface="Arial"/>
              </a:rPr>
              <a:t>______________________</a:t>
            </a:r>
          </a:p>
          <a:p>
            <a:pPr algn="l">
              <a:lnSpc>
                <a:spcPct val="115000"/>
              </a:lnSpc>
            </a:pPr>
            <a:r>
              <a:rPr sz="1700" b="1">
                <a:solidFill>
                  <a:srgbClr val="D9480F"/>
                </a:solidFill>
                <a:latin typeface="Arial"/>
              </a:rPr>
              <a:t>▸  </a:t>
            </a:r>
            <a:r>
              <a:rPr sz="1700" b="0">
                <a:solidFill>
                  <a:srgbClr val="14202E"/>
                </a:solidFill>
                <a:latin typeface="Arial"/>
              </a:rPr>
              <a:t>Hint: speaker notes.</a:t>
            </a:r>
          </a:p>
        </p:txBody>
      </p:sp>
      <p:sp>
        <p:nvSpPr>
          <p:cNvPr id="12" name="TextBox 11"/>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p.4</a:t>
            </a:r>
          </a:p>
        </p:txBody>
      </p:sp>
      <p:sp>
        <p:nvSpPr>
          <p:cNvPr id="13" name="TextBox 12"/>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6  ·  ARRAYS &amp; EMBEDDED DOCUMENTS  ·  BLUEPRINT  ·  OWNER: ____________</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Embedded documents: query with dot notation</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Use the dot to reach inside.</a:t>
            </a:r>
          </a:p>
        </p:txBody>
      </p:sp>
      <p:sp>
        <p:nvSpPr>
          <p:cNvPr id="6" name="Rectangle 5"/>
          <p:cNvSpPr/>
          <p:nvPr/>
        </p:nvSpPr>
        <p:spPr>
          <a:xfrm>
            <a:off x="548640" y="1737360"/>
            <a:ext cx="5486400" cy="141732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5376672" cy="1088136"/>
          </a:xfrm>
          <a:prstGeom prst="rect">
            <a:avLst/>
          </a:prstGeom>
          <a:noFill/>
        </p:spPr>
        <p:txBody>
          <a:bodyPr wrap="square" anchor="t" lIns="73152" rIns="73152" tIns="73152" bIns="73152">
            <a:spAutoFit/>
          </a:bodyPr>
          <a:lstStyle/>
          <a:p>
            <a:pPr algn="l">
              <a:lnSpc>
                <a:spcPct val="100000"/>
              </a:lnSpc>
            </a:pPr>
            <a:r>
              <a:rPr sz="1176" b="0">
                <a:solidFill>
                  <a:srgbClr val="E6ECF2"/>
                </a:solidFill>
                <a:latin typeface="Consolas"/>
              </a:rPr>
              <a:t>&gt; db.people.find({"name.first" : "John",</a:t>
            </a:r>
          </a:p>
          <a:p>
            <a:pPr algn="l">
              <a:lnSpc>
                <a:spcPct val="100000"/>
              </a:lnSpc>
            </a:pPr>
            <a:r>
              <a:rPr sz="1176" b="0">
                <a:solidFill>
                  <a:srgbClr val="E6ECF2"/>
                </a:solidFill>
                <a:latin typeface="Consolas"/>
              </a:rPr>
              <a:t>                  "name.last" : "Escalona"}, {"_id" : 0})</a:t>
            </a:r>
          </a:p>
        </p:txBody>
      </p:sp>
      <p:sp>
        <p:nvSpPr>
          <p:cNvPr id="9" name="Rectangle 8"/>
          <p:cNvSpPr/>
          <p:nvPr/>
        </p:nvSpPr>
        <p:spPr>
          <a:xfrm>
            <a:off x="548640" y="3246120"/>
            <a:ext cx="5486400" cy="3017520"/>
          </a:xfrm>
          <a:prstGeom prst="rect">
            <a:avLst/>
          </a:prstGeom>
          <a:solidFill>
            <a:srgbClr val="FFF4E5"/>
          </a:solidFill>
          <a:ln w="15875">
            <a:solidFill>
              <a:srgbClr val="D948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246120"/>
            <a:ext cx="5486400" cy="3017520"/>
          </a:xfrm>
          <a:prstGeom prst="rect">
            <a:avLst/>
          </a:prstGeom>
          <a:noFill/>
        </p:spPr>
        <p:txBody>
          <a:bodyPr wrap="square" anchor="ctr" lIns="228600" rIns="228600" tIns="228600" bIns="228600">
            <a:spAutoFit/>
          </a:bodyPr>
          <a:lstStyle/>
          <a:p>
            <a:pPr algn="ctr">
              <a:lnSpc>
                <a:spcPct val="110000"/>
              </a:lnSpc>
            </a:pPr>
            <a:r>
              <a:rPr sz="1400" b="1">
                <a:solidFill>
                  <a:srgbClr val="D9480F"/>
                </a:solidFill>
                <a:latin typeface="Arial"/>
              </a:rPr>
              <a:t>YOUR OUTPUT GOES HERE</a:t>
            </a:r>
          </a:p>
          <a:p>
            <a:pPr algn="ctr">
              <a:lnSpc>
                <a:spcPct val="110000"/>
              </a:lnSpc>
            </a:pPr>
            <a:r>
              <a:rPr sz="1300" b="0">
                <a:solidFill>
                  <a:srgbClr val="14202E"/>
                </a:solidFill>
                <a:latin typeface="Arial"/>
              </a:rPr>
              <a:t>Run the command in mongosh or Compass (seed lines are in your guide), then paste the real output or a screenshot.</a:t>
            </a:r>
          </a:p>
        </p:txBody>
      </p:sp>
      <p:sp>
        <p:nvSpPr>
          <p:cNvPr id="11" name="Rectangle 10"/>
          <p:cNvSpPr/>
          <p:nvPr/>
        </p:nvSpPr>
        <p:spPr>
          <a:xfrm>
            <a:off x="6153912" y="1737360"/>
            <a:ext cx="5486400" cy="141732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53912" y="1737360"/>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13" name="TextBox 12"/>
          <p:cNvSpPr txBox="1"/>
          <p:nvPr/>
        </p:nvSpPr>
        <p:spPr>
          <a:xfrm>
            <a:off x="6208776" y="2029968"/>
            <a:ext cx="5376672" cy="1088136"/>
          </a:xfrm>
          <a:prstGeom prst="rect">
            <a:avLst/>
          </a:prstGeom>
          <a:noFill/>
        </p:spPr>
        <p:txBody>
          <a:bodyPr wrap="square" anchor="t" lIns="73152" rIns="73152" tIns="73152" bIns="73152">
            <a:spAutoFit/>
          </a:bodyPr>
          <a:lstStyle/>
          <a:p>
            <a:pPr algn="l">
              <a:lnSpc>
                <a:spcPct val="100000"/>
              </a:lnSpc>
            </a:pPr>
            <a:r>
              <a:rPr sz="1457" b="0">
                <a:solidFill>
                  <a:srgbClr val="7F91A4"/>
                </a:solidFill>
                <a:latin typeface="Consolas"/>
              </a:rPr>
              <a:t>  // update inside a subdocument</a:t>
            </a:r>
          </a:p>
          <a:p>
            <a:pPr algn="l">
              <a:lnSpc>
                <a:spcPct val="100000"/>
              </a:lnSpc>
            </a:pPr>
            <a:r>
              <a:rPr sz="1457" b="0">
                <a:solidFill>
                  <a:srgbClr val="E6ECF2"/>
                </a:solidFill>
                <a:latin typeface="Consolas"/>
              </a:rPr>
              <a:t>&gt; db.people.updateOne({"name.first" : "John"},</a:t>
            </a:r>
          </a:p>
          <a:p>
            <a:pPr algn="l">
              <a:lnSpc>
                <a:spcPct val="100000"/>
              </a:lnSpc>
            </a:pPr>
            <a:r>
              <a:rPr sz="1457" b="0">
                <a:solidFill>
                  <a:srgbClr val="E6ECF2"/>
                </a:solidFill>
                <a:latin typeface="Consolas"/>
              </a:rPr>
              <a:t>    {"$set" : {"name.last" : "Tagayon"}})</a:t>
            </a:r>
          </a:p>
        </p:txBody>
      </p:sp>
      <p:sp>
        <p:nvSpPr>
          <p:cNvPr id="14" name="Rectangle 13"/>
          <p:cNvSpPr/>
          <p:nvPr/>
        </p:nvSpPr>
        <p:spPr>
          <a:xfrm>
            <a:off x="6153912" y="3246120"/>
            <a:ext cx="5486400" cy="3017520"/>
          </a:xfrm>
          <a:prstGeom prst="rect">
            <a:avLst/>
          </a:prstGeom>
          <a:solidFill>
            <a:srgbClr val="FFF4E5"/>
          </a:solidFill>
          <a:ln w="15875">
            <a:solidFill>
              <a:srgbClr val="D948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53912" y="3246120"/>
            <a:ext cx="5486400" cy="3017520"/>
          </a:xfrm>
          <a:prstGeom prst="rect">
            <a:avLst/>
          </a:prstGeom>
          <a:noFill/>
        </p:spPr>
        <p:txBody>
          <a:bodyPr wrap="square" anchor="ctr" lIns="228600" rIns="228600" tIns="228600" bIns="228600">
            <a:spAutoFit/>
          </a:bodyPr>
          <a:lstStyle/>
          <a:p>
            <a:pPr algn="ctr">
              <a:lnSpc>
                <a:spcPct val="110000"/>
              </a:lnSpc>
            </a:pPr>
            <a:r>
              <a:rPr sz="1400" b="1">
                <a:solidFill>
                  <a:srgbClr val="D9480F"/>
                </a:solidFill>
                <a:latin typeface="Arial"/>
              </a:rPr>
              <a:t>YOUR OUTPUT GOES HERE</a:t>
            </a:r>
          </a:p>
          <a:p>
            <a:pPr algn="ctr">
              <a:lnSpc>
                <a:spcPct val="110000"/>
              </a:lnSpc>
            </a:pPr>
            <a:r>
              <a:rPr sz="1300" b="0">
                <a:solidFill>
                  <a:srgbClr val="14202E"/>
                </a:solidFill>
                <a:latin typeface="Arial"/>
              </a:rPr>
              <a:t>Run the command in mongosh or Compass (seed lines are in your guide), then paste the real output or a screenshot.</a:t>
            </a:r>
          </a:p>
        </p:txBody>
      </p:sp>
      <p:sp>
        <p:nvSpPr>
          <p:cNvPr id="16" name="TextBox 15"/>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p.2, p.4</a:t>
            </a:r>
          </a:p>
        </p:txBody>
      </p:sp>
      <p:sp>
        <p:nvSpPr>
          <p:cNvPr id="17" name="TextBox 16"/>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B42318"/>
                </a:solidFill>
                <a:latin typeface="Arial"/>
              </a:rPr>
              <a:t>PART 6  ·  ARRAYS &amp; EMBEDDED DOCUMENTS  ·  BLUEPRINT  ·  OWNER: ____________</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Trap: whole-document match is exact and ordered</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Same fields, wrong order, zero results.</a:t>
            </a:r>
          </a:p>
        </p:txBody>
      </p:sp>
      <p:sp>
        <p:nvSpPr>
          <p:cNvPr id="6" name="Rectangle 5"/>
          <p:cNvSpPr/>
          <p:nvPr/>
        </p:nvSpPr>
        <p:spPr>
          <a:xfrm>
            <a:off x="548640" y="1737360"/>
            <a:ext cx="7040880" cy="1984248"/>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6931152" cy="1655064"/>
          </a:xfrm>
          <a:prstGeom prst="rect">
            <a:avLst/>
          </a:prstGeom>
          <a:noFill/>
        </p:spPr>
        <p:txBody>
          <a:bodyPr wrap="square" anchor="t" lIns="73152" rIns="73152" tIns="73152" bIns="73152">
            <a:spAutoFit/>
          </a:bodyPr>
          <a:lstStyle/>
          <a:p>
            <a:pPr algn="l">
              <a:lnSpc>
                <a:spcPct val="100000"/>
              </a:lnSpc>
            </a:pPr>
            <a:r>
              <a:rPr sz="1506" b="0">
                <a:solidFill>
                  <a:srgbClr val="7F91A4"/>
                </a:solidFill>
                <a:latin typeface="Consolas"/>
              </a:rPr>
              <a:t>  // stored as {first: "John", last: "Escalona"}</a:t>
            </a:r>
          </a:p>
          <a:p>
            <a:pPr algn="l">
              <a:lnSpc>
                <a:spcPct val="100000"/>
              </a:lnSpc>
            </a:pPr>
            <a:r>
              <a:rPr sz="1506" b="0">
                <a:solidFill>
                  <a:srgbClr val="E6ECF2"/>
                </a:solidFill>
                <a:latin typeface="Consolas"/>
              </a:rPr>
              <a:t>&gt; db.people.find({"name" : {"first" : "John",</a:t>
            </a:r>
          </a:p>
          <a:p>
            <a:pPr algn="l">
              <a:lnSpc>
                <a:spcPct val="100000"/>
              </a:lnSpc>
            </a:pPr>
            <a:r>
              <a:rPr sz="1506" b="0">
                <a:solidFill>
                  <a:srgbClr val="E6ECF2"/>
                </a:solidFill>
                <a:latin typeface="Consolas"/>
              </a:rPr>
              <a:t>                            "last" : "Escalona"}}).count()</a:t>
            </a:r>
          </a:p>
          <a:p>
            <a:pPr algn="l">
              <a:lnSpc>
                <a:spcPct val="100000"/>
              </a:lnSpc>
            </a:pPr>
            <a:r>
              <a:rPr sz="1506" b="0">
                <a:solidFill>
                  <a:srgbClr val="E6ECF2"/>
                </a:solidFill>
                <a:latin typeface="Consolas"/>
              </a:rPr>
              <a:t>  </a:t>
            </a:r>
          </a:p>
          <a:p>
            <a:pPr algn="l">
              <a:lnSpc>
                <a:spcPct val="100000"/>
              </a:lnSpc>
            </a:pPr>
            <a:r>
              <a:rPr sz="1506" b="0">
                <a:solidFill>
                  <a:srgbClr val="E6ECF2"/>
                </a:solidFill>
                <a:latin typeface="Consolas"/>
              </a:rPr>
              <a:t>&gt; db.people.find({"name" : {"last" : "Escalona",</a:t>
            </a:r>
          </a:p>
          <a:p>
            <a:pPr algn="l">
              <a:lnSpc>
                <a:spcPct val="100000"/>
              </a:lnSpc>
            </a:pPr>
            <a:r>
              <a:rPr sz="1506" b="0">
                <a:solidFill>
                  <a:srgbClr val="E6ECF2"/>
                </a:solidFill>
                <a:latin typeface="Consolas"/>
              </a:rPr>
              <a:t>                            "first" : "John"}}).count()</a:t>
            </a:r>
          </a:p>
        </p:txBody>
      </p:sp>
      <p:sp>
        <p:nvSpPr>
          <p:cNvPr id="9" name="Rectangle 8"/>
          <p:cNvSpPr/>
          <p:nvPr/>
        </p:nvSpPr>
        <p:spPr>
          <a:xfrm>
            <a:off x="548640" y="3813048"/>
            <a:ext cx="7040880" cy="2496312"/>
          </a:xfrm>
          <a:prstGeom prst="rect">
            <a:avLst/>
          </a:prstGeom>
          <a:solidFill>
            <a:srgbClr val="FFF4E5"/>
          </a:solidFill>
          <a:ln w="15875">
            <a:solidFill>
              <a:srgbClr val="D948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813048"/>
            <a:ext cx="7040880" cy="2496312"/>
          </a:xfrm>
          <a:prstGeom prst="rect">
            <a:avLst/>
          </a:prstGeom>
          <a:noFill/>
        </p:spPr>
        <p:txBody>
          <a:bodyPr wrap="square" anchor="ctr" lIns="228600" rIns="228600" tIns="228600" bIns="228600">
            <a:spAutoFit/>
          </a:bodyPr>
          <a:lstStyle/>
          <a:p>
            <a:pPr algn="ctr">
              <a:lnSpc>
                <a:spcPct val="110000"/>
              </a:lnSpc>
            </a:pPr>
            <a:r>
              <a:rPr sz="1400" b="1">
                <a:solidFill>
                  <a:srgbClr val="D9480F"/>
                </a:solidFill>
                <a:latin typeface="Arial"/>
              </a:rPr>
              <a:t>YOUR OUTPUT GOES HERE</a:t>
            </a:r>
          </a:p>
          <a:p>
            <a:pPr algn="ctr">
              <a:lnSpc>
                <a:spcPct val="110000"/>
              </a:lnSpc>
            </a:pPr>
            <a:r>
              <a:rPr sz="1300" b="0">
                <a:solidFill>
                  <a:srgbClr val="14202E"/>
                </a:solidFill>
                <a:latin typeface="Arial"/>
              </a:rPr>
              <a:t>Run the command in mongosh or Compass (seed lines are in your guide), then paste the real output or a screenshot.</a:t>
            </a:r>
          </a:p>
        </p:txBody>
      </p:sp>
      <p:sp>
        <p:nvSpPr>
          <p:cNvPr id="11" name="TextBox 10"/>
          <p:cNvSpPr txBox="1"/>
          <p:nvPr/>
        </p:nvSpPr>
        <p:spPr>
          <a:xfrm>
            <a:off x="7863840" y="1737360"/>
            <a:ext cx="3916375" cy="4480560"/>
          </a:xfrm>
          <a:prstGeom prst="rect">
            <a:avLst/>
          </a:prstGeom>
          <a:noFill/>
        </p:spPr>
        <p:txBody>
          <a:bodyPr wrap="square" anchor="t" lIns="73152" rIns="73152" tIns="73152" bIns="73152">
            <a:spAutoFit/>
          </a:bodyPr>
          <a:lstStyle/>
          <a:p>
            <a:pPr algn="l">
              <a:lnSpc>
                <a:spcPct val="115000"/>
              </a:lnSpc>
            </a:pPr>
            <a:r>
              <a:rPr sz="1700" b="1">
                <a:solidFill>
                  <a:srgbClr val="D9480F"/>
                </a:solidFill>
                <a:latin typeface="Arial"/>
              </a:rPr>
              <a:t>▸  </a:t>
            </a:r>
            <a:r>
              <a:rPr sz="1700" b="0">
                <a:solidFill>
                  <a:srgbClr val="14202E"/>
                </a:solidFill>
                <a:latin typeface="Arial"/>
              </a:rPr>
              <a:t>Explain in your own words:</a:t>
            </a:r>
          </a:p>
          <a:p>
            <a:pPr algn="l">
              <a:lnSpc>
                <a:spcPct val="115000"/>
              </a:lnSpc>
            </a:pPr>
            <a:r>
              <a:rPr sz="1700" b="1">
                <a:solidFill>
                  <a:srgbClr val="D9480F"/>
                </a:solidFill>
                <a:latin typeface="Arial"/>
              </a:rPr>
              <a:t>▸  </a:t>
            </a:r>
            <a:r>
              <a:rPr sz="1700" b="0">
                <a:solidFill>
                  <a:srgbClr val="14202E"/>
                </a:solidFill>
                <a:latin typeface="Arial"/>
              </a:rPr>
              <a:t>______________________</a:t>
            </a:r>
          </a:p>
          <a:p>
            <a:pPr algn="l">
              <a:lnSpc>
                <a:spcPct val="115000"/>
              </a:lnSpc>
            </a:pPr>
            <a:r>
              <a:rPr sz="1700" b="1">
                <a:solidFill>
                  <a:srgbClr val="D9480F"/>
                </a:solidFill>
                <a:latin typeface="Arial"/>
              </a:rPr>
              <a:t>▸  </a:t>
            </a:r>
            <a:r>
              <a:rPr sz="1700" b="0">
                <a:solidFill>
                  <a:srgbClr val="14202E"/>
                </a:solidFill>
                <a:latin typeface="Arial"/>
              </a:rPr>
              <a:t>______________________</a:t>
            </a:r>
          </a:p>
          <a:p>
            <a:pPr algn="l">
              <a:lnSpc>
                <a:spcPct val="115000"/>
              </a:lnSpc>
            </a:pPr>
            <a:r>
              <a:rPr sz="1700" b="1">
                <a:solidFill>
                  <a:srgbClr val="D9480F"/>
                </a:solidFill>
                <a:latin typeface="Arial"/>
              </a:rPr>
              <a:t>▸  </a:t>
            </a:r>
            <a:r>
              <a:rPr sz="1700" b="0">
                <a:solidFill>
                  <a:srgbClr val="14202E"/>
                </a:solidFill>
                <a:latin typeface="Arial"/>
              </a:rPr>
              <a:t>Hint: speaker notes.</a:t>
            </a:r>
          </a:p>
        </p:txBody>
      </p:sp>
      <p:sp>
        <p:nvSpPr>
          <p:cNvPr id="12" name="TextBox 11"/>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mongosh 2.3.8 output</a:t>
            </a:r>
          </a:p>
        </p:txBody>
      </p:sp>
      <p:sp>
        <p:nvSpPr>
          <p:cNvPr id="13" name="TextBox 12"/>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4202E"/>
        </a:solidFill>
        <a:effectLst/>
      </p:bgPr>
    </p:bg>
    <p:spTree>
      <p:nvGrpSpPr>
        <p:cNvPr id="1" name=""/>
        <p:cNvGrpSpPr/>
        <p:nvPr/>
      </p:nvGrpSpPr>
      <p:grpSpPr/>
      <p:sp>
        <p:nvSpPr>
          <p:cNvPr id="2" name="TextBox 1"/>
          <p:cNvSpPr txBox="1"/>
          <p:nvPr/>
        </p:nvSpPr>
        <p:spPr>
          <a:xfrm>
            <a:off x="548640" y="1280160"/>
            <a:ext cx="3657600" cy="2377440"/>
          </a:xfrm>
          <a:prstGeom prst="rect">
            <a:avLst/>
          </a:prstGeom>
          <a:noFill/>
        </p:spPr>
        <p:txBody>
          <a:bodyPr wrap="square" anchor="t" lIns="73152" rIns="73152" tIns="73152" bIns="73152">
            <a:spAutoFit/>
          </a:bodyPr>
          <a:lstStyle/>
          <a:p>
            <a:pPr algn="l">
              <a:lnSpc>
                <a:spcPct val="110000"/>
              </a:lnSpc>
            </a:pPr>
            <a:r>
              <a:rPr sz="17000" b="1">
                <a:solidFill>
                  <a:srgbClr val="D9480F"/>
                </a:solidFill>
                <a:latin typeface="Arial"/>
              </a:rPr>
              <a:t>7</a:t>
            </a:r>
          </a:p>
        </p:txBody>
      </p:sp>
      <p:sp>
        <p:nvSpPr>
          <p:cNvPr id="3" name="TextBox 2"/>
          <p:cNvSpPr txBox="1"/>
          <p:nvPr/>
        </p:nvSpPr>
        <p:spPr>
          <a:xfrm>
            <a:off x="3840480" y="822960"/>
            <a:ext cx="7863840" cy="1828800"/>
          </a:xfrm>
          <a:prstGeom prst="rect">
            <a:avLst/>
          </a:prstGeom>
          <a:noFill/>
        </p:spPr>
        <p:txBody>
          <a:bodyPr wrap="square" anchor="b" lIns="73152" rIns="73152" tIns="73152" bIns="73152">
            <a:spAutoFit/>
          </a:bodyPr>
          <a:lstStyle/>
          <a:p>
            <a:pPr algn="l">
              <a:lnSpc>
                <a:spcPct val="95000"/>
              </a:lnSpc>
            </a:pPr>
            <a:r>
              <a:rPr sz="4000" b="1">
                <a:solidFill>
                  <a:srgbClr val="FFFFFF"/>
                </a:solidFill>
                <a:latin typeface="Arial"/>
              </a:rPr>
              <a:t>Cloud Computing &amp; Implementation Types</a:t>
            </a:r>
          </a:p>
        </p:txBody>
      </p:sp>
      <p:sp>
        <p:nvSpPr>
          <p:cNvPr id="4" name="TextBox 3"/>
          <p:cNvSpPr txBox="1"/>
          <p:nvPr/>
        </p:nvSpPr>
        <p:spPr>
          <a:xfrm>
            <a:off x="3840480" y="2743200"/>
            <a:ext cx="7863840" cy="548640"/>
          </a:xfrm>
          <a:prstGeom prst="rect">
            <a:avLst/>
          </a:prstGeom>
          <a:noFill/>
        </p:spPr>
        <p:txBody>
          <a:bodyPr wrap="square" anchor="t" lIns="73152" rIns="73152" tIns="73152" bIns="73152">
            <a:spAutoFit/>
          </a:bodyPr>
          <a:lstStyle/>
          <a:p>
            <a:pPr algn="l">
              <a:lnSpc>
                <a:spcPct val="110000"/>
              </a:lnSpc>
            </a:pPr>
            <a:r>
              <a:rPr sz="2000" b="0">
                <a:solidFill>
                  <a:srgbClr val="9FE0C9"/>
                </a:solidFill>
                <a:latin typeface="Consolas"/>
              </a:rPr>
              <a:t>public · private · hybrid</a:t>
            </a:r>
          </a:p>
        </p:txBody>
      </p:sp>
      <p:sp>
        <p:nvSpPr>
          <p:cNvPr id="5" name="TextBox 4"/>
          <p:cNvSpPr txBox="1"/>
          <p:nvPr/>
        </p:nvSpPr>
        <p:spPr>
          <a:xfrm>
            <a:off x="3840480" y="3474720"/>
            <a:ext cx="7863840" cy="1097280"/>
          </a:xfrm>
          <a:prstGeom prst="rect">
            <a:avLst/>
          </a:prstGeom>
          <a:noFill/>
        </p:spPr>
        <p:txBody>
          <a:bodyPr wrap="square" anchor="t" lIns="73152" rIns="73152" tIns="73152" bIns="73152">
            <a:spAutoFit/>
          </a:bodyPr>
          <a:lstStyle/>
          <a:p>
            <a:pPr algn="l">
              <a:lnSpc>
                <a:spcPct val="110000"/>
              </a:lnSpc>
            </a:pPr>
            <a:r>
              <a:rPr sz="2800" b="0">
                <a:solidFill>
                  <a:srgbClr val="F2B27A"/>
                </a:solidFill>
                <a:latin typeface="Arial"/>
              </a:rPr>
              <a:t>“Cloud type = where it lives + who controls it.”</a:t>
            </a:r>
          </a:p>
        </p:txBody>
      </p:sp>
      <p:sp>
        <p:nvSpPr>
          <p:cNvPr id="6" name="TextBox 5"/>
          <p:cNvSpPr txBox="1"/>
          <p:nvPr/>
        </p:nvSpPr>
        <p:spPr>
          <a:xfrm>
            <a:off x="3840480" y="4846320"/>
            <a:ext cx="7863840" cy="548640"/>
          </a:xfrm>
          <a:prstGeom prst="rect">
            <a:avLst/>
          </a:prstGeom>
          <a:noFill/>
        </p:spPr>
        <p:txBody>
          <a:bodyPr wrap="square" anchor="t" lIns="73152" rIns="73152" tIns="73152" bIns="73152">
            <a:spAutoFit/>
          </a:bodyPr>
          <a:lstStyle/>
          <a:p>
            <a:pPr algn="l">
              <a:lnSpc>
                <a:spcPct val="110000"/>
              </a:lnSpc>
            </a:pPr>
            <a:r>
              <a:rPr sz="2000" b="0">
                <a:solidFill>
                  <a:srgbClr val="E6ECF2"/>
                </a:solidFill>
                <a:latin typeface="Arial"/>
              </a:rPr>
              <a:t>Presenter: ____________________</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7  ·  CLOUD COMPUTING &amp; IMPLEMENTATION TYPES  ·  BLUEPRINT  ·  OWNER: ____________</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What cloud computing is</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If it has the web, it has your data.</a:t>
            </a:r>
          </a:p>
        </p:txBody>
      </p:sp>
      <p:sp>
        <p:nvSpPr>
          <p:cNvPr id="6" name="TextBox 5"/>
          <p:cNvSpPr txBox="1"/>
          <p:nvPr/>
        </p:nvSpPr>
        <p:spPr>
          <a:xfrm>
            <a:off x="548640" y="1920240"/>
            <a:ext cx="10972800" cy="4206240"/>
          </a:xfrm>
          <a:prstGeom prst="rect">
            <a:avLst/>
          </a:prstGeom>
          <a:noFill/>
        </p:spPr>
        <p:txBody>
          <a:bodyPr wrap="square" anchor="t" lIns="73152" rIns="73152" tIns="73152" bIns="73152">
            <a:spAutoFit/>
          </a:bodyPr>
          <a:lstStyle/>
          <a:p>
            <a:pPr algn="l">
              <a:lnSpc>
                <a:spcPct val="115000"/>
              </a:lnSpc>
            </a:pPr>
            <a:r>
              <a:rPr sz="2200" b="1">
                <a:solidFill>
                  <a:srgbClr val="D9480F"/>
                </a:solidFill>
                <a:latin typeface="Arial"/>
              </a:rPr>
              <a:t>▸  </a:t>
            </a:r>
            <a:r>
              <a:rPr sz="2200" b="0">
                <a:solidFill>
                  <a:srgbClr val="14202E"/>
                </a:solidFill>
                <a:latin typeface="Arial"/>
              </a:rPr>
              <a:t>______________________________________________</a:t>
            </a:r>
          </a:p>
          <a:p>
            <a:pPr algn="l">
              <a:lnSpc>
                <a:spcPct val="115000"/>
              </a:lnSpc>
            </a:pPr>
            <a:r>
              <a:rPr sz="2200" b="1">
                <a:solidFill>
                  <a:srgbClr val="D9480F"/>
                </a:solidFill>
                <a:latin typeface="Arial"/>
              </a:rPr>
              <a:t>▸  </a:t>
            </a:r>
            <a:r>
              <a:rPr sz="2200" b="0">
                <a:solidFill>
                  <a:srgbClr val="14202E"/>
                </a:solidFill>
                <a:latin typeface="Arial"/>
              </a:rPr>
              <a:t>______________________________________________</a:t>
            </a:r>
          </a:p>
          <a:p>
            <a:pPr algn="l">
              <a:lnSpc>
                <a:spcPct val="115000"/>
              </a:lnSpc>
            </a:pPr>
            <a:r>
              <a:rPr sz="2200" b="1">
                <a:solidFill>
                  <a:srgbClr val="D9480F"/>
                </a:solidFill>
                <a:latin typeface="Arial"/>
              </a:rPr>
              <a:t>▸  </a:t>
            </a:r>
            <a:r>
              <a:rPr sz="2200" b="0">
                <a:solidFill>
                  <a:srgbClr val="14202E"/>
                </a:solidFill>
                <a:latin typeface="Arial"/>
              </a:rPr>
              <a:t>______________________________________________</a:t>
            </a:r>
          </a:p>
        </p:txBody>
      </p:sp>
      <p:sp>
        <p:nvSpPr>
          <p:cNvPr id="7" name="TextBox 6"/>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09 Handout p.1</a:t>
            </a:r>
          </a:p>
        </p:txBody>
      </p:sp>
      <p:sp>
        <p:nvSpPr>
          <p:cNvPr id="8" name="TextBox 7"/>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7  ·  CLOUD COMPUTING &amp; IMPLEMENTATION TYPES  ·  BLUEPRINT  ·  OWNER: ____________</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Three implementation types</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Rent it, own it, or mix both.</a:t>
            </a:r>
          </a:p>
        </p:txBody>
      </p:sp>
      <p:graphicFrame>
        <p:nvGraphicFramePr>
          <p:cNvPr id="6" name="Table 5"/>
          <p:cNvGraphicFramePr>
            <a:graphicFrameLocks noGrp="1"/>
          </p:cNvGraphicFramePr>
          <p:nvPr/>
        </p:nvGraphicFramePr>
        <p:xfrm>
          <a:off x="548640" y="1828800"/>
          <a:ext cx="11094415" cy="3474720"/>
        </p:xfrm>
        <a:graphic>
          <a:graphicData uri="http://schemas.openxmlformats.org/drawingml/2006/table">
            <a:tbl>
              <a:tblPr firstRow="1" bandRow="1">
                <a:tableStyleId>{5C22544A-7EE6-4342-B048-85BDC9FD1C3A}</a:tableStyleId>
              </a:tblPr>
              <a:tblGrid>
                <a:gridCol w="2773603"/>
                <a:gridCol w="2773603"/>
                <a:gridCol w="2773603"/>
                <a:gridCol w="2773606"/>
              </a:tblGrid>
              <a:tr h="868680">
                <a:tc>
                  <a:txBody>
                    <a:bodyPr/>
                    <a:lstStyle/>
                    <a:p>
                      <a:r>
                        <a:rPr sz="1600" b="1">
                          <a:solidFill>
                            <a:srgbClr val="FFFFFF"/>
                          </a:solidFill>
                          <a:latin typeface="Arial"/>
                        </a:rPr>
                        <a:t>Type</a:t>
                      </a:r>
                    </a:p>
                  </a:txBody>
                  <a:tcPr>
                    <a:solidFill>
                      <a:srgbClr val="14202E"/>
                    </a:solidFill>
                  </a:tcPr>
                </a:tc>
                <a:tc>
                  <a:txBody>
                    <a:bodyPr/>
                    <a:lstStyle/>
                    <a:p>
                      <a:r>
                        <a:rPr sz="1600" b="1">
                          <a:solidFill>
                            <a:srgbClr val="FFFFFF"/>
                          </a:solidFill>
                          <a:latin typeface="Arial"/>
                        </a:rPr>
                        <a:t>Built / controlled by</a:t>
                      </a:r>
                    </a:p>
                  </a:txBody>
                  <a:tcPr>
                    <a:solidFill>
                      <a:srgbClr val="14202E"/>
                    </a:solidFill>
                  </a:tcPr>
                </a:tc>
                <a:tc>
                  <a:txBody>
                    <a:bodyPr/>
                    <a:lstStyle/>
                    <a:p>
                      <a:r>
                        <a:rPr sz="1600" b="1">
                          <a:solidFill>
                            <a:srgbClr val="FFFFFF"/>
                          </a:solidFill>
                          <a:latin typeface="Arial"/>
                        </a:rPr>
                        <a:t>Handout example</a:t>
                      </a:r>
                    </a:p>
                  </a:txBody>
                  <a:tcPr>
                    <a:solidFill>
                      <a:srgbClr val="14202E"/>
                    </a:solidFill>
                  </a:tcPr>
                </a:tc>
                <a:tc>
                  <a:txBody>
                    <a:bodyPr/>
                    <a:lstStyle/>
                    <a:p>
                      <a:r>
                        <a:rPr sz="1600" b="1">
                          <a:solidFill>
                            <a:srgbClr val="FFFFFF"/>
                          </a:solidFill>
                          <a:latin typeface="Arial"/>
                        </a:rPr>
                        <a:t>Watch out</a:t>
                      </a:r>
                    </a:p>
                  </a:txBody>
                  <a:tcPr>
                    <a:solidFill>
                      <a:srgbClr val="14202E"/>
                    </a:solidFill>
                  </a:tcPr>
                </a:tc>
              </a:tr>
              <a:tr h="868680">
                <a:tc>
                  <a:txBody>
                    <a:bodyPr/>
                    <a:lstStyle/>
                    <a:p>
                      <a:r>
                        <a:rPr sz="1500" b="1">
                          <a:solidFill>
                            <a:srgbClr val="D9480F"/>
                          </a:solidFill>
                          <a:latin typeface="Arial"/>
                        </a:rPr>
                        <a:t>Public</a:t>
                      </a:r>
                    </a:p>
                  </a:txBody>
                  <a:tcPr anchor="ctr">
                    <a:solidFill>
                      <a:srgbClr val="FFFFFF"/>
                    </a:solidFill>
                  </a:tcPr>
                </a:tc>
                <a:tc>
                  <a:txBody>
                    <a:bodyPr/>
                    <a:lstStyle/>
                    <a:p>
                      <a:r>
                        <a:rPr sz="1500" b="0">
                          <a:solidFill>
                            <a:srgbClr val="14202E"/>
                          </a:solidFill>
                          <a:latin typeface="Arial"/>
                        </a:rPr>
                        <a:t>________________</a:t>
                      </a:r>
                    </a:p>
                  </a:txBody>
                  <a:tcPr anchor="ctr">
                    <a:solidFill>
                      <a:srgbClr val="FFF4E5"/>
                    </a:solidFill>
                  </a:tcPr>
                </a:tc>
                <a:tc>
                  <a:txBody>
                    <a:bodyPr/>
                    <a:lstStyle/>
                    <a:p>
                      <a:r>
                        <a:rPr sz="1500" b="0">
                          <a:solidFill>
                            <a:srgbClr val="14202E"/>
                          </a:solidFill>
                          <a:latin typeface="Arial"/>
                        </a:rPr>
                        <a:t>________________</a:t>
                      </a:r>
                    </a:p>
                  </a:txBody>
                  <a:tcPr anchor="ctr">
                    <a:solidFill>
                      <a:srgbClr val="FFF4E5"/>
                    </a:solidFill>
                  </a:tcPr>
                </a:tc>
                <a:tc>
                  <a:txBody>
                    <a:bodyPr/>
                    <a:lstStyle/>
                    <a:p>
                      <a:r>
                        <a:rPr sz="1500" b="0">
                          <a:solidFill>
                            <a:srgbClr val="14202E"/>
                          </a:solidFill>
                          <a:latin typeface="Arial"/>
                        </a:rPr>
                        <a:t>________________</a:t>
                      </a:r>
                    </a:p>
                  </a:txBody>
                  <a:tcPr anchor="ctr">
                    <a:solidFill>
                      <a:srgbClr val="FFF4E5"/>
                    </a:solidFill>
                  </a:tcPr>
                </a:tc>
              </a:tr>
              <a:tr h="868680">
                <a:tc>
                  <a:txBody>
                    <a:bodyPr/>
                    <a:lstStyle/>
                    <a:p>
                      <a:r>
                        <a:rPr sz="1500" b="1">
                          <a:solidFill>
                            <a:srgbClr val="D9480F"/>
                          </a:solidFill>
                          <a:latin typeface="Arial"/>
                        </a:rPr>
                        <a:t>Private</a:t>
                      </a:r>
                    </a:p>
                  </a:txBody>
                  <a:tcPr anchor="ctr">
                    <a:solidFill>
                      <a:srgbClr val="F6F8FA"/>
                    </a:solidFill>
                  </a:tcPr>
                </a:tc>
                <a:tc>
                  <a:txBody>
                    <a:bodyPr/>
                    <a:lstStyle/>
                    <a:p>
                      <a:r>
                        <a:rPr sz="1500" b="0">
                          <a:solidFill>
                            <a:srgbClr val="14202E"/>
                          </a:solidFill>
                          <a:latin typeface="Arial"/>
                        </a:rPr>
                        <a:t>________________</a:t>
                      </a:r>
                    </a:p>
                  </a:txBody>
                  <a:tcPr anchor="ctr">
                    <a:solidFill>
                      <a:srgbClr val="FFF4E5"/>
                    </a:solidFill>
                  </a:tcPr>
                </a:tc>
                <a:tc>
                  <a:txBody>
                    <a:bodyPr/>
                    <a:lstStyle/>
                    <a:p>
                      <a:r>
                        <a:rPr sz="1500" b="0">
                          <a:solidFill>
                            <a:srgbClr val="14202E"/>
                          </a:solidFill>
                          <a:latin typeface="Arial"/>
                        </a:rPr>
                        <a:t>________________</a:t>
                      </a:r>
                    </a:p>
                  </a:txBody>
                  <a:tcPr anchor="ctr">
                    <a:solidFill>
                      <a:srgbClr val="FFF4E5"/>
                    </a:solidFill>
                  </a:tcPr>
                </a:tc>
                <a:tc>
                  <a:txBody>
                    <a:bodyPr/>
                    <a:lstStyle/>
                    <a:p>
                      <a:r>
                        <a:rPr sz="1500" b="0">
                          <a:solidFill>
                            <a:srgbClr val="14202E"/>
                          </a:solidFill>
                          <a:latin typeface="Arial"/>
                        </a:rPr>
                        <a:t>________________</a:t>
                      </a:r>
                    </a:p>
                  </a:txBody>
                  <a:tcPr anchor="ctr">
                    <a:solidFill>
                      <a:srgbClr val="FFF4E5"/>
                    </a:solidFill>
                  </a:tcPr>
                </a:tc>
              </a:tr>
              <a:tr h="868680">
                <a:tc>
                  <a:txBody>
                    <a:bodyPr/>
                    <a:lstStyle/>
                    <a:p>
                      <a:r>
                        <a:rPr sz="1500" b="1">
                          <a:solidFill>
                            <a:srgbClr val="D9480F"/>
                          </a:solidFill>
                          <a:latin typeface="Arial"/>
                        </a:rPr>
                        <a:t>Hybrid</a:t>
                      </a:r>
                    </a:p>
                  </a:txBody>
                  <a:tcPr anchor="ctr">
                    <a:solidFill>
                      <a:srgbClr val="FFFFFF"/>
                    </a:solidFill>
                  </a:tcPr>
                </a:tc>
                <a:tc>
                  <a:txBody>
                    <a:bodyPr/>
                    <a:lstStyle/>
                    <a:p>
                      <a:r>
                        <a:rPr sz="1500" b="0">
                          <a:solidFill>
                            <a:srgbClr val="14202E"/>
                          </a:solidFill>
                          <a:latin typeface="Arial"/>
                        </a:rPr>
                        <a:t>________________</a:t>
                      </a:r>
                    </a:p>
                  </a:txBody>
                  <a:tcPr anchor="ctr">
                    <a:solidFill>
                      <a:srgbClr val="FFF4E5"/>
                    </a:solidFill>
                  </a:tcPr>
                </a:tc>
                <a:tc>
                  <a:txBody>
                    <a:bodyPr/>
                    <a:lstStyle/>
                    <a:p>
                      <a:r>
                        <a:rPr sz="1500" b="0">
                          <a:solidFill>
                            <a:srgbClr val="14202E"/>
                          </a:solidFill>
                          <a:latin typeface="Arial"/>
                        </a:rPr>
                        <a:t>________________</a:t>
                      </a:r>
                    </a:p>
                  </a:txBody>
                  <a:tcPr anchor="ctr">
                    <a:solidFill>
                      <a:srgbClr val="FFF4E5"/>
                    </a:solidFill>
                  </a:tcPr>
                </a:tc>
                <a:tc>
                  <a:txBody>
                    <a:bodyPr/>
                    <a:lstStyle/>
                    <a:p>
                      <a:r>
                        <a:rPr sz="1500" b="0">
                          <a:solidFill>
                            <a:srgbClr val="14202E"/>
                          </a:solidFill>
                          <a:latin typeface="Arial"/>
                        </a:rPr>
                        <a:t>________________</a:t>
                      </a:r>
                    </a:p>
                  </a:txBody>
                  <a:tcPr anchor="ctr">
                    <a:solidFill>
                      <a:srgbClr val="FFF4E5"/>
                    </a:solidFill>
                  </a:tcPr>
                </a:tc>
              </a:tr>
            </a:tbl>
          </a:graphicData>
        </a:graphic>
      </p:graphicFrame>
      <p:sp>
        <p:nvSpPr>
          <p:cNvPr id="7" name="TextBox 6"/>
          <p:cNvSpPr txBox="1"/>
          <p:nvPr/>
        </p:nvSpPr>
        <p:spPr>
          <a:xfrm>
            <a:off x="548640" y="5532120"/>
            <a:ext cx="11094415" cy="731520"/>
          </a:xfrm>
          <a:prstGeom prst="rect">
            <a:avLst/>
          </a:prstGeom>
          <a:noFill/>
        </p:spPr>
        <p:txBody>
          <a:bodyPr wrap="square" anchor="t" lIns="73152" rIns="73152" tIns="73152" bIns="73152">
            <a:spAutoFit/>
          </a:bodyPr>
          <a:lstStyle/>
          <a:p>
            <a:pPr algn="l">
              <a:lnSpc>
                <a:spcPct val="115000"/>
              </a:lnSpc>
            </a:pPr>
            <a:r>
              <a:rPr sz="1700" b="1">
                <a:solidFill>
                  <a:srgbClr val="D9480F"/>
                </a:solidFill>
                <a:latin typeface="Arial"/>
              </a:rPr>
              <a:t>▸  </a:t>
            </a:r>
            <a:r>
              <a:rPr sz="1700" b="0">
                <a:solidFill>
                  <a:srgbClr val="14202E"/>
                </a:solidFill>
                <a:latin typeface="Arial"/>
              </a:rPr>
              <a:t>Type depends on where the infrastructure is and who controls it.</a:t>
            </a:r>
          </a:p>
        </p:txBody>
      </p:sp>
      <p:sp>
        <p:nvSpPr>
          <p:cNvPr id="8" name="TextBox 7"/>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09 Handout p.1</a:t>
            </a:r>
          </a:p>
        </p:txBody>
      </p:sp>
      <p:sp>
        <p:nvSpPr>
          <p:cNvPr id="9" name="TextBox 8"/>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7  ·  CLOUD COMPUTING &amp; IMPLEMENTATION TYPES  ·  BLUEPRINT  ·  OWNER: ____________</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Our class example: MongoDB Atlas</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Our database, their data center.</a:t>
            </a:r>
          </a:p>
        </p:txBody>
      </p:sp>
      <p:sp>
        <p:nvSpPr>
          <p:cNvPr id="6" name="TextBox 5"/>
          <p:cNvSpPr txBox="1"/>
          <p:nvPr/>
        </p:nvSpPr>
        <p:spPr>
          <a:xfrm>
            <a:off x="548640" y="1920240"/>
            <a:ext cx="10972800" cy="4206240"/>
          </a:xfrm>
          <a:prstGeom prst="rect">
            <a:avLst/>
          </a:prstGeom>
          <a:noFill/>
        </p:spPr>
        <p:txBody>
          <a:bodyPr wrap="square" anchor="t" lIns="73152" rIns="73152" tIns="73152" bIns="73152">
            <a:spAutoFit/>
          </a:bodyPr>
          <a:lstStyle/>
          <a:p>
            <a:pPr algn="l">
              <a:lnSpc>
                <a:spcPct val="115000"/>
              </a:lnSpc>
            </a:pPr>
            <a:r>
              <a:rPr sz="2200" b="1">
                <a:solidFill>
                  <a:srgbClr val="D9480F"/>
                </a:solidFill>
                <a:latin typeface="Arial"/>
              </a:rPr>
              <a:t>▸  </a:t>
            </a:r>
            <a:r>
              <a:rPr sz="2200" b="0">
                <a:solidFill>
                  <a:srgbClr val="14202E"/>
                </a:solidFill>
                <a:latin typeface="Arial"/>
              </a:rPr>
              <a:t>______________________________________________</a:t>
            </a:r>
          </a:p>
          <a:p>
            <a:pPr algn="l">
              <a:lnSpc>
                <a:spcPct val="115000"/>
              </a:lnSpc>
            </a:pPr>
            <a:r>
              <a:rPr sz="2200" b="1">
                <a:solidFill>
                  <a:srgbClr val="D9480F"/>
                </a:solidFill>
                <a:latin typeface="Arial"/>
              </a:rPr>
              <a:t>▸  </a:t>
            </a:r>
            <a:r>
              <a:rPr sz="2200" b="0">
                <a:solidFill>
                  <a:srgbClr val="14202E"/>
                </a:solidFill>
                <a:latin typeface="Arial"/>
              </a:rPr>
              <a:t>______________________________________________</a:t>
            </a:r>
          </a:p>
          <a:p>
            <a:pPr algn="l">
              <a:lnSpc>
                <a:spcPct val="115000"/>
              </a:lnSpc>
            </a:pPr>
            <a:r>
              <a:rPr sz="2200" b="1">
                <a:solidFill>
                  <a:srgbClr val="D9480F"/>
                </a:solidFill>
                <a:latin typeface="Arial"/>
              </a:rPr>
              <a:t>▸  </a:t>
            </a:r>
            <a:r>
              <a:rPr sz="2200" b="0">
                <a:solidFill>
                  <a:srgbClr val="14202E"/>
                </a:solidFill>
                <a:latin typeface="Arial"/>
              </a:rPr>
              <a:t>______________________________________________</a:t>
            </a:r>
          </a:p>
          <a:p>
            <a:pPr algn="l">
              <a:lnSpc>
                <a:spcPct val="115000"/>
              </a:lnSpc>
            </a:pPr>
            <a:r>
              <a:rPr sz="2200" b="1">
                <a:solidFill>
                  <a:srgbClr val="D9480F"/>
                </a:solidFill>
                <a:latin typeface="Arial"/>
              </a:rPr>
              <a:t>▸  </a:t>
            </a:r>
            <a:r>
              <a:rPr sz="2200" b="0">
                <a:solidFill>
                  <a:srgbClr val="14202E"/>
                </a:solidFill>
                <a:latin typeface="Arial"/>
              </a:rPr>
              <a:t>______________________________________________</a:t>
            </a:r>
          </a:p>
        </p:txBody>
      </p:sp>
      <p:sp>
        <p:nvSpPr>
          <p:cNvPr id="7" name="TextBox 6"/>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09 Handout p.2-3 (last bullet is our inference)</a:t>
            </a:r>
          </a:p>
        </p:txBody>
      </p:sp>
      <p:sp>
        <p:nvSpPr>
          <p:cNvPr id="8" name="TextBox 7"/>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4202E"/>
        </a:solidFill>
        <a:effectLst/>
      </p:bgPr>
    </p:bg>
    <p:spTree>
      <p:nvGrpSpPr>
        <p:cNvPr id="1" name=""/>
        <p:cNvGrpSpPr/>
        <p:nvPr/>
      </p:nvGrpSpPr>
      <p:grpSpPr/>
      <p:sp>
        <p:nvSpPr>
          <p:cNvPr id="2" name="TextBox 1"/>
          <p:cNvSpPr txBox="1"/>
          <p:nvPr/>
        </p:nvSpPr>
        <p:spPr>
          <a:xfrm>
            <a:off x="548640" y="1280160"/>
            <a:ext cx="3657600" cy="2377440"/>
          </a:xfrm>
          <a:prstGeom prst="rect">
            <a:avLst/>
          </a:prstGeom>
          <a:noFill/>
        </p:spPr>
        <p:txBody>
          <a:bodyPr wrap="square" anchor="t" lIns="73152" rIns="73152" tIns="73152" bIns="73152">
            <a:spAutoFit/>
          </a:bodyPr>
          <a:lstStyle/>
          <a:p>
            <a:pPr algn="l">
              <a:lnSpc>
                <a:spcPct val="110000"/>
              </a:lnSpc>
            </a:pPr>
            <a:r>
              <a:rPr sz="17000" b="1">
                <a:solidFill>
                  <a:srgbClr val="D9480F"/>
                </a:solidFill>
                <a:latin typeface="Arial"/>
              </a:rPr>
              <a:t>8</a:t>
            </a:r>
          </a:p>
        </p:txBody>
      </p:sp>
      <p:sp>
        <p:nvSpPr>
          <p:cNvPr id="3" name="TextBox 2"/>
          <p:cNvSpPr txBox="1"/>
          <p:nvPr/>
        </p:nvSpPr>
        <p:spPr>
          <a:xfrm>
            <a:off x="3840480" y="822960"/>
            <a:ext cx="7863840" cy="1828800"/>
          </a:xfrm>
          <a:prstGeom prst="rect">
            <a:avLst/>
          </a:prstGeom>
          <a:noFill/>
        </p:spPr>
        <p:txBody>
          <a:bodyPr wrap="square" anchor="b" lIns="73152" rIns="73152" tIns="73152" bIns="73152">
            <a:spAutoFit/>
          </a:bodyPr>
          <a:lstStyle/>
          <a:p>
            <a:pPr algn="l">
              <a:lnSpc>
                <a:spcPct val="95000"/>
              </a:lnSpc>
            </a:pPr>
            <a:r>
              <a:rPr sz="4000" b="1">
                <a:solidFill>
                  <a:srgbClr val="FFFFFF"/>
                </a:solidFill>
                <a:latin typeface="Arial"/>
              </a:rPr>
              <a:t>Cloud Service Types &amp; Benefits</a:t>
            </a:r>
          </a:p>
        </p:txBody>
      </p:sp>
      <p:sp>
        <p:nvSpPr>
          <p:cNvPr id="4" name="TextBox 3"/>
          <p:cNvSpPr txBox="1"/>
          <p:nvPr/>
        </p:nvSpPr>
        <p:spPr>
          <a:xfrm>
            <a:off x="3840480" y="2743200"/>
            <a:ext cx="7863840" cy="548640"/>
          </a:xfrm>
          <a:prstGeom prst="rect">
            <a:avLst/>
          </a:prstGeom>
          <a:noFill/>
        </p:spPr>
        <p:txBody>
          <a:bodyPr wrap="square" anchor="t" lIns="73152" rIns="73152" tIns="73152" bIns="73152">
            <a:spAutoFit/>
          </a:bodyPr>
          <a:lstStyle/>
          <a:p>
            <a:pPr algn="l">
              <a:lnSpc>
                <a:spcPct val="110000"/>
              </a:lnSpc>
            </a:pPr>
            <a:r>
              <a:rPr sz="2000" b="0">
                <a:solidFill>
                  <a:srgbClr val="9FE0C9"/>
                </a:solidFill>
                <a:latin typeface="Consolas"/>
              </a:rPr>
              <a:t>SaaS · PaaS · IaaS · 10 benefits</a:t>
            </a:r>
          </a:p>
        </p:txBody>
      </p:sp>
      <p:sp>
        <p:nvSpPr>
          <p:cNvPr id="5" name="TextBox 4"/>
          <p:cNvSpPr txBox="1"/>
          <p:nvPr/>
        </p:nvSpPr>
        <p:spPr>
          <a:xfrm>
            <a:off x="3840480" y="3474720"/>
            <a:ext cx="7863840" cy="1097280"/>
          </a:xfrm>
          <a:prstGeom prst="rect">
            <a:avLst/>
          </a:prstGeom>
          <a:noFill/>
        </p:spPr>
        <p:txBody>
          <a:bodyPr wrap="square" anchor="t" lIns="73152" rIns="73152" tIns="73152" bIns="73152">
            <a:spAutoFit/>
          </a:bodyPr>
          <a:lstStyle/>
          <a:p>
            <a:pPr algn="l">
              <a:lnSpc>
                <a:spcPct val="110000"/>
              </a:lnSpc>
            </a:pPr>
            <a:r>
              <a:rPr sz="2800" b="0">
                <a:solidFill>
                  <a:srgbClr val="F2B27A"/>
                </a:solidFill>
                <a:latin typeface="Arial"/>
              </a:rPr>
              <a:t>“Use it, build on it, or rent the machine.”</a:t>
            </a:r>
          </a:p>
        </p:txBody>
      </p:sp>
      <p:sp>
        <p:nvSpPr>
          <p:cNvPr id="6" name="TextBox 5"/>
          <p:cNvSpPr txBox="1"/>
          <p:nvPr/>
        </p:nvSpPr>
        <p:spPr>
          <a:xfrm>
            <a:off x="3840480" y="4846320"/>
            <a:ext cx="7863840" cy="548640"/>
          </a:xfrm>
          <a:prstGeom prst="rect">
            <a:avLst/>
          </a:prstGeom>
          <a:noFill/>
        </p:spPr>
        <p:txBody>
          <a:bodyPr wrap="square" anchor="t" lIns="73152" rIns="73152" tIns="73152" bIns="73152">
            <a:spAutoFit/>
          </a:bodyPr>
          <a:lstStyle/>
          <a:p>
            <a:pPr algn="l">
              <a:lnSpc>
                <a:spcPct val="110000"/>
              </a:lnSpc>
            </a:pPr>
            <a:r>
              <a:rPr sz="2000" b="0">
                <a:solidFill>
                  <a:srgbClr val="E6ECF2"/>
                </a:solidFill>
                <a:latin typeface="Arial"/>
              </a:rPr>
              <a:t>Presenter: ____________________</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8  ·  CLOUD SERVICE TYPES &amp; BENEFITS  ·  BLUEPRINT  ·  OWNER: ____________</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Three service types</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SaaS: use it. PaaS: build on it. IaaS: rent the machine.</a:t>
            </a:r>
          </a:p>
        </p:txBody>
      </p:sp>
      <p:graphicFrame>
        <p:nvGraphicFramePr>
          <p:cNvPr id="6" name="Table 5"/>
          <p:cNvGraphicFramePr>
            <a:graphicFrameLocks noGrp="1"/>
          </p:cNvGraphicFramePr>
          <p:nvPr/>
        </p:nvGraphicFramePr>
        <p:xfrm>
          <a:off x="548640" y="1828800"/>
          <a:ext cx="11094415" cy="3474720"/>
        </p:xfrm>
        <a:graphic>
          <a:graphicData uri="http://schemas.openxmlformats.org/drawingml/2006/table">
            <a:tbl>
              <a:tblPr firstRow="1" bandRow="1">
                <a:tableStyleId>{5C22544A-7EE6-4342-B048-85BDC9FD1C3A}</a:tableStyleId>
              </a:tblPr>
              <a:tblGrid>
                <a:gridCol w="2773603"/>
                <a:gridCol w="2773603"/>
                <a:gridCol w="2773603"/>
                <a:gridCol w="2773606"/>
              </a:tblGrid>
              <a:tr h="868680">
                <a:tc>
                  <a:txBody>
                    <a:bodyPr/>
                    <a:lstStyle/>
                    <a:p>
                      <a:r>
                        <a:rPr sz="1600" b="1">
                          <a:solidFill>
                            <a:srgbClr val="FFFFFF"/>
                          </a:solidFill>
                          <a:latin typeface="Arial"/>
                        </a:rPr>
                        <a:t>Type</a:t>
                      </a:r>
                    </a:p>
                  </a:txBody>
                  <a:tcPr>
                    <a:solidFill>
                      <a:srgbClr val="14202E"/>
                    </a:solidFill>
                  </a:tcPr>
                </a:tc>
                <a:tc>
                  <a:txBody>
                    <a:bodyPr/>
                    <a:lstStyle/>
                    <a:p>
                      <a:r>
                        <a:rPr sz="1600" b="1">
                          <a:solidFill>
                            <a:srgbClr val="FFFFFF"/>
                          </a:solidFill>
                          <a:latin typeface="Arial"/>
                        </a:rPr>
                        <a:t>Provider gives you</a:t>
                      </a:r>
                    </a:p>
                  </a:txBody>
                  <a:tcPr>
                    <a:solidFill>
                      <a:srgbClr val="14202E"/>
                    </a:solidFill>
                  </a:tcPr>
                </a:tc>
                <a:tc>
                  <a:txBody>
                    <a:bodyPr/>
                    <a:lstStyle/>
                    <a:p>
                      <a:r>
                        <a:rPr sz="1600" b="1">
                          <a:solidFill>
                            <a:srgbClr val="FFFFFF"/>
                          </a:solidFill>
                          <a:latin typeface="Arial"/>
                        </a:rPr>
                        <a:t>You control</a:t>
                      </a:r>
                    </a:p>
                  </a:txBody>
                  <a:tcPr>
                    <a:solidFill>
                      <a:srgbClr val="14202E"/>
                    </a:solidFill>
                  </a:tcPr>
                </a:tc>
                <a:tc>
                  <a:txBody>
                    <a:bodyPr/>
                    <a:lstStyle/>
                    <a:p>
                      <a:r>
                        <a:rPr sz="1600" b="1">
                          <a:solidFill>
                            <a:srgbClr val="FFFFFF"/>
                          </a:solidFill>
                          <a:latin typeface="Arial"/>
                        </a:rPr>
                        <a:t>Handout example</a:t>
                      </a:r>
                    </a:p>
                  </a:txBody>
                  <a:tcPr>
                    <a:solidFill>
                      <a:srgbClr val="14202E"/>
                    </a:solidFill>
                  </a:tcPr>
                </a:tc>
              </a:tr>
              <a:tr h="868680">
                <a:tc>
                  <a:txBody>
                    <a:bodyPr/>
                    <a:lstStyle/>
                    <a:p>
                      <a:r>
                        <a:rPr sz="1500" b="1">
                          <a:solidFill>
                            <a:srgbClr val="D9480F"/>
                          </a:solidFill>
                          <a:latin typeface="Arial"/>
                        </a:rPr>
                        <a:t>SaaS</a:t>
                      </a:r>
                    </a:p>
                  </a:txBody>
                  <a:tcPr anchor="ctr">
                    <a:solidFill>
                      <a:srgbClr val="FFFFFF"/>
                    </a:solidFill>
                  </a:tcPr>
                </a:tc>
                <a:tc>
                  <a:txBody>
                    <a:bodyPr/>
                    <a:lstStyle/>
                    <a:p>
                      <a:r>
                        <a:rPr sz="1500" b="0">
                          <a:solidFill>
                            <a:srgbClr val="14202E"/>
                          </a:solidFill>
                          <a:latin typeface="Arial"/>
                        </a:rPr>
                        <a:t>________________</a:t>
                      </a:r>
                    </a:p>
                  </a:txBody>
                  <a:tcPr anchor="ctr">
                    <a:solidFill>
                      <a:srgbClr val="FFF4E5"/>
                    </a:solidFill>
                  </a:tcPr>
                </a:tc>
                <a:tc>
                  <a:txBody>
                    <a:bodyPr/>
                    <a:lstStyle/>
                    <a:p>
                      <a:r>
                        <a:rPr sz="1500" b="0">
                          <a:solidFill>
                            <a:srgbClr val="14202E"/>
                          </a:solidFill>
                          <a:latin typeface="Arial"/>
                        </a:rPr>
                        <a:t>________________</a:t>
                      </a:r>
                    </a:p>
                  </a:txBody>
                  <a:tcPr anchor="ctr">
                    <a:solidFill>
                      <a:srgbClr val="FFF4E5"/>
                    </a:solidFill>
                  </a:tcPr>
                </a:tc>
                <a:tc>
                  <a:txBody>
                    <a:bodyPr/>
                    <a:lstStyle/>
                    <a:p>
                      <a:r>
                        <a:rPr sz="1500" b="0">
                          <a:solidFill>
                            <a:srgbClr val="14202E"/>
                          </a:solidFill>
                          <a:latin typeface="Arial"/>
                        </a:rPr>
                        <a:t>________________</a:t>
                      </a:r>
                    </a:p>
                  </a:txBody>
                  <a:tcPr anchor="ctr">
                    <a:solidFill>
                      <a:srgbClr val="FFF4E5"/>
                    </a:solidFill>
                  </a:tcPr>
                </a:tc>
              </a:tr>
              <a:tr h="868680">
                <a:tc>
                  <a:txBody>
                    <a:bodyPr/>
                    <a:lstStyle/>
                    <a:p>
                      <a:r>
                        <a:rPr sz="1500" b="1">
                          <a:solidFill>
                            <a:srgbClr val="D9480F"/>
                          </a:solidFill>
                          <a:latin typeface="Arial"/>
                        </a:rPr>
                        <a:t>PaaS</a:t>
                      </a:r>
                    </a:p>
                  </a:txBody>
                  <a:tcPr anchor="ctr">
                    <a:solidFill>
                      <a:srgbClr val="F6F8FA"/>
                    </a:solidFill>
                  </a:tcPr>
                </a:tc>
                <a:tc>
                  <a:txBody>
                    <a:bodyPr/>
                    <a:lstStyle/>
                    <a:p>
                      <a:r>
                        <a:rPr sz="1500" b="0">
                          <a:solidFill>
                            <a:srgbClr val="14202E"/>
                          </a:solidFill>
                          <a:latin typeface="Arial"/>
                        </a:rPr>
                        <a:t>________________</a:t>
                      </a:r>
                    </a:p>
                  </a:txBody>
                  <a:tcPr anchor="ctr">
                    <a:solidFill>
                      <a:srgbClr val="FFF4E5"/>
                    </a:solidFill>
                  </a:tcPr>
                </a:tc>
                <a:tc>
                  <a:txBody>
                    <a:bodyPr/>
                    <a:lstStyle/>
                    <a:p>
                      <a:r>
                        <a:rPr sz="1500" b="0">
                          <a:solidFill>
                            <a:srgbClr val="14202E"/>
                          </a:solidFill>
                          <a:latin typeface="Arial"/>
                        </a:rPr>
                        <a:t>________________</a:t>
                      </a:r>
                    </a:p>
                  </a:txBody>
                  <a:tcPr anchor="ctr">
                    <a:solidFill>
                      <a:srgbClr val="FFF4E5"/>
                    </a:solidFill>
                  </a:tcPr>
                </a:tc>
                <a:tc>
                  <a:txBody>
                    <a:bodyPr/>
                    <a:lstStyle/>
                    <a:p>
                      <a:r>
                        <a:rPr sz="1500" b="0">
                          <a:solidFill>
                            <a:srgbClr val="14202E"/>
                          </a:solidFill>
                          <a:latin typeface="Arial"/>
                        </a:rPr>
                        <a:t>________________</a:t>
                      </a:r>
                    </a:p>
                  </a:txBody>
                  <a:tcPr anchor="ctr">
                    <a:solidFill>
                      <a:srgbClr val="FFF4E5"/>
                    </a:solidFill>
                  </a:tcPr>
                </a:tc>
              </a:tr>
              <a:tr h="868680">
                <a:tc>
                  <a:txBody>
                    <a:bodyPr/>
                    <a:lstStyle/>
                    <a:p>
                      <a:r>
                        <a:rPr sz="1500" b="1">
                          <a:solidFill>
                            <a:srgbClr val="D9480F"/>
                          </a:solidFill>
                          <a:latin typeface="Arial"/>
                        </a:rPr>
                        <a:t>IaaS</a:t>
                      </a:r>
                    </a:p>
                  </a:txBody>
                  <a:tcPr anchor="ctr">
                    <a:solidFill>
                      <a:srgbClr val="FFFFFF"/>
                    </a:solidFill>
                  </a:tcPr>
                </a:tc>
                <a:tc>
                  <a:txBody>
                    <a:bodyPr/>
                    <a:lstStyle/>
                    <a:p>
                      <a:r>
                        <a:rPr sz="1500" b="0">
                          <a:solidFill>
                            <a:srgbClr val="14202E"/>
                          </a:solidFill>
                          <a:latin typeface="Arial"/>
                        </a:rPr>
                        <a:t>________________</a:t>
                      </a:r>
                    </a:p>
                  </a:txBody>
                  <a:tcPr anchor="ctr">
                    <a:solidFill>
                      <a:srgbClr val="FFF4E5"/>
                    </a:solidFill>
                  </a:tcPr>
                </a:tc>
                <a:tc>
                  <a:txBody>
                    <a:bodyPr/>
                    <a:lstStyle/>
                    <a:p>
                      <a:r>
                        <a:rPr sz="1500" b="0">
                          <a:solidFill>
                            <a:srgbClr val="14202E"/>
                          </a:solidFill>
                          <a:latin typeface="Arial"/>
                        </a:rPr>
                        <a:t>________________</a:t>
                      </a:r>
                    </a:p>
                  </a:txBody>
                  <a:tcPr anchor="ctr">
                    <a:solidFill>
                      <a:srgbClr val="FFF4E5"/>
                    </a:solidFill>
                  </a:tcPr>
                </a:tc>
                <a:tc>
                  <a:txBody>
                    <a:bodyPr/>
                    <a:lstStyle/>
                    <a:p>
                      <a:r>
                        <a:rPr sz="1500" b="0">
                          <a:solidFill>
                            <a:srgbClr val="14202E"/>
                          </a:solidFill>
                          <a:latin typeface="Arial"/>
                        </a:rPr>
                        <a:t>________________</a:t>
                      </a:r>
                    </a:p>
                  </a:txBody>
                  <a:tcPr anchor="ctr">
                    <a:solidFill>
                      <a:srgbClr val="FFF4E5"/>
                    </a:solidFill>
                  </a:tcPr>
                </a:tc>
              </a:tr>
            </a:tbl>
          </a:graphicData>
        </a:graphic>
      </p:graphicFrame>
      <p:sp>
        <p:nvSpPr>
          <p:cNvPr id="7" name="TextBox 6"/>
          <p:cNvSpPr txBox="1"/>
          <p:nvPr/>
        </p:nvSpPr>
        <p:spPr>
          <a:xfrm>
            <a:off x="548640" y="5532120"/>
            <a:ext cx="11094415" cy="731520"/>
          </a:xfrm>
          <a:prstGeom prst="rect">
            <a:avLst/>
          </a:prstGeom>
          <a:noFill/>
        </p:spPr>
        <p:txBody>
          <a:bodyPr wrap="square" anchor="t" lIns="73152" rIns="73152" tIns="73152" bIns="73152">
            <a:spAutoFit/>
          </a:bodyPr>
          <a:lstStyle/>
          <a:p>
            <a:pPr algn="l">
              <a:lnSpc>
                <a:spcPct val="115000"/>
              </a:lnSpc>
            </a:pPr>
            <a:r>
              <a:rPr sz="1700" b="1">
                <a:solidFill>
                  <a:srgbClr val="D9480F"/>
                </a:solidFill>
                <a:latin typeface="Arial"/>
              </a:rPr>
              <a:t>▸  </a:t>
            </a:r>
            <a:r>
              <a:rPr sz="1700" b="0">
                <a:solidFill>
                  <a:srgbClr val="14202E"/>
                </a:solidFill>
                <a:latin typeface="Arial"/>
              </a:rPr>
              <a:t>Services follow an à la carte model and can be stacked.</a:t>
            </a:r>
          </a:p>
        </p:txBody>
      </p:sp>
      <p:sp>
        <p:nvSpPr>
          <p:cNvPr id="8" name="TextBox 7"/>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09 Handout p.1</a:t>
            </a:r>
          </a:p>
        </p:txBody>
      </p:sp>
      <p:sp>
        <p:nvSpPr>
          <p:cNvPr id="9" name="TextBox 8"/>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8  ·  CLOUD SERVICE TYPES &amp; BENEFITS  ·  BLUEPRINT  ·  OWNER: ____________</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Who manages what</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Each step down, you manage more.</a:t>
            </a:r>
          </a:p>
        </p:txBody>
      </p:sp>
      <p:sp>
        <p:nvSpPr>
          <p:cNvPr id="6" name="TextBox 5"/>
          <p:cNvSpPr txBox="1"/>
          <p:nvPr/>
        </p:nvSpPr>
        <p:spPr>
          <a:xfrm>
            <a:off x="548640" y="1874519"/>
            <a:ext cx="2926080" cy="365760"/>
          </a:xfrm>
          <a:prstGeom prst="rect">
            <a:avLst/>
          </a:prstGeom>
          <a:noFill/>
        </p:spPr>
        <p:txBody>
          <a:bodyPr wrap="square" anchor="t" lIns="73152" rIns="73152" tIns="73152" bIns="73152">
            <a:spAutoFit/>
          </a:bodyPr>
          <a:lstStyle/>
          <a:p>
            <a:pPr algn="l">
              <a:lnSpc>
                <a:spcPct val="110000"/>
              </a:lnSpc>
            </a:pPr>
            <a:r>
              <a:rPr sz="1400" b="1">
                <a:solidFill>
                  <a:srgbClr val="4A5868"/>
                </a:solidFill>
                <a:latin typeface="Arial"/>
              </a:rPr>
              <a:t>Layer</a:t>
            </a:r>
          </a:p>
        </p:txBody>
      </p:sp>
      <p:sp>
        <p:nvSpPr>
          <p:cNvPr id="7" name="TextBox 6"/>
          <p:cNvSpPr txBox="1"/>
          <p:nvPr/>
        </p:nvSpPr>
        <p:spPr>
          <a:xfrm>
            <a:off x="548640" y="2286000"/>
            <a:ext cx="2926080" cy="640080"/>
          </a:xfrm>
          <a:prstGeom prst="rect">
            <a:avLst/>
          </a:prstGeom>
          <a:noFill/>
        </p:spPr>
        <p:txBody>
          <a:bodyPr wrap="square" anchor="ctr" lIns="73152" rIns="73152" tIns="73152" bIns="73152">
            <a:spAutoFit/>
          </a:bodyPr>
          <a:lstStyle/>
          <a:p>
            <a:pPr algn="l">
              <a:lnSpc>
                <a:spcPct val="110000"/>
              </a:lnSpc>
            </a:pPr>
            <a:r>
              <a:rPr sz="1700" b="1">
                <a:solidFill>
                  <a:srgbClr val="14202E"/>
                </a:solidFill>
                <a:latin typeface="Arial"/>
              </a:rPr>
              <a:t>Application</a:t>
            </a:r>
          </a:p>
        </p:txBody>
      </p:sp>
      <p:sp>
        <p:nvSpPr>
          <p:cNvPr id="8" name="TextBox 7"/>
          <p:cNvSpPr txBox="1"/>
          <p:nvPr/>
        </p:nvSpPr>
        <p:spPr>
          <a:xfrm>
            <a:off x="548640" y="3017520"/>
            <a:ext cx="2926080" cy="640080"/>
          </a:xfrm>
          <a:prstGeom prst="rect">
            <a:avLst/>
          </a:prstGeom>
          <a:noFill/>
        </p:spPr>
        <p:txBody>
          <a:bodyPr wrap="square" anchor="ctr" lIns="73152" rIns="73152" tIns="73152" bIns="73152">
            <a:spAutoFit/>
          </a:bodyPr>
          <a:lstStyle/>
          <a:p>
            <a:pPr algn="l">
              <a:lnSpc>
                <a:spcPct val="110000"/>
              </a:lnSpc>
            </a:pPr>
            <a:r>
              <a:rPr sz="1700" b="1">
                <a:solidFill>
                  <a:srgbClr val="14202E"/>
                </a:solidFill>
                <a:latin typeface="Arial"/>
              </a:rPr>
              <a:t>Data</a:t>
            </a:r>
          </a:p>
        </p:txBody>
      </p:sp>
      <p:sp>
        <p:nvSpPr>
          <p:cNvPr id="9" name="TextBox 8"/>
          <p:cNvSpPr txBox="1"/>
          <p:nvPr/>
        </p:nvSpPr>
        <p:spPr>
          <a:xfrm>
            <a:off x="548640" y="3749040"/>
            <a:ext cx="2926080" cy="640080"/>
          </a:xfrm>
          <a:prstGeom prst="rect">
            <a:avLst/>
          </a:prstGeom>
          <a:noFill/>
        </p:spPr>
        <p:txBody>
          <a:bodyPr wrap="square" anchor="ctr" lIns="73152" rIns="73152" tIns="73152" bIns="73152">
            <a:spAutoFit/>
          </a:bodyPr>
          <a:lstStyle/>
          <a:p>
            <a:pPr algn="l">
              <a:lnSpc>
                <a:spcPct val="110000"/>
              </a:lnSpc>
            </a:pPr>
            <a:r>
              <a:rPr sz="1700" b="1">
                <a:solidFill>
                  <a:srgbClr val="14202E"/>
                </a:solidFill>
                <a:latin typeface="Arial"/>
              </a:rPr>
              <a:t>Runtime / Platform</a:t>
            </a:r>
          </a:p>
        </p:txBody>
      </p:sp>
      <p:sp>
        <p:nvSpPr>
          <p:cNvPr id="10" name="TextBox 9"/>
          <p:cNvSpPr txBox="1"/>
          <p:nvPr/>
        </p:nvSpPr>
        <p:spPr>
          <a:xfrm>
            <a:off x="548640" y="4480560"/>
            <a:ext cx="2926080" cy="640080"/>
          </a:xfrm>
          <a:prstGeom prst="rect">
            <a:avLst/>
          </a:prstGeom>
          <a:noFill/>
        </p:spPr>
        <p:txBody>
          <a:bodyPr wrap="square" anchor="ctr" lIns="73152" rIns="73152" tIns="73152" bIns="73152">
            <a:spAutoFit/>
          </a:bodyPr>
          <a:lstStyle/>
          <a:p>
            <a:pPr algn="l">
              <a:lnSpc>
                <a:spcPct val="110000"/>
              </a:lnSpc>
            </a:pPr>
            <a:r>
              <a:rPr sz="1700" b="1">
                <a:solidFill>
                  <a:srgbClr val="14202E"/>
                </a:solidFill>
                <a:latin typeface="Arial"/>
              </a:rPr>
              <a:t>Operating system</a:t>
            </a:r>
          </a:p>
        </p:txBody>
      </p:sp>
      <p:sp>
        <p:nvSpPr>
          <p:cNvPr id="11" name="TextBox 10"/>
          <p:cNvSpPr txBox="1"/>
          <p:nvPr/>
        </p:nvSpPr>
        <p:spPr>
          <a:xfrm>
            <a:off x="548640" y="5212080"/>
            <a:ext cx="2926080" cy="640080"/>
          </a:xfrm>
          <a:prstGeom prst="rect">
            <a:avLst/>
          </a:prstGeom>
          <a:noFill/>
        </p:spPr>
        <p:txBody>
          <a:bodyPr wrap="square" anchor="ctr" lIns="73152" rIns="73152" tIns="73152" bIns="73152">
            <a:spAutoFit/>
          </a:bodyPr>
          <a:lstStyle/>
          <a:p>
            <a:pPr algn="l">
              <a:lnSpc>
                <a:spcPct val="110000"/>
              </a:lnSpc>
            </a:pPr>
            <a:r>
              <a:rPr sz="1700" b="1">
                <a:solidFill>
                  <a:srgbClr val="14202E"/>
                </a:solidFill>
                <a:latin typeface="Arial"/>
              </a:rPr>
              <a:t>Servers · Storage · Network</a:t>
            </a:r>
          </a:p>
        </p:txBody>
      </p:sp>
      <p:sp>
        <p:nvSpPr>
          <p:cNvPr id="12" name="TextBox 11"/>
          <p:cNvSpPr txBox="1"/>
          <p:nvPr/>
        </p:nvSpPr>
        <p:spPr>
          <a:xfrm>
            <a:off x="3657600" y="1874519"/>
            <a:ext cx="2423160" cy="365760"/>
          </a:xfrm>
          <a:prstGeom prst="rect">
            <a:avLst/>
          </a:prstGeom>
          <a:noFill/>
        </p:spPr>
        <p:txBody>
          <a:bodyPr wrap="square" anchor="t" lIns="73152" rIns="73152" tIns="73152" bIns="73152">
            <a:spAutoFit/>
          </a:bodyPr>
          <a:lstStyle/>
          <a:p>
            <a:pPr algn="ctr">
              <a:lnSpc>
                <a:spcPct val="110000"/>
              </a:lnSpc>
            </a:pPr>
            <a:r>
              <a:rPr sz="1800" b="1">
                <a:solidFill>
                  <a:srgbClr val="D9480F"/>
                </a:solidFill>
                <a:latin typeface="Arial"/>
              </a:rPr>
              <a:t>SaaS</a:t>
            </a:r>
          </a:p>
        </p:txBody>
      </p:sp>
      <p:sp>
        <p:nvSpPr>
          <p:cNvPr id="13" name="Rectangle 12"/>
          <p:cNvSpPr/>
          <p:nvPr/>
        </p:nvSpPr>
        <p:spPr>
          <a:xfrm>
            <a:off x="3657600" y="2286000"/>
            <a:ext cx="2423160" cy="640080"/>
          </a:xfrm>
          <a:prstGeom prst="rect">
            <a:avLst/>
          </a:prstGeom>
          <a:solidFill>
            <a:srgbClr val="FFF4E5"/>
          </a:solidFill>
          <a:ln w="15875">
            <a:solidFill>
              <a:srgbClr val="D948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0" y="2286000"/>
            <a:ext cx="2423160" cy="640080"/>
          </a:xfrm>
          <a:prstGeom prst="rect">
            <a:avLst/>
          </a:prstGeom>
          <a:noFill/>
        </p:spPr>
        <p:txBody>
          <a:bodyPr wrap="square" anchor="ctr" lIns="73152" rIns="73152" tIns="73152" bIns="73152">
            <a:spAutoFit/>
          </a:bodyPr>
          <a:lstStyle/>
          <a:p>
            <a:pPr algn="ctr">
              <a:lnSpc>
                <a:spcPct val="110000"/>
              </a:lnSpc>
            </a:pPr>
            <a:r>
              <a:rPr sz="1400" b="0">
                <a:solidFill>
                  <a:srgbClr val="4A5868"/>
                </a:solidFill>
                <a:latin typeface="Arial"/>
              </a:rPr>
              <a:t>You / Provider?</a:t>
            </a:r>
          </a:p>
        </p:txBody>
      </p:sp>
      <p:sp>
        <p:nvSpPr>
          <p:cNvPr id="15" name="Rectangle 14"/>
          <p:cNvSpPr/>
          <p:nvPr/>
        </p:nvSpPr>
        <p:spPr>
          <a:xfrm>
            <a:off x="3657600" y="3017520"/>
            <a:ext cx="2423160" cy="640080"/>
          </a:xfrm>
          <a:prstGeom prst="rect">
            <a:avLst/>
          </a:prstGeom>
          <a:solidFill>
            <a:srgbClr val="FFF4E5"/>
          </a:solidFill>
          <a:ln w="15875">
            <a:solidFill>
              <a:srgbClr val="D948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0" y="3017520"/>
            <a:ext cx="2423160" cy="640080"/>
          </a:xfrm>
          <a:prstGeom prst="rect">
            <a:avLst/>
          </a:prstGeom>
          <a:noFill/>
        </p:spPr>
        <p:txBody>
          <a:bodyPr wrap="square" anchor="ctr" lIns="73152" rIns="73152" tIns="73152" bIns="73152">
            <a:spAutoFit/>
          </a:bodyPr>
          <a:lstStyle/>
          <a:p>
            <a:pPr algn="ctr">
              <a:lnSpc>
                <a:spcPct val="110000"/>
              </a:lnSpc>
            </a:pPr>
            <a:r>
              <a:rPr sz="1400" b="0">
                <a:solidFill>
                  <a:srgbClr val="4A5868"/>
                </a:solidFill>
                <a:latin typeface="Arial"/>
              </a:rPr>
              <a:t>You / Provider?</a:t>
            </a:r>
          </a:p>
        </p:txBody>
      </p:sp>
      <p:sp>
        <p:nvSpPr>
          <p:cNvPr id="17" name="Rectangle 16"/>
          <p:cNvSpPr/>
          <p:nvPr/>
        </p:nvSpPr>
        <p:spPr>
          <a:xfrm>
            <a:off x="3657600" y="3749040"/>
            <a:ext cx="2423160" cy="640080"/>
          </a:xfrm>
          <a:prstGeom prst="rect">
            <a:avLst/>
          </a:prstGeom>
          <a:solidFill>
            <a:srgbClr val="FFF4E5"/>
          </a:solidFill>
          <a:ln w="15875">
            <a:solidFill>
              <a:srgbClr val="D948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7600" y="3749040"/>
            <a:ext cx="2423160" cy="640080"/>
          </a:xfrm>
          <a:prstGeom prst="rect">
            <a:avLst/>
          </a:prstGeom>
          <a:noFill/>
        </p:spPr>
        <p:txBody>
          <a:bodyPr wrap="square" anchor="ctr" lIns="73152" rIns="73152" tIns="73152" bIns="73152">
            <a:spAutoFit/>
          </a:bodyPr>
          <a:lstStyle/>
          <a:p>
            <a:pPr algn="ctr">
              <a:lnSpc>
                <a:spcPct val="110000"/>
              </a:lnSpc>
            </a:pPr>
            <a:r>
              <a:rPr sz="1400" b="0">
                <a:solidFill>
                  <a:srgbClr val="4A5868"/>
                </a:solidFill>
                <a:latin typeface="Arial"/>
              </a:rPr>
              <a:t>You / Provider?</a:t>
            </a:r>
          </a:p>
        </p:txBody>
      </p:sp>
      <p:sp>
        <p:nvSpPr>
          <p:cNvPr id="19" name="Rectangle 18"/>
          <p:cNvSpPr/>
          <p:nvPr/>
        </p:nvSpPr>
        <p:spPr>
          <a:xfrm>
            <a:off x="3657600" y="4480560"/>
            <a:ext cx="2423160" cy="640080"/>
          </a:xfrm>
          <a:prstGeom prst="rect">
            <a:avLst/>
          </a:prstGeom>
          <a:solidFill>
            <a:srgbClr val="FFF4E5"/>
          </a:solidFill>
          <a:ln w="15875">
            <a:solidFill>
              <a:srgbClr val="D948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0" y="4480560"/>
            <a:ext cx="2423160" cy="640080"/>
          </a:xfrm>
          <a:prstGeom prst="rect">
            <a:avLst/>
          </a:prstGeom>
          <a:noFill/>
        </p:spPr>
        <p:txBody>
          <a:bodyPr wrap="square" anchor="ctr" lIns="73152" rIns="73152" tIns="73152" bIns="73152">
            <a:spAutoFit/>
          </a:bodyPr>
          <a:lstStyle/>
          <a:p>
            <a:pPr algn="ctr">
              <a:lnSpc>
                <a:spcPct val="110000"/>
              </a:lnSpc>
            </a:pPr>
            <a:r>
              <a:rPr sz="1400" b="0">
                <a:solidFill>
                  <a:srgbClr val="4A5868"/>
                </a:solidFill>
                <a:latin typeface="Arial"/>
              </a:rPr>
              <a:t>You / Provider?</a:t>
            </a:r>
          </a:p>
        </p:txBody>
      </p:sp>
      <p:sp>
        <p:nvSpPr>
          <p:cNvPr id="21" name="Rectangle 20"/>
          <p:cNvSpPr/>
          <p:nvPr/>
        </p:nvSpPr>
        <p:spPr>
          <a:xfrm>
            <a:off x="3657600" y="5212080"/>
            <a:ext cx="2423160" cy="640080"/>
          </a:xfrm>
          <a:prstGeom prst="rect">
            <a:avLst/>
          </a:prstGeom>
          <a:solidFill>
            <a:srgbClr val="FFF4E5"/>
          </a:solidFill>
          <a:ln w="15875">
            <a:solidFill>
              <a:srgbClr val="D948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7600" y="5212080"/>
            <a:ext cx="2423160" cy="640080"/>
          </a:xfrm>
          <a:prstGeom prst="rect">
            <a:avLst/>
          </a:prstGeom>
          <a:noFill/>
        </p:spPr>
        <p:txBody>
          <a:bodyPr wrap="square" anchor="ctr" lIns="73152" rIns="73152" tIns="73152" bIns="73152">
            <a:spAutoFit/>
          </a:bodyPr>
          <a:lstStyle/>
          <a:p>
            <a:pPr algn="ctr">
              <a:lnSpc>
                <a:spcPct val="110000"/>
              </a:lnSpc>
            </a:pPr>
            <a:r>
              <a:rPr sz="1400" b="0">
                <a:solidFill>
                  <a:srgbClr val="4A5868"/>
                </a:solidFill>
                <a:latin typeface="Arial"/>
              </a:rPr>
              <a:t>You / Provider?</a:t>
            </a:r>
          </a:p>
        </p:txBody>
      </p:sp>
      <p:sp>
        <p:nvSpPr>
          <p:cNvPr id="23" name="TextBox 22"/>
          <p:cNvSpPr txBox="1"/>
          <p:nvPr/>
        </p:nvSpPr>
        <p:spPr>
          <a:xfrm>
            <a:off x="6263640" y="1874519"/>
            <a:ext cx="2423160" cy="365760"/>
          </a:xfrm>
          <a:prstGeom prst="rect">
            <a:avLst/>
          </a:prstGeom>
          <a:noFill/>
        </p:spPr>
        <p:txBody>
          <a:bodyPr wrap="square" anchor="t" lIns="73152" rIns="73152" tIns="73152" bIns="73152">
            <a:spAutoFit/>
          </a:bodyPr>
          <a:lstStyle/>
          <a:p>
            <a:pPr algn="ctr">
              <a:lnSpc>
                <a:spcPct val="110000"/>
              </a:lnSpc>
            </a:pPr>
            <a:r>
              <a:rPr sz="1800" b="1">
                <a:solidFill>
                  <a:srgbClr val="D9480F"/>
                </a:solidFill>
                <a:latin typeface="Arial"/>
              </a:rPr>
              <a:t>PaaS</a:t>
            </a:r>
          </a:p>
        </p:txBody>
      </p:sp>
      <p:sp>
        <p:nvSpPr>
          <p:cNvPr id="24" name="Rectangle 23"/>
          <p:cNvSpPr/>
          <p:nvPr/>
        </p:nvSpPr>
        <p:spPr>
          <a:xfrm>
            <a:off x="6263640" y="2286000"/>
            <a:ext cx="2423160" cy="640080"/>
          </a:xfrm>
          <a:prstGeom prst="rect">
            <a:avLst/>
          </a:prstGeom>
          <a:solidFill>
            <a:srgbClr val="FFF4E5"/>
          </a:solidFill>
          <a:ln w="15875">
            <a:solidFill>
              <a:srgbClr val="D948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63640" y="2286000"/>
            <a:ext cx="2423160" cy="640080"/>
          </a:xfrm>
          <a:prstGeom prst="rect">
            <a:avLst/>
          </a:prstGeom>
          <a:noFill/>
        </p:spPr>
        <p:txBody>
          <a:bodyPr wrap="square" anchor="ctr" lIns="73152" rIns="73152" tIns="73152" bIns="73152">
            <a:spAutoFit/>
          </a:bodyPr>
          <a:lstStyle/>
          <a:p>
            <a:pPr algn="ctr">
              <a:lnSpc>
                <a:spcPct val="110000"/>
              </a:lnSpc>
            </a:pPr>
            <a:r>
              <a:rPr sz="1400" b="0">
                <a:solidFill>
                  <a:srgbClr val="4A5868"/>
                </a:solidFill>
                <a:latin typeface="Arial"/>
              </a:rPr>
              <a:t>You / Provider?</a:t>
            </a:r>
          </a:p>
        </p:txBody>
      </p:sp>
      <p:sp>
        <p:nvSpPr>
          <p:cNvPr id="26" name="Rectangle 25"/>
          <p:cNvSpPr/>
          <p:nvPr/>
        </p:nvSpPr>
        <p:spPr>
          <a:xfrm>
            <a:off x="6263640" y="3017520"/>
            <a:ext cx="2423160" cy="640080"/>
          </a:xfrm>
          <a:prstGeom prst="rect">
            <a:avLst/>
          </a:prstGeom>
          <a:solidFill>
            <a:srgbClr val="FFF4E5"/>
          </a:solidFill>
          <a:ln w="15875">
            <a:solidFill>
              <a:srgbClr val="D948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63640" y="3017520"/>
            <a:ext cx="2423160" cy="640080"/>
          </a:xfrm>
          <a:prstGeom prst="rect">
            <a:avLst/>
          </a:prstGeom>
          <a:noFill/>
        </p:spPr>
        <p:txBody>
          <a:bodyPr wrap="square" anchor="ctr" lIns="73152" rIns="73152" tIns="73152" bIns="73152">
            <a:spAutoFit/>
          </a:bodyPr>
          <a:lstStyle/>
          <a:p>
            <a:pPr algn="ctr">
              <a:lnSpc>
                <a:spcPct val="110000"/>
              </a:lnSpc>
            </a:pPr>
            <a:r>
              <a:rPr sz="1400" b="0">
                <a:solidFill>
                  <a:srgbClr val="4A5868"/>
                </a:solidFill>
                <a:latin typeface="Arial"/>
              </a:rPr>
              <a:t>You / Provider?</a:t>
            </a:r>
          </a:p>
        </p:txBody>
      </p:sp>
      <p:sp>
        <p:nvSpPr>
          <p:cNvPr id="28" name="Rectangle 27"/>
          <p:cNvSpPr/>
          <p:nvPr/>
        </p:nvSpPr>
        <p:spPr>
          <a:xfrm>
            <a:off x="6263640" y="3749040"/>
            <a:ext cx="2423160" cy="640080"/>
          </a:xfrm>
          <a:prstGeom prst="rect">
            <a:avLst/>
          </a:prstGeom>
          <a:solidFill>
            <a:srgbClr val="FFF4E5"/>
          </a:solidFill>
          <a:ln w="15875">
            <a:solidFill>
              <a:srgbClr val="D948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63640" y="3749040"/>
            <a:ext cx="2423160" cy="640080"/>
          </a:xfrm>
          <a:prstGeom prst="rect">
            <a:avLst/>
          </a:prstGeom>
          <a:noFill/>
        </p:spPr>
        <p:txBody>
          <a:bodyPr wrap="square" anchor="ctr" lIns="73152" rIns="73152" tIns="73152" bIns="73152">
            <a:spAutoFit/>
          </a:bodyPr>
          <a:lstStyle/>
          <a:p>
            <a:pPr algn="ctr">
              <a:lnSpc>
                <a:spcPct val="110000"/>
              </a:lnSpc>
            </a:pPr>
            <a:r>
              <a:rPr sz="1400" b="0">
                <a:solidFill>
                  <a:srgbClr val="4A5868"/>
                </a:solidFill>
                <a:latin typeface="Arial"/>
              </a:rPr>
              <a:t>You / Provider?</a:t>
            </a:r>
          </a:p>
        </p:txBody>
      </p:sp>
      <p:sp>
        <p:nvSpPr>
          <p:cNvPr id="30" name="Rectangle 29"/>
          <p:cNvSpPr/>
          <p:nvPr/>
        </p:nvSpPr>
        <p:spPr>
          <a:xfrm>
            <a:off x="6263640" y="4480560"/>
            <a:ext cx="2423160" cy="640080"/>
          </a:xfrm>
          <a:prstGeom prst="rect">
            <a:avLst/>
          </a:prstGeom>
          <a:solidFill>
            <a:srgbClr val="FFF4E5"/>
          </a:solidFill>
          <a:ln w="15875">
            <a:solidFill>
              <a:srgbClr val="D948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63640" y="4480560"/>
            <a:ext cx="2423160" cy="640080"/>
          </a:xfrm>
          <a:prstGeom prst="rect">
            <a:avLst/>
          </a:prstGeom>
          <a:noFill/>
        </p:spPr>
        <p:txBody>
          <a:bodyPr wrap="square" anchor="ctr" lIns="73152" rIns="73152" tIns="73152" bIns="73152">
            <a:spAutoFit/>
          </a:bodyPr>
          <a:lstStyle/>
          <a:p>
            <a:pPr algn="ctr">
              <a:lnSpc>
                <a:spcPct val="110000"/>
              </a:lnSpc>
            </a:pPr>
            <a:r>
              <a:rPr sz="1400" b="0">
                <a:solidFill>
                  <a:srgbClr val="4A5868"/>
                </a:solidFill>
                <a:latin typeface="Arial"/>
              </a:rPr>
              <a:t>You / Provider?</a:t>
            </a:r>
          </a:p>
        </p:txBody>
      </p:sp>
      <p:sp>
        <p:nvSpPr>
          <p:cNvPr id="32" name="Rectangle 31"/>
          <p:cNvSpPr/>
          <p:nvPr/>
        </p:nvSpPr>
        <p:spPr>
          <a:xfrm>
            <a:off x="6263640" y="5212080"/>
            <a:ext cx="2423160" cy="640080"/>
          </a:xfrm>
          <a:prstGeom prst="rect">
            <a:avLst/>
          </a:prstGeom>
          <a:solidFill>
            <a:srgbClr val="FFF4E5"/>
          </a:solidFill>
          <a:ln w="15875">
            <a:solidFill>
              <a:srgbClr val="D948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63640" y="5212080"/>
            <a:ext cx="2423160" cy="640080"/>
          </a:xfrm>
          <a:prstGeom prst="rect">
            <a:avLst/>
          </a:prstGeom>
          <a:noFill/>
        </p:spPr>
        <p:txBody>
          <a:bodyPr wrap="square" anchor="ctr" lIns="73152" rIns="73152" tIns="73152" bIns="73152">
            <a:spAutoFit/>
          </a:bodyPr>
          <a:lstStyle/>
          <a:p>
            <a:pPr algn="ctr">
              <a:lnSpc>
                <a:spcPct val="110000"/>
              </a:lnSpc>
            </a:pPr>
            <a:r>
              <a:rPr sz="1400" b="0">
                <a:solidFill>
                  <a:srgbClr val="4A5868"/>
                </a:solidFill>
                <a:latin typeface="Arial"/>
              </a:rPr>
              <a:t>You / Provider?</a:t>
            </a:r>
          </a:p>
        </p:txBody>
      </p:sp>
      <p:sp>
        <p:nvSpPr>
          <p:cNvPr id="34" name="TextBox 33"/>
          <p:cNvSpPr txBox="1"/>
          <p:nvPr/>
        </p:nvSpPr>
        <p:spPr>
          <a:xfrm>
            <a:off x="8869680" y="1874519"/>
            <a:ext cx="2423160" cy="365760"/>
          </a:xfrm>
          <a:prstGeom prst="rect">
            <a:avLst/>
          </a:prstGeom>
          <a:noFill/>
        </p:spPr>
        <p:txBody>
          <a:bodyPr wrap="square" anchor="t" lIns="73152" rIns="73152" tIns="73152" bIns="73152">
            <a:spAutoFit/>
          </a:bodyPr>
          <a:lstStyle/>
          <a:p>
            <a:pPr algn="ctr">
              <a:lnSpc>
                <a:spcPct val="110000"/>
              </a:lnSpc>
            </a:pPr>
            <a:r>
              <a:rPr sz="1800" b="1">
                <a:solidFill>
                  <a:srgbClr val="D9480F"/>
                </a:solidFill>
                <a:latin typeface="Arial"/>
              </a:rPr>
              <a:t>IaaS</a:t>
            </a:r>
          </a:p>
        </p:txBody>
      </p:sp>
      <p:sp>
        <p:nvSpPr>
          <p:cNvPr id="35" name="Rectangle 34"/>
          <p:cNvSpPr/>
          <p:nvPr/>
        </p:nvSpPr>
        <p:spPr>
          <a:xfrm>
            <a:off x="8869680" y="2286000"/>
            <a:ext cx="2423160" cy="640080"/>
          </a:xfrm>
          <a:prstGeom prst="rect">
            <a:avLst/>
          </a:prstGeom>
          <a:solidFill>
            <a:srgbClr val="FFF4E5"/>
          </a:solidFill>
          <a:ln w="15875">
            <a:solidFill>
              <a:srgbClr val="D948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0" y="2286000"/>
            <a:ext cx="2423160" cy="640080"/>
          </a:xfrm>
          <a:prstGeom prst="rect">
            <a:avLst/>
          </a:prstGeom>
          <a:noFill/>
        </p:spPr>
        <p:txBody>
          <a:bodyPr wrap="square" anchor="ctr" lIns="73152" rIns="73152" tIns="73152" bIns="73152">
            <a:spAutoFit/>
          </a:bodyPr>
          <a:lstStyle/>
          <a:p>
            <a:pPr algn="ctr">
              <a:lnSpc>
                <a:spcPct val="110000"/>
              </a:lnSpc>
            </a:pPr>
            <a:r>
              <a:rPr sz="1400" b="0">
                <a:solidFill>
                  <a:srgbClr val="4A5868"/>
                </a:solidFill>
                <a:latin typeface="Arial"/>
              </a:rPr>
              <a:t>You / Provider?</a:t>
            </a:r>
          </a:p>
        </p:txBody>
      </p:sp>
      <p:sp>
        <p:nvSpPr>
          <p:cNvPr id="37" name="Rectangle 36"/>
          <p:cNvSpPr/>
          <p:nvPr/>
        </p:nvSpPr>
        <p:spPr>
          <a:xfrm>
            <a:off x="8869680" y="3017520"/>
            <a:ext cx="2423160" cy="640080"/>
          </a:xfrm>
          <a:prstGeom prst="rect">
            <a:avLst/>
          </a:prstGeom>
          <a:solidFill>
            <a:srgbClr val="FFF4E5"/>
          </a:solidFill>
          <a:ln w="15875">
            <a:solidFill>
              <a:srgbClr val="D948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69680" y="3017520"/>
            <a:ext cx="2423160" cy="640080"/>
          </a:xfrm>
          <a:prstGeom prst="rect">
            <a:avLst/>
          </a:prstGeom>
          <a:noFill/>
        </p:spPr>
        <p:txBody>
          <a:bodyPr wrap="square" anchor="ctr" lIns="73152" rIns="73152" tIns="73152" bIns="73152">
            <a:spAutoFit/>
          </a:bodyPr>
          <a:lstStyle/>
          <a:p>
            <a:pPr algn="ctr">
              <a:lnSpc>
                <a:spcPct val="110000"/>
              </a:lnSpc>
            </a:pPr>
            <a:r>
              <a:rPr sz="1400" b="0">
                <a:solidFill>
                  <a:srgbClr val="4A5868"/>
                </a:solidFill>
                <a:latin typeface="Arial"/>
              </a:rPr>
              <a:t>You / Provider?</a:t>
            </a:r>
          </a:p>
        </p:txBody>
      </p:sp>
      <p:sp>
        <p:nvSpPr>
          <p:cNvPr id="39" name="Rectangle 38"/>
          <p:cNvSpPr/>
          <p:nvPr/>
        </p:nvSpPr>
        <p:spPr>
          <a:xfrm>
            <a:off x="8869680" y="3749040"/>
            <a:ext cx="2423160" cy="640080"/>
          </a:xfrm>
          <a:prstGeom prst="rect">
            <a:avLst/>
          </a:prstGeom>
          <a:solidFill>
            <a:srgbClr val="FFF4E5"/>
          </a:solidFill>
          <a:ln w="15875">
            <a:solidFill>
              <a:srgbClr val="D948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869680" y="3749040"/>
            <a:ext cx="2423160" cy="640080"/>
          </a:xfrm>
          <a:prstGeom prst="rect">
            <a:avLst/>
          </a:prstGeom>
          <a:noFill/>
        </p:spPr>
        <p:txBody>
          <a:bodyPr wrap="square" anchor="ctr" lIns="73152" rIns="73152" tIns="73152" bIns="73152">
            <a:spAutoFit/>
          </a:bodyPr>
          <a:lstStyle/>
          <a:p>
            <a:pPr algn="ctr">
              <a:lnSpc>
                <a:spcPct val="110000"/>
              </a:lnSpc>
            </a:pPr>
            <a:r>
              <a:rPr sz="1400" b="0">
                <a:solidFill>
                  <a:srgbClr val="4A5868"/>
                </a:solidFill>
                <a:latin typeface="Arial"/>
              </a:rPr>
              <a:t>You / Provider?</a:t>
            </a:r>
          </a:p>
        </p:txBody>
      </p:sp>
      <p:sp>
        <p:nvSpPr>
          <p:cNvPr id="41" name="Rectangle 40"/>
          <p:cNvSpPr/>
          <p:nvPr/>
        </p:nvSpPr>
        <p:spPr>
          <a:xfrm>
            <a:off x="8869680" y="4480560"/>
            <a:ext cx="2423160" cy="640080"/>
          </a:xfrm>
          <a:prstGeom prst="rect">
            <a:avLst/>
          </a:prstGeom>
          <a:solidFill>
            <a:srgbClr val="FFF4E5"/>
          </a:solidFill>
          <a:ln w="15875">
            <a:solidFill>
              <a:srgbClr val="D948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869680" y="4480560"/>
            <a:ext cx="2423160" cy="640080"/>
          </a:xfrm>
          <a:prstGeom prst="rect">
            <a:avLst/>
          </a:prstGeom>
          <a:noFill/>
        </p:spPr>
        <p:txBody>
          <a:bodyPr wrap="square" anchor="ctr" lIns="73152" rIns="73152" tIns="73152" bIns="73152">
            <a:spAutoFit/>
          </a:bodyPr>
          <a:lstStyle/>
          <a:p>
            <a:pPr algn="ctr">
              <a:lnSpc>
                <a:spcPct val="110000"/>
              </a:lnSpc>
            </a:pPr>
            <a:r>
              <a:rPr sz="1400" b="0">
                <a:solidFill>
                  <a:srgbClr val="4A5868"/>
                </a:solidFill>
                <a:latin typeface="Arial"/>
              </a:rPr>
              <a:t>You / Provider?</a:t>
            </a:r>
          </a:p>
        </p:txBody>
      </p:sp>
      <p:sp>
        <p:nvSpPr>
          <p:cNvPr id="43" name="Rectangle 42"/>
          <p:cNvSpPr/>
          <p:nvPr/>
        </p:nvSpPr>
        <p:spPr>
          <a:xfrm>
            <a:off x="8869680" y="5212080"/>
            <a:ext cx="2423160" cy="640080"/>
          </a:xfrm>
          <a:prstGeom prst="rect">
            <a:avLst/>
          </a:prstGeom>
          <a:solidFill>
            <a:srgbClr val="FFF4E5"/>
          </a:solidFill>
          <a:ln w="15875">
            <a:solidFill>
              <a:srgbClr val="D948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869680" y="5212080"/>
            <a:ext cx="2423160" cy="640080"/>
          </a:xfrm>
          <a:prstGeom prst="rect">
            <a:avLst/>
          </a:prstGeom>
          <a:noFill/>
        </p:spPr>
        <p:txBody>
          <a:bodyPr wrap="square" anchor="ctr" lIns="73152" rIns="73152" tIns="73152" bIns="73152">
            <a:spAutoFit/>
          </a:bodyPr>
          <a:lstStyle/>
          <a:p>
            <a:pPr algn="ctr">
              <a:lnSpc>
                <a:spcPct val="110000"/>
              </a:lnSpc>
            </a:pPr>
            <a:r>
              <a:rPr sz="1400" b="0">
                <a:solidFill>
                  <a:srgbClr val="4A5868"/>
                </a:solidFill>
                <a:latin typeface="Arial"/>
              </a:rPr>
              <a:t>You / Provider?</a:t>
            </a:r>
          </a:p>
        </p:txBody>
      </p:sp>
      <p:sp>
        <p:nvSpPr>
          <p:cNvPr id="45" name="TextBox 44"/>
          <p:cNvSpPr txBox="1"/>
          <p:nvPr/>
        </p:nvSpPr>
        <p:spPr>
          <a:xfrm>
            <a:off x="548640" y="5989320"/>
            <a:ext cx="10972800" cy="365760"/>
          </a:xfrm>
          <a:prstGeom prst="rect">
            <a:avLst/>
          </a:prstGeom>
          <a:noFill/>
        </p:spPr>
        <p:txBody>
          <a:bodyPr wrap="square" anchor="t" lIns="73152" rIns="73152" tIns="73152" bIns="73152">
            <a:spAutoFit/>
          </a:bodyPr>
          <a:lstStyle/>
          <a:p>
            <a:pPr algn="l">
              <a:lnSpc>
                <a:spcPct val="110000"/>
              </a:lnSpc>
            </a:pPr>
            <a:r>
              <a:rPr sz="1200" b="0">
                <a:solidFill>
                  <a:srgbClr val="4A5868"/>
                </a:solidFill>
                <a:latin typeface="Arial"/>
              </a:rPr>
              <a:t>SaaS users still control some settings (09 Handout). The layer split is our summary of the handout definitions.</a:t>
            </a:r>
          </a:p>
        </p:txBody>
      </p:sp>
      <p:sp>
        <p:nvSpPr>
          <p:cNvPr id="46" name="TextBox 45"/>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Our summary of 09 Handout p.1 definitions (inferred)</a:t>
            </a:r>
          </a:p>
        </p:txBody>
      </p:sp>
      <p:sp>
        <p:nvSpPr>
          <p:cNvPr id="47" name="TextBox 46"/>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8  ·  CLOUD SERVICE TYPES &amp; BENEFITS  ·  BLUEPRINT  ·  OWNER: ____________</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10 benefits of cloud computing</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Scale up fast. Pay for what you use.</a:t>
            </a:r>
          </a:p>
        </p:txBody>
      </p:sp>
      <p:sp>
        <p:nvSpPr>
          <p:cNvPr id="6" name="TextBox 5"/>
          <p:cNvSpPr txBox="1"/>
          <p:nvPr/>
        </p:nvSpPr>
        <p:spPr>
          <a:xfrm>
            <a:off x="548640" y="1828800"/>
            <a:ext cx="640080" cy="731520"/>
          </a:xfrm>
          <a:prstGeom prst="rect">
            <a:avLst/>
          </a:prstGeom>
          <a:noFill/>
        </p:spPr>
        <p:txBody>
          <a:bodyPr wrap="square" anchor="ctr" lIns="73152" rIns="73152" tIns="73152" bIns="73152">
            <a:spAutoFit/>
          </a:bodyPr>
          <a:lstStyle/>
          <a:p>
            <a:pPr algn="l">
              <a:lnSpc>
                <a:spcPct val="110000"/>
              </a:lnSpc>
            </a:pPr>
            <a:r>
              <a:rPr sz="3000" b="1">
                <a:solidFill>
                  <a:srgbClr val="D9480F"/>
                </a:solidFill>
                <a:latin typeface="Arial"/>
              </a:rPr>
              <a:t>1</a:t>
            </a:r>
          </a:p>
        </p:txBody>
      </p:sp>
      <p:sp>
        <p:nvSpPr>
          <p:cNvPr id="7" name="TextBox 6"/>
          <p:cNvSpPr txBox="1"/>
          <p:nvPr/>
        </p:nvSpPr>
        <p:spPr>
          <a:xfrm>
            <a:off x="1188720" y="1828800"/>
            <a:ext cx="4800600" cy="731520"/>
          </a:xfrm>
          <a:prstGeom prst="rect">
            <a:avLst/>
          </a:prstGeom>
          <a:noFill/>
        </p:spPr>
        <p:txBody>
          <a:bodyPr wrap="square" anchor="t" lIns="73152" rIns="73152" tIns="73152" bIns="73152">
            <a:spAutoFit/>
          </a:bodyPr>
          <a:lstStyle/>
          <a:p>
            <a:pPr algn="l">
              <a:lnSpc>
                <a:spcPct val="110000"/>
              </a:lnSpc>
            </a:pPr>
            <a:r>
              <a:rPr sz="1800" b="1">
                <a:solidFill>
                  <a:srgbClr val="14202E"/>
                </a:solidFill>
                <a:latin typeface="Arial"/>
              </a:rPr>
              <a:t>________________</a:t>
            </a:r>
          </a:p>
          <a:p>
            <a:pPr algn="l">
              <a:lnSpc>
                <a:spcPct val="110000"/>
              </a:lnSpc>
            </a:pPr>
            <a:r>
              <a:rPr sz="1300" b="0">
                <a:solidFill>
                  <a:srgbClr val="4A5868"/>
                </a:solidFill>
                <a:latin typeface="Arial"/>
              </a:rPr>
              <a:t>one line from 09 Handout p.1-2</a:t>
            </a:r>
          </a:p>
        </p:txBody>
      </p:sp>
      <p:sp>
        <p:nvSpPr>
          <p:cNvPr id="8" name="TextBox 7"/>
          <p:cNvSpPr txBox="1"/>
          <p:nvPr/>
        </p:nvSpPr>
        <p:spPr>
          <a:xfrm>
            <a:off x="548640" y="2697480"/>
            <a:ext cx="640080" cy="731520"/>
          </a:xfrm>
          <a:prstGeom prst="rect">
            <a:avLst/>
          </a:prstGeom>
          <a:noFill/>
        </p:spPr>
        <p:txBody>
          <a:bodyPr wrap="square" anchor="ctr" lIns="73152" rIns="73152" tIns="73152" bIns="73152">
            <a:spAutoFit/>
          </a:bodyPr>
          <a:lstStyle/>
          <a:p>
            <a:pPr algn="l">
              <a:lnSpc>
                <a:spcPct val="110000"/>
              </a:lnSpc>
            </a:pPr>
            <a:r>
              <a:rPr sz="3000" b="1">
                <a:solidFill>
                  <a:srgbClr val="D9480F"/>
                </a:solidFill>
                <a:latin typeface="Arial"/>
              </a:rPr>
              <a:t>2</a:t>
            </a:r>
          </a:p>
        </p:txBody>
      </p:sp>
      <p:sp>
        <p:nvSpPr>
          <p:cNvPr id="9" name="TextBox 8"/>
          <p:cNvSpPr txBox="1"/>
          <p:nvPr/>
        </p:nvSpPr>
        <p:spPr>
          <a:xfrm>
            <a:off x="1188720" y="2697480"/>
            <a:ext cx="4800600" cy="731520"/>
          </a:xfrm>
          <a:prstGeom prst="rect">
            <a:avLst/>
          </a:prstGeom>
          <a:noFill/>
        </p:spPr>
        <p:txBody>
          <a:bodyPr wrap="square" anchor="t" lIns="73152" rIns="73152" tIns="73152" bIns="73152">
            <a:spAutoFit/>
          </a:bodyPr>
          <a:lstStyle/>
          <a:p>
            <a:pPr algn="l">
              <a:lnSpc>
                <a:spcPct val="110000"/>
              </a:lnSpc>
            </a:pPr>
            <a:r>
              <a:rPr sz="1800" b="1">
                <a:solidFill>
                  <a:srgbClr val="14202E"/>
                </a:solidFill>
                <a:latin typeface="Arial"/>
              </a:rPr>
              <a:t>________________</a:t>
            </a:r>
          </a:p>
          <a:p>
            <a:pPr algn="l">
              <a:lnSpc>
                <a:spcPct val="110000"/>
              </a:lnSpc>
            </a:pPr>
            <a:r>
              <a:rPr sz="1300" b="0">
                <a:solidFill>
                  <a:srgbClr val="4A5868"/>
                </a:solidFill>
                <a:latin typeface="Arial"/>
              </a:rPr>
              <a:t>one line from 09 Handout p.1-2</a:t>
            </a:r>
          </a:p>
        </p:txBody>
      </p:sp>
      <p:sp>
        <p:nvSpPr>
          <p:cNvPr id="10" name="TextBox 9"/>
          <p:cNvSpPr txBox="1"/>
          <p:nvPr/>
        </p:nvSpPr>
        <p:spPr>
          <a:xfrm>
            <a:off x="548640" y="3566160"/>
            <a:ext cx="640080" cy="731520"/>
          </a:xfrm>
          <a:prstGeom prst="rect">
            <a:avLst/>
          </a:prstGeom>
          <a:noFill/>
        </p:spPr>
        <p:txBody>
          <a:bodyPr wrap="square" anchor="ctr" lIns="73152" rIns="73152" tIns="73152" bIns="73152">
            <a:spAutoFit/>
          </a:bodyPr>
          <a:lstStyle/>
          <a:p>
            <a:pPr algn="l">
              <a:lnSpc>
                <a:spcPct val="110000"/>
              </a:lnSpc>
            </a:pPr>
            <a:r>
              <a:rPr sz="3000" b="1">
                <a:solidFill>
                  <a:srgbClr val="D9480F"/>
                </a:solidFill>
                <a:latin typeface="Arial"/>
              </a:rPr>
              <a:t>3</a:t>
            </a:r>
          </a:p>
        </p:txBody>
      </p:sp>
      <p:sp>
        <p:nvSpPr>
          <p:cNvPr id="11" name="TextBox 10"/>
          <p:cNvSpPr txBox="1"/>
          <p:nvPr/>
        </p:nvSpPr>
        <p:spPr>
          <a:xfrm>
            <a:off x="1188720" y="3566160"/>
            <a:ext cx="4800600" cy="731520"/>
          </a:xfrm>
          <a:prstGeom prst="rect">
            <a:avLst/>
          </a:prstGeom>
          <a:noFill/>
        </p:spPr>
        <p:txBody>
          <a:bodyPr wrap="square" anchor="t" lIns="73152" rIns="73152" tIns="73152" bIns="73152">
            <a:spAutoFit/>
          </a:bodyPr>
          <a:lstStyle/>
          <a:p>
            <a:pPr algn="l">
              <a:lnSpc>
                <a:spcPct val="110000"/>
              </a:lnSpc>
            </a:pPr>
            <a:r>
              <a:rPr sz="1800" b="1">
                <a:solidFill>
                  <a:srgbClr val="14202E"/>
                </a:solidFill>
                <a:latin typeface="Arial"/>
              </a:rPr>
              <a:t>________________</a:t>
            </a:r>
          </a:p>
          <a:p>
            <a:pPr algn="l">
              <a:lnSpc>
                <a:spcPct val="110000"/>
              </a:lnSpc>
            </a:pPr>
            <a:r>
              <a:rPr sz="1300" b="0">
                <a:solidFill>
                  <a:srgbClr val="4A5868"/>
                </a:solidFill>
                <a:latin typeface="Arial"/>
              </a:rPr>
              <a:t>one line from 09 Handout p.1-2</a:t>
            </a:r>
          </a:p>
        </p:txBody>
      </p:sp>
      <p:sp>
        <p:nvSpPr>
          <p:cNvPr id="12" name="TextBox 11"/>
          <p:cNvSpPr txBox="1"/>
          <p:nvPr/>
        </p:nvSpPr>
        <p:spPr>
          <a:xfrm>
            <a:off x="548640" y="4434840"/>
            <a:ext cx="640080" cy="731520"/>
          </a:xfrm>
          <a:prstGeom prst="rect">
            <a:avLst/>
          </a:prstGeom>
          <a:noFill/>
        </p:spPr>
        <p:txBody>
          <a:bodyPr wrap="square" anchor="ctr" lIns="73152" rIns="73152" tIns="73152" bIns="73152">
            <a:spAutoFit/>
          </a:bodyPr>
          <a:lstStyle/>
          <a:p>
            <a:pPr algn="l">
              <a:lnSpc>
                <a:spcPct val="110000"/>
              </a:lnSpc>
            </a:pPr>
            <a:r>
              <a:rPr sz="3000" b="1">
                <a:solidFill>
                  <a:srgbClr val="D9480F"/>
                </a:solidFill>
                <a:latin typeface="Arial"/>
              </a:rPr>
              <a:t>4</a:t>
            </a:r>
          </a:p>
        </p:txBody>
      </p:sp>
      <p:sp>
        <p:nvSpPr>
          <p:cNvPr id="13" name="TextBox 12"/>
          <p:cNvSpPr txBox="1"/>
          <p:nvPr/>
        </p:nvSpPr>
        <p:spPr>
          <a:xfrm>
            <a:off x="1188720" y="4434840"/>
            <a:ext cx="4800600" cy="731520"/>
          </a:xfrm>
          <a:prstGeom prst="rect">
            <a:avLst/>
          </a:prstGeom>
          <a:noFill/>
        </p:spPr>
        <p:txBody>
          <a:bodyPr wrap="square" anchor="t" lIns="73152" rIns="73152" tIns="73152" bIns="73152">
            <a:spAutoFit/>
          </a:bodyPr>
          <a:lstStyle/>
          <a:p>
            <a:pPr algn="l">
              <a:lnSpc>
                <a:spcPct val="110000"/>
              </a:lnSpc>
            </a:pPr>
            <a:r>
              <a:rPr sz="1800" b="1">
                <a:solidFill>
                  <a:srgbClr val="14202E"/>
                </a:solidFill>
                <a:latin typeface="Arial"/>
              </a:rPr>
              <a:t>________________</a:t>
            </a:r>
          </a:p>
          <a:p>
            <a:pPr algn="l">
              <a:lnSpc>
                <a:spcPct val="110000"/>
              </a:lnSpc>
            </a:pPr>
            <a:r>
              <a:rPr sz="1300" b="0">
                <a:solidFill>
                  <a:srgbClr val="4A5868"/>
                </a:solidFill>
                <a:latin typeface="Arial"/>
              </a:rPr>
              <a:t>one line from 09 Handout p.1-2</a:t>
            </a:r>
          </a:p>
        </p:txBody>
      </p:sp>
      <p:sp>
        <p:nvSpPr>
          <p:cNvPr id="14" name="TextBox 13"/>
          <p:cNvSpPr txBox="1"/>
          <p:nvPr/>
        </p:nvSpPr>
        <p:spPr>
          <a:xfrm>
            <a:off x="548640" y="5303520"/>
            <a:ext cx="640080" cy="731520"/>
          </a:xfrm>
          <a:prstGeom prst="rect">
            <a:avLst/>
          </a:prstGeom>
          <a:noFill/>
        </p:spPr>
        <p:txBody>
          <a:bodyPr wrap="square" anchor="ctr" lIns="73152" rIns="73152" tIns="73152" bIns="73152">
            <a:spAutoFit/>
          </a:bodyPr>
          <a:lstStyle/>
          <a:p>
            <a:pPr algn="l">
              <a:lnSpc>
                <a:spcPct val="110000"/>
              </a:lnSpc>
            </a:pPr>
            <a:r>
              <a:rPr sz="3000" b="1">
                <a:solidFill>
                  <a:srgbClr val="D9480F"/>
                </a:solidFill>
                <a:latin typeface="Arial"/>
              </a:rPr>
              <a:t>5</a:t>
            </a:r>
          </a:p>
        </p:txBody>
      </p:sp>
      <p:sp>
        <p:nvSpPr>
          <p:cNvPr id="15" name="TextBox 14"/>
          <p:cNvSpPr txBox="1"/>
          <p:nvPr/>
        </p:nvSpPr>
        <p:spPr>
          <a:xfrm>
            <a:off x="1188720" y="5303520"/>
            <a:ext cx="4800600" cy="731520"/>
          </a:xfrm>
          <a:prstGeom prst="rect">
            <a:avLst/>
          </a:prstGeom>
          <a:noFill/>
        </p:spPr>
        <p:txBody>
          <a:bodyPr wrap="square" anchor="t" lIns="73152" rIns="73152" tIns="73152" bIns="73152">
            <a:spAutoFit/>
          </a:bodyPr>
          <a:lstStyle/>
          <a:p>
            <a:pPr algn="l">
              <a:lnSpc>
                <a:spcPct val="110000"/>
              </a:lnSpc>
            </a:pPr>
            <a:r>
              <a:rPr sz="1800" b="1">
                <a:solidFill>
                  <a:srgbClr val="14202E"/>
                </a:solidFill>
                <a:latin typeface="Arial"/>
              </a:rPr>
              <a:t>________________</a:t>
            </a:r>
          </a:p>
          <a:p>
            <a:pPr algn="l">
              <a:lnSpc>
                <a:spcPct val="110000"/>
              </a:lnSpc>
            </a:pPr>
            <a:r>
              <a:rPr sz="1300" b="0">
                <a:solidFill>
                  <a:srgbClr val="4A5868"/>
                </a:solidFill>
                <a:latin typeface="Arial"/>
              </a:rPr>
              <a:t>one line from 09 Handout p.1-2</a:t>
            </a:r>
          </a:p>
        </p:txBody>
      </p:sp>
      <p:sp>
        <p:nvSpPr>
          <p:cNvPr id="16" name="TextBox 15"/>
          <p:cNvSpPr txBox="1"/>
          <p:nvPr/>
        </p:nvSpPr>
        <p:spPr>
          <a:xfrm>
            <a:off x="6217920" y="1828800"/>
            <a:ext cx="640080" cy="731520"/>
          </a:xfrm>
          <a:prstGeom prst="rect">
            <a:avLst/>
          </a:prstGeom>
          <a:noFill/>
        </p:spPr>
        <p:txBody>
          <a:bodyPr wrap="square" anchor="ctr" lIns="73152" rIns="73152" tIns="73152" bIns="73152">
            <a:spAutoFit/>
          </a:bodyPr>
          <a:lstStyle/>
          <a:p>
            <a:pPr algn="l">
              <a:lnSpc>
                <a:spcPct val="110000"/>
              </a:lnSpc>
            </a:pPr>
            <a:r>
              <a:rPr sz="3000" b="1">
                <a:solidFill>
                  <a:srgbClr val="D9480F"/>
                </a:solidFill>
                <a:latin typeface="Arial"/>
              </a:rPr>
              <a:t>6</a:t>
            </a:r>
          </a:p>
        </p:txBody>
      </p:sp>
      <p:sp>
        <p:nvSpPr>
          <p:cNvPr id="17" name="TextBox 16"/>
          <p:cNvSpPr txBox="1"/>
          <p:nvPr/>
        </p:nvSpPr>
        <p:spPr>
          <a:xfrm>
            <a:off x="6858000" y="1828800"/>
            <a:ext cx="4800600" cy="731520"/>
          </a:xfrm>
          <a:prstGeom prst="rect">
            <a:avLst/>
          </a:prstGeom>
          <a:noFill/>
        </p:spPr>
        <p:txBody>
          <a:bodyPr wrap="square" anchor="t" lIns="73152" rIns="73152" tIns="73152" bIns="73152">
            <a:spAutoFit/>
          </a:bodyPr>
          <a:lstStyle/>
          <a:p>
            <a:pPr algn="l">
              <a:lnSpc>
                <a:spcPct val="110000"/>
              </a:lnSpc>
            </a:pPr>
            <a:r>
              <a:rPr sz="1800" b="1">
                <a:solidFill>
                  <a:srgbClr val="14202E"/>
                </a:solidFill>
                <a:latin typeface="Arial"/>
              </a:rPr>
              <a:t>________________</a:t>
            </a:r>
          </a:p>
          <a:p>
            <a:pPr algn="l">
              <a:lnSpc>
                <a:spcPct val="110000"/>
              </a:lnSpc>
            </a:pPr>
            <a:r>
              <a:rPr sz="1300" b="0">
                <a:solidFill>
                  <a:srgbClr val="4A5868"/>
                </a:solidFill>
                <a:latin typeface="Arial"/>
              </a:rPr>
              <a:t>one line from 09 Handout p.1-2</a:t>
            </a:r>
          </a:p>
        </p:txBody>
      </p:sp>
      <p:sp>
        <p:nvSpPr>
          <p:cNvPr id="18" name="TextBox 17"/>
          <p:cNvSpPr txBox="1"/>
          <p:nvPr/>
        </p:nvSpPr>
        <p:spPr>
          <a:xfrm>
            <a:off x="6217920" y="2697480"/>
            <a:ext cx="640080" cy="731520"/>
          </a:xfrm>
          <a:prstGeom prst="rect">
            <a:avLst/>
          </a:prstGeom>
          <a:noFill/>
        </p:spPr>
        <p:txBody>
          <a:bodyPr wrap="square" anchor="ctr" lIns="73152" rIns="73152" tIns="73152" bIns="73152">
            <a:spAutoFit/>
          </a:bodyPr>
          <a:lstStyle/>
          <a:p>
            <a:pPr algn="l">
              <a:lnSpc>
                <a:spcPct val="110000"/>
              </a:lnSpc>
            </a:pPr>
            <a:r>
              <a:rPr sz="3000" b="1">
                <a:solidFill>
                  <a:srgbClr val="D9480F"/>
                </a:solidFill>
                <a:latin typeface="Arial"/>
              </a:rPr>
              <a:t>7</a:t>
            </a:r>
          </a:p>
        </p:txBody>
      </p:sp>
      <p:sp>
        <p:nvSpPr>
          <p:cNvPr id="19" name="TextBox 18"/>
          <p:cNvSpPr txBox="1"/>
          <p:nvPr/>
        </p:nvSpPr>
        <p:spPr>
          <a:xfrm>
            <a:off x="6858000" y="2697480"/>
            <a:ext cx="4800600" cy="731520"/>
          </a:xfrm>
          <a:prstGeom prst="rect">
            <a:avLst/>
          </a:prstGeom>
          <a:noFill/>
        </p:spPr>
        <p:txBody>
          <a:bodyPr wrap="square" anchor="t" lIns="73152" rIns="73152" tIns="73152" bIns="73152">
            <a:spAutoFit/>
          </a:bodyPr>
          <a:lstStyle/>
          <a:p>
            <a:pPr algn="l">
              <a:lnSpc>
                <a:spcPct val="110000"/>
              </a:lnSpc>
            </a:pPr>
            <a:r>
              <a:rPr sz="1800" b="1">
                <a:solidFill>
                  <a:srgbClr val="14202E"/>
                </a:solidFill>
                <a:latin typeface="Arial"/>
              </a:rPr>
              <a:t>________________</a:t>
            </a:r>
          </a:p>
          <a:p>
            <a:pPr algn="l">
              <a:lnSpc>
                <a:spcPct val="110000"/>
              </a:lnSpc>
            </a:pPr>
            <a:r>
              <a:rPr sz="1300" b="0">
                <a:solidFill>
                  <a:srgbClr val="4A5868"/>
                </a:solidFill>
                <a:latin typeface="Arial"/>
              </a:rPr>
              <a:t>one line from 09 Handout p.1-2</a:t>
            </a:r>
          </a:p>
        </p:txBody>
      </p:sp>
      <p:sp>
        <p:nvSpPr>
          <p:cNvPr id="20" name="TextBox 19"/>
          <p:cNvSpPr txBox="1"/>
          <p:nvPr/>
        </p:nvSpPr>
        <p:spPr>
          <a:xfrm>
            <a:off x="6217920" y="3566160"/>
            <a:ext cx="640080" cy="731520"/>
          </a:xfrm>
          <a:prstGeom prst="rect">
            <a:avLst/>
          </a:prstGeom>
          <a:noFill/>
        </p:spPr>
        <p:txBody>
          <a:bodyPr wrap="square" anchor="ctr" lIns="73152" rIns="73152" tIns="73152" bIns="73152">
            <a:spAutoFit/>
          </a:bodyPr>
          <a:lstStyle/>
          <a:p>
            <a:pPr algn="l">
              <a:lnSpc>
                <a:spcPct val="110000"/>
              </a:lnSpc>
            </a:pPr>
            <a:r>
              <a:rPr sz="3000" b="1">
                <a:solidFill>
                  <a:srgbClr val="D9480F"/>
                </a:solidFill>
                <a:latin typeface="Arial"/>
              </a:rPr>
              <a:t>8</a:t>
            </a:r>
          </a:p>
        </p:txBody>
      </p:sp>
      <p:sp>
        <p:nvSpPr>
          <p:cNvPr id="21" name="TextBox 20"/>
          <p:cNvSpPr txBox="1"/>
          <p:nvPr/>
        </p:nvSpPr>
        <p:spPr>
          <a:xfrm>
            <a:off x="6858000" y="3566160"/>
            <a:ext cx="4800600" cy="731520"/>
          </a:xfrm>
          <a:prstGeom prst="rect">
            <a:avLst/>
          </a:prstGeom>
          <a:noFill/>
        </p:spPr>
        <p:txBody>
          <a:bodyPr wrap="square" anchor="t" lIns="73152" rIns="73152" tIns="73152" bIns="73152">
            <a:spAutoFit/>
          </a:bodyPr>
          <a:lstStyle/>
          <a:p>
            <a:pPr algn="l">
              <a:lnSpc>
                <a:spcPct val="110000"/>
              </a:lnSpc>
            </a:pPr>
            <a:r>
              <a:rPr sz="1800" b="1">
                <a:solidFill>
                  <a:srgbClr val="14202E"/>
                </a:solidFill>
                <a:latin typeface="Arial"/>
              </a:rPr>
              <a:t>________________</a:t>
            </a:r>
          </a:p>
          <a:p>
            <a:pPr algn="l">
              <a:lnSpc>
                <a:spcPct val="110000"/>
              </a:lnSpc>
            </a:pPr>
            <a:r>
              <a:rPr sz="1300" b="0">
                <a:solidFill>
                  <a:srgbClr val="4A5868"/>
                </a:solidFill>
                <a:latin typeface="Arial"/>
              </a:rPr>
              <a:t>one line from 09 Handout p.1-2</a:t>
            </a:r>
          </a:p>
        </p:txBody>
      </p:sp>
      <p:sp>
        <p:nvSpPr>
          <p:cNvPr id="22" name="TextBox 21"/>
          <p:cNvSpPr txBox="1"/>
          <p:nvPr/>
        </p:nvSpPr>
        <p:spPr>
          <a:xfrm>
            <a:off x="6217920" y="4434840"/>
            <a:ext cx="640080" cy="731520"/>
          </a:xfrm>
          <a:prstGeom prst="rect">
            <a:avLst/>
          </a:prstGeom>
          <a:noFill/>
        </p:spPr>
        <p:txBody>
          <a:bodyPr wrap="square" anchor="ctr" lIns="73152" rIns="73152" tIns="73152" bIns="73152">
            <a:spAutoFit/>
          </a:bodyPr>
          <a:lstStyle/>
          <a:p>
            <a:pPr algn="l">
              <a:lnSpc>
                <a:spcPct val="110000"/>
              </a:lnSpc>
            </a:pPr>
            <a:r>
              <a:rPr sz="3000" b="1">
                <a:solidFill>
                  <a:srgbClr val="D9480F"/>
                </a:solidFill>
                <a:latin typeface="Arial"/>
              </a:rPr>
              <a:t>9</a:t>
            </a:r>
          </a:p>
        </p:txBody>
      </p:sp>
      <p:sp>
        <p:nvSpPr>
          <p:cNvPr id="23" name="TextBox 22"/>
          <p:cNvSpPr txBox="1"/>
          <p:nvPr/>
        </p:nvSpPr>
        <p:spPr>
          <a:xfrm>
            <a:off x="6858000" y="4434840"/>
            <a:ext cx="4800600" cy="731520"/>
          </a:xfrm>
          <a:prstGeom prst="rect">
            <a:avLst/>
          </a:prstGeom>
          <a:noFill/>
        </p:spPr>
        <p:txBody>
          <a:bodyPr wrap="square" anchor="t" lIns="73152" rIns="73152" tIns="73152" bIns="73152">
            <a:spAutoFit/>
          </a:bodyPr>
          <a:lstStyle/>
          <a:p>
            <a:pPr algn="l">
              <a:lnSpc>
                <a:spcPct val="110000"/>
              </a:lnSpc>
            </a:pPr>
            <a:r>
              <a:rPr sz="1800" b="1">
                <a:solidFill>
                  <a:srgbClr val="14202E"/>
                </a:solidFill>
                <a:latin typeface="Arial"/>
              </a:rPr>
              <a:t>________________</a:t>
            </a:r>
          </a:p>
          <a:p>
            <a:pPr algn="l">
              <a:lnSpc>
                <a:spcPct val="110000"/>
              </a:lnSpc>
            </a:pPr>
            <a:r>
              <a:rPr sz="1300" b="0">
                <a:solidFill>
                  <a:srgbClr val="4A5868"/>
                </a:solidFill>
                <a:latin typeface="Arial"/>
              </a:rPr>
              <a:t>one line from 09 Handout p.1-2</a:t>
            </a:r>
          </a:p>
        </p:txBody>
      </p:sp>
      <p:sp>
        <p:nvSpPr>
          <p:cNvPr id="24" name="TextBox 23"/>
          <p:cNvSpPr txBox="1"/>
          <p:nvPr/>
        </p:nvSpPr>
        <p:spPr>
          <a:xfrm>
            <a:off x="6217920" y="5303520"/>
            <a:ext cx="640080" cy="731520"/>
          </a:xfrm>
          <a:prstGeom prst="rect">
            <a:avLst/>
          </a:prstGeom>
          <a:noFill/>
        </p:spPr>
        <p:txBody>
          <a:bodyPr wrap="square" anchor="ctr" lIns="73152" rIns="73152" tIns="73152" bIns="73152">
            <a:spAutoFit/>
          </a:bodyPr>
          <a:lstStyle/>
          <a:p>
            <a:pPr algn="l">
              <a:lnSpc>
                <a:spcPct val="110000"/>
              </a:lnSpc>
            </a:pPr>
            <a:r>
              <a:rPr sz="3000" b="1">
                <a:solidFill>
                  <a:srgbClr val="D9480F"/>
                </a:solidFill>
                <a:latin typeface="Arial"/>
              </a:rPr>
              <a:t>10</a:t>
            </a:r>
          </a:p>
        </p:txBody>
      </p:sp>
      <p:sp>
        <p:nvSpPr>
          <p:cNvPr id="25" name="TextBox 24"/>
          <p:cNvSpPr txBox="1"/>
          <p:nvPr/>
        </p:nvSpPr>
        <p:spPr>
          <a:xfrm>
            <a:off x="6858000" y="5303520"/>
            <a:ext cx="4800600" cy="731520"/>
          </a:xfrm>
          <a:prstGeom prst="rect">
            <a:avLst/>
          </a:prstGeom>
          <a:noFill/>
        </p:spPr>
        <p:txBody>
          <a:bodyPr wrap="square" anchor="t" lIns="73152" rIns="73152" tIns="73152" bIns="73152">
            <a:spAutoFit/>
          </a:bodyPr>
          <a:lstStyle/>
          <a:p>
            <a:pPr algn="l">
              <a:lnSpc>
                <a:spcPct val="110000"/>
              </a:lnSpc>
            </a:pPr>
            <a:r>
              <a:rPr sz="1800" b="1">
                <a:solidFill>
                  <a:srgbClr val="14202E"/>
                </a:solidFill>
                <a:latin typeface="Arial"/>
              </a:rPr>
              <a:t>________________</a:t>
            </a:r>
          </a:p>
          <a:p>
            <a:pPr algn="l">
              <a:lnSpc>
                <a:spcPct val="110000"/>
              </a:lnSpc>
            </a:pPr>
            <a:r>
              <a:rPr sz="1300" b="0">
                <a:solidFill>
                  <a:srgbClr val="4A5868"/>
                </a:solidFill>
                <a:latin typeface="Arial"/>
              </a:rPr>
              <a:t>one line from 09 Handout p.1-2</a:t>
            </a:r>
          </a:p>
        </p:txBody>
      </p:sp>
      <p:sp>
        <p:nvSpPr>
          <p:cNvPr id="26" name="TextBox 25"/>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09 Handout p.1-2</a:t>
            </a:r>
          </a:p>
        </p:txBody>
      </p:sp>
      <p:sp>
        <p:nvSpPr>
          <p:cNvPr id="27" name="TextBox 26"/>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0972800" cy="731520"/>
          </a:xfrm>
          <a:prstGeom prst="rect">
            <a:avLst/>
          </a:prstGeom>
          <a:noFill/>
        </p:spPr>
        <p:txBody>
          <a:bodyPr wrap="square" anchor="t" lIns="73152" rIns="73152" tIns="73152" bIns="73152">
            <a:spAutoFit/>
          </a:bodyPr>
          <a:lstStyle/>
          <a:p>
            <a:pPr algn="l">
              <a:lnSpc>
                <a:spcPct val="110000"/>
              </a:lnSpc>
            </a:pPr>
            <a:r>
              <a:rPr sz="3400" b="1">
                <a:solidFill>
                  <a:srgbClr val="14202E"/>
                </a:solidFill>
                <a:latin typeface="Arial"/>
              </a:rPr>
              <a:t>One-slide cheat sheet</a:t>
            </a:r>
          </a:p>
        </p:txBody>
      </p:sp>
      <p:sp>
        <p:nvSpPr>
          <p:cNvPr id="4" name="Rectangle 3"/>
          <p:cNvSpPr/>
          <p:nvPr/>
        </p:nvSpPr>
        <p:spPr>
          <a:xfrm>
            <a:off x="548640" y="1325880"/>
            <a:ext cx="1106424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25880"/>
            <a:ext cx="1828800" cy="475488"/>
          </a:xfrm>
          <a:prstGeom prst="rect">
            <a:avLst/>
          </a:prstGeom>
          <a:noFill/>
        </p:spPr>
        <p:txBody>
          <a:bodyPr wrap="square" anchor="ctr" lIns="73152" rIns="73152" tIns="73152" bIns="73152">
            <a:spAutoFit/>
          </a:bodyPr>
          <a:lstStyle/>
          <a:p>
            <a:pPr algn="l">
              <a:lnSpc>
                <a:spcPct val="110000"/>
              </a:lnSpc>
            </a:pPr>
            <a:r>
              <a:rPr sz="1700" b="1">
                <a:solidFill>
                  <a:srgbClr val="D9480F"/>
                </a:solidFill>
                <a:latin typeface="Arial"/>
              </a:rPr>
              <a:t>Create</a:t>
            </a:r>
          </a:p>
        </p:txBody>
      </p:sp>
      <p:sp>
        <p:nvSpPr>
          <p:cNvPr id="6" name="TextBox 5"/>
          <p:cNvSpPr txBox="1"/>
          <p:nvPr/>
        </p:nvSpPr>
        <p:spPr>
          <a:xfrm>
            <a:off x="2468880" y="1325880"/>
            <a:ext cx="9052560" cy="475488"/>
          </a:xfrm>
          <a:prstGeom prst="rect">
            <a:avLst/>
          </a:prstGeom>
          <a:noFill/>
        </p:spPr>
        <p:txBody>
          <a:bodyPr wrap="square" anchor="ctr" lIns="73152" rIns="73152" tIns="73152" bIns="73152">
            <a:spAutoFit/>
          </a:bodyPr>
          <a:lstStyle/>
          <a:p>
            <a:pPr algn="l">
              <a:lnSpc>
                <a:spcPct val="110000"/>
              </a:lnSpc>
            </a:pPr>
            <a:r>
              <a:rPr sz="1600" b="0">
                <a:solidFill>
                  <a:srgbClr val="14202E"/>
                </a:solidFill>
                <a:latin typeface="Consolas"/>
              </a:rPr>
              <a:t>insertOne({...})   insertMany([{...}, {...}], {ordered: false})</a:t>
            </a:r>
          </a:p>
        </p:txBody>
      </p:sp>
      <p:sp>
        <p:nvSpPr>
          <p:cNvPr id="7" name="Rectangle 6"/>
          <p:cNvSpPr/>
          <p:nvPr/>
        </p:nvSpPr>
        <p:spPr>
          <a:xfrm>
            <a:off x="548640" y="1874520"/>
            <a:ext cx="11064240" cy="475488"/>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874520"/>
            <a:ext cx="1828800" cy="475488"/>
          </a:xfrm>
          <a:prstGeom prst="rect">
            <a:avLst/>
          </a:prstGeom>
          <a:noFill/>
        </p:spPr>
        <p:txBody>
          <a:bodyPr wrap="square" anchor="ctr" lIns="73152" rIns="73152" tIns="73152" bIns="73152">
            <a:spAutoFit/>
          </a:bodyPr>
          <a:lstStyle/>
          <a:p>
            <a:pPr algn="l">
              <a:lnSpc>
                <a:spcPct val="110000"/>
              </a:lnSpc>
            </a:pPr>
            <a:r>
              <a:rPr sz="1700" b="1">
                <a:solidFill>
                  <a:srgbClr val="D9480F"/>
                </a:solidFill>
                <a:latin typeface="Arial"/>
              </a:rPr>
              <a:t>Delete</a:t>
            </a:r>
          </a:p>
        </p:txBody>
      </p:sp>
      <p:sp>
        <p:nvSpPr>
          <p:cNvPr id="9" name="TextBox 8"/>
          <p:cNvSpPr txBox="1"/>
          <p:nvPr/>
        </p:nvSpPr>
        <p:spPr>
          <a:xfrm>
            <a:off x="2468880" y="1874520"/>
            <a:ext cx="9052560" cy="475488"/>
          </a:xfrm>
          <a:prstGeom prst="rect">
            <a:avLst/>
          </a:prstGeom>
          <a:noFill/>
        </p:spPr>
        <p:txBody>
          <a:bodyPr wrap="square" anchor="ctr" lIns="73152" rIns="73152" tIns="73152" bIns="73152">
            <a:spAutoFit/>
          </a:bodyPr>
          <a:lstStyle/>
          <a:p>
            <a:pPr algn="l">
              <a:lnSpc>
                <a:spcPct val="110000"/>
              </a:lnSpc>
            </a:pPr>
            <a:r>
              <a:rPr sz="1600" b="0">
                <a:solidFill>
                  <a:srgbClr val="14202E"/>
                </a:solidFill>
                <a:latin typeface="Consolas"/>
              </a:rPr>
              <a:t>deleteOne(filter)   deleteMany(filter)   // {} = ALL</a:t>
            </a:r>
          </a:p>
        </p:txBody>
      </p:sp>
      <p:sp>
        <p:nvSpPr>
          <p:cNvPr id="10" name="Rectangle 9"/>
          <p:cNvSpPr/>
          <p:nvPr/>
        </p:nvSpPr>
        <p:spPr>
          <a:xfrm>
            <a:off x="548640" y="2423160"/>
            <a:ext cx="1106424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423160"/>
            <a:ext cx="1828800" cy="475488"/>
          </a:xfrm>
          <a:prstGeom prst="rect">
            <a:avLst/>
          </a:prstGeom>
          <a:noFill/>
        </p:spPr>
        <p:txBody>
          <a:bodyPr wrap="square" anchor="ctr" lIns="73152" rIns="73152" tIns="73152" bIns="73152">
            <a:spAutoFit/>
          </a:bodyPr>
          <a:lstStyle/>
          <a:p>
            <a:pPr algn="l">
              <a:lnSpc>
                <a:spcPct val="110000"/>
              </a:lnSpc>
            </a:pPr>
            <a:r>
              <a:rPr sz="1700" b="1">
                <a:solidFill>
                  <a:srgbClr val="D9480F"/>
                </a:solidFill>
                <a:latin typeface="Arial"/>
              </a:rPr>
              <a:t>Read</a:t>
            </a:r>
          </a:p>
        </p:txBody>
      </p:sp>
      <p:sp>
        <p:nvSpPr>
          <p:cNvPr id="12" name="TextBox 11"/>
          <p:cNvSpPr txBox="1"/>
          <p:nvPr/>
        </p:nvSpPr>
        <p:spPr>
          <a:xfrm>
            <a:off x="2468880" y="2423160"/>
            <a:ext cx="9052560" cy="475488"/>
          </a:xfrm>
          <a:prstGeom prst="rect">
            <a:avLst/>
          </a:prstGeom>
          <a:noFill/>
        </p:spPr>
        <p:txBody>
          <a:bodyPr wrap="square" anchor="ctr" lIns="73152" rIns="73152" tIns="73152" bIns="73152">
            <a:spAutoFit/>
          </a:bodyPr>
          <a:lstStyle/>
          <a:p>
            <a:pPr algn="l">
              <a:lnSpc>
                <a:spcPct val="110000"/>
              </a:lnSpc>
            </a:pPr>
            <a:r>
              <a:rPr sz="1600" b="0">
                <a:solidFill>
                  <a:srgbClr val="14202E"/>
                </a:solidFill>
                <a:latin typeface="Consolas"/>
              </a:rPr>
              <a:t>find(filter, projection)   findOne(filter)  -&gt; doc or null</a:t>
            </a:r>
          </a:p>
        </p:txBody>
      </p:sp>
      <p:sp>
        <p:nvSpPr>
          <p:cNvPr id="13" name="Rectangle 12"/>
          <p:cNvSpPr/>
          <p:nvPr/>
        </p:nvSpPr>
        <p:spPr>
          <a:xfrm>
            <a:off x="548640" y="2971800"/>
            <a:ext cx="11064240" cy="475488"/>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971800"/>
            <a:ext cx="1828800" cy="475488"/>
          </a:xfrm>
          <a:prstGeom prst="rect">
            <a:avLst/>
          </a:prstGeom>
          <a:noFill/>
        </p:spPr>
        <p:txBody>
          <a:bodyPr wrap="square" anchor="ctr" lIns="73152" rIns="73152" tIns="73152" bIns="73152">
            <a:spAutoFit/>
          </a:bodyPr>
          <a:lstStyle/>
          <a:p>
            <a:pPr algn="l">
              <a:lnSpc>
                <a:spcPct val="110000"/>
              </a:lnSpc>
            </a:pPr>
            <a:r>
              <a:rPr sz="1700" b="1">
                <a:solidFill>
                  <a:srgbClr val="D9480F"/>
                </a:solidFill>
                <a:latin typeface="Arial"/>
              </a:rPr>
              <a:t>Change</a:t>
            </a:r>
          </a:p>
        </p:txBody>
      </p:sp>
      <p:sp>
        <p:nvSpPr>
          <p:cNvPr id="15" name="TextBox 14"/>
          <p:cNvSpPr txBox="1"/>
          <p:nvPr/>
        </p:nvSpPr>
        <p:spPr>
          <a:xfrm>
            <a:off x="2468880" y="2971800"/>
            <a:ext cx="9052560" cy="475488"/>
          </a:xfrm>
          <a:prstGeom prst="rect">
            <a:avLst/>
          </a:prstGeom>
          <a:noFill/>
        </p:spPr>
        <p:txBody>
          <a:bodyPr wrap="square" anchor="ctr" lIns="73152" rIns="73152" tIns="73152" bIns="73152">
            <a:spAutoFit/>
          </a:bodyPr>
          <a:lstStyle/>
          <a:p>
            <a:pPr algn="l">
              <a:lnSpc>
                <a:spcPct val="110000"/>
              </a:lnSpc>
            </a:pPr>
            <a:r>
              <a:rPr sz="1600" b="0">
                <a:solidFill>
                  <a:srgbClr val="14202E"/>
                </a:solidFill>
                <a:latin typeface="Consolas"/>
              </a:rPr>
              <a:t>updateOne / updateMany(filter, {$set | $unset})   replaceOne(filter, doc)</a:t>
            </a:r>
          </a:p>
        </p:txBody>
      </p:sp>
      <p:sp>
        <p:nvSpPr>
          <p:cNvPr id="16" name="Rectangle 15"/>
          <p:cNvSpPr/>
          <p:nvPr/>
        </p:nvSpPr>
        <p:spPr>
          <a:xfrm>
            <a:off x="548640" y="3520440"/>
            <a:ext cx="1106424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520440"/>
            <a:ext cx="1828800" cy="475488"/>
          </a:xfrm>
          <a:prstGeom prst="rect">
            <a:avLst/>
          </a:prstGeom>
          <a:noFill/>
        </p:spPr>
        <p:txBody>
          <a:bodyPr wrap="square" anchor="ctr" lIns="73152" rIns="73152" tIns="73152" bIns="73152">
            <a:spAutoFit/>
          </a:bodyPr>
          <a:lstStyle/>
          <a:p>
            <a:pPr algn="l">
              <a:lnSpc>
                <a:spcPct val="110000"/>
              </a:lnSpc>
            </a:pPr>
            <a:r>
              <a:rPr sz="1700" b="1">
                <a:solidFill>
                  <a:srgbClr val="D9480F"/>
                </a:solidFill>
                <a:latin typeface="Arial"/>
              </a:rPr>
              <a:t>Compare</a:t>
            </a:r>
          </a:p>
        </p:txBody>
      </p:sp>
      <p:sp>
        <p:nvSpPr>
          <p:cNvPr id="18" name="TextBox 17"/>
          <p:cNvSpPr txBox="1"/>
          <p:nvPr/>
        </p:nvSpPr>
        <p:spPr>
          <a:xfrm>
            <a:off x="2468880" y="3520440"/>
            <a:ext cx="9052560" cy="475488"/>
          </a:xfrm>
          <a:prstGeom prst="rect">
            <a:avLst/>
          </a:prstGeom>
          <a:noFill/>
        </p:spPr>
        <p:txBody>
          <a:bodyPr wrap="square" anchor="ctr" lIns="73152" rIns="73152" tIns="73152" bIns="73152">
            <a:spAutoFit/>
          </a:bodyPr>
          <a:lstStyle/>
          <a:p>
            <a:pPr algn="l">
              <a:lnSpc>
                <a:spcPct val="110000"/>
              </a:lnSpc>
            </a:pPr>
            <a:r>
              <a:rPr sz="1600" b="0">
                <a:solidFill>
                  <a:srgbClr val="14202E"/>
                </a:solidFill>
                <a:latin typeface="Consolas"/>
              </a:rPr>
              <a:t>$lt &lt;   $lte &lt;=   $gt &gt;   $gte &gt;=</a:t>
            </a:r>
          </a:p>
        </p:txBody>
      </p:sp>
      <p:sp>
        <p:nvSpPr>
          <p:cNvPr id="19" name="Rectangle 18"/>
          <p:cNvSpPr/>
          <p:nvPr/>
        </p:nvSpPr>
        <p:spPr>
          <a:xfrm>
            <a:off x="548640" y="4069080"/>
            <a:ext cx="11064240" cy="475488"/>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4069080"/>
            <a:ext cx="1828800" cy="475488"/>
          </a:xfrm>
          <a:prstGeom prst="rect">
            <a:avLst/>
          </a:prstGeom>
          <a:noFill/>
        </p:spPr>
        <p:txBody>
          <a:bodyPr wrap="square" anchor="ctr" lIns="73152" rIns="73152" tIns="73152" bIns="73152">
            <a:spAutoFit/>
          </a:bodyPr>
          <a:lstStyle/>
          <a:p>
            <a:pPr algn="l">
              <a:lnSpc>
                <a:spcPct val="110000"/>
              </a:lnSpc>
            </a:pPr>
            <a:r>
              <a:rPr sz="1700" b="1">
                <a:solidFill>
                  <a:srgbClr val="D9480F"/>
                </a:solidFill>
                <a:latin typeface="Arial"/>
              </a:rPr>
              <a:t>Choose</a:t>
            </a:r>
          </a:p>
        </p:txBody>
      </p:sp>
      <p:sp>
        <p:nvSpPr>
          <p:cNvPr id="21" name="TextBox 20"/>
          <p:cNvSpPr txBox="1"/>
          <p:nvPr/>
        </p:nvSpPr>
        <p:spPr>
          <a:xfrm>
            <a:off x="2468880" y="4069080"/>
            <a:ext cx="9052560" cy="475488"/>
          </a:xfrm>
          <a:prstGeom prst="rect">
            <a:avLst/>
          </a:prstGeom>
          <a:noFill/>
        </p:spPr>
        <p:txBody>
          <a:bodyPr wrap="square" anchor="ctr" lIns="73152" rIns="73152" tIns="73152" bIns="73152">
            <a:spAutoFit/>
          </a:bodyPr>
          <a:lstStyle/>
          <a:p>
            <a:pPr algn="l">
              <a:lnSpc>
                <a:spcPct val="110000"/>
              </a:lnSpc>
            </a:pPr>
            <a:r>
              <a:rPr sz="1600" b="0">
                <a:solidFill>
                  <a:srgbClr val="14202E"/>
                </a:solidFill>
                <a:latin typeface="Consolas"/>
              </a:rPr>
              <a:t>$in [values]   $or [conditions]   field: null  (no $null)</a:t>
            </a:r>
          </a:p>
        </p:txBody>
      </p:sp>
      <p:sp>
        <p:nvSpPr>
          <p:cNvPr id="22" name="Rectangle 21"/>
          <p:cNvSpPr/>
          <p:nvPr/>
        </p:nvSpPr>
        <p:spPr>
          <a:xfrm>
            <a:off x="548640" y="4617720"/>
            <a:ext cx="1106424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4617720"/>
            <a:ext cx="1828800" cy="475488"/>
          </a:xfrm>
          <a:prstGeom prst="rect">
            <a:avLst/>
          </a:prstGeom>
          <a:noFill/>
        </p:spPr>
        <p:txBody>
          <a:bodyPr wrap="square" anchor="ctr" lIns="73152" rIns="73152" tIns="73152" bIns="73152">
            <a:spAutoFit/>
          </a:bodyPr>
          <a:lstStyle/>
          <a:p>
            <a:pPr algn="l">
              <a:lnSpc>
                <a:spcPct val="110000"/>
              </a:lnSpc>
            </a:pPr>
            <a:r>
              <a:rPr sz="1700" b="1">
                <a:solidFill>
                  <a:srgbClr val="D9480F"/>
                </a:solidFill>
                <a:latin typeface="Arial"/>
              </a:rPr>
              <a:t>Arrays</a:t>
            </a:r>
          </a:p>
        </p:txBody>
      </p:sp>
      <p:sp>
        <p:nvSpPr>
          <p:cNvPr id="24" name="TextBox 23"/>
          <p:cNvSpPr txBox="1"/>
          <p:nvPr/>
        </p:nvSpPr>
        <p:spPr>
          <a:xfrm>
            <a:off x="2468880" y="4617720"/>
            <a:ext cx="9052560" cy="475488"/>
          </a:xfrm>
          <a:prstGeom prst="rect">
            <a:avLst/>
          </a:prstGeom>
          <a:noFill/>
        </p:spPr>
        <p:txBody>
          <a:bodyPr wrap="square" anchor="ctr" lIns="73152" rIns="73152" tIns="73152" bIns="73152">
            <a:spAutoFit/>
          </a:bodyPr>
          <a:lstStyle/>
          <a:p>
            <a:pPr algn="l">
              <a:lnSpc>
                <a:spcPct val="110000"/>
              </a:lnSpc>
            </a:pPr>
            <a:r>
              <a:rPr sz="1600" b="0">
                <a:solidFill>
                  <a:srgbClr val="14202E"/>
                </a:solidFill>
                <a:latin typeface="Consolas"/>
              </a:rPr>
              <a:t>field: value   $all   $size: n   $push (+ $each)   "arr.2"</a:t>
            </a:r>
          </a:p>
        </p:txBody>
      </p:sp>
      <p:sp>
        <p:nvSpPr>
          <p:cNvPr id="25" name="Rectangle 24"/>
          <p:cNvSpPr/>
          <p:nvPr/>
        </p:nvSpPr>
        <p:spPr>
          <a:xfrm>
            <a:off x="548640" y="5166360"/>
            <a:ext cx="11064240" cy="475488"/>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5166360"/>
            <a:ext cx="1828800" cy="475488"/>
          </a:xfrm>
          <a:prstGeom prst="rect">
            <a:avLst/>
          </a:prstGeom>
          <a:noFill/>
        </p:spPr>
        <p:txBody>
          <a:bodyPr wrap="square" anchor="ctr" lIns="73152" rIns="73152" tIns="73152" bIns="73152">
            <a:spAutoFit/>
          </a:bodyPr>
          <a:lstStyle/>
          <a:p>
            <a:pPr algn="l">
              <a:lnSpc>
                <a:spcPct val="110000"/>
              </a:lnSpc>
            </a:pPr>
            <a:r>
              <a:rPr sz="1700" b="1">
                <a:solidFill>
                  <a:srgbClr val="D9480F"/>
                </a:solidFill>
                <a:latin typeface="Arial"/>
              </a:rPr>
              <a:t>Trim / nest</a:t>
            </a:r>
          </a:p>
        </p:txBody>
      </p:sp>
      <p:sp>
        <p:nvSpPr>
          <p:cNvPr id="27" name="TextBox 26"/>
          <p:cNvSpPr txBox="1"/>
          <p:nvPr/>
        </p:nvSpPr>
        <p:spPr>
          <a:xfrm>
            <a:off x="2468880" y="5166360"/>
            <a:ext cx="9052560" cy="475488"/>
          </a:xfrm>
          <a:prstGeom prst="rect">
            <a:avLst/>
          </a:prstGeom>
          <a:noFill/>
        </p:spPr>
        <p:txBody>
          <a:bodyPr wrap="square" anchor="ctr" lIns="73152" rIns="73152" tIns="73152" bIns="73152">
            <a:spAutoFit/>
          </a:bodyPr>
          <a:lstStyle/>
          <a:p>
            <a:pPr algn="l">
              <a:lnSpc>
                <a:spcPct val="110000"/>
              </a:lnSpc>
            </a:pPr>
            <a:r>
              <a:rPr sz="1600" b="0">
                <a:solidFill>
                  <a:srgbClr val="14202E"/>
                </a:solidFill>
                <a:latin typeface="Consolas"/>
              </a:rPr>
              <a:t>$slice: n | -n | [skip, limit]   "parent.child"</a:t>
            </a:r>
          </a:p>
        </p:txBody>
      </p:sp>
      <p:sp>
        <p:nvSpPr>
          <p:cNvPr id="28" name="Rectangle 27"/>
          <p:cNvSpPr/>
          <p:nvPr/>
        </p:nvSpPr>
        <p:spPr>
          <a:xfrm>
            <a:off x="548640" y="5715000"/>
            <a:ext cx="1106424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5715000"/>
            <a:ext cx="1828800" cy="475488"/>
          </a:xfrm>
          <a:prstGeom prst="rect">
            <a:avLst/>
          </a:prstGeom>
          <a:noFill/>
        </p:spPr>
        <p:txBody>
          <a:bodyPr wrap="square" anchor="ctr" lIns="73152" rIns="73152" tIns="73152" bIns="73152">
            <a:spAutoFit/>
          </a:bodyPr>
          <a:lstStyle/>
          <a:p>
            <a:pPr algn="l">
              <a:lnSpc>
                <a:spcPct val="110000"/>
              </a:lnSpc>
            </a:pPr>
            <a:r>
              <a:rPr sz="1700" b="1">
                <a:solidFill>
                  <a:srgbClr val="D9480F"/>
                </a:solidFill>
                <a:latin typeface="Arial"/>
              </a:rPr>
              <a:t>Cloud</a:t>
            </a:r>
          </a:p>
        </p:txBody>
      </p:sp>
      <p:sp>
        <p:nvSpPr>
          <p:cNvPr id="30" name="TextBox 29"/>
          <p:cNvSpPr txBox="1"/>
          <p:nvPr/>
        </p:nvSpPr>
        <p:spPr>
          <a:xfrm>
            <a:off x="2468880" y="5715000"/>
            <a:ext cx="9052560" cy="475488"/>
          </a:xfrm>
          <a:prstGeom prst="rect">
            <a:avLst/>
          </a:prstGeom>
          <a:noFill/>
        </p:spPr>
        <p:txBody>
          <a:bodyPr wrap="square" anchor="ctr" lIns="73152" rIns="73152" tIns="73152" bIns="73152">
            <a:spAutoFit/>
          </a:bodyPr>
          <a:lstStyle/>
          <a:p>
            <a:pPr algn="l">
              <a:lnSpc>
                <a:spcPct val="110000"/>
              </a:lnSpc>
            </a:pPr>
            <a:r>
              <a:rPr sz="1600" b="0">
                <a:solidFill>
                  <a:srgbClr val="14202E"/>
                </a:solidFill>
                <a:latin typeface="Consolas"/>
              </a:rPr>
              <a:t>Public · Private · Hybrid      SaaS · PaaS · IaaS</a:t>
            </a:r>
          </a:p>
        </p:txBody>
      </p:sp>
      <p:sp>
        <p:nvSpPr>
          <p:cNvPr id="31" name="TextBox 30"/>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Parts 1-8</a:t>
            </a:r>
          </a:p>
        </p:txBody>
      </p:sp>
      <p:sp>
        <p:nvSpPr>
          <p:cNvPr id="32" name="TextBox 31"/>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0972800" cy="731520"/>
          </a:xfrm>
          <a:prstGeom prst="rect">
            <a:avLst/>
          </a:prstGeom>
          <a:noFill/>
        </p:spPr>
        <p:txBody>
          <a:bodyPr wrap="square" anchor="t" lIns="73152" rIns="73152" tIns="73152" bIns="73152">
            <a:spAutoFit/>
          </a:bodyPr>
          <a:lstStyle/>
          <a:p>
            <a:pPr algn="l">
              <a:lnSpc>
                <a:spcPct val="110000"/>
              </a:lnSpc>
            </a:pPr>
            <a:r>
              <a:rPr sz="3400" b="1">
                <a:solidFill>
                  <a:srgbClr val="14202E"/>
                </a:solidFill>
                <a:latin typeface="Arial"/>
              </a:rPr>
              <a:t>References</a:t>
            </a:r>
          </a:p>
        </p:txBody>
      </p:sp>
      <p:sp>
        <p:nvSpPr>
          <p:cNvPr id="4" name="TextBox 3"/>
          <p:cNvSpPr txBox="1"/>
          <p:nvPr/>
        </p:nvSpPr>
        <p:spPr>
          <a:xfrm>
            <a:off x="548640" y="1280160"/>
            <a:ext cx="11064240" cy="4937760"/>
          </a:xfrm>
          <a:prstGeom prst="rect">
            <a:avLst/>
          </a:prstGeom>
          <a:noFill/>
        </p:spPr>
        <p:txBody>
          <a:bodyPr wrap="square" anchor="t" lIns="73152" rIns="73152" tIns="73152" bIns="73152">
            <a:spAutoFit/>
          </a:bodyPr>
          <a:lstStyle/>
          <a:p>
            <a:pPr algn="l">
              <a:lnSpc>
                <a:spcPct val="120000"/>
              </a:lnSpc>
            </a:pPr>
            <a:r>
              <a:rPr sz="1400" b="0">
                <a:solidFill>
                  <a:srgbClr val="14202E"/>
                </a:solidFill>
                <a:latin typeface="Arial"/>
              </a:rPr>
              <a:t>STI IT2003 07 Handout 1: Introduction to NoSQL Database Management Systems.</a:t>
            </a:r>
          </a:p>
          <a:p>
            <a:pPr algn="l">
              <a:lnSpc>
                <a:spcPct val="120000"/>
              </a:lnSpc>
            </a:pPr>
            <a:r>
              <a:rPr sz="1400" b="0">
                <a:solidFill>
                  <a:srgbClr val="14202E"/>
                </a:solidFill>
                <a:latin typeface="Arial"/>
              </a:rPr>
              <a:t>STI IT2003 08 Handout 1: Fundamentals of Document-Oriented Database.</a:t>
            </a:r>
          </a:p>
          <a:p>
            <a:pPr algn="l">
              <a:lnSpc>
                <a:spcPct val="120000"/>
              </a:lnSpc>
            </a:pPr>
            <a:r>
              <a:rPr sz="1400" b="0">
                <a:solidFill>
                  <a:srgbClr val="14202E"/>
                </a:solidFill>
                <a:latin typeface="Arial"/>
              </a:rPr>
              <a:t>STI IT2003 09 Handout 1: Cloud Computing.</a:t>
            </a:r>
          </a:p>
          <a:p>
            <a:pPr algn="l">
              <a:lnSpc>
                <a:spcPct val="120000"/>
              </a:lnSpc>
            </a:pPr>
            <a:r>
              <a:rPr sz="1400" b="0">
                <a:solidFill>
                  <a:srgbClr val="14202E"/>
                </a:solidFill>
                <a:latin typeface="Arial"/>
              </a:rPr>
              <a:t>Chodorow, K., Brazil, E., &amp; Bradshaw, S. (2019). MongoDB: The definitive guide (3rd ed.). O'Reilly Media.</a:t>
            </a:r>
          </a:p>
          <a:p>
            <a:pPr algn="l">
              <a:lnSpc>
                <a:spcPct val="120000"/>
              </a:lnSpc>
            </a:pPr>
            <a:r>
              <a:rPr sz="1400" b="0">
                <a:solidFill>
                  <a:srgbClr val="14202E"/>
                </a:solidFill>
                <a:latin typeface="Arial"/>
              </a:rPr>
              <a:t>MongoDB, Inc. (n.d.). Query for null or missing fields. https://www.mongodb.com/docs/manual/tutorial/query-for-null-fields/ (accessed 2026-10-30).</a:t>
            </a:r>
          </a:p>
          <a:p>
            <a:pPr algn="l">
              <a:lnSpc>
                <a:spcPct val="120000"/>
              </a:lnSpc>
            </a:pPr>
            <a:r>
              <a:rPr sz="1400" b="0">
                <a:solidFill>
                  <a:srgbClr val="14202E"/>
                </a:solidFill>
                <a:latin typeface="Arial"/>
              </a:rPr>
              <a:t>MongoDB, Inc. (n.d.). $push. https://www.mongodb.com/docs/manual/reference/operator/update/push/ (accessed 2026-10-30).</a:t>
            </a:r>
          </a:p>
          <a:p>
            <a:pPr algn="l">
              <a:lnSpc>
                <a:spcPct val="120000"/>
              </a:lnSpc>
            </a:pPr>
            <a:r>
              <a:rPr sz="1400" b="0">
                <a:solidFill>
                  <a:srgbClr val="14202E"/>
                </a:solidFill>
                <a:latin typeface="Arial"/>
              </a:rPr>
              <a:t>Command outputs: run live on MongoDB 8.0.4 with mongosh 2.3.8, 2026-10-30. Script: verification/run_commands.py.</a:t>
            </a:r>
          </a:p>
          <a:p>
            <a:pPr algn="l">
              <a:lnSpc>
                <a:spcPct val="120000"/>
              </a:lnSpc>
            </a:pPr>
            <a:r>
              <a:rPr sz="1400" b="0">
                <a:solidFill>
                  <a:srgbClr val="14202E"/>
                </a:solidFill>
                <a:latin typeface="Arial"/>
              </a:rPr>
              <a:t>Meme references (speaker notes only): DZRH News, 'LOL, Relate, Repeat: How these 15 viral memes defined the Philippines in 2025', published 2025-12-31, https://www.dzrh.com.ph/post/lol-relate-repeat-how-these-15-viral-memes-defined-the-philippines-in-2025.</a:t>
            </a:r>
          </a:p>
        </p:txBody>
      </p:sp>
      <p:sp>
        <p:nvSpPr>
          <p:cNvPr id="5" name="TextBox 4"/>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49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