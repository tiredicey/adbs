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day. We are [group name]. Our topic is MongoDB commands and cloud computing, from the 07, 08 and 09 handouts. Each of us has 3 minutes.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Instructions for group members.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have eight parts. Parts 1 to 6 are MongoDB commands. Parts 7 and 8 are cloud computing.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1 is Create and Delete. Every slide shows the data before, the command, and the data after. Watch what changes.</a:t>
            </a:r>
          </a:p>
          <a:p/>
          <a:p>
            <a:r>
              <a:t>(Whole part: 250 words, about 1 min 55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2 of 14):</a:t>
            </a:r>
          </a:p>
          <a:p>
            <a:r>
              <a:t>insertOne adds one document. Before: the movies collection is empty, so nothing prints. We insert one movie, Stand by Me. We did not give an underscore I D, so MongoDB made one for us. After: the collection has Stand by Me. One document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3 of 14):</a:t>
            </a:r>
          </a:p>
          <a:p>
            <a:r>
              <a:t>insertMany adds many documents with one command. We pass an array, in square brackets. Before: only Stand by Me.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4 of 14):</a:t>
            </a:r>
          </a:p>
          <a:p>
            <a:r>
              <a:t>The reply lists three new I Ds.</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5 of 14):</a:t>
            </a:r>
          </a:p>
          <a:p>
            <a:r>
              <a:t>After: four movies. The three new ones are highlighted.</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6 of 14):</a:t>
            </a:r>
          </a:p>
          <a:p>
            <a:r>
              <a:t>Now an error on purpose.</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7 of 14):</a:t>
            </a:r>
          </a:p>
          <a:p>
            <a:r>
              <a:t>We insert four movies, but two of them use underscore I D 4. With ordered false, MongoDB tries every document, even after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8 of 14):</a:t>
            </a:r>
          </a:p>
          <a:p>
            <a:r>
              <a:t>After: 3, 4 and 5 are saved. Only the duplicate failed. Unordered keeps going.</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9 of 14):</a:t>
            </a:r>
          </a:p>
          <a:p>
            <a:r>
              <a:t>Same four movies, but ordered. Ordered is the default. The duplicate 4 causes an error.</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10 of 14):</a:t>
            </a:r>
          </a:p>
          <a:p>
            <a:r>
              <a:t>After: only 3 and 4 are saved. Scarface came after the error, so it never went in.</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11 of 14):</a:t>
            </a:r>
          </a:p>
          <a:p>
            <a:r>
              <a:t>deleteOne removes one document that matches the filter. Before: 3, 4 and 5. We delete underscore I D 4. The reply says deleted count 1.</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12 of 14):</a:t>
            </a:r>
          </a:p>
          <a:p>
            <a:r>
              <a:t>After: only 3 and 5 are left.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13 of 14):</a:t>
            </a:r>
          </a:p>
          <a:p>
            <a:r>
              <a:t>deleteMany removes every match. We start from the handout's three movies: two from 1985 and one from 1984.</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(Part 1 · 14 of 14):</a:t>
            </a:r>
          </a:p>
          <a:p>
            <a:r>
              <a:t>We delete year 1985. Deleted count is 2. After: only Sixteen Candles, from 1984, is left. Documents in, documents out.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2 is Find, Replace and Update. The rule is simple: find it first, then change it.</a:t>
            </a:r>
          </a:p>
          <a:p/>
          <a:p>
            <a:r>
              <a:t>(Whole part: 278 words, about 2 min 08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 of 21):</a:t>
            </a:r>
          </a:p>
          <a:p>
            <a:r>
              <a:t>findOne returns one document that matches the filter. Here we find Joe. Joe has 32 friends and 2 enemies. Remember this shape. We change it next.</a:t>
            </a:r>
          </a:p>
          <a:p/>
          <a:p>
            <a:r>
              <a:t>Source: 08 Handout p.1</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3 of 21):</a:t>
            </a:r>
          </a:p>
          <a:p>
            <a:r>
              <a:t>replaceOne swaps the whole document for a new 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4 of 21):</a:t>
            </a:r>
          </a:p>
          <a:p>
            <a:r>
              <a:t>The handout uses it for a big change. We load Joe into a variable, move friends and enemies into a new relationships field, copy name into username, delete the old fields, then save with replaceOne. The reply says matched 1, modified 1.</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5 of 21):</a:t>
            </a:r>
          </a:p>
          <a:p>
            <a:r>
              <a:t>(No new words. Let the class read this slide, then click.)</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6 of 21):</a:t>
            </a:r>
          </a:p>
          <a:p>
            <a:r>
              <a:t>After: Joe has relationships and username. The old fields are gone.</a:t>
            </a:r>
          </a:p>
          <a:p/>
          <a:p>
            <a:r>
              <a:t>Source: 08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7 of 21):</a:t>
            </a:r>
          </a:p>
          <a:p>
            <a:r>
              <a:t>updateOne takes a filter, then a change. The dollar set operator sets a field. If the field does not exist yet, it is created. Before: John has no favorite book.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8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9 of 21):</a:t>
            </a:r>
          </a:p>
          <a:p>
            <a:r>
              <a:t>After: John has a favorite book, Green Eggs and Ham.</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10 of 21):</a:t>
            </a:r>
          </a:p>
          <a:p>
            <a:r>
              <a:t>Dollar set can even change the type of a field.</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11 of 21):</a:t>
            </a:r>
          </a:p>
          <a:p>
            <a:r>
              <a:t>Now favorite book becomes an array of three books.</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12 of 21):</a:t>
            </a:r>
          </a:p>
          <a:p>
            <a:r>
              <a:t>After: the single text value is replaced by a list.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13 of 21):</a:t>
            </a:r>
          </a:p>
          <a:p>
            <a:r>
              <a:t>Dollar unset removes a field completely.</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14 of 21):</a:t>
            </a:r>
          </a:p>
          <a:p>
            <a:r>
              <a:t>(No new words. Let the class read this slide, then click.)</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15 of 21):</a:t>
            </a:r>
          </a:p>
          <a:p>
            <a:r>
              <a:t>After: favorite book is gone. The rest of John stays the same.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16 of 21):</a:t>
            </a:r>
          </a:p>
          <a:p>
            <a:r>
              <a:t>Dollar set can reach inside an embedded document.</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17 of 21):</a:t>
            </a:r>
          </a:p>
          <a:p>
            <a:r>
              <a:t>Author is a document inside the book. We use author dot name, in quotes, to change only the name.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18 of 21):</a:t>
            </a:r>
          </a:p>
          <a:p>
            <a:r>
              <a:t>After: the name is Nicole Tagayon. The email did not change.</a:t>
            </a:r>
          </a:p>
          <a:p/>
          <a:p>
            <a:r>
              <a:t>Source: 08 Handout p.2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19 of 21):</a:t>
            </a:r>
          </a:p>
          <a:p>
            <a:r>
              <a:t>updateMany works like updateOne and takes the same parameters.</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20 of 21):</a:t>
            </a:r>
          </a:p>
          <a:p>
            <a:r>
              <a:t>The difference is how many documents can change. Three users share the birthday October 13, 1978. Matched 3, modified 3.</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2 · 21 of 21):</a:t>
            </a:r>
          </a:p>
          <a:p>
            <a:r>
              <a:t>After: all three have the gift Happy Birthday. Find it first, then change it.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3 is comparison operators. There are four: less than, less than or equal, greater than, and greater than or equal.</a:t>
            </a:r>
          </a:p>
          <a:p/>
          <a:p>
            <a:r>
              <a:t>(Whole part: 213 words, about 1 min 38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2 of 9):</a:t>
            </a:r>
          </a:p>
          <a:p>
            <a:r>
              <a:t>Here are the four. Dollar L T is less than. Dollar L T E is less than or equal. Dollar G T is greater than. Dollar G T E is greater than or equal. Tip: the letter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3 of 9):</a:t>
            </a:r>
          </a:p>
          <a:p>
            <a:r>
              <a:t>This is our practice data. It is not from the handout. Five users: Ana is 17, Ben 18, Cara 24, Dan 30, and Eli 31. Keep these ages in mind.</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4 of 9):</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5 of 9):</a:t>
            </a:r>
          </a:p>
          <a:p>
            <a:r>
              <a:t>Read the first command as: find users where age is less than 18. We get only Ana, who is 17. The second is less than or equal to 18. We get Ana and Ben. Ben is exactly 18, so the E lets him in.</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6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7 of 9):</a:t>
            </a:r>
          </a:p>
          <a:p>
            <a:r>
              <a:t>Greater than 30 gives only Eli, who is 31. Greater than or equal to 30 gives Dan and Eli. Dan is exactly 30, so he is in this time.</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8 of 9):</a:t>
            </a:r>
          </a:p>
          <a:p>
            <a:r>
              <a:t>(No new words. Let the class read this slide, then click.)</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3 · 9 of 9):</a:t>
            </a:r>
          </a:p>
          <a:p>
            <a:r>
              <a:t>The handout finds users between 18 and 30. Put greater than or equal 18 and less than or equal 30 on the same field. Both must be true. The result is Ben, Cara and Dan. Remember: the E means equal is allowed.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4 is three more query selectors: dollar in, dollar or, and dollar not.</a:t>
            </a:r>
          </a:p>
          <a:p/>
          <a:p>
            <a:r>
              <a:t>(Whole part: 178 words, about 1 min 22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2 of 7):</a:t>
            </a:r>
          </a:p>
          <a:p>
            <a:r>
              <a:t>This is the raffle. It is our practice data. There are five tickets. Ticket 111 is the only one where winner is true.</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3 of 7):</a:t>
            </a:r>
          </a:p>
          <a:p>
            <a:r>
              <a:t>(No new words. Let the class read this slide, then click.)</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4 of 7):</a:t>
            </a:r>
          </a:p>
          <a:p>
            <a:r>
              <a:t>Dollar in checks many values for one key. The handout's winning tickets are 725, 542 and 390. One query finds all three. Read it as: ticket number is in this list.</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5 of 7):</a:t>
            </a:r>
          </a:p>
          <a:p>
            <a:r>
              <a:t>Dollar or is more general. Each condition can use a different key. We want ticket 725, or any ticket where winner is true. Ticket 725 passes the first test. Ticket 111 passes the second.</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6 of 7):</a:t>
            </a:r>
          </a:p>
          <a:p>
            <a:r>
              <a:t>Now three users, also practice data. Rhea earns 8,000 pesos, Mark 10,000, and Liza 15,000.</a:t>
            </a:r>
          </a:p>
          <a:p/>
          <a:p>
            <a:r>
              <a:t>Source: Practice data (ours) for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4 · 7 of 7):</a:t>
            </a:r>
          </a:p>
          <a:p>
            <a:r>
              <a:t>Dollar not returns the documents that do not match a condition. The handout finds salaries not greater than 10,000. Rhea and Mark come back. Mark is exactly 10,000, which is not greater, so he is in. Liza is out. To sum up: one field, many values, use dollar in. Many fields, any match, use dollar or.</a:t>
            </a:r>
          </a:p>
          <a:p/>
          <a:p>
            <a:r>
              <a:t>Source: 08 Handout p.3</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5 is querying arrays. An array is a list of values inside one field.</a:t>
            </a:r>
          </a:p>
          <a:p/>
          <a:p>
            <a:r>
              <a:t>(Whole part: 187 words, about 1 min 26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2 of 9):</a:t>
            </a:r>
          </a:p>
          <a:p>
            <a:r>
              <a:t>We insert the handout's three fruit baskets. Square brackets make an array. Before: the food collection is empty.</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3 of 9):</a:t>
            </a:r>
          </a:p>
          <a:p>
            <a:r>
              <a:t>The shell prints the reply of the last insertOne: inserted I 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4 of 9):</a:t>
            </a:r>
          </a:p>
          <a:p>
            <a:r>
              <a:t>After: three baskets. Basket 1 has apple, banana, peach. Basket 2 has apple, kumquat, orange. Basket 3 has cherry, banana,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5 of 9):</a:t>
            </a:r>
          </a:p>
          <a:p>
            <a:r>
              <a:t>Querying an array works like querying a single value. We ask for banana. Any basket with banana anywhere in its list matches: baskets 1 and 3.</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6 of 9):</a:t>
            </a:r>
          </a:p>
          <a:p>
            <a:r>
              <a:t>Dollar all needs every listed element. Apple and banana gives baskets 1 and 3. Basket 2 has no banana, so it is out. Order does not matter: basket 3 has banana before apple.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7 of 9):</a:t>
            </a:r>
          </a:p>
          <a:p>
            <a:r>
              <a:t>To check one position, write the key, a dot, and the index. Counting starts at zero, so fruit dot 2 is the third fruit. Only basket 1 has peach in third place.</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8 of 9):</a:t>
            </a:r>
          </a:p>
          <a:p>
            <a:r>
              <a:t>Dollar size matches arrays with exactly that many elements. Every basket has 3 fruits, so all three come back. Arrays answer like single values.</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5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6 is dollar slice and embedded documents.</a:t>
            </a:r>
          </a:p>
          <a:p/>
          <a:p>
            <a:r>
              <a:t>(Whole part: 151 words, about 1 min 10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Setup only. Delete this slide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2 of 9):</a:t>
            </a:r>
          </a:p>
          <a:p>
            <a:r>
              <a:t>Dollar slice returns part of an array. Our practice blog post has 40 comments, c1 to c40. Slice 10 returns the first 10: c1 to c10.</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3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4 of 9):</a:t>
            </a:r>
          </a:p>
          <a:p>
            <a:r>
              <a:t>Slice minus 10 returns the last 10: c31 to c40. Positive counts from the front. Negative counts from the back.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5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6 of 9):</a:t>
            </a:r>
          </a:p>
          <a:p>
            <a:r>
              <a:t>Slice with two numbers gives a page from the middle. 23 means skip the first 23. 10 means take 10. So we get the 24th to the 33rd: c24 to c33. The handout notes: if there are fewer elements, it returns as many as it can.</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7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8 of 9):</a:t>
            </a:r>
          </a:p>
          <a:p>
            <a:r>
              <a:t>An embedded document is a document inside a document. John's name holds first and last. To query inside it, use dot notation, in quotes: name dot first, and name dot last. John Escalona comes back. Trim what you see with slice. Reach inside with a dot.</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6 · 9 of 9):</a:t>
            </a:r>
          </a:p>
          <a:p>
            <a:r>
              <a:t>(No new words. Let the class read this slide, then click.)</a:t>
            </a:r>
          </a:p>
          <a:p/>
          <a:p>
            <a:r>
              <a:t>Source: 08 Handout p.4</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7 is cloud computing and its three implementation types.</a:t>
            </a:r>
          </a:p>
          <a:p/>
          <a:p>
            <a:r>
              <a:t>(Whole part: 228 words, about 1 min 45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2 of 6):</a:t>
            </a:r>
          </a:p>
          <a:p>
            <a:r>
              <a:t>Cloud computing is the delivery of services through the Internet: data storage, servers, databases, networking and software. Instead of keeping files on a local hard drive, cloud storage saves them to a remote database. If a device can reach the web, it can reach the data and the programs to run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3 of 6):</a:t>
            </a:r>
          </a:p>
          <a:p>
            <a:r>
              <a:t>The implementation type depends on two things: where the infrastructure is, and who controls it. There are three types: public, private and hybrid.</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4 of 6):</a:t>
            </a:r>
          </a:p>
          <a:p>
            <a:r>
              <a:t>A public cloud is built by a third party to sell cloud services to the general public. It is the most common type. Examples are Amazon Web Services, Google Application Engine and Microsoft Azure. It is reliable, low cost, needs zero maintenance and scales on demand. But it is not suitable for organizations with sensitive information under strict security rules.</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5 of 6):</a:t>
            </a:r>
          </a:p>
          <a:p>
            <a:r>
              <a:t>A private cloud is built by an organization only for its own needs. Large organizations spread across many places use it to add agility and flexibility. Their own I T staff or an outside third party can manage it.</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7 · 6 of 6):</a:t>
            </a:r>
          </a:p>
          <a:p>
            <a:r>
              <a:t>A hybrid cloud combines private and public. For example, a business uses the public cloud for high-volume apps like email, and a private cloud for sensitive things like financials and data recovery. Rent it, own it, or mix both.</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a:t>
            </a:r>
          </a:p>
          <a:p>
            <a:r>
              <a:t>Hello, I am [your name]. Part 8 is the types of cloud services, and the ten benefits of cloud computing.</a:t>
            </a:r>
          </a:p>
          <a:p/>
          <a:p>
            <a:r>
              <a:t>(Whole part: 243 words, about 1 min 52 s at a calm 130 words a minute. Limit: 3 minutes.)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2 of 7):</a:t>
            </a:r>
          </a:p>
          <a:p>
            <a:r>
              <a:t>Cloud services follow an a la carte model. You pick what you need, and services can build on each other. There are three: software, platform, and infrastructure as a service.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3 of 7):</a:t>
            </a:r>
          </a:p>
          <a:p>
            <a:r>
              <a:t>Software as a Service, or SaaS. The provider offers ready-to-use applications that run in the cloud. You can customize some parts, but not the application itself. Examples: Microsoft Office 365, Google Docs, TurboTax Online and SCALA digital signage.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4 of 7):</a:t>
            </a:r>
          </a:p>
          <a:p>
            <a:r>
              <a:t>Platform as a Service, or PaaS. The provider gives tools, languages and interfaces to build and run your own applications. You manage your apps, not the infrastructure. Example: the Microsoft Azure platform with dot NET and Java.</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5 of 7):</a:t>
            </a:r>
          </a:p>
          <a:p>
            <a:r>
              <a:t>Infrastructure as a Service, or IaaS. You get resources on demand: storage, servers, databases, processing, even a full virtual desktop. You add or remove them as needed. Example: an Amazon Web Services server running Linux and Apache, with 16 gigabytes of RAM and 160 gigabytes of storage.</a:t>
            </a:r>
          </a:p>
          <a:p/>
          <a:p>
            <a:r>
              <a:t>Source: 09 Handout p.1</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6 of 7):</a:t>
            </a:r>
          </a:p>
          <a:p>
            <a:r>
              <a:t>The handout lists ten benefits. One, instant scalability: scale up or down to meet demand. Two, anywhere accessibility. Three, increased speed and agility: add capacity with a click. Four, reduced expenditure: cost depends on use. Five, automatic updates and patches.</a:t>
            </a:r>
          </a:p>
          <a:p/>
          <a:p>
            <a:r>
              <a:t>Source: 09 Handout p.1-2</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DO: run the commands, paste screenshots into the orange boxes, fill the blanks.</a:t>
            </a:r>
          </a:p>
          <a:p>
            <a:r>
              <a:t>Suggested script:</a:t>
            </a:r>
          </a:p>
          <a:p>
            <a:r>
              <a:t>SAY (Part 8 · 7 of 7):</a:t>
            </a:r>
          </a:p>
          <a:p>
            <a:r>
              <a:t>Six, disaster recovery. Seven, high security. Eight, reduced carbon footprint. Nine, flexibility: any device, any place. Ten, enterprise collaboration: shared, central documents. Scale up fast, and pay for what you use.</a:t>
            </a:r>
          </a:p>
          <a:p/>
          <a:p>
            <a:r>
              <a:t>Source: 09 Handout p.2</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during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Rectangle 1"/>
          <p:cNvSpPr/>
          <p:nvPr/>
        </p:nvSpPr>
        <p:spPr>
          <a:xfrm>
            <a:off x="0" y="5257800"/>
            <a:ext cx="12191695" cy="91440"/>
          </a:xfrm>
          <a:prstGeom prst="rect">
            <a:avLst/>
          </a:prstGeom>
          <a:solidFill>
            <a:srgbClr val="F2B2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822960"/>
            <a:ext cx="11368735" cy="548640"/>
          </a:xfrm>
          <a:prstGeom prst="rect">
            <a:avLst/>
          </a:prstGeom>
          <a:noFill/>
        </p:spPr>
        <p:txBody>
          <a:bodyPr wrap="square" anchor="t" lIns="0" rIns="0" tIns="0" bIns="0">
            <a:spAutoFit/>
          </a:bodyPr>
          <a:lstStyle/>
          <a:p>
            <a:pPr algn="l">
              <a:lnSpc>
                <a:spcPct val="100000"/>
              </a:lnSpc>
            </a:pPr>
            <a:r>
              <a:rPr sz="2800" b="1">
                <a:solidFill>
                  <a:srgbClr val="F2B27A"/>
                </a:solidFill>
                <a:latin typeface="Arial"/>
              </a:rPr>
              <a:t>IT2003 · ADVANCED DATABASE SYSTEMS</a:t>
            </a:r>
          </a:p>
        </p:txBody>
      </p:sp>
      <p:sp>
        <p:nvSpPr>
          <p:cNvPr id="4" name="TextBox 3"/>
          <p:cNvSpPr txBox="1"/>
          <p:nvPr/>
        </p:nvSpPr>
        <p:spPr>
          <a:xfrm>
            <a:off x="411480" y="1463040"/>
            <a:ext cx="11368735" cy="2194560"/>
          </a:xfrm>
          <a:prstGeom prst="rect">
            <a:avLst/>
          </a:prstGeom>
          <a:noFill/>
        </p:spPr>
        <p:txBody>
          <a:bodyPr wrap="square" anchor="t" lIns="0" rIns="0" tIns="0" bIns="0">
            <a:spAutoFit/>
          </a:bodyPr>
          <a:lstStyle/>
          <a:p>
            <a:pPr algn="l">
              <a:lnSpc>
                <a:spcPct val="95000"/>
              </a:lnSpc>
            </a:pPr>
            <a:r>
              <a:rPr sz="6000" b="1">
                <a:solidFill>
                  <a:srgbClr val="FFFFFF"/>
                </a:solidFill>
                <a:latin typeface="Arial"/>
              </a:rPr>
              <a:t>MongoDB Commands</a:t>
            </a:r>
          </a:p>
          <a:p>
            <a:pPr algn="l">
              <a:lnSpc>
                <a:spcPct val="95000"/>
              </a:lnSpc>
            </a:pPr>
            <a:r>
              <a:rPr sz="6000" b="1">
                <a:solidFill>
                  <a:srgbClr val="FFFFFF"/>
                </a:solidFill>
                <a:latin typeface="Arial"/>
              </a:rPr>
              <a:t>&amp; Cloud Computing</a:t>
            </a:r>
          </a:p>
        </p:txBody>
      </p:sp>
      <p:sp>
        <p:nvSpPr>
          <p:cNvPr id="5" name="TextBox 4"/>
          <p:cNvSpPr txBox="1"/>
          <p:nvPr/>
        </p:nvSpPr>
        <p:spPr>
          <a:xfrm>
            <a:off x="411480" y="3566160"/>
            <a:ext cx="11368735" cy="1280160"/>
          </a:xfrm>
          <a:prstGeom prst="rect">
            <a:avLst/>
          </a:prstGeom>
          <a:noFill/>
        </p:spPr>
        <p:txBody>
          <a:bodyPr wrap="square" anchor="t" lIns="0" rIns="0" tIns="0" bIns="0">
            <a:spAutoFit/>
          </a:bodyPr>
          <a:lstStyle/>
          <a:p>
            <a:pPr algn="l">
              <a:lnSpc>
                <a:spcPct val="100000"/>
              </a:lnSpc>
            </a:pPr>
            <a:r>
              <a:rPr sz="2800" b="0">
                <a:solidFill>
                  <a:srgbClr val="E6ECF2"/>
                </a:solidFill>
                <a:latin typeface="Arial"/>
              </a:rPr>
              <a:t>Shared group deck · Part 1 is done · Parts 2-8: fill the orange boxes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How to do your part (read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HOWTO"/>
          <p:cNvSpPr/>
          <p:nvPr/>
        </p:nvSpPr>
        <p:spPr>
          <a:xfrm>
            <a:off x="41148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HOWTO"/>
          <p:cNvSpPr txBox="1"/>
          <p:nvPr/>
        </p:nvSpPr>
        <p:spPr>
          <a:xfrm>
            <a:off x="52120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7" name="EXEMPT_HOWTO"/>
          <p:cNvSpPr txBox="1"/>
          <p:nvPr/>
        </p:nvSpPr>
        <p:spPr>
          <a:xfrm>
            <a:off x="123444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Find your part</a:t>
            </a:r>
          </a:p>
          <a:p>
            <a:pPr algn="l">
              <a:lnSpc>
                <a:spcPct val="100000"/>
              </a:lnSpc>
            </a:pPr>
            <a:r>
              <a:rPr sz="1600" b="0">
                <a:solidFill>
                  <a:srgbClr val="4A5868"/>
                </a:solidFill>
                <a:latin typeface="Arial"/>
              </a:rPr>
              <a:t>The 'Eight parts' slide lists them. Your part has a big number divider.</a:t>
            </a:r>
          </a:p>
        </p:txBody>
      </p:sp>
      <p:sp>
        <p:nvSpPr>
          <p:cNvPr id="8" name="EXEMPT_HOWTO"/>
          <p:cNvSpPr/>
          <p:nvPr/>
        </p:nvSpPr>
        <p:spPr>
          <a:xfrm>
            <a:off x="41148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EXEMPT_HOWTO"/>
          <p:cNvSpPr txBox="1"/>
          <p:nvPr/>
        </p:nvSpPr>
        <p:spPr>
          <a:xfrm>
            <a:off x="52120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10" name="EXEMPT_HOWTO"/>
          <p:cNvSpPr txBox="1"/>
          <p:nvPr/>
        </p:nvSpPr>
        <p:spPr>
          <a:xfrm>
            <a:off x="123444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Look at Part 1</a:t>
            </a:r>
          </a:p>
          <a:p>
            <a:pPr algn="l">
              <a:lnSpc>
                <a:spcPct val="100000"/>
              </a:lnSpc>
            </a:pPr>
            <a:r>
              <a:rPr sz="1600" b="0">
                <a:solidFill>
                  <a:srgbClr val="4A5868"/>
                </a:solidFill>
                <a:latin typeface="Arial"/>
              </a:rPr>
              <a:t>Part 1 is finished. Make yours look like it.</a:t>
            </a:r>
          </a:p>
        </p:txBody>
      </p:sp>
      <p:sp>
        <p:nvSpPr>
          <p:cNvPr id="11" name="EXEMPT_HOWTO"/>
          <p:cNvSpPr/>
          <p:nvPr/>
        </p:nvSpPr>
        <p:spPr>
          <a:xfrm>
            <a:off x="41148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EXEMPT_HOWTO"/>
          <p:cNvSpPr txBox="1"/>
          <p:nvPr/>
        </p:nvSpPr>
        <p:spPr>
          <a:xfrm>
            <a:off x="52120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3" name="EXEMPT_HOWTO"/>
          <p:cNvSpPr txBox="1"/>
          <p:nvPr/>
        </p:nvSpPr>
        <p:spPr>
          <a:xfrm>
            <a:off x="123444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Open the MongoDB shell</a:t>
            </a:r>
          </a:p>
          <a:p>
            <a:pPr algn="l">
              <a:lnSpc>
                <a:spcPct val="100000"/>
              </a:lnSpc>
            </a:pPr>
            <a:r>
              <a:rPr sz="1600" b="0">
                <a:solidFill>
                  <a:srgbClr val="4A5868"/>
                </a:solidFill>
                <a:latin typeface="Arial"/>
              </a:rPr>
              <a:t>MongoDB Compass → Connect → click  &gt;_ Open MongoDB shell.</a:t>
            </a:r>
          </a:p>
        </p:txBody>
      </p:sp>
      <p:sp>
        <p:nvSpPr>
          <p:cNvPr id="14" name="EXEMPT_HOWTO"/>
          <p:cNvSpPr/>
          <p:nvPr/>
        </p:nvSpPr>
        <p:spPr>
          <a:xfrm>
            <a:off x="41148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EXEMPT_HOWTO"/>
          <p:cNvSpPr txBox="1"/>
          <p:nvPr/>
        </p:nvSpPr>
        <p:spPr>
          <a:xfrm>
            <a:off x="52120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6" name="EXEMPT_HOWTO"/>
          <p:cNvSpPr txBox="1"/>
          <p:nvPr/>
        </p:nvSpPr>
        <p:spPr>
          <a:xfrm>
            <a:off x="123444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Run your SETUP slide</a:t>
            </a:r>
          </a:p>
          <a:p>
            <a:pPr algn="l">
              <a:lnSpc>
                <a:spcPct val="100000"/>
              </a:lnSpc>
            </a:pPr>
            <a:r>
              <a:rPr sz="1600" b="0">
                <a:solidFill>
                  <a:srgbClr val="4A5868"/>
                </a:solidFill>
                <a:latin typeface="Arial"/>
              </a:rPr>
              <a:t>Copy all its lines, paste in the shell, press Enter.</a:t>
            </a:r>
          </a:p>
        </p:txBody>
      </p:sp>
      <p:sp>
        <p:nvSpPr>
          <p:cNvPr id="17" name="EXEMPT_HOWTO"/>
          <p:cNvSpPr/>
          <p:nvPr/>
        </p:nvSpPr>
        <p:spPr>
          <a:xfrm>
            <a:off x="6172200" y="1188720"/>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EMPT_HOWTO"/>
          <p:cNvSpPr txBox="1"/>
          <p:nvPr/>
        </p:nvSpPr>
        <p:spPr>
          <a:xfrm>
            <a:off x="6281928" y="1188720"/>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9" name="EXEMPT_HOWTO"/>
          <p:cNvSpPr txBox="1"/>
          <p:nvPr/>
        </p:nvSpPr>
        <p:spPr>
          <a:xfrm>
            <a:off x="6995160" y="1280160"/>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Go box by box, top to bottom</a:t>
            </a:r>
          </a:p>
          <a:p>
            <a:pPr algn="l">
              <a:lnSpc>
                <a:spcPct val="100000"/>
              </a:lnSpc>
            </a:pPr>
            <a:r>
              <a:rPr sz="1600" b="0">
                <a:solidFill>
                  <a:srgbClr val="4A5868"/>
                </a:solidFill>
                <a:latin typeface="Arial"/>
              </a:rPr>
              <a:t>Each orange box says what to run. Order: 1 BEFORE, 2 COMMAND, 3 AFTER.</a:t>
            </a:r>
          </a:p>
        </p:txBody>
      </p:sp>
      <p:sp>
        <p:nvSpPr>
          <p:cNvPr id="20" name="EXEMPT_HOWTO"/>
          <p:cNvSpPr/>
          <p:nvPr/>
        </p:nvSpPr>
        <p:spPr>
          <a:xfrm>
            <a:off x="6172200" y="2404872"/>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EXEMPT_HOWTO"/>
          <p:cNvSpPr txBox="1"/>
          <p:nvPr/>
        </p:nvSpPr>
        <p:spPr>
          <a:xfrm>
            <a:off x="6281928" y="2404872"/>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2" name="EXEMPT_HOWTO"/>
          <p:cNvSpPr txBox="1"/>
          <p:nvPr/>
        </p:nvSpPr>
        <p:spPr>
          <a:xfrm>
            <a:off x="6995160" y="2496312"/>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Paste a screenshot</a:t>
            </a:r>
          </a:p>
          <a:p>
            <a:pPr algn="l">
              <a:lnSpc>
                <a:spcPct val="100000"/>
              </a:lnSpc>
            </a:pPr>
            <a:r>
              <a:rPr sz="1600" b="0">
                <a:solidFill>
                  <a:srgbClr val="4A5868"/>
                </a:solidFill>
                <a:latin typeface="Arial"/>
              </a:rPr>
              <a:t>Win + Shift + S. Click the box's edge, press Delete, then Ctrl + V.</a:t>
            </a:r>
          </a:p>
        </p:txBody>
      </p:sp>
      <p:sp>
        <p:nvSpPr>
          <p:cNvPr id="23" name="EXEMPT_HOWTO"/>
          <p:cNvSpPr/>
          <p:nvPr/>
        </p:nvSpPr>
        <p:spPr>
          <a:xfrm>
            <a:off x="6172200" y="3621024"/>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EXEMPT_HOWTO"/>
          <p:cNvSpPr txBox="1"/>
          <p:nvPr/>
        </p:nvSpPr>
        <p:spPr>
          <a:xfrm>
            <a:off x="6281928" y="3621024"/>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5" name="EXEMPT_HOWTO"/>
          <p:cNvSpPr txBox="1"/>
          <p:nvPr/>
        </p:nvSpPr>
        <p:spPr>
          <a:xfrm>
            <a:off x="6995160" y="3712463"/>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Fill the blanks</a:t>
            </a:r>
          </a:p>
          <a:p>
            <a:pPr algn="l">
              <a:lnSpc>
                <a:spcPct val="100000"/>
              </a:lnSpc>
            </a:pPr>
            <a:r>
              <a:rPr sz="1600" b="0">
                <a:solidFill>
                  <a:srgbClr val="4A5868"/>
                </a:solidFill>
                <a:latin typeface="Arial"/>
              </a:rPr>
              <a:t>Replace every ______ using the handout page in the footer.</a:t>
            </a:r>
          </a:p>
        </p:txBody>
      </p:sp>
      <p:sp>
        <p:nvSpPr>
          <p:cNvPr id="26" name="EXEMPT_HOWTO"/>
          <p:cNvSpPr/>
          <p:nvPr/>
        </p:nvSpPr>
        <p:spPr>
          <a:xfrm>
            <a:off x="6172200" y="4837176"/>
            <a:ext cx="5577840" cy="109728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EMPT_HOWTO"/>
          <p:cNvSpPr txBox="1"/>
          <p:nvPr/>
        </p:nvSpPr>
        <p:spPr>
          <a:xfrm>
            <a:off x="6281928" y="4837176"/>
            <a:ext cx="731520" cy="109728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8" name="EXEMPT_HOWTO"/>
          <p:cNvSpPr txBox="1"/>
          <p:nvPr/>
        </p:nvSpPr>
        <p:spPr>
          <a:xfrm>
            <a:off x="6995160" y="4928616"/>
            <a:ext cx="4663440" cy="960120"/>
          </a:xfrm>
          <a:prstGeom prst="rect">
            <a:avLst/>
          </a:prstGeom>
          <a:noFill/>
        </p:spPr>
        <p:txBody>
          <a:bodyPr wrap="square" anchor="t" lIns="0" rIns="0" tIns="0" bIns="0">
            <a:spAutoFit/>
          </a:bodyPr>
          <a:lstStyle/>
          <a:p>
            <a:pPr algn="l">
              <a:lnSpc>
                <a:spcPct val="100000"/>
              </a:lnSpc>
            </a:pPr>
            <a:r>
              <a:rPr sz="2000" b="1">
                <a:solidFill>
                  <a:srgbClr val="14202E"/>
                </a:solidFill>
                <a:latin typeface="Arial"/>
              </a:rPr>
              <a:t>Practice the script</a:t>
            </a:r>
          </a:p>
          <a:p>
            <a:pPr algn="l">
              <a:lnSpc>
                <a:spcPct val="100000"/>
              </a:lnSpc>
            </a:pPr>
            <a:r>
              <a:rPr sz="1600" b="0">
                <a:solidFill>
                  <a:srgbClr val="4A5868"/>
                </a:solidFill>
                <a:latin typeface="Arial"/>
              </a:rPr>
              <a:t>View → Notes. Read it aloud with a timer. Stay under 3 minutes.</a:t>
            </a:r>
          </a:p>
        </p:txBody>
      </p:sp>
      <p:sp>
        <p:nvSpPr>
          <p:cNvPr id="29" name="EXEMPT_HOWTO"/>
          <p:cNvSpPr txBox="1"/>
          <p:nvPr/>
        </p:nvSpPr>
        <p:spPr>
          <a:xfrm>
            <a:off x="411480" y="6080760"/>
            <a:ext cx="11368735" cy="365760"/>
          </a:xfrm>
          <a:prstGeom prst="rect">
            <a:avLst/>
          </a:prstGeom>
          <a:noFill/>
        </p:spPr>
        <p:txBody>
          <a:bodyPr wrap="square" anchor="t" lIns="0" rIns="0" tIns="0" bIns="0">
            <a:spAutoFit/>
          </a:bodyPr>
          <a:lstStyle/>
          <a:p>
            <a:pPr algn="l">
              <a:lnSpc>
                <a:spcPct val="100000"/>
              </a:lnSpc>
            </a:pPr>
            <a:r>
              <a:rPr sz="1800" b="1">
                <a:solidFill>
                  <a:srgbClr val="C2410C"/>
                </a:solidFill>
                <a:latin typeface="Arial"/>
              </a:rPr>
              <a:t>Only edit YOUR part. Delete every slide marked HELPER before presenting.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Eight parts · 3 minutes each</a:t>
            </a:r>
          </a:p>
        </p:txBody>
      </p:sp>
      <p:sp>
        <p:nvSpPr>
          <p:cNvPr id="4" name="Rectangle 3"/>
          <p:cNvSpPr/>
          <p:nvPr/>
        </p:nvSpPr>
        <p:spPr>
          <a:xfrm>
            <a:off x="41148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1</a:t>
            </a:r>
          </a:p>
        </p:txBody>
      </p:sp>
      <p:sp>
        <p:nvSpPr>
          <p:cNvPr id="6" name="TextBox 5"/>
          <p:cNvSpPr txBox="1"/>
          <p:nvPr/>
        </p:nvSpPr>
        <p:spPr>
          <a:xfrm>
            <a:off x="137160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 &amp; Delete</a:t>
            </a:r>
          </a:p>
        </p:txBody>
      </p:sp>
      <p:sp>
        <p:nvSpPr>
          <p:cNvPr id="7" name="Rectangle 6"/>
          <p:cNvSpPr/>
          <p:nvPr/>
        </p:nvSpPr>
        <p:spPr>
          <a:xfrm>
            <a:off x="41148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2</a:t>
            </a:r>
          </a:p>
        </p:txBody>
      </p:sp>
      <p:sp>
        <p:nvSpPr>
          <p:cNvPr id="9" name="TextBox 8"/>
          <p:cNvSpPr txBox="1"/>
          <p:nvPr/>
        </p:nvSpPr>
        <p:spPr>
          <a:xfrm>
            <a:off x="137160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Find, Replace &amp; Update</a:t>
            </a:r>
          </a:p>
        </p:txBody>
      </p:sp>
      <p:sp>
        <p:nvSpPr>
          <p:cNvPr id="10" name="Rectangle 9"/>
          <p:cNvSpPr/>
          <p:nvPr/>
        </p:nvSpPr>
        <p:spPr>
          <a:xfrm>
            <a:off x="41148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3</a:t>
            </a:r>
          </a:p>
        </p:txBody>
      </p:sp>
      <p:sp>
        <p:nvSpPr>
          <p:cNvPr id="12" name="TextBox 11"/>
          <p:cNvSpPr txBox="1"/>
          <p:nvPr/>
        </p:nvSpPr>
        <p:spPr>
          <a:xfrm>
            <a:off x="137160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Comparison Operators</a:t>
            </a:r>
          </a:p>
        </p:txBody>
      </p:sp>
      <p:sp>
        <p:nvSpPr>
          <p:cNvPr id="13" name="Rectangle 12"/>
          <p:cNvSpPr/>
          <p:nvPr/>
        </p:nvSpPr>
        <p:spPr>
          <a:xfrm>
            <a:off x="41148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4</a:t>
            </a:r>
          </a:p>
        </p:txBody>
      </p:sp>
      <p:sp>
        <p:nvSpPr>
          <p:cNvPr id="15" name="TextBox 14"/>
          <p:cNvSpPr txBox="1"/>
          <p:nvPr/>
        </p:nvSpPr>
        <p:spPr>
          <a:xfrm>
            <a:off x="137160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$in, $or, $not</a:t>
            </a:r>
          </a:p>
        </p:txBody>
      </p:sp>
      <p:sp>
        <p:nvSpPr>
          <p:cNvPr id="16" name="Rectangle 15"/>
          <p:cNvSpPr/>
          <p:nvPr/>
        </p:nvSpPr>
        <p:spPr>
          <a:xfrm>
            <a:off x="6172200" y="1097280"/>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09360" y="1097280"/>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5</a:t>
            </a:r>
          </a:p>
        </p:txBody>
      </p:sp>
      <p:sp>
        <p:nvSpPr>
          <p:cNvPr id="18" name="TextBox 17"/>
          <p:cNvSpPr txBox="1"/>
          <p:nvPr/>
        </p:nvSpPr>
        <p:spPr>
          <a:xfrm>
            <a:off x="7132320" y="1097280"/>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Querying Arrays</a:t>
            </a:r>
          </a:p>
        </p:txBody>
      </p:sp>
      <p:sp>
        <p:nvSpPr>
          <p:cNvPr id="19" name="Rectangle 18"/>
          <p:cNvSpPr/>
          <p:nvPr/>
        </p:nvSpPr>
        <p:spPr>
          <a:xfrm>
            <a:off x="6172200" y="2359152"/>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2359152"/>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6</a:t>
            </a:r>
          </a:p>
        </p:txBody>
      </p:sp>
      <p:sp>
        <p:nvSpPr>
          <p:cNvPr id="21" name="TextBox 20"/>
          <p:cNvSpPr txBox="1"/>
          <p:nvPr/>
        </p:nvSpPr>
        <p:spPr>
          <a:xfrm>
            <a:off x="7132320" y="2359152"/>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$slice &amp; Embedded Documents</a:t>
            </a:r>
          </a:p>
        </p:txBody>
      </p:sp>
      <p:sp>
        <p:nvSpPr>
          <p:cNvPr id="22" name="Rectangle 21"/>
          <p:cNvSpPr/>
          <p:nvPr/>
        </p:nvSpPr>
        <p:spPr>
          <a:xfrm>
            <a:off x="6172200" y="3621024"/>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09360" y="3621024"/>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7</a:t>
            </a:r>
          </a:p>
        </p:txBody>
      </p:sp>
      <p:sp>
        <p:nvSpPr>
          <p:cNvPr id="24" name="TextBox 23"/>
          <p:cNvSpPr txBox="1"/>
          <p:nvPr/>
        </p:nvSpPr>
        <p:spPr>
          <a:xfrm>
            <a:off x="7132320" y="3621024"/>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Computing &amp; Implementation Types</a:t>
            </a:r>
          </a:p>
        </p:txBody>
      </p:sp>
      <p:sp>
        <p:nvSpPr>
          <p:cNvPr id="25" name="Rectangle 24"/>
          <p:cNvSpPr/>
          <p:nvPr/>
        </p:nvSpPr>
        <p:spPr>
          <a:xfrm>
            <a:off x="6172200" y="4882896"/>
            <a:ext cx="5577840" cy="1143000"/>
          </a:xfrm>
          <a:prstGeom prst="rect">
            <a:avLst/>
          </a:prstGeom>
          <a:solidFill>
            <a:srgbClr val="FFFFFF"/>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09360" y="4882896"/>
            <a:ext cx="822960" cy="1143000"/>
          </a:xfrm>
          <a:prstGeom prst="rect">
            <a:avLst/>
          </a:prstGeom>
          <a:noFill/>
        </p:spPr>
        <p:txBody>
          <a:bodyPr wrap="square" anchor="ctr" lIns="0" rIns="0" tIns="0" bIns="0">
            <a:spAutoFit/>
          </a:bodyPr>
          <a:lstStyle/>
          <a:p>
            <a:pPr algn="l">
              <a:lnSpc>
                <a:spcPct val="100000"/>
              </a:lnSpc>
            </a:pPr>
            <a:r>
              <a:rPr sz="4000" b="1">
                <a:solidFill>
                  <a:srgbClr val="C2410C"/>
                </a:solidFill>
                <a:latin typeface="Arial"/>
              </a:rPr>
              <a:t>8</a:t>
            </a:r>
          </a:p>
        </p:txBody>
      </p:sp>
      <p:sp>
        <p:nvSpPr>
          <p:cNvPr id="27" name="TextBox 26"/>
          <p:cNvSpPr txBox="1"/>
          <p:nvPr/>
        </p:nvSpPr>
        <p:spPr>
          <a:xfrm>
            <a:off x="7132320" y="4882896"/>
            <a:ext cx="4526280" cy="1143000"/>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 Service Types &amp; Benefits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1</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Create &amp; Delete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insertOne · insertMany · deleteOne · deleteMany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“Documents in, documents out.”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14 slides · about 1 min 55 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insertOne adds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db.movies.insertOne({"title" : "Stand by Me"})</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 ObjectId('6ae590867b507d5b5c544ca7') }</a:t>
            </a:r>
          </a:p>
        </p:txBody>
      </p:sp>
      <p:sp>
        <p:nvSpPr>
          <p:cNvPr id="8" name="Rectangle 7"/>
          <p:cNvSpPr/>
          <p:nvPr/>
        </p:nvSpPr>
        <p:spPr>
          <a:xfrm>
            <a:off x="411480" y="4120895"/>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57784" y="42123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 { </a:t>
            </a:r>
            <a:r>
              <a:rPr sz="2800" b="1" u="sng">
                <a:solidFill>
                  <a:srgbClr val="FFD27F"/>
                </a:solidFill>
                <a:latin typeface="Courier New"/>
              </a:rPr>
              <a:t>title: 'Stand by Me'</a:t>
            </a:r>
            <a:r>
              <a:rPr sz="2800" b="0">
                <a:solidFill>
                  <a:srgbClr val="9FE0C9"/>
                </a:solidFill>
                <a:latin typeface="Courier New"/>
              </a:rPr>
              <a:t> } ]</a:t>
            </a:r>
          </a:p>
        </p:txBody>
      </p:sp>
      <p:sp>
        <p:nvSpPr>
          <p:cNvPr id="10" name="Rectangle 9"/>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document in. MongoDB adds the _id.</a:t>
            </a:r>
          </a:p>
        </p:txBody>
      </p:sp>
      <p:sp>
        <p:nvSpPr>
          <p:cNvPr id="11"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2"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3"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2 of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 {"_id" : 0})</a:t>
            </a:r>
          </a:p>
          <a:p>
            <a:pPr algn="l">
              <a:lnSpc>
                <a:spcPts val="3200"/>
              </a:lnSpc>
            </a:pPr>
            <a:r>
              <a:rPr sz="2800" b="0">
                <a:solidFill>
                  <a:srgbClr val="9FE0C9"/>
                </a:solidFill>
                <a:latin typeface="Courier New"/>
              </a:rPr>
              <a:t>[ { title: 'Stand by Me' }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3 of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5059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9499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db.movies.insertMany([{"title" : "Ghostbusters"},</a:t>
            </a:r>
          </a:p>
          <a:p>
            <a:pPr algn="l">
              <a:lnSpc>
                <a:spcPts val="3200"/>
              </a:lnSpc>
            </a:pPr>
            <a:r>
              <a:rPr sz="2800" b="0">
                <a:solidFill>
                  <a:srgbClr val="E6ECF2"/>
                </a:solidFill>
                <a:latin typeface="Courier New"/>
              </a:rPr>
              <a:t>  {"title" : "E.T."},</a:t>
            </a:r>
          </a:p>
          <a:p>
            <a:pPr algn="l">
              <a:lnSpc>
                <a:spcPts val="3200"/>
              </a:lnSpc>
            </a:pPr>
            <a:r>
              <a:rPr sz="2800" b="0">
                <a:solidFill>
                  <a:srgbClr val="E6ECF2"/>
                </a:solidFill>
                <a:latin typeface="Courier New"/>
              </a:rPr>
              <a:t>  {"title" : "Blade Runner"}])</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acknowledged: true,</a:t>
            </a:r>
          </a:p>
          <a:p>
            <a:pPr algn="l">
              <a:lnSpc>
                <a:spcPts val="3200"/>
              </a:lnSpc>
            </a:pPr>
            <a:r>
              <a:rPr sz="2800" b="0">
                <a:solidFill>
                  <a:srgbClr val="9FE0C9"/>
                </a:solidFill>
                <a:latin typeface="Courier New"/>
              </a:rPr>
              <a:t>  insertedIds: {</a:t>
            </a:r>
          </a:p>
          <a:p>
            <a:pPr algn="l">
              <a:lnSpc>
                <a:spcPts val="3200"/>
              </a:lnSpc>
            </a:pPr>
            <a:r>
              <a:rPr sz="2800" b="0">
                <a:solidFill>
                  <a:srgbClr val="9FE0C9"/>
                </a:solidFill>
                <a:latin typeface="Courier New"/>
              </a:rPr>
              <a:t>    '0': ObjectId('6ae59088cd1d7692c9544ca7'),</a:t>
            </a:r>
          </a:p>
          <a:p>
            <a:pPr algn="l">
              <a:lnSpc>
                <a:spcPts val="3200"/>
              </a:lnSpc>
            </a:pPr>
            <a:r>
              <a:rPr sz="2800" b="0">
                <a:solidFill>
                  <a:srgbClr val="9FE0C9"/>
                </a:solidFill>
                <a:latin typeface="Courier New"/>
              </a:rPr>
              <a:t>    '1': ObjectId('6ae59088cd1d7692c9544ca8'),</a:t>
            </a:r>
          </a:p>
          <a:p>
            <a:pPr algn="l">
              <a:lnSpc>
                <a:spcPts val="3200"/>
              </a:lnSpc>
            </a:pPr>
            <a:r>
              <a:rPr sz="2800" b="0">
                <a:solidFill>
                  <a:srgbClr val="9FE0C9"/>
                </a:solidFill>
                <a:latin typeface="Courier New"/>
              </a:rPr>
              <a:t>    '2': ObjectId('6ae59088cd1d7692c9544ca9')</a:t>
            </a:r>
          </a:p>
          <a:p>
            <a:pPr algn="l">
              <a:lnSpc>
                <a:spcPts val="3200"/>
              </a:lnSpc>
            </a:pP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7"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4 of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insertMany adds several at once</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 {"_id" : 0})</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title: 'Stand by Me' },</a:t>
            </a:r>
          </a:p>
          <a:p>
            <a:pPr algn="l">
              <a:lnSpc>
                <a:spcPts val="3200"/>
              </a:lnSpc>
            </a:pPr>
            <a:r>
              <a:rPr sz="2800" b="0">
                <a:solidFill>
                  <a:srgbClr val="9FE0C9"/>
                </a:solidFill>
                <a:latin typeface="Courier New"/>
              </a:rPr>
              <a:t>  { </a:t>
            </a:r>
            <a:r>
              <a:rPr sz="2800" b="1" u="sng">
                <a:solidFill>
                  <a:srgbClr val="FFD27F"/>
                </a:solidFill>
                <a:latin typeface="Courier New"/>
              </a:rPr>
              <a:t>title: 'Ghostbusters'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'E.T.'</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title: 'Blade Runner'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Many documents, one command.</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5 of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8FA3B8"/>
                </a:solidFill>
                <a:latin typeface="Courier New"/>
              </a:rPr>
              <a:t>// no output: the collection is empty</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6 of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4246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4137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E6ECF2"/>
                </a:solidFill>
                <a:latin typeface="Courier New"/>
              </a:rPr>
              <a:t>  {"ordered" : false})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adbs_part1.movies index: _id_ dup key: {</a:t>
            </a:r>
          </a:p>
          <a:p>
            <a:pPr algn="l">
              <a:lnSpc>
                <a:spcPts val="3200"/>
              </a:lnSpc>
            </a:pPr>
            <a:r>
              <a:rPr sz="2800" b="0">
                <a:solidFill>
                  <a:srgbClr val="FFB4A8"/>
                </a:solidFill>
                <a:latin typeface="Courier New"/>
              </a:rPr>
              <a:t>_id: 4 }</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7 of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Unordered insertMany keeps going</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5, title: 'Scarface'</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Unordered: tries every document.</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8 of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db.ordered.find()</a:t>
            </a:r>
          </a:p>
          <a:p>
            <a:pPr algn="l">
              <a:lnSpc>
                <a:spcPts val="3200"/>
              </a:lnSpc>
            </a:pPr>
            <a:r>
              <a:rPr sz="2800" b="0">
                <a:solidFill>
                  <a:srgbClr val="8FA3B8"/>
                </a:solidFill>
                <a:latin typeface="Courier New"/>
              </a:rPr>
              <a:t>// no output: the collection is empty</a:t>
            </a:r>
          </a:p>
        </p:txBody>
      </p:sp>
      <p:sp>
        <p:nvSpPr>
          <p:cNvPr id="6" name="Rectangle 5"/>
          <p:cNvSpPr/>
          <p:nvPr/>
        </p:nvSpPr>
        <p:spPr>
          <a:xfrm>
            <a:off x="411480" y="2202688"/>
            <a:ext cx="11368735" cy="38404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294128"/>
            <a:ext cx="11149279" cy="3730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db.ordered.insertMany([</a:t>
            </a:r>
          </a:p>
          <a:p>
            <a:pPr algn="l">
              <a:lnSpc>
                <a:spcPts val="3200"/>
              </a:lnSpc>
            </a:pPr>
            <a:r>
              <a:rPr sz="2800" b="0">
                <a:solidFill>
                  <a:srgbClr val="E6ECF2"/>
                </a:solidFill>
                <a:latin typeface="Courier New"/>
              </a:rPr>
              <a:t>  {"_id" : 3, "title" : "Sixteen Candles"},</a:t>
            </a:r>
          </a:p>
          <a:p>
            <a:pPr algn="l">
              <a:lnSpc>
                <a:spcPts val="3200"/>
              </a:lnSpc>
            </a:pPr>
            <a:r>
              <a:rPr sz="2800" b="0">
                <a:solidFill>
                  <a:srgbClr val="E6ECF2"/>
                </a:solidFill>
                <a:latin typeface="Courier New"/>
              </a:rPr>
              <a:t>  {"_id" : 4, "title" : "The Terminator"},</a:t>
            </a:r>
          </a:p>
          <a:p>
            <a:pPr algn="l">
              <a:lnSpc>
                <a:spcPts val="3200"/>
              </a:lnSpc>
            </a:pPr>
            <a:r>
              <a:rPr sz="2800" b="0">
                <a:solidFill>
                  <a:srgbClr val="E6ECF2"/>
                </a:solidFill>
                <a:latin typeface="Courier New"/>
              </a:rPr>
              <a:t>  {"_id" : 4, "title" : "The Princess Bride"},</a:t>
            </a:r>
          </a:p>
          <a:p>
            <a:pPr algn="l">
              <a:lnSpc>
                <a:spcPts val="3200"/>
              </a:lnSpc>
            </a:pPr>
            <a:r>
              <a:rPr sz="2800" b="0">
                <a:solidFill>
                  <a:srgbClr val="E6ECF2"/>
                </a:solidFill>
                <a:latin typeface="Courier New"/>
              </a:rPr>
              <a:t>  {"_id" : 5, "title" : "Scarface"}])</a:t>
            </a:r>
          </a:p>
          <a:p>
            <a:pPr algn="l">
              <a:lnSpc>
                <a:spcPts val="3200"/>
              </a:lnSpc>
            </a:pPr>
            <a:r>
              <a:rPr sz="2800" b="0">
                <a:solidFill>
                  <a:srgbClr val="FFB4A8"/>
                </a:solidFill>
                <a:latin typeface="Courier New"/>
              </a:rPr>
              <a:t>MongoBulkWriteError: E11000 duplicate key error</a:t>
            </a:r>
          </a:p>
          <a:p>
            <a:pPr algn="l">
              <a:lnSpc>
                <a:spcPts val="3200"/>
              </a:lnSpc>
            </a:pPr>
            <a:r>
              <a:rPr sz="2800" b="0">
                <a:solidFill>
                  <a:srgbClr val="FFB4A8"/>
                </a:solidFill>
                <a:latin typeface="Courier New"/>
              </a:rPr>
              <a:t>collection: adbs_part1.ordered index: _id_ dup key:</a:t>
            </a:r>
          </a:p>
          <a:p>
            <a:pPr algn="l">
              <a:lnSpc>
                <a:spcPts val="3200"/>
              </a:lnSpc>
            </a:pPr>
            <a:r>
              <a:rPr sz="2800" b="0">
                <a:solidFill>
                  <a:srgbClr val="FFB4A8"/>
                </a:solidFill>
                <a:latin typeface="Courier New"/>
              </a:rPr>
              <a:t>{ _id: 4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9 of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Ordered insertMany stops at the error</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db.ordered.find()</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a:t>
            </a:r>
            <a:r>
              <a:rPr sz="2800" b="1" u="sng">
                <a:solidFill>
                  <a:srgbClr val="FFD27F"/>
                </a:solidFill>
                <a:latin typeface="Courier New"/>
              </a:rPr>
              <a:t>_id: 3, title: 'Sixteen Candles'</a:t>
            </a:r>
            <a:r>
              <a:rPr sz="2800" b="0">
                <a:solidFill>
                  <a:srgbClr val="9FE0C9"/>
                </a:solidFill>
                <a:latin typeface="Courier New"/>
              </a:rPr>
              <a:t> },</a:t>
            </a:r>
          </a:p>
          <a:p>
            <a:pPr algn="l">
              <a:lnSpc>
                <a:spcPts val="3200"/>
              </a:lnSpc>
            </a:pPr>
            <a:r>
              <a:rPr sz="2800" b="0">
                <a:solidFill>
                  <a:srgbClr val="9FE0C9"/>
                </a:solidFill>
                <a:latin typeface="Courier New"/>
              </a:rPr>
              <a:t>  { </a:t>
            </a:r>
            <a:r>
              <a:rPr sz="2800" b="1" u="sng">
                <a:solidFill>
                  <a:srgbClr val="FFD27F"/>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Ordered (the default): stops at the error.</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10 of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a:t>
            </a:r>
            <a:r>
              <a:rPr sz="2800" b="0" strike="sngStrike">
                <a:solidFill>
                  <a:srgbClr val="FFB4A8"/>
                </a:solidFill>
                <a:latin typeface="Courier New"/>
              </a:rPr>
              <a:t>_id: 4, title: 'The Terminator'</a:t>
            </a:r>
            <a:r>
              <a:rPr sz="2800" b="0">
                <a:solidFill>
                  <a:srgbClr val="9FE0C9"/>
                </a:solidFill>
                <a:latin typeface="Courier New"/>
              </a:rPr>
              <a:t>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4234688"/>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4326128"/>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db.movies.deleteOne({"_id" : 4})</a:t>
            </a:r>
          </a:p>
          <a:p>
            <a:pPr algn="l">
              <a:lnSpc>
                <a:spcPts val="3200"/>
              </a:lnSpc>
            </a:pPr>
            <a:r>
              <a:rPr sz="2800" b="0">
                <a:solidFill>
                  <a:srgbClr val="9FE0C9"/>
                </a:solidFill>
                <a:latin typeface="Courier New"/>
              </a:rPr>
              <a:t>{ acknowledged: true, deletedCount: 1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0"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11 of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deleteOne removes one document</a:t>
            </a:r>
          </a:p>
        </p:txBody>
      </p:sp>
      <p:sp>
        <p:nvSpPr>
          <p:cNvPr id="4" name="Rectangle 3"/>
          <p:cNvSpPr/>
          <p:nvPr/>
        </p:nvSpPr>
        <p:spPr>
          <a:xfrm>
            <a:off x="411480" y="1097280"/>
            <a:ext cx="11368735" cy="26212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5115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p>
          <a:p>
            <a:pPr algn="l">
              <a:lnSpc>
                <a:spcPts val="3200"/>
              </a:lnSpc>
            </a:pPr>
            <a:r>
              <a:rPr sz="2800" b="0">
                <a:solidFill>
                  <a:srgbClr val="8FA3B8"/>
                </a:solidFill>
                <a:latin typeface="Courier New"/>
              </a:rPr>
              <a:t>db.movies.find({"_id" : {"$in" : [3, 4, 5]}})</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3, title: 'Sixteen Candles' },</a:t>
            </a:r>
          </a:p>
          <a:p>
            <a:pPr algn="l">
              <a:lnSpc>
                <a:spcPts val="3200"/>
              </a:lnSpc>
            </a:pPr>
            <a:r>
              <a:rPr sz="2800" b="0">
                <a:solidFill>
                  <a:srgbClr val="9FE0C9"/>
                </a:solidFill>
                <a:latin typeface="Courier New"/>
              </a:rPr>
              <a:t>  { _id: 5, title: 'Scarface' }</a:t>
            </a:r>
          </a:p>
          <a:p>
            <a:pPr algn="l">
              <a:lnSpc>
                <a:spcPts val="3200"/>
              </a:lnSpc>
            </a:pPr>
            <a:r>
              <a:rPr sz="2800" b="0">
                <a:solidFill>
                  <a:srgbClr val="9FE0C9"/>
                </a:solidFill>
                <a:latin typeface="Courier New"/>
              </a:rPr>
              <a:t>]</a:t>
            </a:r>
          </a:p>
        </p:txBody>
      </p:sp>
      <p:sp>
        <p:nvSpPr>
          <p:cNvPr id="6" name="Rectangle 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deleteOne removes one.</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12 of 14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1  BEFORE</a:t>
            </a:r>
            <a:r>
              <a:rPr sz="2800" b="0">
                <a:solidFill>
                  <a:srgbClr val="8FA3B8"/>
                </a:solidFill>
                <a:latin typeface="Courier New"/>
              </a:rPr>
              <a:t>   db.movies.find()</a:t>
            </a:r>
          </a:p>
          <a:p>
            <a:pPr algn="l">
              <a:lnSpc>
                <a:spcPts val="3200"/>
              </a:lnSpc>
            </a:pPr>
            <a:r>
              <a:rPr sz="2800" b="0">
                <a:solidFill>
                  <a:srgbClr val="8FA3B8"/>
                </a:solidFill>
                <a:latin typeface="Courier New"/>
              </a:rPr>
              <a:t>// the handout's three movies</a:t>
            </a:r>
          </a:p>
          <a:p>
            <a:pPr algn="l">
              <a:lnSpc>
                <a:spcPts val="3200"/>
              </a:lnSpc>
            </a:pPr>
            <a:r>
              <a:rPr sz="2800" b="0">
                <a:solidFill>
                  <a:srgbClr val="9FE0C9"/>
                </a:solidFill>
                <a:latin typeface="Courier New"/>
              </a:rPr>
              <a:t>[</a:t>
            </a:r>
          </a:p>
          <a:p>
            <a:pPr algn="l">
              <a:lnSpc>
                <a:spcPts val="3200"/>
              </a:lnSpc>
            </a:pPr>
            <a:r>
              <a:rPr sz="2800" b="0">
                <a:solidFill>
                  <a:srgbClr val="9FE0C9"/>
                </a:solidFill>
                <a:latin typeface="Courier New"/>
              </a:rPr>
              <a:t>  { _id: 0, </a:t>
            </a:r>
            <a:r>
              <a:rPr sz="2800" b="0" strike="sngStrike">
                <a:solidFill>
                  <a:srgbClr val="FFB4A8"/>
                </a:solidFill>
                <a:latin typeface="Courier New"/>
              </a:rPr>
              <a:t>title: 'Top Gun'</a:t>
            </a:r>
            <a:r>
              <a:rPr sz="2800" b="0">
                <a:solidFill>
                  <a:srgbClr val="9FE0C9"/>
                </a:solidFill>
                <a:latin typeface="Courier New"/>
              </a:rPr>
              <a:t>, year: 1985 },</a:t>
            </a:r>
          </a:p>
          <a:p>
            <a:pPr algn="l">
              <a:lnSpc>
                <a:spcPts val="3200"/>
              </a:lnSpc>
            </a:pPr>
            <a:r>
              <a:rPr sz="2800" b="0">
                <a:solidFill>
                  <a:srgbClr val="9FE0C9"/>
                </a:solidFill>
                <a:latin typeface="Courier New"/>
              </a:rPr>
              <a:t>  { _id: 1, </a:t>
            </a:r>
            <a:r>
              <a:rPr sz="2800" b="0" strike="sngStrike">
                <a:solidFill>
                  <a:srgbClr val="FFB4A8"/>
                </a:solidFill>
                <a:latin typeface="Courier New"/>
              </a:rPr>
              <a:t>title: 'Back to the Future'</a:t>
            </a:r>
            <a:r>
              <a:rPr sz="2800" b="0">
                <a:solidFill>
                  <a:srgbClr val="9FE0C9"/>
                </a:solidFill>
                <a:latin typeface="Courier New"/>
              </a:rPr>
              <a:t>,</a:t>
            </a:r>
          </a:p>
          <a:p>
            <a:pPr algn="l">
              <a:lnSpc>
                <a:spcPts val="3200"/>
              </a:lnSpc>
            </a:pPr>
            <a:r>
              <a:rPr sz="2800" b="0">
                <a:solidFill>
                  <a:srgbClr val="9FE0C9"/>
                </a:solidFill>
                <a:latin typeface="Courier New"/>
              </a:rPr>
              <a:t>    year: 1985 },</a:t>
            </a:r>
          </a:p>
          <a:p>
            <a:pPr algn="l">
              <a:lnSpc>
                <a:spcPts val="3200"/>
              </a:lnSpc>
            </a:pPr>
            <a:r>
              <a:rPr sz="2800" b="0">
                <a:solidFill>
                  <a:srgbClr val="9FE0C9"/>
                </a:solidFill>
                <a:latin typeface="Courier New"/>
              </a:rPr>
              <a:t>  { _id: 3, title: 'Sixteen Candles', year: 1984 }</a:t>
            </a:r>
          </a:p>
          <a:p>
            <a:pPr algn="l">
              <a:lnSpc>
                <a:spcPts val="3200"/>
              </a:lnSpc>
            </a:pPr>
            <a:r>
              <a:rPr sz="2800" b="0">
                <a:solidFill>
                  <a:srgbClr val="9FE0C9"/>
                </a:solidFill>
                <a:latin typeface="Courier New"/>
              </a:rPr>
              <a:t>]</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8"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13 of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deleteMany removes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 → REPLY</a:t>
            </a:r>
          </a:p>
          <a:p>
            <a:pPr algn="l">
              <a:lnSpc>
                <a:spcPts val="3200"/>
              </a:lnSpc>
            </a:pPr>
            <a:r>
              <a:rPr sz="2800" b="0">
                <a:solidFill>
                  <a:srgbClr val="E6ECF2"/>
                </a:solidFill>
                <a:latin typeface="Courier New"/>
              </a:rPr>
              <a:t>db.movies.deleteMany({"year" : 1985})</a:t>
            </a:r>
          </a:p>
          <a:p>
            <a:pPr algn="l">
              <a:lnSpc>
                <a:spcPts val="3200"/>
              </a:lnSpc>
            </a:pPr>
            <a:r>
              <a:rPr sz="2800" b="0">
                <a:solidFill>
                  <a:srgbClr val="9FE0C9"/>
                </a:solidFill>
                <a:latin typeface="Courier New"/>
              </a:rPr>
              <a:t>{ acknowledged: true, deletedCount: 2 }</a:t>
            </a:r>
          </a:p>
        </p:txBody>
      </p:sp>
      <p:sp>
        <p:nvSpPr>
          <p:cNvPr id="6" name="Rectangle 5"/>
          <p:cNvSpPr/>
          <p:nvPr/>
        </p:nvSpPr>
        <p:spPr>
          <a:xfrm>
            <a:off x="411480" y="2609088"/>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57784" y="2700528"/>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3  AFTER</a:t>
            </a:r>
            <a:r>
              <a:rPr sz="2800" b="0">
                <a:solidFill>
                  <a:srgbClr val="8FA3B8"/>
                </a:solidFill>
                <a:latin typeface="Courier New"/>
              </a:rPr>
              <a:t>   db.movies.find()</a:t>
            </a:r>
          </a:p>
          <a:p>
            <a:pPr algn="l">
              <a:lnSpc>
                <a:spcPts val="3200"/>
              </a:lnSpc>
            </a:pPr>
            <a:r>
              <a:rPr sz="2800" b="0">
                <a:solidFill>
                  <a:srgbClr val="9FE0C9"/>
                </a:solidFill>
                <a:latin typeface="Courier New"/>
              </a:rPr>
              <a:t>[ { _id: 3, title: 'Sixteen Candles', year: 1984 } ]</a:t>
            </a:r>
          </a:p>
        </p:txBody>
      </p:sp>
      <p:sp>
        <p:nvSpPr>
          <p:cNvPr id="8" name="Rectangle 7"/>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deleteMany removes every match.</a:t>
            </a:r>
          </a:p>
        </p:txBody>
      </p:sp>
      <p:sp>
        <p:nvSpPr>
          <p:cNvPr id="9"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10" name="EXEMPT_FOOTER"/>
          <p:cNvSpPr txBox="1"/>
          <p:nvPr/>
        </p:nvSpPr>
        <p:spPr>
          <a:xfrm>
            <a:off x="5577840" y="6382512"/>
            <a:ext cx="2834640" cy="365760"/>
          </a:xfrm>
          <a:prstGeom prst="rect">
            <a:avLst/>
          </a:prstGeom>
          <a:noFill/>
        </p:spPr>
        <p:txBody>
          <a:bodyPr wrap="square" anchor="t" lIns="0" rIns="0" tIns="0" bIns="0">
            <a:spAutoFit/>
          </a:bodyPr>
          <a:lstStyle/>
          <a:p>
            <a:pPr algn="ctr">
              <a:lnSpc>
                <a:spcPct val="100000"/>
              </a:lnSpc>
            </a:pPr>
            <a:r>
              <a:rPr sz="1400" b="0">
                <a:solidFill>
                  <a:srgbClr val="0B6E61"/>
                </a:solidFill>
                <a:latin typeface="Arial"/>
              </a:rPr>
              <a:t>Real output · MongoDB 8.0.4</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1 · 14 of 14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2</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Find, Replace &amp; Update</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findOne · replaceOne · updateOne · updateMany</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“Find it first. Then change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21 slides · about 2 min 08 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2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adbs_part2</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db.users.insertOne({"_id" : ObjectId("4b2b9f67a1f631733d917a7a"),</a:t>
            </a:r>
          </a:p>
          <a:p>
            <a:pPr algn="l">
              <a:lnSpc>
                <a:spcPct val="100000"/>
              </a:lnSpc>
            </a:pPr>
            <a:r>
              <a:rPr sz="2000" b="0">
                <a:solidFill>
                  <a:srgbClr val="E6ECF2"/>
                </a:solidFill>
                <a:latin typeface="Courier New"/>
              </a:rPr>
              <a:t>  "name" : "Joe", "friends" : 32, "enemies" : 2})</a:t>
            </a:r>
          </a:p>
          <a:p>
            <a:pPr algn="l">
              <a:lnSpc>
                <a:spcPct val="100000"/>
              </a:lnSpc>
            </a:pPr>
            <a:r>
              <a:rPr sz="2000" b="0">
                <a:solidFill>
                  <a:srgbClr val="E6ECF2"/>
                </a:solidFill>
                <a:latin typeface="Courier New"/>
              </a:rPr>
              <a:t>db.users.insertOne({"_id" : ObjectId("4b253b067525f35f94b60a31"),</a:t>
            </a:r>
          </a:p>
          <a:p>
            <a:pPr algn="l">
              <a:lnSpc>
                <a:spcPct val="100000"/>
              </a:lnSpc>
            </a:pPr>
            <a:r>
              <a:rPr sz="2000" b="0">
                <a:solidFill>
                  <a:srgbClr val="E6ECF2"/>
                </a:solidFill>
                <a:latin typeface="Courier New"/>
              </a:rPr>
              <a:t>  "name" : "John", "age" : 24, "sex" : "male", "location" : "Taytay"})</a:t>
            </a:r>
          </a:p>
          <a:p>
            <a:pPr algn="l">
              <a:lnSpc>
                <a:spcPct val="100000"/>
              </a:lnSpc>
            </a:pPr>
            <a:r>
              <a:rPr sz="2000" b="0">
                <a:solidFill>
                  <a:srgbClr val="E6ECF2"/>
                </a:solidFill>
                <a:latin typeface="Courier New"/>
              </a:rPr>
              <a:t>db.books.insertOne({"_id" : ObjectId("4b253b067525f35f94b60a31"),</a:t>
            </a:r>
          </a:p>
          <a:p>
            <a:pPr algn="l">
              <a:lnSpc>
                <a:spcPct val="100000"/>
              </a:lnSpc>
            </a:pPr>
            <a:r>
              <a:rPr sz="2000" b="0">
                <a:solidFill>
                  <a:srgbClr val="E6ECF2"/>
                </a:solidFill>
                <a:latin typeface="Courier New"/>
              </a:rPr>
              <a:t>  "title" : "MongoDB-2019",</a:t>
            </a:r>
          </a:p>
          <a:p>
            <a:pPr algn="l">
              <a:lnSpc>
                <a:spcPct val="100000"/>
              </a:lnSpc>
            </a:pPr>
            <a:r>
              <a:rPr sz="2000" b="0">
                <a:solidFill>
                  <a:srgbClr val="E6ECF2"/>
                </a:solidFill>
                <a:latin typeface="Courier New"/>
              </a:rPr>
              <a:t>  "author" : {"name" : "Nicole", "email" : "Nic@example.com"}})</a:t>
            </a:r>
          </a:p>
          <a:p>
            <a:pPr algn="l">
              <a:lnSpc>
                <a:spcPct val="100000"/>
              </a:lnSpc>
            </a:pPr>
            <a:r>
              <a:rPr sz="2000" b="0">
                <a:solidFill>
                  <a:srgbClr val="E6ECF2"/>
                </a:solidFill>
                <a:latin typeface="Courier New"/>
              </a:rPr>
              <a:t>db.users.insertMany([{"_id" : 1, "birthday" : "10/13/1978"},</a:t>
            </a:r>
          </a:p>
          <a:p>
            <a:pPr algn="l">
              <a:lnSpc>
                <a:spcPct val="100000"/>
              </a:lnSpc>
            </a:pPr>
            <a:r>
              <a:rPr sz="2000" b="0">
                <a:solidFill>
                  <a:srgbClr val="E6ECF2"/>
                </a:solidFill>
                <a:latin typeface="Courier New"/>
              </a:rPr>
              <a:t>  {"_id" : 2, "birthday" : "10/13/1978"},</a:t>
            </a:r>
          </a:p>
          <a:p>
            <a:pPr algn="l">
              <a:lnSpc>
                <a:spcPct val="100000"/>
              </a:lnSpc>
            </a:pPr>
            <a:r>
              <a:rPr sz="2000" b="0">
                <a:solidFill>
                  <a:srgbClr val="E6ECF2"/>
                </a:solidFill>
                <a:latin typeface="Courier New"/>
              </a:rPr>
              <a:t>  {"_id" : 3, "birthday" : "10/13/1978"}])</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findOne returns one document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db.users.findOne({"name" : "Joe"})</a:t>
            </a:r>
          </a:p>
        </p:txBody>
      </p:sp>
      <p:sp>
        <p:nvSpPr>
          <p:cNvPr id="6" name="EXEMPT_PASTE"/>
          <p:cNvSpPr/>
          <p:nvPr/>
        </p:nvSpPr>
        <p:spPr>
          <a:xfrm>
            <a:off x="411480" y="2202688"/>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findOne brings back one document.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 of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3 of 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Rectangle 3"/>
          <p:cNvSpPr/>
          <p:nvPr/>
        </p:nvSpPr>
        <p:spPr>
          <a:xfrm>
            <a:off x="411480" y="1097280"/>
            <a:ext cx="11368735" cy="3434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33243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var Joe = db.users.findOne({"name" : "Joe"});</a:t>
            </a:r>
          </a:p>
          <a:p>
            <a:pPr algn="l">
              <a:lnSpc>
                <a:spcPts val="3200"/>
              </a:lnSpc>
            </a:pPr>
            <a:r>
              <a:rPr sz="2800" b="0">
                <a:solidFill>
                  <a:srgbClr val="E6ECF2"/>
                </a:solidFill>
                <a:latin typeface="Courier New"/>
              </a:rPr>
              <a:t>Joe.relationships = {"friends" : Joe.friends,</a:t>
            </a:r>
          </a:p>
          <a:p>
            <a:pPr algn="l">
              <a:lnSpc>
                <a:spcPts val="3200"/>
              </a:lnSpc>
            </a:pPr>
            <a:r>
              <a:rPr sz="2800" b="0">
                <a:solidFill>
                  <a:srgbClr val="E6ECF2"/>
                </a:solidFill>
                <a:latin typeface="Courier New"/>
              </a:rPr>
              <a:t>  "enemies" : Joe.enemies};</a:t>
            </a:r>
          </a:p>
          <a:p>
            <a:pPr algn="l">
              <a:lnSpc>
                <a:spcPts val="3200"/>
              </a:lnSpc>
            </a:pPr>
            <a:r>
              <a:rPr sz="2800" b="0">
                <a:solidFill>
                  <a:srgbClr val="E6ECF2"/>
                </a:solidFill>
                <a:latin typeface="Courier New"/>
              </a:rPr>
              <a:t>Joe.username = Joe.name;</a:t>
            </a:r>
          </a:p>
          <a:p>
            <a:pPr algn="l">
              <a:lnSpc>
                <a:spcPts val="3200"/>
              </a:lnSpc>
            </a:pPr>
            <a:r>
              <a:rPr sz="2800" b="0">
                <a:solidFill>
                  <a:srgbClr val="E6ECF2"/>
                </a:solidFill>
                <a:latin typeface="Courier New"/>
              </a:rPr>
              <a:t>delete Joe.friends; delete Joe.enemies;</a:t>
            </a:r>
          </a:p>
          <a:p>
            <a:pPr algn="l">
              <a:lnSpc>
                <a:spcPts val="3200"/>
              </a:lnSpc>
            </a:pPr>
            <a:r>
              <a:rPr sz="2800" b="0">
                <a:solidFill>
                  <a:srgbClr val="E6ECF2"/>
                </a:solidFill>
                <a:latin typeface="Courier New"/>
              </a:rPr>
              <a:t>delete Joe.name;</a:t>
            </a:r>
          </a:p>
          <a:p>
            <a:pPr algn="l">
              <a:lnSpc>
                <a:spcPts val="3200"/>
              </a:lnSpc>
            </a:pPr>
            <a:r>
              <a:rPr sz="2800" b="0">
                <a:solidFill>
                  <a:srgbClr val="E6ECF2"/>
                </a:solidFill>
                <a:latin typeface="Courier New"/>
              </a:rPr>
              <a:t>db.users.replaceOne({"name" : "Joe"}, Joe)</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REPLY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4 of 21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5 of 21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replaceOne swaps the whole document</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db.users.findOne({"username" : "Joe"})</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replaceOne replaces everything.</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p.1-2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6 of 21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7 of 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"Green Eggs and Ham"}})</a:t>
            </a:r>
          </a:p>
        </p:txBody>
      </p:sp>
      <p:sp>
        <p:nvSpPr>
          <p:cNvPr id="6" name="EXEMPT_PASTE"/>
          <p:cNvSpPr/>
          <p:nvPr/>
        </p:nvSpPr>
        <p:spPr>
          <a:xfrm>
            <a:off x="411480" y="3015487"/>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8 of 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adds or changes a field</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$set: add it or change it.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9 of 21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10 of 21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Rectangle 3"/>
          <p:cNvSpPr/>
          <p:nvPr/>
        </p:nvSpPr>
        <p:spPr>
          <a:xfrm>
            <a:off x="411480" y="1097280"/>
            <a:ext cx="11368735" cy="22148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1051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{"$set" : {"favorite book" :</a:t>
            </a:r>
          </a:p>
          <a:p>
            <a:pPr algn="l">
              <a:lnSpc>
                <a:spcPts val="3200"/>
              </a:lnSpc>
            </a:pPr>
            <a:r>
              <a:rPr sz="2800" b="0">
                <a:solidFill>
                  <a:srgbClr val="E6ECF2"/>
                </a:solidFill>
                <a:latin typeface="Courier New"/>
              </a:rPr>
              <a:t>  ["Cat's Cradle", "Foundation Trilogy",</a:t>
            </a:r>
          </a:p>
          <a:p>
            <a:pPr algn="l">
              <a:lnSpc>
                <a:spcPts val="3200"/>
              </a:lnSpc>
            </a:pPr>
            <a:r>
              <a:rPr sz="2800" b="0">
                <a:solidFill>
                  <a:srgbClr val="E6ECF2"/>
                </a:solidFill>
                <a:latin typeface="Courier New"/>
              </a:rPr>
              <a:t>   "Ender's Game"]}})</a:t>
            </a:r>
          </a:p>
        </p:txBody>
      </p:sp>
      <p:sp>
        <p:nvSpPr>
          <p:cNvPr id="6" name="EXEMPT_PASTE"/>
          <p:cNvSpPr/>
          <p:nvPr/>
        </p:nvSpPr>
        <p:spPr>
          <a:xfrm>
            <a:off x="411480" y="34218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11 of 21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can change the type</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Text becomes a list.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12 of 21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13 of 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db.users.updateOne({"name" : "John"},</a:t>
            </a:r>
          </a:p>
          <a:p>
            <a:pPr algn="l">
              <a:lnSpc>
                <a:spcPts val="3200"/>
              </a:lnSpc>
            </a:pPr>
            <a:r>
              <a:rPr sz="2800" b="0">
                <a:solidFill>
                  <a:srgbClr val="E6ECF2"/>
                </a:solidFill>
                <a:latin typeface="Courier New"/>
              </a:rPr>
              <a:t>  {"$unset" : {"favorite book" : 1}})</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14 of 21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$unset removes a field</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db.users.findOne({"name" : "John"},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$unset: the field is gone.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15 of 21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16 of 21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db.books.updateOne({"author.name" : "Nicole"},</a:t>
            </a:r>
          </a:p>
          <a:p>
            <a:pPr algn="l">
              <a:lnSpc>
                <a:spcPts val="3200"/>
              </a:lnSpc>
            </a:pPr>
            <a:r>
              <a:rPr sz="2800" b="0">
                <a:solidFill>
                  <a:srgbClr val="E6ECF2"/>
                </a:solidFill>
                <a:latin typeface="Courier New"/>
              </a:rPr>
              <a:t>  {"$set" : {"author.name" : "Nicole Tagayon"}})</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17 of 21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$set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db.books.findOne({}, {"_id" : 0})</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p.2</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18 of 21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19 of 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db.users.updateMany({"birthday" : "10/13/1978"},</a:t>
            </a:r>
          </a:p>
          <a:p>
            <a:pPr algn="l">
              <a:lnSpc>
                <a:spcPts val="3200"/>
              </a:lnSpc>
            </a:pPr>
            <a:r>
              <a:rPr sz="2800" b="0">
                <a:solidFill>
                  <a:srgbClr val="E6ECF2"/>
                </a:solidFill>
                <a:latin typeface="Courier New"/>
              </a:rPr>
              <a:t>  {"$set" : {"gift" : "Happy Birthday!"}})</a:t>
            </a:r>
          </a:p>
        </p:txBody>
      </p:sp>
      <p:sp>
        <p:nvSpPr>
          <p:cNvPr id="6" name="EXEMPT_PASTE"/>
          <p:cNvSpPr/>
          <p:nvPr/>
        </p:nvSpPr>
        <p:spPr>
          <a:xfrm>
            <a:off x="411480" y="26090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TextBox 6"/>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3  AFTER  →</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20 of 21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updateMany updates every match</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db.users.find({"birthday" : "10/13/1978"})</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One rule, every match.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2 · 21 of 21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3</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Comparison Operators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$lt · $lte · $gt · $gte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“The e means equal is allowed.”</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38 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3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adbs_part3</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db.users.insertMany([{"_id" : 1, "name" : "Ana", "age" : 17},</a:t>
            </a:r>
          </a:p>
          <a:p>
            <a:pPr algn="l">
              <a:lnSpc>
                <a:spcPct val="100000"/>
              </a:lnSpc>
            </a:pPr>
            <a:r>
              <a:rPr sz="2000" b="0">
                <a:solidFill>
                  <a:srgbClr val="E6ECF2"/>
                </a:solidFill>
                <a:latin typeface="Courier New"/>
              </a:rPr>
              <a:t>  {"_id" : 2, "name" : "Ben", "age" : 18},</a:t>
            </a:r>
          </a:p>
          <a:p>
            <a:pPr algn="l">
              <a:lnSpc>
                <a:spcPct val="100000"/>
              </a:lnSpc>
            </a:pPr>
            <a:r>
              <a:rPr sz="2000" b="0">
                <a:solidFill>
                  <a:srgbClr val="E6ECF2"/>
                </a:solidFill>
                <a:latin typeface="Courier New"/>
              </a:rPr>
              <a:t>  {"_id" : 3, "name" : "Cara", "age" : 24},</a:t>
            </a:r>
          </a:p>
          <a:p>
            <a:pPr algn="l">
              <a:lnSpc>
                <a:spcPct val="100000"/>
              </a:lnSpc>
            </a:pPr>
            <a:r>
              <a:rPr sz="2000" b="0">
                <a:solidFill>
                  <a:srgbClr val="E6ECF2"/>
                </a:solidFill>
                <a:latin typeface="Courier New"/>
              </a:rPr>
              <a:t>  {"_id" : 4, "name" : "Dan", "age" : 30},</a:t>
            </a:r>
          </a:p>
          <a:p>
            <a:pPr algn="l">
              <a:lnSpc>
                <a:spcPct val="100000"/>
              </a:lnSpc>
            </a:pPr>
            <a:r>
              <a:rPr sz="2000" b="0">
                <a:solidFill>
                  <a:srgbClr val="E6ECF2"/>
                </a:solidFill>
                <a:latin typeface="Courier New"/>
              </a:rPr>
              <a:t>  {"_id" : 5, "name" : "Eli", "age" : 31}])</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Four comparison operators</a:t>
            </a:r>
          </a:p>
        </p:txBody>
      </p:sp>
      <p:graphicFrame>
        <p:nvGraphicFramePr>
          <p:cNvPr id="4" name="Table 3"/>
          <p:cNvGraphicFramePr>
            <a:graphicFrameLocks noGrp="1"/>
          </p:cNvGraphicFramePr>
          <p:nvPr/>
        </p:nvGraphicFramePr>
        <p:xfrm>
          <a:off x="411480" y="1234439"/>
          <a:ext cx="11368735" cy="4352540"/>
        </p:xfrm>
        <a:graphic>
          <a:graphicData uri="http://schemas.openxmlformats.org/drawingml/2006/table">
            <a:tbl>
              <a:tblPr firstRow="1" bandRow="1">
                <a:tableStyleId>{5C22544A-7EE6-4342-B048-85BDC9FD1C3A}</a:tableStyleId>
              </a:tblPr>
              <a:tblGrid>
                <a:gridCol w="2743200"/>
                <a:gridCol w="5882335"/>
                <a:gridCol w="2743200"/>
              </a:tblGrid>
              <a:tr h="870508">
                <a:tc>
                  <a:txBody>
                    <a:bodyPr wrap="square" anchor="ctr" lIns="109728" rIns="109728" tIns="109728" bIns="109728"/>
                    <a:lstStyle/>
                    <a:p>
                      <a:pPr algn="l">
                        <a:lnSpc>
                          <a:spcPct val="100000"/>
                        </a:lnSpc>
                      </a:pPr>
                      <a:r>
                        <a:rPr sz="2800" b="1">
                          <a:solidFill>
                            <a:srgbClr val="FFFFFF"/>
                          </a:solidFill>
                          <a:latin typeface="Arial"/>
                        </a:rPr>
                        <a:t>Operator</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Means</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Symbol</a:t>
                      </a:r>
                    </a:p>
                  </a:txBody>
                  <a:tcPr>
                    <a:solidFill>
                      <a:srgbClr val="14202E"/>
                    </a:solidFill>
                  </a:tcPr>
                </a:tc>
              </a:tr>
              <a:tr h="870508">
                <a:tc>
                  <a:txBody>
                    <a:bodyPr wrap="square" anchor="ctr" lIns="109728" rIns="109728" tIns="109728" bIns="109728"/>
                    <a:lstStyle/>
                    <a:p>
                      <a:pPr algn="l">
                        <a:lnSpc>
                          <a:spcPct val="100000"/>
                        </a:lnSpc>
                      </a:pPr>
                      <a:r>
                        <a:rPr sz="3000" b="1">
                          <a:solidFill>
                            <a:srgbClr val="14202E"/>
                          </a:solidFill>
                          <a:latin typeface="Courier New"/>
                        </a:rPr>
                        <a:t>$lt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$lte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r h="870508">
                <a:tc>
                  <a:txBody>
                    <a:bodyPr wrap="square" anchor="ctr" lIns="109728" rIns="109728" tIns="109728" bIns="109728"/>
                    <a:lstStyle/>
                    <a:p>
                      <a:pPr algn="l">
                        <a:lnSpc>
                          <a:spcPct val="100000"/>
                        </a:lnSpc>
                      </a:pPr>
                      <a:r>
                        <a:rPr sz="3000" b="1">
                          <a:solidFill>
                            <a:srgbClr val="14202E"/>
                          </a:solidFill>
                          <a:latin typeface="Courier New"/>
                        </a:rPr>
                        <a:t>$gte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a:t>
                      </a:r>
                    </a:p>
                  </a:txBody>
                  <a:tcPr>
                    <a:solidFill>
                      <a:srgbClr val="FFF4E5"/>
                    </a:solidFill>
                  </a:tcPr>
                </a:tc>
                <a:tc>
                  <a:txBody>
                    <a:bodyPr wrap="square" anchor="ctr" lIns="109728" rIns="109728" tIns="109728" bIns="109728"/>
                    <a:lstStyle/>
                    <a:p>
                      <a:pPr algn="l">
                        <a:lnSpc>
                          <a:spcPct val="100000"/>
                        </a:lnSpc>
                      </a:pPr>
                      <a:r>
                        <a:rPr sz="3000" b="0">
                          <a:solidFill>
                            <a:srgbClr val="14202E"/>
                          </a:solidFill>
                          <a:latin typeface="Arial"/>
                        </a:rPr>
                        <a:t>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The e means equal is allowed.</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2 of 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3 of 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Our practice data: five users</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Ages 17, 18, 24, 30, 31.</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4 of 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 : 18}})</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14496"/>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059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{"$lte" : 18}})</a:t>
            </a:r>
          </a:p>
        </p:txBody>
      </p:sp>
      <p:sp>
        <p:nvSpPr>
          <p:cNvPr id="9" name="TextBox 8"/>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5 of 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$lt vs $lte at 18</a:t>
            </a:r>
          </a:p>
        </p:txBody>
      </p:sp>
      <p:sp>
        <p:nvSpPr>
          <p:cNvPr id="4" name="EXEMPT_PASTE"/>
          <p:cNvSpPr/>
          <p:nvPr/>
        </p:nvSpPr>
        <p:spPr>
          <a:xfrm>
            <a:off x="411480" y="1097280"/>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18 is out with $lt, in with $lte.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6 of 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 : 30}})</a:t>
            </a:r>
          </a:p>
        </p:txBody>
      </p:sp>
      <p:sp>
        <p:nvSpPr>
          <p:cNvPr id="6" name="EXEMPT_PASTE"/>
          <p:cNvSpPr/>
          <p:nvPr/>
        </p:nvSpPr>
        <p:spPr>
          <a:xfrm>
            <a:off x="411480" y="2202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3714496"/>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3805935"/>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30}})</a:t>
            </a:r>
          </a:p>
        </p:txBody>
      </p:sp>
      <p:sp>
        <p:nvSpPr>
          <p:cNvPr id="9" name="TextBox 8"/>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10"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11"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7 of 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$gt vs $gte at 30</a:t>
            </a:r>
          </a:p>
        </p:txBody>
      </p:sp>
      <p:sp>
        <p:nvSpPr>
          <p:cNvPr id="4" name="EXEMPT_PASTE"/>
          <p:cNvSpPr/>
          <p:nvPr/>
        </p:nvSpPr>
        <p:spPr>
          <a:xfrm>
            <a:off x="411480" y="1097280"/>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30 is out with $gt, in with $gte.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8 of 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Combine two: ages 18 to 30</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db.users.find({"age" : {"$gte" : 18, "$lte" : 30}})</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Two operators, one field, one range.</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3 · 9 of 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4</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$in, $or, $not</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$in · $or · $not</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“One field, many values. Many fields, any match.”</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22 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4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adbs_part4</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db.raffle.insertMany([{"_id" : 1, "ticket_no" : 725, "winner" : false},</a:t>
            </a:r>
          </a:p>
          <a:p>
            <a:pPr algn="l">
              <a:lnSpc>
                <a:spcPct val="100000"/>
              </a:lnSpc>
            </a:pPr>
            <a:r>
              <a:rPr sz="2000" b="0">
                <a:solidFill>
                  <a:srgbClr val="E6ECF2"/>
                </a:solidFill>
                <a:latin typeface="Courier New"/>
              </a:rPr>
              <a:t>  {"_id" : 2, "ticket_no" : 542, "winner" : false},</a:t>
            </a:r>
          </a:p>
          <a:p>
            <a:pPr algn="l">
              <a:lnSpc>
                <a:spcPct val="100000"/>
              </a:lnSpc>
            </a:pPr>
            <a:r>
              <a:rPr sz="2000" b="0">
                <a:solidFill>
                  <a:srgbClr val="E6ECF2"/>
                </a:solidFill>
                <a:latin typeface="Courier New"/>
              </a:rPr>
              <a:t>  {"_id" : 3, "ticket_no" : 390, "winner" : false},</a:t>
            </a:r>
          </a:p>
          <a:p>
            <a:pPr algn="l">
              <a:lnSpc>
                <a:spcPct val="100000"/>
              </a:lnSpc>
            </a:pPr>
            <a:r>
              <a:rPr sz="2000" b="0">
                <a:solidFill>
                  <a:srgbClr val="E6ECF2"/>
                </a:solidFill>
                <a:latin typeface="Courier New"/>
              </a:rPr>
              <a:t>  {"_id" : 4, "ticket_no" : 111, "winner" : true},</a:t>
            </a:r>
          </a:p>
          <a:p>
            <a:pPr algn="l">
              <a:lnSpc>
                <a:spcPct val="100000"/>
              </a:lnSpc>
            </a:pPr>
            <a:r>
              <a:rPr sz="2000" b="0">
                <a:solidFill>
                  <a:srgbClr val="E6ECF2"/>
                </a:solidFill>
                <a:latin typeface="Courier New"/>
              </a:rPr>
              <a:t>  {"_id" : 5, "ticket_no" : 222, "winner" : false}])</a:t>
            </a:r>
          </a:p>
          <a:p>
            <a:pPr algn="l">
              <a:lnSpc>
                <a:spcPct val="100000"/>
              </a:lnSpc>
            </a:pPr>
            <a:r>
              <a:rPr sz="2000" b="0">
                <a:solidFill>
                  <a:srgbClr val="E6ECF2"/>
                </a:solidFill>
                <a:latin typeface="Courier New"/>
              </a:rPr>
              <a:t>db.users.insertMany([{"_id" : 1, "name" : "Rhea", "salary" : 8000},</a:t>
            </a:r>
          </a:p>
          <a:p>
            <a:pPr algn="l">
              <a:lnSpc>
                <a:spcPct val="100000"/>
              </a:lnSpc>
            </a:pPr>
            <a:r>
              <a:rPr sz="2000" b="0">
                <a:solidFill>
                  <a:srgbClr val="E6ECF2"/>
                </a:solidFill>
                <a:latin typeface="Courier New"/>
              </a:rPr>
              <a:t>  {"_id" : 2, "name" : "Mark", "salary" : 10000},</a:t>
            </a:r>
          </a:p>
          <a:p>
            <a:pPr algn="l">
              <a:lnSpc>
                <a:spcPct val="100000"/>
              </a:lnSpc>
            </a:pPr>
            <a:r>
              <a:rPr sz="2000" b="0">
                <a:solidFill>
                  <a:srgbClr val="E6ECF2"/>
                </a:solidFill>
                <a:latin typeface="Courier New"/>
              </a:rPr>
              <a:t>  {"_id" : 3, "name" : "Liza", "salary" : 15000}])</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2 of 7</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the raffle</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Five tickets. Only 111 is a winner.</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3 of 7</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 many values for one key</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db.raffle.find({"ticket_no" :</a:t>
            </a:r>
          </a:p>
          <a:p>
            <a:pPr algn="l">
              <a:lnSpc>
                <a:spcPts val="3200"/>
              </a:lnSpc>
            </a:pPr>
            <a:r>
              <a:rPr sz="2800" b="0">
                <a:solidFill>
                  <a:srgbClr val="E6ECF2"/>
                </a:solidFill>
                <a:latin typeface="Courier New"/>
              </a:rPr>
              <a:t>  {"$in" : [725, 542, 390]}})</a:t>
            </a:r>
          </a:p>
        </p:txBody>
      </p:sp>
      <p:sp>
        <p:nvSpPr>
          <p:cNvPr id="6" name="EXEMPT_PASTE"/>
          <p:cNvSpPr/>
          <p:nvPr/>
        </p:nvSpPr>
        <p:spPr>
          <a:xfrm>
            <a:off x="411480" y="26090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$in is a guest list for one field.</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4 of 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$or: pass any one condition</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db.raffle.find({"$or" : [{"ticket_no" : 725},</a:t>
            </a:r>
          </a:p>
          <a:p>
            <a:pPr algn="l">
              <a:lnSpc>
                <a:spcPts val="3200"/>
              </a:lnSpc>
            </a:pPr>
            <a:r>
              <a:rPr sz="2800" b="0">
                <a:solidFill>
                  <a:srgbClr val="E6ECF2"/>
                </a:solidFill>
                <a:latin typeface="Courier New"/>
              </a:rPr>
              <a:t>  {"winner" : true}]})</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$or: pass any one test.</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5 of 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Practice data: three salaries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a:t>
            </a:r>
          </a:p>
        </p:txBody>
      </p:sp>
      <p:sp>
        <p:nvSpPr>
          <p:cNvPr id="6" name="EXEMPT_PASTE"/>
          <p:cNvSpPr/>
          <p:nvPr/>
        </p:nvSpPr>
        <p:spPr>
          <a:xfrm>
            <a:off x="411480" y="2202688"/>
            <a:ext cx="11368735" cy="26212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8,000 · 10,000 · 15,000 pesos.</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Practice data (ours) for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6 of 7</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$not: everything that does NOT match</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db.users.find({salary:</a:t>
            </a:r>
          </a:p>
          <a:p>
            <a:pPr algn="l">
              <a:lnSpc>
                <a:spcPts val="3200"/>
              </a:lnSpc>
            </a:pPr>
            <a:r>
              <a:rPr sz="2800" b="0">
                <a:solidFill>
                  <a:srgbClr val="E6ECF2"/>
                </a:solidFill>
                <a:latin typeface="Courier New"/>
              </a:rPr>
              <a:t>  {$not: {$gt: 10000}}}).pretty()</a:t>
            </a:r>
          </a:p>
        </p:txBody>
      </p:sp>
      <p:sp>
        <p:nvSpPr>
          <p:cNvPr id="6" name="EXEMPT_PASTE"/>
          <p:cNvSpPr/>
          <p:nvPr/>
        </p:nvSpPr>
        <p:spPr>
          <a:xfrm>
            <a:off x="411480" y="26090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$not flips the condition.</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p.3</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4 · 7 of 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5</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Querying Arrays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arrays · $all · key.index · $size</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“Arrays answer like single values.”</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26 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5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adbs_part5</a:t>
            </a:r>
          </a:p>
          <a:p>
            <a:pPr algn="l">
              <a:lnSpc>
                <a:spcPct val="100000"/>
              </a:lnSpc>
            </a:pPr>
            <a:r>
              <a:rPr sz="2000" b="0">
                <a:solidFill>
                  <a:srgbClr val="E6ECF2"/>
                </a:solidFill>
                <a:latin typeface="Courier New"/>
              </a:rPr>
              <a:t>db.dropDatabase()</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1  BEFORE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TextBox 4"/>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2  COMMAND  →</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2 of 9</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Rectangle 3"/>
          <p:cNvSpPr/>
          <p:nvPr/>
        </p:nvSpPr>
        <p:spPr>
          <a:xfrm>
            <a:off x="411480" y="1097280"/>
            <a:ext cx="11368735" cy="30276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2917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2  COMMAND</a:t>
            </a:r>
          </a:p>
          <a:p>
            <a:pPr algn="l">
              <a:lnSpc>
                <a:spcPts val="3200"/>
              </a:lnSpc>
            </a:pPr>
            <a:r>
              <a:rPr sz="2800" b="0">
                <a:solidFill>
                  <a:srgbClr val="E6ECF2"/>
                </a:solidFill>
                <a:latin typeface="Courier New"/>
              </a:rPr>
              <a:t>db.food.insertOne({"_id" : 1,</a:t>
            </a:r>
          </a:p>
          <a:p>
            <a:pPr algn="l">
              <a:lnSpc>
                <a:spcPts val="3200"/>
              </a:lnSpc>
            </a:pPr>
            <a:r>
              <a:rPr sz="2800" b="0">
                <a:solidFill>
                  <a:srgbClr val="E6ECF2"/>
                </a:solidFill>
                <a:latin typeface="Courier New"/>
              </a:rPr>
              <a:t>  "fruit" : ["apple", "banana", "peach"]})</a:t>
            </a:r>
          </a:p>
          <a:p>
            <a:pPr algn="l">
              <a:lnSpc>
                <a:spcPts val="3200"/>
              </a:lnSpc>
            </a:pPr>
            <a:r>
              <a:rPr sz="2800" b="0">
                <a:solidFill>
                  <a:srgbClr val="E6ECF2"/>
                </a:solidFill>
                <a:latin typeface="Courier New"/>
              </a:rPr>
              <a:t>db.food.insertOne({"_id" : 2,</a:t>
            </a:r>
          </a:p>
          <a:p>
            <a:pPr algn="l">
              <a:lnSpc>
                <a:spcPts val="3200"/>
              </a:lnSpc>
            </a:pPr>
            <a:r>
              <a:rPr sz="2800" b="0">
                <a:solidFill>
                  <a:srgbClr val="E6ECF2"/>
                </a:solidFill>
                <a:latin typeface="Courier New"/>
              </a:rPr>
              <a:t>  "fruit" : ["apple", "kumquat", "orange"]})</a:t>
            </a:r>
          </a:p>
          <a:p>
            <a:pPr algn="l">
              <a:lnSpc>
                <a:spcPts val="3200"/>
              </a:lnSpc>
            </a:pPr>
            <a:r>
              <a:rPr sz="2800" b="0">
                <a:solidFill>
                  <a:srgbClr val="E6ECF2"/>
                </a:solidFill>
                <a:latin typeface="Courier New"/>
              </a:rPr>
              <a:t>db.food.insertOne({"_id" : 3,</a:t>
            </a:r>
          </a:p>
          <a:p>
            <a:pPr algn="l">
              <a:lnSpc>
                <a:spcPts val="3200"/>
              </a:lnSpc>
            </a:pPr>
            <a:r>
              <a:rPr sz="2800" b="0">
                <a:solidFill>
                  <a:srgbClr val="E6ECF2"/>
                </a:solidFill>
                <a:latin typeface="Courier New"/>
              </a:rPr>
              <a:t>  "fruit" : ["cherry", "banana", "apple"]})</a:t>
            </a:r>
          </a:p>
        </p:txBody>
      </p:sp>
      <p:sp>
        <p:nvSpPr>
          <p:cNvPr id="6" name="EXEMPT_PASTE"/>
          <p:cNvSpPr/>
          <p:nvPr/>
        </p:nvSpPr>
        <p:spPr>
          <a:xfrm>
            <a:off x="411480" y="4234688"/>
            <a:ext cx="11368735" cy="1402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2  REPLY  ·  PASTE YOUR SCREENSHOT HERE</a:t>
            </a:r>
          </a:p>
          <a:p>
            <a:pPr algn="l">
              <a:lnSpc>
                <a:spcPct val="100000"/>
              </a:lnSpc>
            </a:pPr>
            <a:r>
              <a:rPr sz="1800" b="0">
                <a:solidFill>
                  <a:srgbClr val="14202E"/>
                </a:solidFill>
                <a:latin typeface="Arial"/>
              </a:rPr>
              <a:t>Screenshot the shell's reply to the command above (Win + Shift + S). Click this box's edge, press Delete, then Ctrl + V.</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3 of 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Inserting arrays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3  AFTER  ·  PASTE YOUR SCREENSHOT HERE</a:t>
            </a:r>
          </a:p>
          <a:p>
            <a:pPr algn="l">
              <a:lnSpc>
                <a:spcPct val="100000"/>
              </a:lnSpc>
            </a:pPr>
            <a:r>
              <a:rPr sz="1800" b="1">
                <a:solidFill>
                  <a:srgbClr val="14202E"/>
                </a:solidFill>
                <a:latin typeface="Arial"/>
              </a:rPr>
              <a:t>Run:  </a:t>
            </a:r>
            <a:r>
              <a:rPr sz="1800" b="0">
                <a:solidFill>
                  <a:srgbClr val="14202E"/>
                </a:solidFill>
                <a:latin typeface="Courier New"/>
              </a:rPr>
              <a:t>db.food.find()</a:t>
            </a:r>
          </a:p>
          <a:p>
            <a:pPr algn="l">
              <a:lnSpc>
                <a:spcPct val="100000"/>
              </a:lnSpc>
            </a:pPr>
            <a:r>
              <a:rPr sz="1800" b="0">
                <a:solidFill>
                  <a:srgbClr val="14202E"/>
                </a:solidFill>
                <a:latin typeface="Arial"/>
              </a:rPr>
              <a:t>Screenshot the result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Square brackets make an array.</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4 of 9</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Ask for one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Ask for banana, get every basket with a banana.</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5 of 9</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must have every listed element</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{$all : ["apple", "banana"]}})</a:t>
            </a:r>
          </a:p>
        </p:txBody>
      </p:sp>
      <p:sp>
        <p:nvSpPr>
          <p:cNvPr id="6" name="EXEMPT_PASTE"/>
          <p:cNvSpPr/>
          <p:nvPr/>
        </p:nvSpPr>
        <p:spPr>
          <a:xfrm>
            <a:off x="411480" y="2202688"/>
            <a:ext cx="11368735" cy="22148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$all: has them all, any order.</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6 of 9</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One position: key.index</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db.food.find({"fruit.2" : "peach"})</a:t>
            </a:r>
          </a:p>
        </p:txBody>
      </p:sp>
      <p:sp>
        <p:nvSpPr>
          <p:cNvPr id="6" name="EXEMPT_PASTE"/>
          <p:cNvSpPr/>
          <p:nvPr/>
        </p:nvSpPr>
        <p:spPr>
          <a:xfrm>
            <a:off x="411480" y="2202688"/>
            <a:ext cx="11368735" cy="1808479"/>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7" name="Rectangle 6"/>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Count from zero.</a:t>
            </a:r>
          </a:p>
        </p:txBody>
      </p:sp>
      <p:sp>
        <p:nvSpPr>
          <p:cNvPr id="8"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9"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7 of 9</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Rectangle 3"/>
          <p:cNvSpPr/>
          <p:nvPr/>
        </p:nvSpPr>
        <p:spPr>
          <a:xfrm>
            <a:off x="411480" y="1097280"/>
            <a:ext cx="11368735" cy="9956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8859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db.food.find({"fruit" : {"$size" : 3}})</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8 of 9</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$size: match by number of elements</a:t>
            </a:r>
          </a:p>
        </p:txBody>
      </p:sp>
      <p:sp>
        <p:nvSpPr>
          <p:cNvPr id="4" name="EXEMPT_PASTE"/>
          <p:cNvSpPr/>
          <p:nvPr/>
        </p:nvSpPr>
        <p:spPr>
          <a:xfrm>
            <a:off x="411480" y="1097280"/>
            <a:ext cx="11368735" cy="38404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$size counts the elements.</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5 · 9 of 9</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6</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$slice &amp; Embedded Documents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$slice · dot notation</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“Trim what you see. Reach inside with a dot.”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9 slides · about 1 min 10 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Part 6 SETUP: run this first</a:t>
            </a:r>
          </a:p>
        </p:txBody>
      </p:sp>
      <p:sp>
        <p:nvSpPr>
          <p:cNvPr id="4" name="EXEMPT_HELPER"/>
          <p:cNvSpPr txBox="1"/>
          <p:nvPr/>
        </p:nvSpPr>
        <p:spPr>
          <a:xfrm>
            <a:off x="7863840" y="45720"/>
            <a:ext cx="3916375" cy="274320"/>
          </a:xfrm>
          <a:prstGeom prst="rect">
            <a:avLst/>
          </a:prstGeom>
          <a:noFill/>
        </p:spPr>
        <p:txBody>
          <a:bodyPr wrap="square" anchor="t" lIns="0" rIns="0" tIns="0" bIns="0">
            <a:spAutoFit/>
          </a:bodyPr>
          <a:lstStyle/>
          <a:p>
            <a:pPr algn="r">
              <a:lnSpc>
                <a:spcPct val="100000"/>
              </a:lnSpc>
            </a:pPr>
            <a:r>
              <a:rPr sz="1400" b="1">
                <a:solidFill>
                  <a:srgbClr val="C2410C"/>
                </a:solidFill>
                <a:latin typeface="Arial"/>
              </a:rPr>
              <a:t>HELPER · delete before presenting</a:t>
            </a:r>
          </a:p>
        </p:txBody>
      </p:sp>
      <p:sp>
        <p:nvSpPr>
          <p:cNvPr id="5" name="EXEMPT_SETUP"/>
          <p:cNvSpPr/>
          <p:nvPr/>
        </p:nvSpPr>
        <p:spPr>
          <a:xfrm>
            <a:off x="411480" y="1097280"/>
            <a:ext cx="11368735" cy="448056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EXEMPT_SETUP"/>
          <p:cNvSpPr txBox="1"/>
          <p:nvPr/>
        </p:nvSpPr>
        <p:spPr>
          <a:xfrm>
            <a:off x="548640" y="1207007"/>
            <a:ext cx="11094415" cy="4297680"/>
          </a:xfrm>
          <a:prstGeom prst="rect">
            <a:avLst/>
          </a:prstGeom>
          <a:noFill/>
        </p:spPr>
        <p:txBody>
          <a:bodyPr wrap="none" anchor="t" lIns="0" rIns="0" tIns="0" bIns="0">
            <a:spAutoFit/>
          </a:bodyPr>
          <a:lstStyle/>
          <a:p>
            <a:pPr algn="l">
              <a:lnSpc>
                <a:spcPct val="100000"/>
              </a:lnSpc>
            </a:pPr>
            <a:r>
              <a:rPr sz="2000" b="0">
                <a:solidFill>
                  <a:srgbClr val="E6ECF2"/>
                </a:solidFill>
                <a:latin typeface="Courier New"/>
              </a:rPr>
              <a:t>use adbs_part6</a:t>
            </a:r>
          </a:p>
          <a:p>
            <a:pPr algn="l">
              <a:lnSpc>
                <a:spcPct val="100000"/>
              </a:lnSpc>
            </a:pPr>
            <a:r>
              <a:rPr sz="2000" b="0">
                <a:solidFill>
                  <a:srgbClr val="E6ECF2"/>
                </a:solidFill>
                <a:latin typeface="Courier New"/>
              </a:rPr>
              <a:t>db.dropDatabase()</a:t>
            </a:r>
          </a:p>
          <a:p>
            <a:pPr algn="l">
              <a:lnSpc>
                <a:spcPct val="100000"/>
              </a:lnSpc>
            </a:pPr>
            <a:r>
              <a:rPr sz="2000" b="0">
                <a:solidFill>
                  <a:srgbClr val="E6ECF2"/>
                </a:solidFill>
                <a:latin typeface="Courier New"/>
              </a:rPr>
              <a:t>db.blog.posts.insertOne({"_id" : 1, "title" : "ADBS",</a:t>
            </a:r>
          </a:p>
          <a:p>
            <a:pPr algn="l">
              <a:lnSpc>
                <a:spcPct val="100000"/>
              </a:lnSpc>
            </a:pPr>
            <a:r>
              <a:rPr sz="2000" b="0">
                <a:solidFill>
                  <a:srgbClr val="E6ECF2"/>
                </a:solidFill>
                <a:latin typeface="Courier New"/>
              </a:rPr>
              <a:t>  "comments" : Array.from({length : 40}, (_, i) =&gt; "c" + (i + 1))})</a:t>
            </a:r>
          </a:p>
          <a:p>
            <a:pPr algn="l">
              <a:lnSpc>
                <a:spcPct val="100000"/>
              </a:lnSpc>
            </a:pPr>
            <a:r>
              <a:rPr sz="2000" b="0">
                <a:solidFill>
                  <a:srgbClr val="E6ECF2"/>
                </a:solidFill>
                <a:latin typeface="Courier New"/>
              </a:rPr>
              <a:t>db.people.insertOne({"_id" : 1,</a:t>
            </a:r>
          </a:p>
          <a:p>
            <a:pPr algn="l">
              <a:lnSpc>
                <a:spcPct val="100000"/>
              </a:lnSpc>
            </a:pPr>
            <a:r>
              <a:rPr sz="2000" b="0">
                <a:solidFill>
                  <a:srgbClr val="E6ECF2"/>
                </a:solidFill>
                <a:latin typeface="Courier New"/>
              </a:rPr>
              <a:t>  "name" : {"first" : "John", "last" : "Escalona"}, "age" : 45})</a:t>
            </a:r>
          </a:p>
        </p:txBody>
      </p:sp>
      <p:sp>
        <p:nvSpPr>
          <p:cNvPr id="7" name="EXEMPT_SETUP"/>
          <p:cNvSpPr txBox="1"/>
          <p:nvPr/>
        </p:nvSpPr>
        <p:spPr>
          <a:xfrm>
            <a:off x="411480" y="5715000"/>
            <a:ext cx="11368735" cy="457200"/>
          </a:xfrm>
          <a:prstGeom prst="rect">
            <a:avLst/>
          </a:prstGeom>
          <a:noFill/>
        </p:spPr>
        <p:txBody>
          <a:bodyPr wrap="square" anchor="t" lIns="0" rIns="0" tIns="0" bIns="0">
            <a:spAutoFit/>
          </a:bodyPr>
          <a:lstStyle/>
          <a:p>
            <a:pPr algn="l">
              <a:lnSpc>
                <a:spcPct val="100000"/>
              </a:lnSpc>
            </a:pPr>
            <a:r>
              <a:rPr sz="1800" b="0">
                <a:solidFill>
                  <a:srgbClr val="4A5868"/>
                </a:solidFill>
                <a:latin typeface="Arial"/>
              </a:rPr>
              <a:t>Copy all of it into the MongoDB shell and press Enter. Run it again any time to start over.</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Rectangle 3"/>
          <p:cNvSpPr/>
          <p:nvPr/>
        </p:nvSpPr>
        <p:spPr>
          <a:xfrm>
            <a:off x="411480" y="1097280"/>
            <a:ext cx="11368735" cy="1808479"/>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698752"/>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8FA3B8"/>
                </a:solidFill>
                <a:latin typeface="Courier New"/>
              </a:rPr>
              <a:t>// practice post: 40 comments, c1 to c40</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2 of 9</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first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Positive counts from the front.</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3 of 9</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4 of 9</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-10: the last 10</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Negative counts from the back.</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5 of 9</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db.blog.posts.findOne({"_id" : 1},</a:t>
            </a:r>
          </a:p>
          <a:p>
            <a:pPr algn="l">
              <a:lnSpc>
                <a:spcPts val="3200"/>
              </a:lnSpc>
            </a:pPr>
            <a:r>
              <a:rPr sz="2800" b="0">
                <a:solidFill>
                  <a:srgbClr val="E6ECF2"/>
                </a:solidFill>
                <a:latin typeface="Courier New"/>
              </a:rPr>
              <a:t>  {"comments" : {"$slice" : [23, 10]}})</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6 of 9</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$slice [23, 10]: a page from the middle</a:t>
            </a:r>
          </a:p>
        </p:txBody>
      </p:sp>
      <p:sp>
        <p:nvSpPr>
          <p:cNvPr id="4" name="EXEMPT_PASTE"/>
          <p:cNvSpPr/>
          <p:nvPr/>
        </p:nvSpPr>
        <p:spPr>
          <a:xfrm>
            <a:off x="411480" y="1097280"/>
            <a:ext cx="11368735" cy="30276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Skip 23, take 10.</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7 of 9</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Rectangle 3"/>
          <p:cNvSpPr/>
          <p:nvPr/>
        </p:nvSpPr>
        <p:spPr>
          <a:xfrm>
            <a:off x="411480" y="1097280"/>
            <a:ext cx="11368735" cy="1402080"/>
          </a:xfrm>
          <a:prstGeom prst="rect">
            <a:avLst/>
          </a:prstGeom>
          <a:solidFill>
            <a:srgbClr val="1621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57784" y="1188720"/>
            <a:ext cx="11149279" cy="1292351"/>
          </a:xfrm>
          <a:prstGeom prst="rect">
            <a:avLst/>
          </a:prstGeom>
          <a:noFill/>
        </p:spPr>
        <p:txBody>
          <a:bodyPr wrap="none" anchor="t" lIns="0" rIns="0" tIns="0" bIns="0">
            <a:spAutoFit/>
          </a:bodyPr>
          <a:lstStyle/>
          <a:p>
            <a:pPr algn="l">
              <a:lnSpc>
                <a:spcPts val="3200"/>
              </a:lnSpc>
            </a:pPr>
            <a:r>
              <a:rPr sz="2800" b="1">
                <a:solidFill>
                  <a:srgbClr val="F2B27A"/>
                </a:solidFill>
                <a:latin typeface="Arial"/>
              </a:rPr>
              <a:t>COMMAND</a:t>
            </a:r>
          </a:p>
          <a:p>
            <a:pPr algn="l">
              <a:lnSpc>
                <a:spcPts val="3200"/>
              </a:lnSpc>
            </a:pPr>
            <a:r>
              <a:rPr sz="2800" b="0">
                <a:solidFill>
                  <a:srgbClr val="E6ECF2"/>
                </a:solidFill>
                <a:latin typeface="Courier New"/>
              </a:rPr>
              <a:t>db.people.find({"name.first" : "John",</a:t>
            </a:r>
          </a:p>
          <a:p>
            <a:pPr algn="l">
              <a:lnSpc>
                <a:spcPts val="3200"/>
              </a:lnSpc>
            </a:pPr>
            <a:r>
              <a:rPr sz="2800" b="0">
                <a:solidFill>
                  <a:srgbClr val="E6ECF2"/>
                </a:solidFill>
                <a:latin typeface="Courier New"/>
              </a:rPr>
              <a:t>  "name.last" : "Escalona"})</a:t>
            </a:r>
          </a:p>
        </p:txBody>
      </p:sp>
      <p:sp>
        <p:nvSpPr>
          <p:cNvPr id="6" name="TextBox 5"/>
          <p:cNvSpPr txBox="1"/>
          <p:nvPr/>
        </p:nvSpPr>
        <p:spPr>
          <a:xfrm>
            <a:off x="411480" y="5696712"/>
            <a:ext cx="11368735" cy="566928"/>
          </a:xfrm>
          <a:prstGeom prst="rect">
            <a:avLst/>
          </a:prstGeom>
          <a:noFill/>
        </p:spPr>
        <p:txBody>
          <a:bodyPr wrap="square" anchor="ctr" lIns="164592" rIns="164592" tIns="164592" bIns="164592">
            <a:spAutoFit/>
          </a:bodyPr>
          <a:lstStyle/>
          <a:p>
            <a:pPr algn="r">
              <a:lnSpc>
                <a:spcPct val="100000"/>
              </a:lnSpc>
            </a:pPr>
            <a:r>
              <a:rPr sz="2800" b="0">
                <a:solidFill>
                  <a:srgbClr val="4A5868"/>
                </a:solidFill>
                <a:latin typeface="Arial"/>
              </a:rPr>
              <a:t>Next: RESULT  →</a:t>
            </a:r>
          </a:p>
        </p:txBody>
      </p:sp>
      <p:sp>
        <p:nvSpPr>
          <p:cNvPr id="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8 of 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Query inside an embedded document</a:t>
            </a:r>
          </a:p>
        </p:txBody>
      </p:sp>
      <p:sp>
        <p:nvSpPr>
          <p:cNvPr id="4" name="EXEMPT_PASTE"/>
          <p:cNvSpPr/>
          <p:nvPr/>
        </p:nvSpPr>
        <p:spPr>
          <a:xfrm>
            <a:off x="411480" y="1097280"/>
            <a:ext cx="11368735" cy="3434080"/>
          </a:xfrm>
          <a:prstGeom prst="rect">
            <a:avLst/>
          </a:prstGeom>
          <a:solidFill>
            <a:srgbClr val="FFF4E5"/>
          </a:solidFill>
          <a:ln w="25400">
            <a:solidFill>
              <a:srgbClr val="C2410C"/>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137160" bIns="137160"/>
          <a:lstStyle/>
          <a:p>
            <a:pPr algn="l">
              <a:lnSpc>
                <a:spcPct val="100000"/>
              </a:lnSpc>
            </a:pPr>
            <a:r>
              <a:rPr sz="2200" b="1">
                <a:solidFill>
                  <a:srgbClr val="C2410C"/>
                </a:solidFill>
                <a:latin typeface="Arial"/>
              </a:rPr>
              <a:t>RESULT  ·  PASTE YOUR SCREENSHOT HERE</a:t>
            </a:r>
          </a:p>
          <a:p>
            <a:pPr algn="l">
              <a:lnSpc>
                <a:spcPct val="100000"/>
              </a:lnSpc>
            </a:pPr>
            <a:r>
              <a:rPr sz="1800" b="0">
                <a:solidFill>
                  <a:srgbClr val="14202E"/>
                </a:solidFill>
                <a:latin typeface="Arial"/>
              </a:rPr>
              <a:t>Screenshot the result of the command above (Win + Shift + S). Click this box's edge, press Delete, then Ctrl + V.</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the dot to reach inside.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08 Handout p.4</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6 · 9 of 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7</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Computing &amp; Implementation Types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public · private · hybrid</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“Where it lives + who controls it.”</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6 slides · about 1 min 45 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What cloud computing is</a:t>
            </a:r>
          </a:p>
        </p:txBody>
      </p:sp>
      <p:sp>
        <p:nvSpPr>
          <p:cNvPr id="4" name="TextBox 3"/>
          <p:cNvSpPr txBox="1"/>
          <p:nvPr/>
        </p:nvSpPr>
        <p:spPr>
          <a:xfrm>
            <a:off x="411480" y="1234439"/>
            <a:ext cx="11368735" cy="4325112"/>
          </a:xfrm>
          <a:prstGeom prst="rect">
            <a:avLst/>
          </a:prstGeom>
          <a:noFill/>
        </p:spPr>
        <p:txBody>
          <a:bodyPr wrap="square" anchor="t" lIns="0" rIns="0" tIns="0" bIns="0">
            <a:spAutoFit/>
          </a:bodyPr>
          <a:lstStyle/>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a:p>
            <a:pPr algn="l">
              <a:lnSpc>
                <a:spcPct val="110000"/>
              </a:lnSpc>
            </a:pPr>
            <a:r>
              <a:rPr sz="3200" b="1">
                <a:solidFill>
                  <a:srgbClr val="C2410C"/>
                </a:solidFill>
                <a:latin typeface="Arial"/>
              </a:rPr>
              <a:t>▸  </a:t>
            </a:r>
            <a:r>
              <a:rPr sz="3200" b="0">
                <a:solidFill>
                  <a:srgbClr val="14202E"/>
                </a:solidFill>
                <a:latin typeface="Arial"/>
              </a:rPr>
              <a:t>____________________________</a:t>
            </a:r>
          </a:p>
        </p:txBody>
      </p:sp>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If it has the web, it has your data.</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2 of 6</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implementation types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Public</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Private</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Hybrid</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 own it, or mix both.</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3 of 6</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Public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529137" y="1280160"/>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9" name="TextBox 8"/>
          <p:cNvSpPr txBox="1"/>
          <p:nvPr/>
        </p:nvSpPr>
        <p:spPr>
          <a:xfrm>
            <a:off x="2529137" y="2002536"/>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Plus</a:t>
            </a:r>
          </a:p>
        </p:txBody>
      </p:sp>
      <p:sp>
        <p:nvSpPr>
          <p:cNvPr id="12" name="TextBox 11"/>
          <p:cNvSpPr txBox="1"/>
          <p:nvPr/>
        </p:nvSpPr>
        <p:spPr>
          <a:xfrm>
            <a:off x="2529137" y="2724912"/>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1980497"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Minus</a:t>
            </a:r>
          </a:p>
        </p:txBody>
      </p:sp>
      <p:sp>
        <p:nvSpPr>
          <p:cNvPr id="15" name="TextBox 14"/>
          <p:cNvSpPr txBox="1"/>
          <p:nvPr/>
        </p:nvSpPr>
        <p:spPr>
          <a:xfrm>
            <a:off x="2529137" y="3447288"/>
            <a:ext cx="9113917"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it.</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4 of 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Private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Built by</a:t>
            </a:r>
          </a:p>
        </p:txBody>
      </p:sp>
      <p:sp>
        <p:nvSpPr>
          <p:cNvPr id="6" name="TextBox 5"/>
          <p:cNvSpPr txBox="1"/>
          <p:nvPr/>
        </p:nvSpPr>
        <p:spPr>
          <a:xfrm>
            <a:off x="2923636" y="1280160"/>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Used by</a:t>
            </a:r>
          </a:p>
        </p:txBody>
      </p:sp>
      <p:sp>
        <p:nvSpPr>
          <p:cNvPr id="9" name="TextBox 8"/>
          <p:cNvSpPr txBox="1"/>
          <p:nvPr/>
        </p:nvSpPr>
        <p:spPr>
          <a:xfrm>
            <a:off x="2923636" y="2002536"/>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374996"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Managed by</a:t>
            </a:r>
          </a:p>
        </p:txBody>
      </p:sp>
      <p:sp>
        <p:nvSpPr>
          <p:cNvPr id="12" name="TextBox 11"/>
          <p:cNvSpPr txBox="1"/>
          <p:nvPr/>
        </p:nvSpPr>
        <p:spPr>
          <a:xfrm>
            <a:off x="2923636" y="2724912"/>
            <a:ext cx="8719418"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Own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5 of 6</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Hybrid cloud</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Is</a:t>
            </a:r>
          </a:p>
        </p:txBody>
      </p:sp>
      <p:sp>
        <p:nvSpPr>
          <p:cNvPr id="6" name="TextBox 5"/>
          <p:cNvSpPr txBox="1"/>
          <p:nvPr/>
        </p:nvSpPr>
        <p:spPr>
          <a:xfrm>
            <a:off x="2627588" y="1280160"/>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Public for</a:t>
            </a:r>
          </a:p>
        </p:txBody>
      </p:sp>
      <p:sp>
        <p:nvSpPr>
          <p:cNvPr id="9" name="TextBox 8"/>
          <p:cNvSpPr txBox="1"/>
          <p:nvPr/>
        </p:nvSpPr>
        <p:spPr>
          <a:xfrm>
            <a:off x="2627588" y="2002536"/>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Private for</a:t>
            </a:r>
          </a:p>
        </p:txBody>
      </p:sp>
      <p:sp>
        <p:nvSpPr>
          <p:cNvPr id="12" name="TextBox 11"/>
          <p:cNvSpPr txBox="1"/>
          <p:nvPr/>
        </p:nvSpPr>
        <p:spPr>
          <a:xfrm>
            <a:off x="2627588" y="2724912"/>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3355848"/>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3447288"/>
            <a:ext cx="2078948"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Gain</a:t>
            </a:r>
          </a:p>
        </p:txBody>
      </p:sp>
      <p:sp>
        <p:nvSpPr>
          <p:cNvPr id="15" name="TextBox 14"/>
          <p:cNvSpPr txBox="1"/>
          <p:nvPr/>
        </p:nvSpPr>
        <p:spPr>
          <a:xfrm>
            <a:off x="2627588" y="3447288"/>
            <a:ext cx="9015466"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6" name="Rectangle 15"/>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Mix both.</a:t>
            </a:r>
          </a:p>
        </p:txBody>
      </p:sp>
      <p:sp>
        <p:nvSpPr>
          <p:cNvPr id="17"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8"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7 · 6 of 6</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14202E"/>
        </a:solidFill>
        <a:effectLst/>
      </p:bgPr>
    </p:bg>
    <p:spTree>
      <p:nvGrpSpPr>
        <p:cNvPr id="1" name=""/>
        <p:cNvGrpSpPr/>
        <p:nvPr/>
      </p:nvGrpSpPr>
      <p:grpSpPr/>
      <p:sp>
        <p:nvSpPr>
          <p:cNvPr id="2" name="TextBox 1"/>
          <p:cNvSpPr txBox="1"/>
          <p:nvPr/>
        </p:nvSpPr>
        <p:spPr>
          <a:xfrm>
            <a:off x="411480" y="914400"/>
            <a:ext cx="3291840" cy="2743200"/>
          </a:xfrm>
          <a:prstGeom prst="rect">
            <a:avLst/>
          </a:prstGeom>
          <a:noFill/>
        </p:spPr>
        <p:txBody>
          <a:bodyPr wrap="square" anchor="t" lIns="0" rIns="0" tIns="0" bIns="0">
            <a:spAutoFit/>
          </a:bodyPr>
          <a:lstStyle/>
          <a:p>
            <a:pPr algn="l">
              <a:lnSpc>
                <a:spcPct val="100000"/>
              </a:lnSpc>
            </a:pPr>
            <a:r>
              <a:rPr sz="18000" b="1">
                <a:solidFill>
                  <a:srgbClr val="F2B27A"/>
                </a:solidFill>
                <a:latin typeface="Arial"/>
              </a:rPr>
              <a:t>8</a:t>
            </a:r>
          </a:p>
        </p:txBody>
      </p:sp>
      <p:sp>
        <p:nvSpPr>
          <p:cNvPr id="3" name="TextBox 2"/>
          <p:cNvSpPr txBox="1"/>
          <p:nvPr/>
        </p:nvSpPr>
        <p:spPr>
          <a:xfrm>
            <a:off x="3840480" y="548640"/>
            <a:ext cx="7863840" cy="2103120"/>
          </a:xfrm>
          <a:prstGeom prst="rect">
            <a:avLst/>
          </a:prstGeom>
          <a:noFill/>
        </p:spPr>
        <p:txBody>
          <a:bodyPr wrap="square" anchor="b" lIns="0" rIns="0" tIns="0" bIns="0">
            <a:spAutoFit/>
          </a:bodyPr>
          <a:lstStyle/>
          <a:p>
            <a:pPr algn="l">
              <a:lnSpc>
                <a:spcPct val="100000"/>
              </a:lnSpc>
            </a:pPr>
            <a:r>
              <a:rPr sz="4400" b="1">
                <a:solidFill>
                  <a:srgbClr val="FFFFFF"/>
                </a:solidFill>
                <a:latin typeface="Arial"/>
              </a:rPr>
              <a:t>Cloud Service Types &amp; Benefits</a:t>
            </a:r>
          </a:p>
        </p:txBody>
      </p:sp>
      <p:sp>
        <p:nvSpPr>
          <p:cNvPr id="4" name="TextBox 3"/>
          <p:cNvSpPr txBox="1"/>
          <p:nvPr/>
        </p:nvSpPr>
        <p:spPr>
          <a:xfrm>
            <a:off x="3840480" y="2743200"/>
            <a:ext cx="7863840" cy="914400"/>
          </a:xfrm>
          <a:prstGeom prst="rect">
            <a:avLst/>
          </a:prstGeom>
          <a:noFill/>
        </p:spPr>
        <p:txBody>
          <a:bodyPr wrap="square" anchor="t" lIns="0" rIns="0" tIns="0" bIns="0">
            <a:spAutoFit/>
          </a:bodyPr>
          <a:lstStyle/>
          <a:p>
            <a:pPr algn="l">
              <a:lnSpc>
                <a:spcPct val="100000"/>
              </a:lnSpc>
            </a:pPr>
            <a:r>
              <a:rPr sz="2800" b="0">
                <a:solidFill>
                  <a:srgbClr val="9FE0C9"/>
                </a:solidFill>
                <a:latin typeface="Arial"/>
              </a:rPr>
              <a:t>SaaS · PaaS · IaaS · 10 benefits</a:t>
            </a:r>
          </a:p>
        </p:txBody>
      </p:sp>
      <p:sp>
        <p:nvSpPr>
          <p:cNvPr id="5" name="TextBox 4"/>
          <p:cNvSpPr txBox="1"/>
          <p:nvPr/>
        </p:nvSpPr>
        <p:spPr>
          <a:xfrm>
            <a:off x="3840480" y="3794760"/>
            <a:ext cx="7863840" cy="1005840"/>
          </a:xfrm>
          <a:prstGeom prst="rect">
            <a:avLst/>
          </a:prstGeom>
          <a:noFill/>
        </p:spPr>
        <p:txBody>
          <a:bodyPr wrap="square" anchor="t" lIns="0" rIns="0" tIns="0" bIns="0">
            <a:spAutoFit/>
          </a:bodyPr>
          <a:lstStyle/>
          <a:p>
            <a:pPr algn="l">
              <a:lnSpc>
                <a:spcPct val="100000"/>
              </a:lnSpc>
            </a:pPr>
            <a:r>
              <a:rPr sz="3200" b="0">
                <a:solidFill>
                  <a:srgbClr val="F2B27A"/>
                </a:solidFill>
                <a:latin typeface="Arial"/>
              </a:rPr>
              <a:t>“Use it, build on it, or rent the machine.”</a:t>
            </a:r>
          </a:p>
        </p:txBody>
      </p:sp>
      <p:sp>
        <p:nvSpPr>
          <p:cNvPr id="6" name="EXEMPT_PROGRESS"/>
          <p:cNvSpPr txBox="1"/>
          <p:nvPr/>
        </p:nvSpPr>
        <p:spPr>
          <a:xfrm>
            <a:off x="3840480" y="5074920"/>
            <a:ext cx="7863840" cy="457200"/>
          </a:xfrm>
          <a:prstGeom prst="rect">
            <a:avLst/>
          </a:prstGeom>
          <a:noFill/>
        </p:spPr>
        <p:txBody>
          <a:bodyPr wrap="square" anchor="t" lIns="0" rIns="0" tIns="0" bIns="0">
            <a:spAutoFit/>
          </a:bodyPr>
          <a:lstStyle/>
          <a:p>
            <a:pPr algn="l">
              <a:lnSpc>
                <a:spcPct val="100000"/>
              </a:lnSpc>
            </a:pPr>
            <a:r>
              <a:rPr sz="2200" b="0">
                <a:solidFill>
                  <a:srgbClr val="8FA3B8"/>
                </a:solidFill>
                <a:latin typeface="Arial"/>
              </a:rPr>
              <a:t>7 slides · about 1 min 52 s</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Three types of cloud services</a:t>
            </a:r>
          </a:p>
        </p:txBody>
      </p:sp>
      <p:graphicFrame>
        <p:nvGraphicFramePr>
          <p:cNvPr id="4" name="Table 3"/>
          <p:cNvGraphicFramePr>
            <a:graphicFrameLocks noGrp="1"/>
          </p:cNvGraphicFramePr>
          <p:nvPr/>
        </p:nvGraphicFramePr>
        <p:xfrm>
          <a:off x="411480" y="1234439"/>
          <a:ext cx="11368735" cy="3657600"/>
        </p:xfrm>
        <a:graphic>
          <a:graphicData uri="http://schemas.openxmlformats.org/drawingml/2006/table">
            <a:tbl>
              <a:tblPr firstRow="1" bandRow="1">
                <a:tableStyleId>{5C22544A-7EE6-4342-B048-85BDC9FD1C3A}</a:tableStyleId>
              </a:tblPr>
              <a:tblGrid>
                <a:gridCol w="3291840"/>
                <a:gridCol w="8076895"/>
              </a:tblGrid>
              <a:tr h="914400">
                <a:tc>
                  <a:txBody>
                    <a:bodyPr wrap="square" anchor="ctr" lIns="109728" rIns="109728" tIns="109728" bIns="109728"/>
                    <a:lstStyle/>
                    <a:p>
                      <a:pPr algn="l">
                        <a:lnSpc>
                          <a:spcPct val="100000"/>
                        </a:lnSpc>
                      </a:pPr>
                      <a:r>
                        <a:rPr sz="2800" b="1">
                          <a:solidFill>
                            <a:srgbClr val="FFFFFF"/>
                          </a:solidFill>
                          <a:latin typeface="Arial"/>
                        </a:rPr>
                        <a:t>Type</a:t>
                      </a:r>
                    </a:p>
                  </a:txBody>
                  <a:tcPr>
                    <a:solidFill>
                      <a:srgbClr val="14202E"/>
                    </a:solidFill>
                  </a:tcPr>
                </a:tc>
                <a:tc>
                  <a:txBody>
                    <a:bodyPr wrap="square" anchor="ctr" lIns="109728" rIns="109728" tIns="109728" bIns="109728"/>
                    <a:lstStyle/>
                    <a:p>
                      <a:pPr algn="l">
                        <a:lnSpc>
                          <a:spcPct val="100000"/>
                        </a:lnSpc>
                      </a:pPr>
                      <a:r>
                        <a:rPr sz="2800" b="1">
                          <a:solidFill>
                            <a:srgbClr val="FFFFFF"/>
                          </a:solidFill>
                          <a:latin typeface="Arial"/>
                        </a:rPr>
                        <a:t>In one line</a:t>
                      </a:r>
                    </a:p>
                  </a:txBody>
                  <a:tcPr>
                    <a:solidFill>
                      <a:srgbClr val="14202E"/>
                    </a:solidFill>
                  </a:tcPr>
                </a:tc>
              </a:tr>
              <a:tr h="914400">
                <a:tc>
                  <a:txBody>
                    <a:bodyPr wrap="square" anchor="ctr" lIns="109728" rIns="109728" tIns="109728" bIns="109728"/>
                    <a:lstStyle/>
                    <a:p>
                      <a:pPr algn="l">
                        <a:lnSpc>
                          <a:spcPct val="100000"/>
                        </a:lnSpc>
                      </a:pPr>
                      <a:r>
                        <a:rPr sz="3000" b="1">
                          <a:solidFill>
                            <a:srgbClr val="14202E"/>
                          </a:solidFill>
                          <a:latin typeface="Arial"/>
                        </a:rPr>
                        <a:t>SaaS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PaaS</a:t>
                      </a:r>
                    </a:p>
                  </a:txBody>
                  <a:tcPr>
                    <a:solidFill>
                      <a:srgbClr val="EEF1F4"/>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r h="914400">
                <a:tc>
                  <a:txBody>
                    <a:bodyPr wrap="square" anchor="ctr" lIns="109728" rIns="109728" tIns="109728" bIns="109728"/>
                    <a:lstStyle/>
                    <a:p>
                      <a:pPr algn="l">
                        <a:lnSpc>
                          <a:spcPct val="100000"/>
                        </a:lnSpc>
                      </a:pPr>
                      <a:r>
                        <a:rPr sz="3000" b="1">
                          <a:solidFill>
                            <a:srgbClr val="14202E"/>
                          </a:solidFill>
                          <a:latin typeface="Arial"/>
                        </a:rPr>
                        <a:t>IaaS</a:t>
                      </a:r>
                    </a:p>
                  </a:txBody>
                  <a:tcPr>
                    <a:solidFill>
                      <a:srgbClr val="FFFFFF"/>
                    </a:solidFill>
                  </a:tcPr>
                </a:tc>
                <a:tc>
                  <a:txBody>
                    <a:bodyPr wrap="square" anchor="ctr" lIns="109728" rIns="109728" tIns="109728" bIns="109728"/>
                    <a:lstStyle/>
                    <a:p>
                      <a:pPr algn="l">
                        <a:lnSpc>
                          <a:spcPct val="100000"/>
                        </a:lnSpc>
                      </a:pPr>
                      <a:r>
                        <a:rPr sz="3000" b="0">
                          <a:solidFill>
                            <a:srgbClr val="14202E"/>
                          </a:solidFill>
                          <a:latin typeface="Arial"/>
                        </a:rPr>
                        <a:t>____________________________________</a:t>
                      </a:r>
                    </a:p>
                  </a:txBody>
                  <a:tcPr>
                    <a:solidFill>
                      <a:srgbClr val="FFF4E5"/>
                    </a:solidFill>
                  </a:tcPr>
                </a:tc>
              </a:tr>
            </a:tbl>
          </a:graphicData>
        </a:graphic>
      </p:graphicFrame>
      <p:sp>
        <p:nvSpPr>
          <p:cNvPr id="5" name="Rectangle 4"/>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 build on it, or rent the machine.</a:t>
            </a:r>
          </a:p>
        </p:txBody>
      </p:sp>
      <p:sp>
        <p:nvSpPr>
          <p:cNvPr id="6"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7"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2 of 7</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SaaS: Software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Examples</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Use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3 of 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PaaS: Platform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do not</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Build on it.</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4 of 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IaaS: Infrastructure as a Service</a:t>
            </a:r>
          </a:p>
        </p:txBody>
      </p:sp>
      <p:sp>
        <p:nvSpPr>
          <p:cNvPr id="4" name="Rectangle 3"/>
          <p:cNvSpPr/>
          <p:nvPr/>
        </p:nvSpPr>
        <p:spPr>
          <a:xfrm>
            <a:off x="411480" y="1188720"/>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80160"/>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Provider offers</a:t>
            </a:r>
          </a:p>
        </p:txBody>
      </p:sp>
      <p:sp>
        <p:nvSpPr>
          <p:cNvPr id="6" name="TextBox 5"/>
          <p:cNvSpPr txBox="1"/>
          <p:nvPr/>
        </p:nvSpPr>
        <p:spPr>
          <a:xfrm>
            <a:off x="3398173" y="1280160"/>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7" name="Rectangle 6"/>
          <p:cNvSpPr/>
          <p:nvPr/>
        </p:nvSpPr>
        <p:spPr>
          <a:xfrm>
            <a:off x="411480" y="1911095"/>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2002536"/>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You can</a:t>
            </a:r>
          </a:p>
        </p:txBody>
      </p:sp>
      <p:sp>
        <p:nvSpPr>
          <p:cNvPr id="9" name="TextBox 8"/>
          <p:cNvSpPr txBox="1"/>
          <p:nvPr/>
        </p:nvSpPr>
        <p:spPr>
          <a:xfrm>
            <a:off x="3398173" y="2002536"/>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0" name="Rectangle 9"/>
          <p:cNvSpPr/>
          <p:nvPr/>
        </p:nvSpPr>
        <p:spPr>
          <a:xfrm>
            <a:off x="411480" y="2633472"/>
            <a:ext cx="11368735" cy="630936"/>
          </a:xfrm>
          <a:prstGeom prst="rect">
            <a:avLst/>
          </a:prstGeom>
          <a:solidFill>
            <a:srgbClr val="FFF4E5"/>
          </a:solidFill>
          <a:ln w="25400">
            <a:solidFill>
              <a:srgbClr val="C9D1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724912"/>
            <a:ext cx="2849533" cy="493775"/>
          </a:xfrm>
          <a:prstGeom prst="rect">
            <a:avLst/>
          </a:prstGeom>
          <a:noFill/>
        </p:spPr>
        <p:txBody>
          <a:bodyPr wrap="square" anchor="t" lIns="0" rIns="0" tIns="0" bIns="0">
            <a:spAutoFit/>
          </a:bodyPr>
          <a:lstStyle/>
          <a:p>
            <a:pPr algn="l">
              <a:lnSpc>
                <a:spcPct val="100000"/>
              </a:lnSpc>
            </a:pPr>
            <a:r>
              <a:rPr sz="2800" b="1">
                <a:solidFill>
                  <a:srgbClr val="C2410C"/>
                </a:solidFill>
                <a:latin typeface="Arial"/>
              </a:rPr>
              <a:t>Example</a:t>
            </a:r>
          </a:p>
        </p:txBody>
      </p:sp>
      <p:sp>
        <p:nvSpPr>
          <p:cNvPr id="12" name="TextBox 11"/>
          <p:cNvSpPr txBox="1"/>
          <p:nvPr/>
        </p:nvSpPr>
        <p:spPr>
          <a:xfrm>
            <a:off x="3398173" y="2724912"/>
            <a:ext cx="8244881" cy="493775"/>
          </a:xfrm>
          <a:prstGeom prst="rect">
            <a:avLst/>
          </a:prstGeom>
          <a:noFill/>
        </p:spPr>
        <p:txBody>
          <a:bodyPr wrap="square" anchor="t" lIns="0" rIns="0" tIns="0" bIns="0">
            <a:spAutoFit/>
          </a:bodyPr>
          <a:lstStyle/>
          <a:p>
            <a:pPr algn="l">
              <a:lnSpc>
                <a:spcPct val="100000"/>
              </a:lnSpc>
            </a:pPr>
            <a:r>
              <a:rPr sz="2800" b="0">
                <a:solidFill>
                  <a:srgbClr val="14202E"/>
                </a:solidFill>
                <a:latin typeface="Arial"/>
              </a:rPr>
              <a:t>___________________________</a:t>
            </a:r>
          </a:p>
        </p:txBody>
      </p:sp>
      <p:sp>
        <p:nvSpPr>
          <p:cNvPr id="13" name="Rectangle 12"/>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Rent the machine.</a:t>
            </a:r>
          </a:p>
        </p:txBody>
      </p:sp>
      <p:sp>
        <p:nvSpPr>
          <p:cNvPr id="14"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a:t>
            </a:r>
          </a:p>
        </p:txBody>
      </p:sp>
      <p:sp>
        <p:nvSpPr>
          <p:cNvPr id="15"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5 of 7</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1 to 5</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2</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3</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4</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5</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Scale up fast.</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p.1-2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6 of 7</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Benefits 6 to 10</a:t>
            </a:r>
          </a:p>
        </p:txBody>
      </p:sp>
      <p:sp>
        <p:nvSpPr>
          <p:cNvPr id="4" name="TextBox 3"/>
          <p:cNvSpPr txBox="1"/>
          <p:nvPr/>
        </p:nvSpPr>
        <p:spPr>
          <a:xfrm>
            <a:off x="411480" y="1143000"/>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6</a:t>
            </a:r>
          </a:p>
        </p:txBody>
      </p:sp>
      <p:sp>
        <p:nvSpPr>
          <p:cNvPr id="5" name="TextBox 4"/>
          <p:cNvSpPr txBox="1"/>
          <p:nvPr/>
        </p:nvSpPr>
        <p:spPr>
          <a:xfrm>
            <a:off x="1417320" y="1143000"/>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6" name="TextBox 5"/>
          <p:cNvSpPr txBox="1"/>
          <p:nvPr/>
        </p:nvSpPr>
        <p:spPr>
          <a:xfrm>
            <a:off x="411480" y="2039112"/>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7</a:t>
            </a:r>
          </a:p>
        </p:txBody>
      </p:sp>
      <p:sp>
        <p:nvSpPr>
          <p:cNvPr id="7" name="TextBox 6"/>
          <p:cNvSpPr txBox="1"/>
          <p:nvPr/>
        </p:nvSpPr>
        <p:spPr>
          <a:xfrm>
            <a:off x="1417320" y="2039112"/>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8" name="TextBox 7"/>
          <p:cNvSpPr txBox="1"/>
          <p:nvPr/>
        </p:nvSpPr>
        <p:spPr>
          <a:xfrm>
            <a:off x="411480" y="2935224"/>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8</a:t>
            </a:r>
          </a:p>
        </p:txBody>
      </p:sp>
      <p:sp>
        <p:nvSpPr>
          <p:cNvPr id="9" name="TextBox 8"/>
          <p:cNvSpPr txBox="1"/>
          <p:nvPr/>
        </p:nvSpPr>
        <p:spPr>
          <a:xfrm>
            <a:off x="1417320" y="2935224"/>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0" name="TextBox 9"/>
          <p:cNvSpPr txBox="1"/>
          <p:nvPr/>
        </p:nvSpPr>
        <p:spPr>
          <a:xfrm>
            <a:off x="411480" y="3831335"/>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9</a:t>
            </a:r>
          </a:p>
        </p:txBody>
      </p:sp>
      <p:sp>
        <p:nvSpPr>
          <p:cNvPr id="11" name="TextBox 10"/>
          <p:cNvSpPr txBox="1"/>
          <p:nvPr/>
        </p:nvSpPr>
        <p:spPr>
          <a:xfrm>
            <a:off x="1417320" y="3831335"/>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2" name="TextBox 11"/>
          <p:cNvSpPr txBox="1"/>
          <p:nvPr/>
        </p:nvSpPr>
        <p:spPr>
          <a:xfrm>
            <a:off x="411480" y="4727448"/>
            <a:ext cx="914400" cy="822960"/>
          </a:xfrm>
          <a:prstGeom prst="rect">
            <a:avLst/>
          </a:prstGeom>
          <a:noFill/>
        </p:spPr>
        <p:txBody>
          <a:bodyPr wrap="square" anchor="t" lIns="0" rIns="0" tIns="0" bIns="0">
            <a:spAutoFit/>
          </a:bodyPr>
          <a:lstStyle/>
          <a:p>
            <a:pPr algn="l">
              <a:lnSpc>
                <a:spcPct val="100000"/>
              </a:lnSpc>
            </a:pPr>
            <a:r>
              <a:rPr sz="4000" b="1">
                <a:solidFill>
                  <a:srgbClr val="C2410C"/>
                </a:solidFill>
                <a:latin typeface="Arial"/>
              </a:rPr>
              <a:t>10</a:t>
            </a:r>
          </a:p>
        </p:txBody>
      </p:sp>
      <p:sp>
        <p:nvSpPr>
          <p:cNvPr id="13" name="TextBox 12"/>
          <p:cNvSpPr txBox="1"/>
          <p:nvPr/>
        </p:nvSpPr>
        <p:spPr>
          <a:xfrm>
            <a:off x="1417320" y="4727448"/>
            <a:ext cx="10362895" cy="868680"/>
          </a:xfrm>
          <a:prstGeom prst="rect">
            <a:avLst/>
          </a:prstGeom>
          <a:noFill/>
        </p:spPr>
        <p:txBody>
          <a:bodyPr wrap="square" anchor="t" lIns="0" rIns="0" tIns="0" bIns="0">
            <a:spAutoFit/>
          </a:bodyPr>
          <a:lstStyle/>
          <a:p>
            <a:pPr algn="l">
              <a:lnSpc>
                <a:spcPct val="100000"/>
              </a:lnSpc>
            </a:pPr>
            <a:r>
              <a:rPr sz="3200" b="1">
                <a:solidFill>
                  <a:srgbClr val="14202E"/>
                </a:solidFill>
                <a:latin typeface="Arial"/>
              </a:rPr>
              <a:t>________________</a:t>
            </a:r>
          </a:p>
          <a:p>
            <a:pPr algn="l">
              <a:lnSpc>
                <a:spcPct val="100000"/>
              </a:lnSpc>
            </a:pPr>
            <a:r>
              <a:rPr sz="2800" b="0">
                <a:solidFill>
                  <a:srgbClr val="4A5868"/>
                </a:solidFill>
                <a:latin typeface="Arial"/>
              </a:rPr>
              <a:t>one line from the 09 Handout</a:t>
            </a:r>
          </a:p>
        </p:txBody>
      </p:sp>
      <p:sp>
        <p:nvSpPr>
          <p:cNvPr id="14" name="Rectangle 13"/>
          <p:cNvSpPr/>
          <p:nvPr/>
        </p:nvSpPr>
        <p:spPr>
          <a:xfrm>
            <a:off x="411480" y="5696712"/>
            <a:ext cx="11368735" cy="566928"/>
          </a:xfrm>
          <a:prstGeom prst="rect">
            <a:avLst/>
          </a:prstGeom>
          <a:solidFill>
            <a:srgbClr val="0B6E6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64592" bIns="164592"/>
          <a:lstStyle/>
          <a:p>
            <a:pPr algn="l">
              <a:lnSpc>
                <a:spcPct val="100000"/>
              </a:lnSpc>
            </a:pPr>
            <a:r>
              <a:rPr sz="2800" b="1">
                <a:solidFill>
                  <a:srgbClr val="FFFFFF"/>
                </a:solidFill>
                <a:latin typeface="Arial"/>
              </a:rPr>
              <a:t>Pay for what you use.</a:t>
            </a:r>
          </a:p>
        </p:txBody>
      </p:sp>
      <p:sp>
        <p:nvSpPr>
          <p:cNvPr id="15" name="EXEMPT_FOOTER"/>
          <p:cNvSpPr txBox="1"/>
          <p:nvPr/>
        </p:nvSpPr>
        <p:spPr>
          <a:xfrm>
            <a:off x="411480" y="6382512"/>
            <a:ext cx="5120640" cy="365760"/>
          </a:xfrm>
          <a:prstGeom prst="rect">
            <a:avLst/>
          </a:prstGeom>
          <a:noFill/>
        </p:spPr>
        <p:txBody>
          <a:bodyPr wrap="square" anchor="t" lIns="0" rIns="0" tIns="0" bIns="0">
            <a:spAutoFit/>
          </a:bodyPr>
          <a:lstStyle/>
          <a:p>
            <a:pPr algn="l">
              <a:lnSpc>
                <a:spcPct val="100000"/>
              </a:lnSpc>
            </a:pPr>
            <a:r>
              <a:rPr sz="1400" b="0">
                <a:solidFill>
                  <a:srgbClr val="4A5868"/>
                </a:solidFill>
                <a:latin typeface="Arial"/>
              </a:rPr>
              <a:t>Source: 09 Handout p.2</a:t>
            </a:r>
          </a:p>
        </p:txBody>
      </p:sp>
      <p:sp>
        <p:nvSpPr>
          <p:cNvPr id="16" name="EXEMPT_PROGRESS"/>
          <p:cNvSpPr txBox="1"/>
          <p:nvPr/>
        </p:nvSpPr>
        <p:spPr>
          <a:xfrm>
            <a:off x="8503920" y="6327648"/>
            <a:ext cx="3276295" cy="411480"/>
          </a:xfrm>
          <a:prstGeom prst="rect">
            <a:avLst/>
          </a:prstGeom>
          <a:noFill/>
        </p:spPr>
        <p:txBody>
          <a:bodyPr wrap="square" anchor="t" lIns="0" rIns="0" tIns="0" bIns="0">
            <a:spAutoFit/>
          </a:bodyPr>
          <a:lstStyle/>
          <a:p>
            <a:pPr algn="r">
              <a:lnSpc>
                <a:spcPct val="100000"/>
              </a:lnSpc>
            </a:pPr>
            <a:r>
              <a:rPr sz="2200" b="1">
                <a:solidFill>
                  <a:srgbClr val="4A5868"/>
                </a:solidFill>
                <a:latin typeface="Arial"/>
              </a:rPr>
              <a:t>Part 8 · 7 of 7</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Rectangle 1"/>
          <p:cNvSpPr/>
          <p:nvPr/>
        </p:nvSpPr>
        <p:spPr>
          <a:xfrm>
            <a:off x="0" y="0"/>
            <a:ext cx="128016" cy="685800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74320"/>
            <a:ext cx="11368735" cy="731520"/>
          </a:xfrm>
          <a:prstGeom prst="rect">
            <a:avLst/>
          </a:prstGeom>
          <a:noFill/>
        </p:spPr>
        <p:txBody>
          <a:bodyPr wrap="square" anchor="t" lIns="0" rIns="0" tIns="0" bIns="0">
            <a:spAutoFit/>
          </a:bodyPr>
          <a:lstStyle/>
          <a:p>
            <a:pPr algn="l">
              <a:lnSpc>
                <a:spcPct val="100000"/>
              </a:lnSpc>
            </a:pPr>
            <a:r>
              <a:rPr sz="3600" b="1">
                <a:solidFill>
                  <a:srgbClr val="14202E"/>
                </a:solidFill>
                <a:latin typeface="Arial"/>
              </a:rPr>
              <a:t>All commands on one slide</a:t>
            </a:r>
          </a:p>
        </p:txBody>
      </p:sp>
      <p:sp>
        <p:nvSpPr>
          <p:cNvPr id="4" name="Rectangle 3"/>
          <p:cNvSpPr/>
          <p:nvPr/>
        </p:nvSpPr>
        <p:spPr>
          <a:xfrm>
            <a:off x="411480" y="1097280"/>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09728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Create</a:t>
            </a:r>
          </a:p>
        </p:txBody>
      </p:sp>
      <p:sp>
        <p:nvSpPr>
          <p:cNvPr id="6" name="TextBox 5"/>
          <p:cNvSpPr txBox="1"/>
          <p:nvPr/>
        </p:nvSpPr>
        <p:spPr>
          <a:xfrm>
            <a:off x="3063240" y="109728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insertOne  insertMany</a:t>
            </a:r>
          </a:p>
        </p:txBody>
      </p:sp>
      <p:sp>
        <p:nvSpPr>
          <p:cNvPr id="7" name="Rectangle 6"/>
          <p:cNvSpPr/>
          <p:nvPr/>
        </p:nvSpPr>
        <p:spPr>
          <a:xfrm>
            <a:off x="411480" y="1609344"/>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60934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Delete</a:t>
            </a:r>
          </a:p>
        </p:txBody>
      </p:sp>
      <p:sp>
        <p:nvSpPr>
          <p:cNvPr id="9" name="TextBox 8"/>
          <p:cNvSpPr txBox="1"/>
          <p:nvPr/>
        </p:nvSpPr>
        <p:spPr>
          <a:xfrm>
            <a:off x="3063240" y="160934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deleteOne  deleteMany</a:t>
            </a:r>
          </a:p>
        </p:txBody>
      </p:sp>
      <p:sp>
        <p:nvSpPr>
          <p:cNvPr id="10" name="Rectangle 9"/>
          <p:cNvSpPr/>
          <p:nvPr/>
        </p:nvSpPr>
        <p:spPr>
          <a:xfrm>
            <a:off x="411480" y="2121408"/>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212140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Read</a:t>
            </a:r>
          </a:p>
        </p:txBody>
      </p:sp>
      <p:sp>
        <p:nvSpPr>
          <p:cNvPr id="12" name="TextBox 11"/>
          <p:cNvSpPr txBox="1"/>
          <p:nvPr/>
        </p:nvSpPr>
        <p:spPr>
          <a:xfrm>
            <a:off x="3063240" y="212140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find  findOne</a:t>
            </a:r>
          </a:p>
        </p:txBody>
      </p:sp>
      <p:sp>
        <p:nvSpPr>
          <p:cNvPr id="13" name="Rectangle 12"/>
          <p:cNvSpPr/>
          <p:nvPr/>
        </p:nvSpPr>
        <p:spPr>
          <a:xfrm>
            <a:off x="411480" y="2633472"/>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63347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Change</a:t>
            </a:r>
          </a:p>
        </p:txBody>
      </p:sp>
      <p:sp>
        <p:nvSpPr>
          <p:cNvPr id="15" name="TextBox 14"/>
          <p:cNvSpPr txBox="1"/>
          <p:nvPr/>
        </p:nvSpPr>
        <p:spPr>
          <a:xfrm>
            <a:off x="3063240" y="263347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replaceOne  updateOne  updateMany</a:t>
            </a:r>
          </a:p>
        </p:txBody>
      </p:sp>
      <p:sp>
        <p:nvSpPr>
          <p:cNvPr id="16" name="Rectangle 15"/>
          <p:cNvSpPr/>
          <p:nvPr/>
        </p:nvSpPr>
        <p:spPr>
          <a:xfrm>
            <a:off x="411480" y="3145536"/>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48640" y="3145536"/>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Fields</a:t>
            </a:r>
          </a:p>
        </p:txBody>
      </p:sp>
      <p:sp>
        <p:nvSpPr>
          <p:cNvPr id="18" name="TextBox 17"/>
          <p:cNvSpPr txBox="1"/>
          <p:nvPr/>
        </p:nvSpPr>
        <p:spPr>
          <a:xfrm>
            <a:off x="3063240" y="3145536"/>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$set  $unset</a:t>
            </a:r>
          </a:p>
        </p:txBody>
      </p:sp>
      <p:sp>
        <p:nvSpPr>
          <p:cNvPr id="19" name="Rectangle 18"/>
          <p:cNvSpPr/>
          <p:nvPr/>
        </p:nvSpPr>
        <p:spPr>
          <a:xfrm>
            <a:off x="411480" y="3657600"/>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48640" y="3657600"/>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Compare</a:t>
            </a:r>
          </a:p>
        </p:txBody>
      </p:sp>
      <p:sp>
        <p:nvSpPr>
          <p:cNvPr id="21" name="TextBox 20"/>
          <p:cNvSpPr txBox="1"/>
          <p:nvPr/>
        </p:nvSpPr>
        <p:spPr>
          <a:xfrm>
            <a:off x="3063240" y="3657600"/>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$lt  $lte  $gt  $gte</a:t>
            </a:r>
          </a:p>
        </p:txBody>
      </p:sp>
      <p:sp>
        <p:nvSpPr>
          <p:cNvPr id="22" name="Rectangle 21"/>
          <p:cNvSpPr/>
          <p:nvPr/>
        </p:nvSpPr>
        <p:spPr>
          <a:xfrm>
            <a:off x="411480" y="4169664"/>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4169664"/>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Choose</a:t>
            </a:r>
          </a:p>
        </p:txBody>
      </p:sp>
      <p:sp>
        <p:nvSpPr>
          <p:cNvPr id="24" name="TextBox 23"/>
          <p:cNvSpPr txBox="1"/>
          <p:nvPr/>
        </p:nvSpPr>
        <p:spPr>
          <a:xfrm>
            <a:off x="3063240" y="4169664"/>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$in  $or  $not</a:t>
            </a:r>
          </a:p>
        </p:txBody>
      </p:sp>
      <p:sp>
        <p:nvSpPr>
          <p:cNvPr id="25" name="Rectangle 24"/>
          <p:cNvSpPr/>
          <p:nvPr/>
        </p:nvSpPr>
        <p:spPr>
          <a:xfrm>
            <a:off x="411480" y="4681728"/>
            <a:ext cx="11368735" cy="475488"/>
          </a:xfrm>
          <a:prstGeom prst="rect">
            <a:avLst/>
          </a:prstGeom>
          <a:solidFill>
            <a:srgbClr val="EEF1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48640" y="4681728"/>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Arrays</a:t>
            </a:r>
          </a:p>
        </p:txBody>
      </p:sp>
      <p:sp>
        <p:nvSpPr>
          <p:cNvPr id="27" name="TextBox 26"/>
          <p:cNvSpPr txBox="1"/>
          <p:nvPr/>
        </p:nvSpPr>
        <p:spPr>
          <a:xfrm>
            <a:off x="3063240" y="4681728"/>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Courier New"/>
              </a:rPr>
              <a:t>$all  $size  "fruit.2"  $slice</a:t>
            </a:r>
          </a:p>
        </p:txBody>
      </p:sp>
      <p:sp>
        <p:nvSpPr>
          <p:cNvPr id="28" name="Rectangle 27"/>
          <p:cNvSpPr/>
          <p:nvPr/>
        </p:nvSpPr>
        <p:spPr>
          <a:xfrm>
            <a:off x="411480" y="5193792"/>
            <a:ext cx="11368735"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48640" y="5193792"/>
            <a:ext cx="2377440" cy="475488"/>
          </a:xfrm>
          <a:prstGeom prst="rect">
            <a:avLst/>
          </a:prstGeom>
          <a:noFill/>
        </p:spPr>
        <p:txBody>
          <a:bodyPr wrap="square" anchor="ctr" lIns="0" rIns="0" tIns="0" bIns="0">
            <a:spAutoFit/>
          </a:bodyPr>
          <a:lstStyle/>
          <a:p>
            <a:pPr algn="l">
              <a:lnSpc>
                <a:spcPct val="100000"/>
              </a:lnSpc>
            </a:pPr>
            <a:r>
              <a:rPr sz="2800" b="1">
                <a:solidFill>
                  <a:srgbClr val="14202E"/>
                </a:solidFill>
                <a:latin typeface="Arial"/>
              </a:rPr>
              <a:t>Cloud</a:t>
            </a:r>
          </a:p>
        </p:txBody>
      </p:sp>
      <p:sp>
        <p:nvSpPr>
          <p:cNvPr id="30" name="TextBox 29"/>
          <p:cNvSpPr txBox="1"/>
          <p:nvPr/>
        </p:nvSpPr>
        <p:spPr>
          <a:xfrm>
            <a:off x="3063240" y="5193792"/>
            <a:ext cx="8625535" cy="475488"/>
          </a:xfrm>
          <a:prstGeom prst="rect">
            <a:avLst/>
          </a:prstGeom>
          <a:noFill/>
        </p:spPr>
        <p:txBody>
          <a:bodyPr wrap="none" anchor="ctr" lIns="0" rIns="0" tIns="0" bIns="0">
            <a:spAutoFit/>
          </a:bodyPr>
          <a:lstStyle/>
          <a:p>
            <a:pPr algn="l">
              <a:lnSpc>
                <a:spcPct val="100000"/>
              </a:lnSpc>
            </a:pPr>
            <a:r>
              <a:rPr sz="2800" b="0">
                <a:solidFill>
                  <a:srgbClr val="14202E"/>
                </a:solidFill>
                <a:latin typeface="Arial"/>
              </a:rPr>
              <a:t>Public · Private · Hybrid | SaaS · PaaS · IaaS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