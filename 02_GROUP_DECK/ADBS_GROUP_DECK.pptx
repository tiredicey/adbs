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video, 35 seconds. Click the video once to play it (or press Alt + P). When it ends, press the right arrow key for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each presenter's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292 words, about 2 min 15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16):</a:t>
            </a:r>
          </a:p>
          <a:p>
            <a:r>
              <a:t>First, four words. In SQL we say table, row and column. In MongoDB we say collection, document and field. A collection is like a table with a flexible schema. A document is one record. Every document has a unique underscore I D.</a:t>
            </a:r>
          </a:p>
          <a:p/>
          <a:p>
            <a:r>
              <a:t>Source: 07 Handout p.2-3, Table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16):</a:t>
            </a:r>
          </a:p>
          <a:p>
            <a:r>
              <a:t>insertOne adds one document. Before: the movies collection is empty, so nothing prints. We insert one movie, Stand by Me. We did not give an underscore I D, so MongoDB made one for us.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16):</a:t>
            </a:r>
          </a:p>
          <a:p>
            <a:r>
              <a:t>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16):</a:t>
            </a:r>
          </a:p>
          <a:p>
            <a:r>
              <a:t>insertMany adds many documents with one command. We pass an array, in square brackets. Before: only Stand by Me. 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16):</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16):</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16):</a:t>
            </a:r>
          </a:p>
          <a:p>
            <a:r>
              <a:t>Now an error on purpose. 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16):</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16):</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16):</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16):</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16):</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16):</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16):</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16 of 16):</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21):</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21):</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21):</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21):</a:t>
            </a:r>
          </a:p>
          <a:p>
            <a:r>
              <a:t>(No new words. Let the class read this slide, then click.)</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21):</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21):</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21):</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21):</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21):</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21):</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21):</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21):</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21):</a:t>
            </a:r>
          </a:p>
          <a:p>
            <a:r>
              <a:t>Dollar set can reach inside an embedded document. 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21):</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21):</a:t>
            </a:r>
          </a:p>
          <a:p>
            <a:r>
              <a:t>updateMany works like updateOne and takes the same parameters. 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21):</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21 of 21):</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three handouts and the references they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pic>
        <p:nvPicPr>
          <p:cNvPr id="2" name="OPENER_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Shared group deck · Part 1 is done · Parts 2-8: fill the orange boxes</a:t>
            </a:r>
          </a:p>
        </p:txBody>
      </p:sp>
      <p:sp>
        <p:nvSpPr>
          <p:cNvPr id="6" name="TextBox 5"/>
          <p:cNvSpPr txBox="1"/>
          <p:nvPr/>
        </p:nvSpPr>
        <p:spPr>
          <a:xfrm>
            <a:off x="411480" y="5577840"/>
            <a:ext cx="11368735" cy="8229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Group: __________   Section: ______   Date: ________</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'Who presents what' slide lists the parts. Type your name next to yours.</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Win + Shift + S. Click the box's edge, press Delete, then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Who presents what</a:t>
            </a:r>
          </a:p>
        </p:txBody>
      </p:sp>
      <p:graphicFrame>
        <p:nvGraphicFramePr>
          <p:cNvPr id="4" name="Table 3"/>
          <p:cNvGraphicFramePr>
            <a:graphicFrameLocks noGrp="1"/>
          </p:cNvGraphicFramePr>
          <p:nvPr/>
        </p:nvGraphicFramePr>
        <p:xfrm>
          <a:off x="411480" y="1097280"/>
          <a:ext cx="11368735" cy="4773168"/>
        </p:xfrm>
        <a:graphic>
          <a:graphicData uri="http://schemas.openxmlformats.org/drawingml/2006/table">
            <a:tbl>
              <a:tblPr firstRow="1" bandRow="1">
                <a:tableStyleId>{5C22544A-7EE6-4342-B048-85BDC9FD1C3A}</a:tableStyleId>
              </a:tblPr>
              <a:tblGrid>
                <a:gridCol w="1188720"/>
                <a:gridCol w="6217920"/>
                <a:gridCol w="3962095"/>
              </a:tblGrid>
              <a:tr h="530352">
                <a:tc>
                  <a:txBody>
                    <a:bodyPr wrap="square" anchor="t" lIns="73152" rIns="73152" tIns="73152" bIns="73152"/>
                    <a:lstStyle/>
                    <a:p>
                      <a:pPr algn="l">
                        <a:lnSpc>
                          <a:spcPct val="100000"/>
                        </a:lnSpc>
                      </a:pPr>
                      <a:r>
                        <a:rPr sz="2800" b="1">
                          <a:solidFill>
                            <a:srgbClr val="FFFFFF"/>
                          </a:solidFill>
                          <a:latin typeface="Arial"/>
                        </a:rPr>
                        <a:t>Part</a:t>
                      </a:r>
                    </a:p>
                  </a:txBody>
                  <a:tcPr>
                    <a:solidFill>
                      <a:srgbClr val="14202E"/>
                    </a:solidFill>
                  </a:tcPr>
                </a:tc>
                <a:tc>
                  <a:txBody>
                    <a:bodyPr wrap="square" anchor="t" lIns="73152" rIns="73152" tIns="73152" bIns="73152"/>
                    <a:lstStyle/>
                    <a:p>
                      <a:pPr algn="l">
                        <a:lnSpc>
                          <a:spcPct val="100000"/>
                        </a:lnSpc>
                      </a:pPr>
                      <a:r>
                        <a:rPr sz="2800" b="1">
                          <a:solidFill>
                            <a:srgbClr val="FFFFFF"/>
                          </a:solidFill>
                          <a:latin typeface="Arial"/>
                        </a:rPr>
                        <a:t>Topic</a:t>
                      </a:r>
                    </a:p>
                  </a:txBody>
                  <a:tcPr>
                    <a:solidFill>
                      <a:srgbClr val="14202E"/>
                    </a:solidFill>
                  </a:tcPr>
                </a:tc>
                <a:tc>
                  <a:txBody>
                    <a:bodyPr wrap="square" anchor="t" lIns="73152" rIns="73152" tIns="73152" bIns="73152"/>
                    <a:lstStyle/>
                    <a:p>
                      <a:pPr algn="l">
                        <a:lnSpc>
                          <a:spcPct val="100000"/>
                        </a:lnSpc>
                      </a:pPr>
                      <a:r>
                        <a:rPr sz="2800" b="1">
                          <a:solidFill>
                            <a:srgbClr val="FFFFFF"/>
                          </a:solidFill>
                          <a:latin typeface="Arial"/>
                        </a:rPr>
                        <a:t>Presenter</a:t>
                      </a:r>
                    </a:p>
                  </a:txBody>
                  <a:tcPr>
                    <a:solidFill>
                      <a:srgbClr val="14202E"/>
                    </a:solidFill>
                  </a:tcPr>
                </a:tc>
              </a:tr>
              <a:tr h="530352">
                <a:tc>
                  <a:txBody>
                    <a:bodyPr wrap="square" anchor="t" lIns="73152" rIns="73152" tIns="73152" bIns="73152"/>
                    <a:lstStyle/>
                    <a:p>
                      <a:pPr algn="l">
                        <a:lnSpc>
                          <a:spcPct val="100000"/>
                        </a:lnSpc>
                      </a:pPr>
                      <a:r>
                        <a:rPr sz="2800" b="0">
                          <a:solidFill>
                            <a:srgbClr val="14202E"/>
                          </a:solidFill>
                          <a:latin typeface="Arial"/>
                        </a:rPr>
                        <a:t>1</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Create &amp; Delete</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2</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Find, Replace &amp; Update</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r h="530352">
                <a:tc>
                  <a:txBody>
                    <a:bodyPr wrap="square" anchor="t" lIns="73152" rIns="73152" tIns="73152" bIns="73152"/>
                    <a:lstStyle/>
                    <a:p>
                      <a:pPr algn="l">
                        <a:lnSpc>
                          <a:spcPct val="100000"/>
                        </a:lnSpc>
                      </a:pPr>
                      <a:r>
                        <a:rPr sz="2800" b="0">
                          <a:solidFill>
                            <a:srgbClr val="14202E"/>
                          </a:solidFill>
                          <a:latin typeface="Arial"/>
                        </a:rPr>
                        <a:t>3</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Comparison Operators</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4</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$in, $or, $not</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r h="530352">
                <a:tc>
                  <a:txBody>
                    <a:bodyPr wrap="square" anchor="t" lIns="73152" rIns="73152" tIns="73152" bIns="73152"/>
                    <a:lstStyle/>
                    <a:p>
                      <a:pPr algn="l">
                        <a:lnSpc>
                          <a:spcPct val="100000"/>
                        </a:lnSpc>
                      </a:pPr>
                      <a:r>
                        <a:rPr sz="2800" b="0">
                          <a:solidFill>
                            <a:srgbClr val="14202E"/>
                          </a:solidFill>
                          <a:latin typeface="Arial"/>
                        </a:rPr>
                        <a:t>5</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Querying Arrays</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6</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$slice &amp; Embedded Documents</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r h="530352">
                <a:tc>
                  <a:txBody>
                    <a:bodyPr wrap="square" anchor="t" lIns="73152" rIns="73152" tIns="73152" bIns="73152"/>
                    <a:lstStyle/>
                    <a:p>
                      <a:pPr algn="l">
                        <a:lnSpc>
                          <a:spcPct val="100000"/>
                        </a:lnSpc>
                      </a:pPr>
                      <a:r>
                        <a:rPr sz="2800" b="0">
                          <a:solidFill>
                            <a:srgbClr val="14202E"/>
                          </a:solidFill>
                          <a:latin typeface="Arial"/>
                        </a:rPr>
                        <a:t>7</a:t>
                      </a:r>
                    </a:p>
                  </a:txBody>
                  <a:tcPr>
                    <a:solidFill>
                      <a:srgbClr val="FFFFFF"/>
                    </a:solidFill>
                  </a:tcPr>
                </a:tc>
                <a:tc>
                  <a:txBody>
                    <a:bodyPr wrap="square" anchor="t" lIns="73152" rIns="73152" tIns="73152" bIns="73152"/>
                    <a:lstStyle/>
                    <a:p>
                      <a:pPr algn="l">
                        <a:lnSpc>
                          <a:spcPct val="100000"/>
                        </a:lnSpc>
                      </a:pPr>
                      <a:r>
                        <a:rPr sz="2400" b="0">
                          <a:solidFill>
                            <a:srgbClr val="14202E"/>
                          </a:solidFill>
                          <a:latin typeface="Arial"/>
                        </a:rPr>
                        <a:t>Cloud Computing &amp; Implementation Types</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8</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Cloud Service Types &amp; Benefits</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16 slides · about 2 min 15 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Tables are collections. Rows are documents.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SQL</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MongoDB</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Database</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Database</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Table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Collection</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Row</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Document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Column</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Field</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Same idea, new words.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07 Handout p.2-3, Table 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db.movies.insertOne({"title" : "Stand by Me"})</a:t>
            </a:r>
          </a:p>
        </p:txBody>
      </p:sp>
      <p:sp>
        <p:nvSpPr>
          <p:cNvPr id="7" name="EXEMPT_PASTE"/>
          <p:cNvSpPr/>
          <p:nvPr/>
        </p:nvSpPr>
        <p:spPr>
          <a:xfrm>
            <a:off x="411480" y="3739896"/>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db.movies.insertMany([{"title" : "Ghostbusters"},</a:t>
            </a:r>
          </a:p>
          <a:p>
            <a:pPr algn="l">
              <a:lnSpc>
                <a:spcPct val="100000"/>
              </a:lnSpc>
            </a:pPr>
            <a:r>
              <a:rPr sz="2800" b="0">
                <a:solidFill>
                  <a:srgbClr val="E6ECF2"/>
                </a:solidFill>
                <a:latin typeface="Courier New"/>
              </a:rPr>
              <a:t>  {"title" : "E.T."},</a:t>
            </a:r>
          </a:p>
          <a:p>
            <a:pPr algn="l">
              <a:lnSpc>
                <a:spcPct val="100000"/>
              </a:lnSpc>
            </a:pPr>
            <a:r>
              <a:rPr sz="2800" b="0">
                <a:solidFill>
                  <a:srgbClr val="E6ECF2"/>
                </a:solidFill>
                <a:latin typeface="Courier New"/>
              </a:rPr>
              <a:t>  {"title" : "Blade Runner"}])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6"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E6ECF2"/>
                </a:solidFill>
                <a:latin typeface="Courier New"/>
              </a:rPr>
              <a:t>  {"ordered" : false})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6"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db.ordered.insertMany([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303580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5876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5020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db.movies.deleteOne({"_id" : 4})</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8172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7316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db.movies.deleteMany({"year" : 1985})</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2432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16 of 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21 slides · about 2 min 08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db.users.findOne({"name" : "Joe"})</a:t>
            </a:r>
          </a:p>
        </p:txBody>
      </p:sp>
      <p:sp>
        <p:nvSpPr>
          <p:cNvPr id="6" name="EXEMPT_PASTE"/>
          <p:cNvSpPr/>
          <p:nvPr/>
        </p:nvSpPr>
        <p:spPr>
          <a:xfrm>
            <a:off x="411480" y="2212848"/>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var Joe = db.users.findOne({"name" : "Joe"});</a:t>
            </a:r>
          </a:p>
          <a:p>
            <a:pPr algn="l">
              <a:lnSpc>
                <a:spcPct val="100000"/>
              </a:lnSpc>
            </a:pPr>
            <a:r>
              <a:rPr sz="2800" b="0">
                <a:solidFill>
                  <a:srgbClr val="E6ECF2"/>
                </a:solidFill>
                <a:latin typeface="Courier New"/>
              </a:rPr>
              <a:t>Joe.relationships = {"friends" : Joe.friends,</a:t>
            </a:r>
          </a:p>
          <a:p>
            <a:pPr algn="l">
              <a:lnSpc>
                <a:spcPct val="100000"/>
              </a:lnSpc>
            </a:pPr>
            <a:r>
              <a:rPr sz="2800" b="0">
                <a:solidFill>
                  <a:srgbClr val="E6ECF2"/>
                </a:solidFill>
                <a:latin typeface="Courier New"/>
              </a:rPr>
              <a:t>  "enemies" : Joe.enemies};</a:t>
            </a:r>
          </a:p>
          <a:p>
            <a:pPr algn="l">
              <a:lnSpc>
                <a:spcPct val="100000"/>
              </a:lnSpc>
            </a:pPr>
            <a:r>
              <a:rPr sz="2800" b="0">
                <a:solidFill>
                  <a:srgbClr val="E6ECF2"/>
                </a:solidFill>
                <a:latin typeface="Courier New"/>
              </a:rPr>
              <a:t>Joe.username = Joe.name;</a:t>
            </a:r>
          </a:p>
          <a:p>
            <a:pPr algn="l">
              <a:lnSpc>
                <a:spcPct val="100000"/>
              </a:lnSpc>
            </a:pPr>
            <a:r>
              <a:rPr sz="2800" b="0">
                <a:solidFill>
                  <a:srgbClr val="E6ECF2"/>
                </a:solidFill>
                <a:latin typeface="Courier New"/>
              </a:rPr>
              <a:t>delete Joe.friends; delete Joe.enemies;</a:t>
            </a:r>
          </a:p>
          <a:p>
            <a:pPr algn="l">
              <a:lnSpc>
                <a:spcPct val="100000"/>
              </a:lnSpc>
            </a:pPr>
            <a:r>
              <a:rPr sz="2800" b="0">
                <a:solidFill>
                  <a:srgbClr val="E6ECF2"/>
                </a:solidFill>
                <a:latin typeface="Courier New"/>
              </a:rPr>
              <a:t>delete Joe.name;</a:t>
            </a:r>
          </a:p>
          <a:p>
            <a:pPr algn="l">
              <a:lnSpc>
                <a:spcPct val="100000"/>
              </a:lnSpc>
            </a:pPr>
            <a:r>
              <a:rPr sz="2800" b="0">
                <a:solidFill>
                  <a:srgbClr val="E6ECF2"/>
                </a:solidFill>
                <a:latin typeface="Courier New"/>
              </a:rPr>
              <a:t>db.users.replaceOne({"name" : "Joe"}, Joe)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27024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36168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"Green Eggs and Ham"}})</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["Cat's Cradle", "Foundation Trilogy",</a:t>
            </a:r>
          </a:p>
          <a:p>
            <a:pPr algn="l">
              <a:lnSpc>
                <a:spcPct val="100000"/>
              </a:lnSpc>
            </a:pPr>
            <a:r>
              <a:rPr sz="2800" b="0">
                <a:solidFill>
                  <a:srgbClr val="E6ECF2"/>
                </a:solidFill>
                <a:latin typeface="Courier New"/>
              </a:rPr>
              <a:t>   "Ender's Game"]}})</a:t>
            </a:r>
          </a:p>
        </p:txBody>
      </p:sp>
      <p:sp>
        <p:nvSpPr>
          <p:cNvPr id="6" name="EXEMPT_PASTE"/>
          <p:cNvSpPr/>
          <p:nvPr/>
        </p:nvSpPr>
        <p:spPr>
          <a:xfrm>
            <a:off x="411480" y="344728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{"$unset" : {"favorite book" : 1}})</a:t>
            </a:r>
          </a:p>
        </p:txBody>
      </p:sp>
      <p:sp>
        <p:nvSpPr>
          <p:cNvPr id="6" name="EXEMPT_PASTE"/>
          <p:cNvSpPr/>
          <p:nvPr/>
        </p:nvSpPr>
        <p:spPr>
          <a:xfrm>
            <a:off x="411480" y="262432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8172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7316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db.books.updateOne({"author.name" : "Nicole"},</a:t>
            </a:r>
          </a:p>
          <a:p>
            <a:pPr algn="l">
              <a:lnSpc>
                <a:spcPct val="100000"/>
              </a:lnSpc>
            </a:pPr>
            <a:r>
              <a:rPr sz="2800" b="0">
                <a:solidFill>
                  <a:srgbClr val="E6ECF2"/>
                </a:solidFill>
                <a:latin typeface="Courier New"/>
              </a:rPr>
              <a:t>  {"$set" : {"author.name" : "Nicole Tagayon"}})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5876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5020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db.users.updateMany({"birthday" : "10/13/1978"},</a:t>
            </a:r>
          </a:p>
          <a:p>
            <a:pPr algn="l">
              <a:lnSpc>
                <a:spcPct val="100000"/>
              </a:lnSpc>
            </a:pPr>
            <a:r>
              <a:rPr sz="2800" b="0">
                <a:solidFill>
                  <a:srgbClr val="E6ECF2"/>
                </a:solidFill>
                <a:latin typeface="Courier New"/>
              </a:rPr>
              <a:t>  {"$set" : {"gift" : "Happy Birthday!"}})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21 of 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2743200"/>
                <a:gridCol w="5882335"/>
                <a:gridCol w="2743200"/>
              </a:tblGrid>
              <a:tr h="713232">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{"$lt" : 18}})</a:t>
            </a:r>
          </a:p>
        </p:txBody>
      </p:sp>
      <p:sp>
        <p:nvSpPr>
          <p:cNvPr id="6" name="EXEMPT_PASTE"/>
          <p:cNvSpPr/>
          <p:nvPr/>
        </p:nvSpPr>
        <p:spPr>
          <a:xfrm>
            <a:off x="411480" y="221284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3989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31335"/>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{"$lte" : 18}})</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EXEMPT_PASTE"/>
          <p:cNvSpPr/>
          <p:nvPr/>
        </p:nvSpPr>
        <p:spPr>
          <a:xfrm>
            <a:off x="411480" y="1097280"/>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 : 30}})</a:t>
            </a:r>
          </a:p>
        </p:txBody>
      </p:sp>
      <p:sp>
        <p:nvSpPr>
          <p:cNvPr id="6" name="EXEMPT_PASTE"/>
          <p:cNvSpPr/>
          <p:nvPr/>
        </p:nvSpPr>
        <p:spPr>
          <a:xfrm>
            <a:off x="411480" y="221284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3989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31335"/>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{"$gte" : 30}})</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EXEMPT_PASTE"/>
          <p:cNvSpPr/>
          <p:nvPr/>
        </p:nvSpPr>
        <p:spPr>
          <a:xfrm>
            <a:off x="411480" y="1097280"/>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{"$gte" : 18, "$lte" : 30}})</a:t>
            </a:r>
          </a:p>
        </p:txBody>
      </p:sp>
      <p:sp>
        <p:nvSpPr>
          <p:cNvPr id="6" name="EXEMPT_PASTE"/>
          <p:cNvSpPr/>
          <p:nvPr/>
        </p:nvSpPr>
        <p:spPr>
          <a:xfrm>
            <a:off x="411480" y="221284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22 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db.raffle.find({"ticket_no" :</a:t>
            </a:r>
          </a:p>
          <a:p>
            <a:pPr algn="l">
              <a:lnSpc>
                <a:spcPct val="100000"/>
              </a:lnSpc>
            </a:pPr>
            <a:r>
              <a:rPr sz="2800" b="0">
                <a:solidFill>
                  <a:srgbClr val="E6ECF2"/>
                </a:solidFill>
                <a:latin typeface="Courier New"/>
              </a:rPr>
              <a:t>  {"$in" : [725, 542, 390]}})</a:t>
            </a:r>
          </a:p>
        </p:txBody>
      </p:sp>
      <p:sp>
        <p:nvSpPr>
          <p:cNvPr id="6" name="EXEMPT_PASTE"/>
          <p:cNvSpPr/>
          <p:nvPr/>
        </p:nvSpPr>
        <p:spPr>
          <a:xfrm>
            <a:off x="411480" y="262432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db.raffle.find({"$or" : [{"ticket_no" : 725},</a:t>
            </a:r>
          </a:p>
          <a:p>
            <a:pPr algn="l">
              <a:lnSpc>
                <a:spcPct val="100000"/>
              </a:lnSpc>
            </a:pPr>
            <a:r>
              <a:rPr sz="2800" b="0">
                <a:solidFill>
                  <a:srgbClr val="E6ECF2"/>
                </a:solidFill>
                <a:latin typeface="Courier New"/>
              </a:rPr>
              <a:t>  {"winner" : true}]})</a:t>
            </a:r>
          </a:p>
        </p:txBody>
      </p:sp>
      <p:sp>
        <p:nvSpPr>
          <p:cNvPr id="6"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t>
            </a:r>
          </a:p>
        </p:txBody>
      </p:sp>
      <p:sp>
        <p:nvSpPr>
          <p:cNvPr id="6" name="EXEMPT_PASTE"/>
          <p:cNvSpPr/>
          <p:nvPr/>
        </p:nvSpPr>
        <p:spPr>
          <a:xfrm>
            <a:off x="411480" y="221284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db.users.find({salary:</a:t>
            </a:r>
          </a:p>
          <a:p>
            <a:pPr algn="l">
              <a:lnSpc>
                <a:spcPct val="100000"/>
              </a:lnSpc>
            </a:pPr>
            <a:r>
              <a:rPr sz="2800" b="0">
                <a:solidFill>
                  <a:srgbClr val="E6ECF2"/>
                </a:solidFill>
                <a:latin typeface="Courier New"/>
              </a:rPr>
              <a:t>  {$not: {$gt: 10000}}}).pretty()</a:t>
            </a:r>
          </a:p>
        </p:txBody>
      </p:sp>
      <p:sp>
        <p:nvSpPr>
          <p:cNvPr id="6"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26 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db.food.insertOne({"_id" : 1,</a:t>
            </a:r>
          </a:p>
          <a:p>
            <a:pPr algn="l">
              <a:lnSpc>
                <a:spcPct val="100000"/>
              </a:lnSpc>
            </a:pPr>
            <a:r>
              <a:rPr sz="2800" b="0">
                <a:solidFill>
                  <a:srgbClr val="E6ECF2"/>
                </a:solidFill>
                <a:latin typeface="Courier New"/>
              </a:rPr>
              <a:t>  "fruit" : ["apple", "banana", "peach"]})</a:t>
            </a:r>
          </a:p>
          <a:p>
            <a:pPr algn="l">
              <a:lnSpc>
                <a:spcPct val="100000"/>
              </a:lnSpc>
            </a:pPr>
            <a:r>
              <a:rPr sz="2800" b="0">
                <a:solidFill>
                  <a:srgbClr val="E6ECF2"/>
                </a:solidFill>
                <a:latin typeface="Courier New"/>
              </a:rPr>
              <a:t>db.food.insertOne({"_id" : 2,</a:t>
            </a:r>
          </a:p>
          <a:p>
            <a:pPr algn="l">
              <a:lnSpc>
                <a:spcPct val="100000"/>
              </a:lnSpc>
            </a:pPr>
            <a:r>
              <a:rPr sz="2800" b="0">
                <a:solidFill>
                  <a:srgbClr val="E6ECF2"/>
                </a:solidFill>
                <a:latin typeface="Courier New"/>
              </a:rPr>
              <a:t>  "fruit" : ["apple", "kumquat", "orange"]})</a:t>
            </a:r>
          </a:p>
          <a:p>
            <a:pPr algn="l">
              <a:lnSpc>
                <a:spcPct val="100000"/>
              </a:lnSpc>
            </a:pPr>
            <a:r>
              <a:rPr sz="2800" b="0">
                <a:solidFill>
                  <a:srgbClr val="E6ECF2"/>
                </a:solidFill>
                <a:latin typeface="Courier New"/>
              </a:rPr>
              <a:t>db.food.insertOne({"_id" : 3,</a:t>
            </a:r>
          </a:p>
          <a:p>
            <a:pPr algn="l">
              <a:lnSpc>
                <a:spcPct val="100000"/>
              </a:lnSpc>
            </a:pPr>
            <a:r>
              <a:rPr sz="2800" b="0">
                <a:solidFill>
                  <a:srgbClr val="E6ECF2"/>
                </a:solidFill>
                <a:latin typeface="Courier New"/>
              </a:rPr>
              <a:t>  "fruit" : ["cherry", "banana", "apple"]})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"banana"})</a:t>
            </a:r>
          </a:p>
        </p:txBody>
      </p:sp>
      <p:sp>
        <p:nvSpPr>
          <p:cNvPr id="6" name="EXEMPT_PASTE"/>
          <p:cNvSpPr/>
          <p:nvPr/>
        </p:nvSpPr>
        <p:spPr>
          <a:xfrm>
            <a:off x="411480" y="221284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{$all : ["apple", "banana"]}})</a:t>
            </a:r>
          </a:p>
        </p:txBody>
      </p:sp>
      <p:sp>
        <p:nvSpPr>
          <p:cNvPr id="6" name="EXEMPT_PASTE"/>
          <p:cNvSpPr/>
          <p:nvPr/>
        </p:nvSpPr>
        <p:spPr>
          <a:xfrm>
            <a:off x="411480" y="221284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db.food.find({"fruit.2" : "peach"})</a:t>
            </a:r>
          </a:p>
        </p:txBody>
      </p:sp>
      <p:sp>
        <p:nvSpPr>
          <p:cNvPr id="6" name="EXEMPT_PASTE"/>
          <p:cNvSpPr/>
          <p:nvPr/>
        </p:nvSpPr>
        <p:spPr>
          <a:xfrm>
            <a:off x="411480" y="221284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{"$size" : 3}})</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10 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8FA3B8"/>
                </a:solidFill>
                <a:latin typeface="Courier New"/>
              </a:rPr>
              <a:t>// practice post: 40 comments, c1 to c40</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[23,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db.people.find({"name.first" : "John",</a:t>
            </a:r>
          </a:p>
          <a:p>
            <a:pPr algn="l">
              <a:lnSpc>
                <a:spcPct val="100000"/>
              </a:lnSpc>
            </a:pPr>
            <a:r>
              <a:rPr sz="2800" b="0">
                <a:solidFill>
                  <a:srgbClr val="E6ECF2"/>
                </a:solidFill>
                <a:latin typeface="Courier New"/>
              </a:rPr>
              <a:t>  "name.last" : "Escalona"})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References</a:t>
            </a:r>
          </a:p>
        </p:txBody>
      </p:sp>
      <p:sp>
        <p:nvSpPr>
          <p:cNvPr id="4" name="EXEMPT_REF"/>
          <p:cNvSpPr txBox="1"/>
          <p:nvPr/>
        </p:nvSpPr>
        <p:spPr>
          <a:xfrm>
            <a:off x="411480" y="1097280"/>
            <a:ext cx="11368735" cy="4937760"/>
          </a:xfrm>
          <a:prstGeom prst="rect">
            <a:avLst/>
          </a:prstGeom>
          <a:noFill/>
        </p:spPr>
        <p:txBody>
          <a:bodyPr wrap="square" anchor="t" lIns="0" rIns="0" tIns="0" bIns="0">
            <a:spAutoFit/>
          </a:bodyPr>
          <a:lstStyle/>
          <a:p>
            <a:pPr algn="l">
              <a:lnSpc>
                <a:spcPct val="125000"/>
              </a:lnSpc>
            </a:pPr>
            <a:r>
              <a:rPr sz="2000" b="0">
                <a:solidFill>
                  <a:srgbClr val="14202E"/>
                </a:solidFill>
                <a:latin typeface="Arial"/>
              </a:rPr>
              <a:t>STI IT2003 07 Handout 1: Introduction to NoSQL Database Management Systems.</a:t>
            </a:r>
          </a:p>
          <a:p>
            <a:pPr algn="l">
              <a:lnSpc>
                <a:spcPct val="125000"/>
              </a:lnSpc>
            </a:pPr>
            <a:r>
              <a:rPr sz="2000" b="0">
                <a:solidFill>
                  <a:srgbClr val="14202E"/>
                </a:solidFill>
                <a:latin typeface="Arial"/>
              </a:rPr>
              <a:t>STI IT2003 08 Handout 1: Fundamentals of Document-Oriented Database.</a:t>
            </a:r>
          </a:p>
          <a:p>
            <a:pPr algn="l">
              <a:lnSpc>
                <a:spcPct val="125000"/>
              </a:lnSpc>
            </a:pPr>
            <a:r>
              <a:rPr sz="2000" b="0">
                <a:solidFill>
                  <a:srgbClr val="14202E"/>
                </a:solidFill>
                <a:latin typeface="Arial"/>
              </a:rPr>
              <a:t>STI IT2003 09 Handout 1: Cloud Computing.</a:t>
            </a:r>
          </a:p>
          <a:p>
            <a:pPr algn="l">
              <a:lnSpc>
                <a:spcPct val="125000"/>
              </a:lnSpc>
            </a:pPr>
            <a:r>
              <a:rPr sz="2000" b="0">
                <a:solidFill>
                  <a:srgbClr val="14202E"/>
                </a:solidFill>
                <a:latin typeface="Arial"/>
              </a:rPr>
              <a:t>Chodorow, K., Brazil, E., &amp; Bradshaw, S. (2019). MongoDB: The definitive guide (3rd ed.). O'Reilly Media.</a:t>
            </a:r>
          </a:p>
          <a:p>
            <a:pPr algn="l">
              <a:lnSpc>
                <a:spcPct val="125000"/>
              </a:lnSpc>
            </a:pPr>
            <a:r>
              <a:rPr sz="2000" b="0">
                <a:solidFill>
                  <a:srgbClr val="14202E"/>
                </a:solidFill>
                <a:latin typeface="Arial"/>
              </a:rPr>
              <a:t>Coronel, C., &amp; Morris, S. (2018). Database systems: Design, implementation, &amp; management (13th ed.). Cengage.</a:t>
            </a:r>
          </a:p>
          <a:p>
            <a:pPr algn="l">
              <a:lnSpc>
                <a:spcPct val="125000"/>
              </a:lnSpc>
            </a:pPr>
            <a:r>
              <a:rPr sz="2000" b="0">
                <a:solidFill>
                  <a:srgbClr val="14202E"/>
                </a:solidFill>
                <a:latin typeface="Arial"/>
              </a:rPr>
              <a:t>MongoDB (n.d.). Query and Update Operators. docs.mongodb.com/manual/reference/operator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