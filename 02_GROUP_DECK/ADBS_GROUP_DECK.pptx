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group and the topic: MongoDB commands from the 07 and 08 handouts, and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Parts 1 to 6 are MongoDB commands from the 07 and 08 handouts. Parts 7 and 8 are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Create &amp; Delete. Soundbite: Documents in, documents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07 Handout's Table 2 maps SQL words to MongoDB words: tables are called collections, rows are called documents, columns are called fields. A collection can be thought of as a table with a dynamic schema. A document is the basic unit of data, roughly a row but more expressive. Every document has a special key, _id, that is unique in its collection. Say: Tables are collections. Rows are documents.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insertOne is the basic way to add one document. We did not give an _id, so insertOne added one automatically; it shows in the output as an ObjectId. Say: One document in. MongoDB adds the _id.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insert multiple documents, use insertMany and pass an array. Three movies went in with one command, and the output shows three new ids. Say: Many documents,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08 Handout: if a document halfway through insertMany causes an error, what happens depends on ordered or unordered. Ordered is the default: no documents after the error are inserted. Unordered, with ordered false: MongoDB tries to insert all documents, even if some fail. Same four movies, same duplicate _id 4. Unordered saved 3, 4 and 5. Ordered saved only 3 and 4. Say: Ordered stops at the error. Unordered keeps going.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MongoDB provides deleteOne and deleteMany for removing documents. The handout deletes the document with _id 4 using deleteOne. The output says deletedCount 1, and checking again shows only 3 and 5 are left. Say: deleteOne removes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delete all documents that match a filter, use deleteMany. The handout shows three movies: two from 1985 and one from 1984. deleteMany with year 1985 removes both 1985 movies, so deletedCount is 2 and only Sixteen Candles stays. Say: deleteMany removes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2: Find, Replace &amp; Update. Soundbite: Find it first. Then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findOne returns a single matching document. In the handout, findOne loads Joe's document so it can be reshaped. Joe has friends 32 and enemies 2. Say: findOne brings back one document.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replaceOne fully replaces a matching document with a new one. The handout says this is useful for a dramatic schema migration. Friends and enemies move into a relationships subdocument, name becomes username, the old fields are deleted, then replaceOne saves it. Say: replaceOne swaps the whole document.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updateOne takes a filter first and a modifier second. The $set operator sets the value of a field; if the field does not exist yet, it is created. John gets a favorite book. The handout then shows $set can even change the type of the key: favorite book becomes an array of three books. Say: $set adds or changes a field.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remove the favorite book key altogether, the handout uses the $unset operator. After it runs, John's document no longer has a favorite book. Say: $unset removes a field.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$set can also reach in and change embedded documents. The book's author is a subdocument with name and email. Using author.name in quotes changes only the name to Nicole Tagayon; the email stays.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updateMany follows the same semantics as updateOne and takes the same parameters. The key difference is how many documents might be changed. Three users share the birthday 10/13/1978, so all three get the gift Happy Birthday. matchedCount and modifiedCount are both 3. Say: One rule,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3: Query Selectors: Comparison. Soundbite: Less, less-or-equal, greater, greater-or-equal.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The handout says $lt, $lte, $gt and $gte are comparison operators, corresponding to less than, less than or equal, greater than, and greater than or equal. The practice ages are our own data, used to show real results. Say: The e means equal is allowed.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$lt 18 means less than 18: only Ana, 17. $lte 18 means less than or equal: Ana and Ben, who is exactly 18. Say: 18 is out with lt, in with lte.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$gt 30 means greater than 30: only Eli, 31. $gte 30 means greater than or equal: Dan, exactly 30, and Eli. Say: 30 is out with gt, in with gte.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looks for users between the ages of 18 and 30 by putting $gte 18 and $lte 30 on the same field. Both must be true: Ben, Cara and Dan. Say: Two operators, one field, one range.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4: Query Selectors: $in, $or, $not. Soundbite: One field, many values. Many fields, any match.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gives two ways to do an OR query. $in is used to query a variety of values for a single key. The raffle's winning tickets are 725, 542 and 390, and one $in query finds all three. Say: $in is a guest list for one field.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$or is more general: it takes an array of possible criteria, and each can be on a different key. We want ticket 725 or any winner true. Ticket 725 matches the first; ticket 111 matches the second. Say: $or, pass any one test.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$not finds all documents that don't match a given pattern. The handout's example retrieves employees whose salary is not greater than 10,000 pesos. Rhea at 8,000 and Mark at exactly 10,000 come back; Liza at 15,000 does not. The salaries are our practice data. Say: $not flips the condition.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5: Querying Arrays. Soundbite: Arrays answer like single values.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inserts three documents whose fruit field is an array, written in square brackets. Basket 1 has apple, banana, peach. Basket 2 has apple, kumquat, orange. Basket 3 has cherry, banana, apple. Say: Square brackets make an array.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says querying for elements of an array is designed to behave the way querying for scalars does. Asking for fruit banana matches baskets 1 and 3, because each has banana somewhere in the array. Say: Ask for banana, get every basket with a banana.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If you need to match arrays by more than one element, use $all. Baskets with both apple and banana: 1 and 3. Basket 2 has no banana. Order does not matter: basket 3 has banana before apple. Say: $all, has them all, any order.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query a specific element of an array, specify an index with the syntax key dot index. fruit.2 is the third element, because counting starts at zero. Only basket 1 has peach in that position. Say: Count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$size matches any array with the number of elements given. Every basket has exactly three fruits, so $size 3 returns all three. Say: $size counts the elements.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6: $slice &amp; Embedded Documents. Soundbite: Trim what you see. Reach inside with a dot.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returns a subset of elements for an array key. The handout's blog post example returns the first 10 comments with 10, and the last 10 with minus 10. Our practice post has 40 comments, c1 to c40. Say: Positive from the front, negative from the back.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can return pages from the middle by taking an offset and a number of elements. [23, 10] skips the first 23 and returns the 24th through 33rd: c24 to c33. The handout notes that with fewer than 33 elements, it returns as many as possible. Say: Skip 23, take 10.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Embedded or nested documents are documents that contain a document inside another document. John's name holds first and last. You query embedded keys using dot notation, in quotes: name.first and name.last.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7: Cloud Computing &amp; Implementation Types. Soundbite: Cloud type = where it lives + who controls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Handout definition: cloud computing is the delivery of different services through the Internet, including data storage, servers, databases, networking and software. Rather than keeping files on a proprietary hard drive or local storage device, cloud storage saves them to a remote database. As long as a device has web access, it has access to the data and the programs to run it. Say: If it has the web, it has your data.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Implementation type is defined by where the infrastructure resides and who controls it. Public cloud: built by a third party to sell to the general public; the most common type; examples AWS, Google Application Engine and Microsoft Azure; high reliability, lower costs, zero maintenance, on-demand scalability, but not suitable for organizations with sensitive information under stringent security rules. Private cloud: built by an organization for its own needs, often large, geographically dispersed organizations; managed by internal IT staff or an external third party. Hybrid cloud: private plus public; for example, public cloud for high-volume apps like emails, private cloud for sensitive assets like financials and data recovery. Say: Rent it, own it, or mix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8: Cloud Service Types &amp; Benefits. Soundbite: Use it, build on it, or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Cloud services follow an a la carte model and can build on top of each other. SaaS: the provider offers turnkey applications that run in the cloud, such as MS Office 365, Google Docs, Intuit's TurboTax Online and SCALA digital signage; consumers can customize certain aspects but cannot change the application itself. PaaS: the provider offers the capability to build and deploy consumer-created applications with its tools, languages and interfaces, such as the Microsoft Azure platform with .NET and Java; the consumer does not manage the underlying infrastructure. IaaS: consumers provision their own resources on demand, such as an AWS server running Linux and Apache with 16 GB RAM and 160 GB storage. Say: SaaS, use it. PaaS, build on it. IaaS,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list the 10 benefits in handout order. TO DO: read the handout page in the footer, then say this in your own words. The handout lists ten benefits, in this order: instant scalability; anywhere accessibility; increased speed and operational agility; reduced expenditure, since cloud costs depend on consumption, a variable expense; automatic updates and patches; disaster recovery; high security; reduced carbon footprint; flexibility; enterprise collaboration. Say: Scale up fast. Pay for what you use.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394960"/>
            <a:ext cx="12191695" cy="109728"/>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0"/>
            <a:ext cx="10972800" cy="457200"/>
          </a:xfrm>
          <a:prstGeom prst="rect">
            <a:avLst/>
          </a:prstGeom>
          <a:noFill/>
        </p:spPr>
        <p:txBody>
          <a:bodyPr wrap="square" anchor="t" lIns="73152" rIns="73152" tIns="73152" bIns="73152">
            <a:spAutoFit/>
          </a:bodyPr>
          <a:lstStyle/>
          <a:p>
            <a:pPr algn="l">
              <a:lnSpc>
                <a:spcPct val="110000"/>
              </a:lnSpc>
            </a:pPr>
            <a:r>
              <a:rPr sz="1600" b="1">
                <a:solidFill>
                  <a:srgbClr val="F2B27A"/>
                </a:solidFill>
                <a:latin typeface="Arial"/>
              </a:rPr>
              <a:t>IT2003 · ADVANCED DATABASE SYSTEMS</a:t>
            </a:r>
          </a:p>
        </p:txBody>
      </p:sp>
      <p:sp>
        <p:nvSpPr>
          <p:cNvPr id="4" name="TextBox 3"/>
          <p:cNvSpPr txBox="1"/>
          <p:nvPr/>
        </p:nvSpPr>
        <p:spPr>
          <a:xfrm>
            <a:off x="548640" y="1645920"/>
            <a:ext cx="10972800" cy="2011680"/>
          </a:xfrm>
          <a:prstGeom prst="rect">
            <a:avLst/>
          </a:prstGeom>
          <a:noFill/>
        </p:spPr>
        <p:txBody>
          <a:bodyPr wrap="square" anchor="t" lIns="73152" rIns="73152" tIns="73152" bIns="73152">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548640" y="3794760"/>
            <a:ext cx="10515600" cy="1097280"/>
          </a:xfrm>
          <a:prstGeom prst="rect">
            <a:avLst/>
          </a:prstGeom>
          <a:noFill/>
        </p:spPr>
        <p:txBody>
          <a:bodyPr wrap="square" anchor="t" lIns="73152" rIns="73152" tIns="73152" bIns="73152">
            <a:spAutoFit/>
          </a:bodyPr>
          <a:lstStyle/>
          <a:p>
            <a:pPr algn="l">
              <a:lnSpc>
                <a:spcPct val="110000"/>
              </a:lnSpc>
            </a:pPr>
            <a:r>
              <a:rPr sz="2200" b="0">
                <a:solidFill>
                  <a:srgbClr val="E6ECF2"/>
                </a:solidFill>
                <a:latin typeface="Arial"/>
              </a:rPr>
              <a:t>SHARED GROUP DECK · Part 1 is done. Parts 2-8: find your part and fill the orange boxes.</a:t>
            </a:r>
          </a:p>
        </p:txBody>
      </p:sp>
      <p:sp>
        <p:nvSpPr>
          <p:cNvPr id="6" name="TextBox 5"/>
          <p:cNvSpPr txBox="1"/>
          <p:nvPr/>
        </p:nvSpPr>
        <p:spPr>
          <a:xfrm>
            <a:off x="548640" y="5715000"/>
            <a:ext cx="10972800" cy="822960"/>
          </a:xfrm>
          <a:prstGeom prst="rect">
            <a:avLst/>
          </a:prstGeom>
          <a:noFill/>
        </p:spPr>
        <p:txBody>
          <a:bodyPr wrap="square" anchor="t" lIns="73152" rIns="73152" tIns="73152" bIns="73152">
            <a:spAutoFit/>
          </a:bodyPr>
          <a:lstStyle/>
          <a:p>
            <a:pPr algn="l">
              <a:lnSpc>
                <a:spcPct val="110000"/>
              </a:lnSpc>
            </a:pPr>
            <a:r>
              <a:rPr sz="1600" b="0">
                <a:solidFill>
                  <a:srgbClr val="E6ECF2"/>
                </a:solidFill>
                <a:latin typeface="Arial"/>
              </a:rPr>
              <a:t>Group: ____________________    Section: ________    Date: 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How to do your part (read this first)</a:t>
            </a:r>
          </a:p>
        </p:txBody>
      </p:sp>
      <p:sp>
        <p:nvSpPr>
          <p:cNvPr id="4" name="Rectangle 3"/>
          <p:cNvSpPr/>
          <p:nvPr/>
        </p:nvSpPr>
        <p:spPr>
          <a:xfrm>
            <a:off x="54864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32588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Find your part</a:t>
            </a:r>
          </a:p>
          <a:p>
            <a:pPr algn="l">
              <a:lnSpc>
                <a:spcPct val="110000"/>
              </a:lnSpc>
            </a:pPr>
            <a:r>
              <a:rPr sz="1400" b="0">
                <a:solidFill>
                  <a:srgbClr val="4A5868"/>
                </a:solidFill>
                <a:latin typeface="Arial"/>
              </a:rPr>
              <a:t>Slide 3 lists the parts. Type your name next to yours.</a:t>
            </a:r>
          </a:p>
        </p:txBody>
      </p:sp>
      <p:sp>
        <p:nvSpPr>
          <p:cNvPr id="7" name="Rectangle 6"/>
          <p:cNvSpPr/>
          <p:nvPr/>
        </p:nvSpPr>
        <p:spPr>
          <a:xfrm>
            <a:off x="54864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2</a:t>
            </a:r>
          </a:p>
        </p:txBody>
      </p:sp>
      <p:sp>
        <p:nvSpPr>
          <p:cNvPr id="9" name="TextBox 8"/>
          <p:cNvSpPr txBox="1"/>
          <p:nvPr/>
        </p:nvSpPr>
        <p:spPr>
          <a:xfrm>
            <a:off x="132588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Look at Part 1</a:t>
            </a:r>
          </a:p>
          <a:p>
            <a:pPr algn="l">
              <a:lnSpc>
                <a:spcPct val="110000"/>
              </a:lnSpc>
            </a:pPr>
            <a:r>
              <a:rPr sz="1400" b="0">
                <a:solidFill>
                  <a:srgbClr val="4A5868"/>
                </a:solidFill>
                <a:latin typeface="Arial"/>
              </a:rPr>
              <a:t>Part 1 is finished. Make yours look like it.</a:t>
            </a:r>
          </a:p>
        </p:txBody>
      </p:sp>
      <p:sp>
        <p:nvSpPr>
          <p:cNvPr id="10" name="Rectangle 9"/>
          <p:cNvSpPr/>
          <p:nvPr/>
        </p:nvSpPr>
        <p:spPr>
          <a:xfrm>
            <a:off x="54864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3</a:t>
            </a:r>
          </a:p>
        </p:txBody>
      </p:sp>
      <p:sp>
        <p:nvSpPr>
          <p:cNvPr id="12" name="TextBox 11"/>
          <p:cNvSpPr txBox="1"/>
          <p:nvPr/>
        </p:nvSpPr>
        <p:spPr>
          <a:xfrm>
            <a:off x="132588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Open the MongoDB shell</a:t>
            </a:r>
          </a:p>
          <a:p>
            <a:pPr algn="l">
              <a:lnSpc>
                <a:spcPct val="110000"/>
              </a:lnSpc>
            </a:pPr>
            <a:r>
              <a:rPr sz="1400" b="0">
                <a:solidFill>
                  <a:srgbClr val="4A5868"/>
                </a:solidFill>
                <a:latin typeface="Arial"/>
              </a:rPr>
              <a:t>MongoDB Compass → connect → click  &gt;_ Open MongoDB shell  (top right).</a:t>
            </a:r>
          </a:p>
        </p:txBody>
      </p:sp>
      <p:sp>
        <p:nvSpPr>
          <p:cNvPr id="13" name="Rectangle 12"/>
          <p:cNvSpPr/>
          <p:nvPr/>
        </p:nvSpPr>
        <p:spPr>
          <a:xfrm>
            <a:off x="54864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4</a:t>
            </a:r>
          </a:p>
        </p:txBody>
      </p:sp>
      <p:sp>
        <p:nvSpPr>
          <p:cNvPr id="15" name="TextBox 14"/>
          <p:cNvSpPr txBox="1"/>
          <p:nvPr/>
        </p:nvSpPr>
        <p:spPr>
          <a:xfrm>
            <a:off x="132588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the setup</a:t>
            </a:r>
          </a:p>
          <a:p>
            <a:pPr algn="l">
              <a:lnSpc>
                <a:spcPct val="110000"/>
              </a:lnSpc>
            </a:pPr>
            <a:r>
              <a:rPr sz="1400" b="0">
                <a:solidFill>
                  <a:srgbClr val="4A5868"/>
                </a:solidFill>
                <a:latin typeface="Arial"/>
              </a:rPr>
              <a:t>Your part starts with a SETUP slide. Copy all its lines, paste in the shell, press Enter.</a:t>
            </a:r>
          </a:p>
        </p:txBody>
      </p:sp>
      <p:sp>
        <p:nvSpPr>
          <p:cNvPr id="16" name="Rectangle 15"/>
          <p:cNvSpPr/>
          <p:nvPr/>
        </p:nvSpPr>
        <p:spPr>
          <a:xfrm>
            <a:off x="617220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5</a:t>
            </a:r>
          </a:p>
        </p:txBody>
      </p:sp>
      <p:sp>
        <p:nvSpPr>
          <p:cNvPr id="18" name="TextBox 17"/>
          <p:cNvSpPr txBox="1"/>
          <p:nvPr/>
        </p:nvSpPr>
        <p:spPr>
          <a:xfrm>
            <a:off x="694944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each command</a:t>
            </a:r>
          </a:p>
          <a:p>
            <a:pPr algn="l">
              <a:lnSpc>
                <a:spcPct val="110000"/>
              </a:lnSpc>
            </a:pPr>
            <a:r>
              <a:rPr sz="1400" b="0">
                <a:solidFill>
                  <a:srgbClr val="4A5868"/>
                </a:solidFill>
                <a:latin typeface="Arial"/>
              </a:rPr>
              <a:t>Copy the command on each slide, paste in the shell, press Enter.</a:t>
            </a:r>
          </a:p>
        </p:txBody>
      </p:sp>
      <p:sp>
        <p:nvSpPr>
          <p:cNvPr id="19" name="Rectangle 18"/>
          <p:cNvSpPr/>
          <p:nvPr/>
        </p:nvSpPr>
        <p:spPr>
          <a:xfrm>
            <a:off x="617220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6</a:t>
            </a:r>
          </a:p>
        </p:txBody>
      </p:sp>
      <p:sp>
        <p:nvSpPr>
          <p:cNvPr id="21" name="TextBox 20"/>
          <p:cNvSpPr txBox="1"/>
          <p:nvPr/>
        </p:nvSpPr>
        <p:spPr>
          <a:xfrm>
            <a:off x="694944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Paste a screenshot</a:t>
            </a:r>
          </a:p>
          <a:p>
            <a:pPr algn="l">
              <a:lnSpc>
                <a:spcPct val="110000"/>
              </a:lnSpc>
            </a:pPr>
            <a:r>
              <a:rPr sz="1400" b="0">
                <a:solidFill>
                  <a:srgbClr val="4A5868"/>
                </a:solidFill>
                <a:latin typeface="Arial"/>
              </a:rPr>
              <a:t>Win + Shift + S (Mac: Cmd + Shift + 4). Click the orange box → Delete → Ctrl + V → drag the picture into place.</a:t>
            </a:r>
          </a:p>
        </p:txBody>
      </p:sp>
      <p:sp>
        <p:nvSpPr>
          <p:cNvPr id="22" name="Rectangle 21"/>
          <p:cNvSpPr/>
          <p:nvPr/>
        </p:nvSpPr>
        <p:spPr>
          <a:xfrm>
            <a:off x="617220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7</a:t>
            </a:r>
          </a:p>
        </p:txBody>
      </p:sp>
      <p:sp>
        <p:nvSpPr>
          <p:cNvPr id="24" name="TextBox 23"/>
          <p:cNvSpPr txBox="1"/>
          <p:nvPr/>
        </p:nvSpPr>
        <p:spPr>
          <a:xfrm>
            <a:off x="694944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Fill the blanks</a:t>
            </a:r>
          </a:p>
          <a:p>
            <a:pPr algn="l">
              <a:lnSpc>
                <a:spcPct val="110000"/>
              </a:lnSpc>
            </a:pPr>
            <a:r>
              <a:rPr sz="1400" b="0">
                <a:solidFill>
                  <a:srgbClr val="4A5868"/>
                </a:solidFill>
                <a:latin typeface="Arial"/>
              </a:rPr>
              <a:t>Replace every ______ with your own words. Use the handout page in the footer.</a:t>
            </a:r>
          </a:p>
        </p:txBody>
      </p:sp>
      <p:sp>
        <p:nvSpPr>
          <p:cNvPr id="25" name="Rectangle 24"/>
          <p:cNvSpPr/>
          <p:nvPr/>
        </p:nvSpPr>
        <p:spPr>
          <a:xfrm>
            <a:off x="617220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8</a:t>
            </a:r>
          </a:p>
        </p:txBody>
      </p:sp>
      <p:sp>
        <p:nvSpPr>
          <p:cNvPr id="27" name="TextBox 26"/>
          <p:cNvSpPr txBox="1"/>
          <p:nvPr/>
        </p:nvSpPr>
        <p:spPr>
          <a:xfrm>
            <a:off x="694944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Read the speaker notes</a:t>
            </a:r>
          </a:p>
          <a:p>
            <a:pPr algn="l">
              <a:lnSpc>
                <a:spcPct val="110000"/>
              </a:lnSpc>
            </a:pPr>
            <a:r>
              <a:rPr sz="1400" b="0">
                <a:solidFill>
                  <a:srgbClr val="4A5868"/>
                </a:solidFill>
                <a:latin typeface="Arial"/>
              </a:rPr>
              <a:t>View → Notes. They say what to explain. Practice saying the soundbite.</a:t>
            </a:r>
          </a:p>
        </p:txBody>
      </p:sp>
      <p:sp>
        <p:nvSpPr>
          <p:cNvPr id="28" name="TextBox 27"/>
          <p:cNvSpPr txBox="1"/>
          <p:nvPr/>
        </p:nvSpPr>
        <p:spPr>
          <a:xfrm>
            <a:off x="548640" y="6172200"/>
            <a:ext cx="11064240" cy="365760"/>
          </a:xfrm>
          <a:prstGeom prst="rect">
            <a:avLst/>
          </a:prstGeom>
          <a:noFill/>
        </p:spPr>
        <p:txBody>
          <a:bodyPr wrap="square" anchor="t" lIns="73152" rIns="73152" tIns="73152" bIns="73152">
            <a:spAutoFit/>
          </a:bodyPr>
          <a:lstStyle/>
          <a:p>
            <a:pPr algn="l">
              <a:lnSpc>
                <a:spcPct val="110000"/>
              </a:lnSpc>
            </a:pPr>
            <a:r>
              <a:rPr sz="1500" b="1">
                <a:solidFill>
                  <a:srgbClr val="D9480F"/>
                </a:solidFill>
                <a:latin typeface="Arial"/>
              </a:rPr>
              <a:t>Only edit YOUR part. Changes save by themselves. Stuck? Message the group leader.</a:t>
            </a:r>
          </a:p>
        </p:txBody>
      </p:sp>
      <p:sp>
        <p:nvSpPr>
          <p:cNvPr id="29" name="TextBox 2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Who presents what</a:t>
            </a:r>
          </a:p>
        </p:txBody>
      </p:sp>
      <p:graphicFrame>
        <p:nvGraphicFramePr>
          <p:cNvPr id="4" name="Table 3"/>
          <p:cNvGraphicFramePr>
            <a:graphicFrameLocks noGrp="1"/>
          </p:cNvGraphicFramePr>
          <p:nvPr/>
        </p:nvGraphicFramePr>
        <p:xfrm>
          <a:off x="548640" y="1325880"/>
          <a:ext cx="11064240" cy="4754880"/>
        </p:xfrm>
        <a:graphic>
          <a:graphicData uri="http://schemas.openxmlformats.org/drawingml/2006/table">
            <a:tbl>
              <a:tblPr firstRow="1" bandRow="1">
                <a:tableStyleId>{5C22544A-7EE6-4342-B048-85BDC9FD1C3A}</a:tableStyleId>
              </a:tblPr>
              <a:tblGrid>
                <a:gridCol w="822960"/>
                <a:gridCol w="7040880"/>
                <a:gridCol w="3200400"/>
              </a:tblGrid>
              <a:tr h="528320">
                <a:tc>
                  <a:txBody>
                    <a:bodyPr/>
                    <a:lstStyle/>
                    <a:p>
                      <a:r>
                        <a:rPr sz="1600" b="1">
                          <a:solidFill>
                            <a:srgbClr val="FFFFFF"/>
                          </a:solidFill>
                          <a:latin typeface="Arial"/>
                        </a:rPr>
                        <a:t>Part</a:t>
                      </a:r>
                    </a:p>
                  </a:txBody>
                  <a:tcPr>
                    <a:solidFill>
                      <a:srgbClr val="14202E"/>
                    </a:solidFill>
                  </a:tcPr>
                </a:tc>
                <a:tc>
                  <a:txBody>
                    <a:bodyPr/>
                    <a:lstStyle/>
                    <a:p>
                      <a:r>
                        <a:rPr sz="1600" b="1">
                          <a:solidFill>
                            <a:srgbClr val="FFFFFF"/>
                          </a:solidFill>
                          <a:latin typeface="Arial"/>
                        </a:rPr>
                        <a:t>Topic</a:t>
                      </a:r>
                    </a:p>
                  </a:txBody>
                  <a:tcPr>
                    <a:solidFill>
                      <a:srgbClr val="14202E"/>
                    </a:solidFill>
                  </a:tcPr>
                </a:tc>
                <a:tc>
                  <a:txBody>
                    <a:bodyPr/>
                    <a:lstStyle/>
                    <a:p>
                      <a:r>
                        <a:rPr sz="1600" b="1">
                          <a:solidFill>
                            <a:srgbClr val="FFFFFF"/>
                          </a:solidFill>
                          <a:latin typeface="Arial"/>
                        </a:rPr>
                        <a:t>Presenter</a:t>
                      </a:r>
                    </a:p>
                  </a:txBody>
                  <a:tcPr>
                    <a:solidFill>
                      <a:srgbClr val="14202E"/>
                    </a:solidFill>
                  </a:tcPr>
                </a:tc>
              </a:tr>
              <a:tr h="528320">
                <a:tc>
                  <a:txBody>
                    <a:bodyPr/>
                    <a:lstStyle/>
                    <a:p>
                      <a:r>
                        <a:rPr sz="1400">
                          <a:solidFill>
                            <a:srgbClr val="14202E"/>
                          </a:solidFill>
                          <a:latin typeface="Arial"/>
                        </a:rPr>
                        <a:t>1</a:t>
                      </a:r>
                    </a:p>
                  </a:txBody>
                  <a:tcPr>
                    <a:solidFill>
                      <a:srgbClr val="FFFFFF"/>
                    </a:solidFill>
                  </a:tcPr>
                </a:tc>
                <a:tc>
                  <a:txBody>
                    <a:bodyPr/>
                    <a:lstStyle/>
                    <a:p>
                      <a:r>
                        <a:rPr sz="1400">
                          <a:solidFill>
                            <a:srgbClr val="14202E"/>
                          </a:solidFill>
                          <a:latin typeface="Arial"/>
                        </a:rPr>
                        <a:t>Create &amp; Delete  ·  insertOne · insertMany · deleteOne · deleteMany</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2</a:t>
                      </a:r>
                    </a:p>
                  </a:txBody>
                  <a:tcPr>
                    <a:solidFill>
                      <a:srgbClr val="F6F8FA"/>
                    </a:solidFill>
                  </a:tcPr>
                </a:tc>
                <a:tc>
                  <a:txBody>
                    <a:bodyPr/>
                    <a:lstStyle/>
                    <a:p>
                      <a:r>
                        <a:rPr sz="1400">
                          <a:solidFill>
                            <a:srgbClr val="14202E"/>
                          </a:solidFill>
                          <a:latin typeface="Arial"/>
                        </a:rPr>
                        <a:t>Find, Replace &amp; Update  ·  findOne · replaceOne · updateOne · updateMany</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3</a:t>
                      </a:r>
                    </a:p>
                  </a:txBody>
                  <a:tcPr>
                    <a:solidFill>
                      <a:srgbClr val="FFFFFF"/>
                    </a:solidFill>
                  </a:tcPr>
                </a:tc>
                <a:tc>
                  <a:txBody>
                    <a:bodyPr/>
                    <a:lstStyle/>
                    <a:p>
                      <a:r>
                        <a:rPr sz="1400">
                          <a:solidFill>
                            <a:srgbClr val="14202E"/>
                          </a:solidFill>
                          <a:latin typeface="Arial"/>
                        </a:rPr>
                        <a:t>Query Selectors: Comparison  ·  $lt · $lte · $gt · $gte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4</a:t>
                      </a:r>
                    </a:p>
                  </a:txBody>
                  <a:tcPr>
                    <a:solidFill>
                      <a:srgbClr val="F6F8FA"/>
                    </a:solidFill>
                  </a:tcPr>
                </a:tc>
                <a:tc>
                  <a:txBody>
                    <a:bodyPr/>
                    <a:lstStyle/>
                    <a:p>
                      <a:r>
                        <a:rPr sz="1400">
                          <a:solidFill>
                            <a:srgbClr val="14202E"/>
                          </a:solidFill>
                          <a:latin typeface="Arial"/>
                        </a:rPr>
                        <a:t>Query Selectors: $in, $or, $not  ·  $in · $or · $not</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5</a:t>
                      </a:r>
                    </a:p>
                  </a:txBody>
                  <a:tcPr>
                    <a:solidFill>
                      <a:srgbClr val="FFFFFF"/>
                    </a:solidFill>
                  </a:tcPr>
                </a:tc>
                <a:tc>
                  <a:txBody>
                    <a:bodyPr/>
                    <a:lstStyle/>
                    <a:p>
                      <a:r>
                        <a:rPr sz="1400">
                          <a:solidFill>
                            <a:srgbClr val="14202E"/>
                          </a:solidFill>
                          <a:latin typeface="Arial"/>
                        </a:rPr>
                        <a:t>Querying Arrays  ·  inserting arrays · array match · $all · $size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6</a:t>
                      </a:r>
                    </a:p>
                  </a:txBody>
                  <a:tcPr>
                    <a:solidFill>
                      <a:srgbClr val="F6F8FA"/>
                    </a:solidFill>
                  </a:tcPr>
                </a:tc>
                <a:tc>
                  <a:txBody>
                    <a:bodyPr/>
                    <a:lstStyle/>
                    <a:p>
                      <a:r>
                        <a:rPr sz="1400">
                          <a:solidFill>
                            <a:srgbClr val="14202E"/>
                          </a:solidFill>
                          <a:latin typeface="Arial"/>
                        </a:rPr>
                        <a:t>$slice &amp; Embedded Documents  ·  $slice · dot notation · embedded documents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7</a:t>
                      </a:r>
                    </a:p>
                  </a:txBody>
                  <a:tcPr>
                    <a:solidFill>
                      <a:srgbClr val="FFFFFF"/>
                    </a:solidFill>
                  </a:tcPr>
                </a:tc>
                <a:tc>
                  <a:txBody>
                    <a:bodyPr/>
                    <a:lstStyle/>
                    <a:p>
                      <a:r>
                        <a:rPr sz="1400">
                          <a:solidFill>
                            <a:srgbClr val="14202E"/>
                          </a:solidFill>
                          <a:latin typeface="Arial"/>
                        </a:rPr>
                        <a:t>Cloud Computing &amp; Implementation Types  ·  public · private · hybrid</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8</a:t>
                      </a:r>
                    </a:p>
                  </a:txBody>
                  <a:tcPr>
                    <a:solidFill>
                      <a:srgbClr val="F6F8FA"/>
                    </a:solidFill>
                  </a:tcPr>
                </a:tc>
                <a:tc>
                  <a:txBody>
                    <a:bodyPr/>
                    <a:lstStyle/>
                    <a:p>
                      <a:r>
                        <a:rPr sz="1400">
                          <a:solidFill>
                            <a:srgbClr val="14202E"/>
                          </a:solidFill>
                          <a:latin typeface="Arial"/>
                        </a:rPr>
                        <a:t>Cloud Service Types &amp; Benefits  ·  SaaS · PaaS · IaaS · 10 benefits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bl>
          </a:graphicData>
        </a:graphic>
      </p:graphicFrame>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Eight parts</a:t>
            </a:r>
          </a:p>
        </p:txBody>
      </p:sp>
      <p:sp>
        <p:nvSpPr>
          <p:cNvPr id="4" name="Rectangle 3"/>
          <p:cNvSpPr/>
          <p:nvPr/>
        </p:nvSpPr>
        <p:spPr>
          <a:xfrm>
            <a:off x="54864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41732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Create &amp; Delete</a:t>
            </a:r>
          </a:p>
        </p:txBody>
      </p:sp>
      <p:sp>
        <p:nvSpPr>
          <p:cNvPr id="7" name="TextBox 6"/>
          <p:cNvSpPr txBox="1"/>
          <p:nvPr/>
        </p:nvSpPr>
        <p:spPr>
          <a:xfrm>
            <a:off x="141732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insertOne · insertMany · deleteOne · deleteMany</a:t>
            </a:r>
          </a:p>
        </p:txBody>
      </p:sp>
      <p:sp>
        <p:nvSpPr>
          <p:cNvPr id="8" name="Rectangle 7"/>
          <p:cNvSpPr/>
          <p:nvPr/>
        </p:nvSpPr>
        <p:spPr>
          <a:xfrm>
            <a:off x="54864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2</a:t>
            </a:r>
          </a:p>
        </p:txBody>
      </p:sp>
      <p:sp>
        <p:nvSpPr>
          <p:cNvPr id="10" name="TextBox 9"/>
          <p:cNvSpPr txBox="1"/>
          <p:nvPr/>
        </p:nvSpPr>
        <p:spPr>
          <a:xfrm>
            <a:off x="141732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Find, Replace &amp; Update</a:t>
            </a:r>
          </a:p>
        </p:txBody>
      </p:sp>
      <p:sp>
        <p:nvSpPr>
          <p:cNvPr id="11" name="TextBox 10"/>
          <p:cNvSpPr txBox="1"/>
          <p:nvPr/>
        </p:nvSpPr>
        <p:spPr>
          <a:xfrm>
            <a:off x="141732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findOne · replaceOne · updateOne · updateMany</a:t>
            </a:r>
          </a:p>
        </p:txBody>
      </p:sp>
      <p:sp>
        <p:nvSpPr>
          <p:cNvPr id="12" name="Rectangle 11"/>
          <p:cNvSpPr/>
          <p:nvPr/>
        </p:nvSpPr>
        <p:spPr>
          <a:xfrm>
            <a:off x="54864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3</a:t>
            </a:r>
          </a:p>
        </p:txBody>
      </p:sp>
      <p:sp>
        <p:nvSpPr>
          <p:cNvPr id="14" name="TextBox 13"/>
          <p:cNvSpPr txBox="1"/>
          <p:nvPr/>
        </p:nvSpPr>
        <p:spPr>
          <a:xfrm>
            <a:off x="1417320" y="3922776"/>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 Selectors: Comparison</a:t>
            </a:r>
          </a:p>
        </p:txBody>
      </p:sp>
      <p:sp>
        <p:nvSpPr>
          <p:cNvPr id="15" name="TextBox 14"/>
          <p:cNvSpPr txBox="1"/>
          <p:nvPr/>
        </p:nvSpPr>
        <p:spPr>
          <a:xfrm>
            <a:off x="141732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$lt · $lte · $gt · $gte</a:t>
            </a:r>
          </a:p>
        </p:txBody>
      </p:sp>
      <p:sp>
        <p:nvSpPr>
          <p:cNvPr id="16" name="Rectangle 15"/>
          <p:cNvSpPr/>
          <p:nvPr/>
        </p:nvSpPr>
        <p:spPr>
          <a:xfrm>
            <a:off x="54864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4</a:t>
            </a:r>
          </a:p>
        </p:txBody>
      </p:sp>
      <p:sp>
        <p:nvSpPr>
          <p:cNvPr id="18" name="TextBox 17"/>
          <p:cNvSpPr txBox="1"/>
          <p:nvPr/>
        </p:nvSpPr>
        <p:spPr>
          <a:xfrm>
            <a:off x="1417320" y="5129784"/>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Query Selectors: $in, $or, $not</a:t>
            </a:r>
          </a:p>
        </p:txBody>
      </p:sp>
      <p:sp>
        <p:nvSpPr>
          <p:cNvPr id="19" name="TextBox 18"/>
          <p:cNvSpPr txBox="1"/>
          <p:nvPr/>
        </p:nvSpPr>
        <p:spPr>
          <a:xfrm>
            <a:off x="141732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 · $or · $not</a:t>
            </a:r>
          </a:p>
        </p:txBody>
      </p:sp>
      <p:sp>
        <p:nvSpPr>
          <p:cNvPr id="20" name="Rectangle 19"/>
          <p:cNvSpPr/>
          <p:nvPr/>
        </p:nvSpPr>
        <p:spPr>
          <a:xfrm>
            <a:off x="621792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5</a:t>
            </a:r>
          </a:p>
        </p:txBody>
      </p:sp>
      <p:sp>
        <p:nvSpPr>
          <p:cNvPr id="22" name="TextBox 21"/>
          <p:cNvSpPr txBox="1"/>
          <p:nvPr/>
        </p:nvSpPr>
        <p:spPr>
          <a:xfrm>
            <a:off x="708660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Querying Arrays</a:t>
            </a:r>
          </a:p>
        </p:txBody>
      </p:sp>
      <p:sp>
        <p:nvSpPr>
          <p:cNvPr id="23" name="TextBox 22"/>
          <p:cNvSpPr txBox="1"/>
          <p:nvPr/>
        </p:nvSpPr>
        <p:spPr>
          <a:xfrm>
            <a:off x="708660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inserting arrays · array match · $all · $size</a:t>
            </a:r>
          </a:p>
        </p:txBody>
      </p:sp>
      <p:sp>
        <p:nvSpPr>
          <p:cNvPr id="24" name="Rectangle 23"/>
          <p:cNvSpPr/>
          <p:nvPr/>
        </p:nvSpPr>
        <p:spPr>
          <a:xfrm>
            <a:off x="621792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6</a:t>
            </a:r>
          </a:p>
        </p:txBody>
      </p:sp>
      <p:sp>
        <p:nvSpPr>
          <p:cNvPr id="26" name="TextBox 25"/>
          <p:cNvSpPr txBox="1"/>
          <p:nvPr/>
        </p:nvSpPr>
        <p:spPr>
          <a:xfrm>
            <a:off x="708660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$slice &amp; Embedded Documents</a:t>
            </a:r>
          </a:p>
        </p:txBody>
      </p:sp>
      <p:sp>
        <p:nvSpPr>
          <p:cNvPr id="27" name="TextBox 26"/>
          <p:cNvSpPr txBox="1"/>
          <p:nvPr/>
        </p:nvSpPr>
        <p:spPr>
          <a:xfrm>
            <a:off x="708660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$slice · dot notation · embedded documents</a:t>
            </a:r>
          </a:p>
        </p:txBody>
      </p:sp>
      <p:sp>
        <p:nvSpPr>
          <p:cNvPr id="28" name="Rectangle 27"/>
          <p:cNvSpPr/>
          <p:nvPr/>
        </p:nvSpPr>
        <p:spPr>
          <a:xfrm>
            <a:off x="621792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7</a:t>
            </a:r>
          </a:p>
        </p:txBody>
      </p:sp>
      <p:sp>
        <p:nvSpPr>
          <p:cNvPr id="30" name="TextBox 29"/>
          <p:cNvSpPr txBox="1"/>
          <p:nvPr/>
        </p:nvSpPr>
        <p:spPr>
          <a:xfrm>
            <a:off x="7086600" y="3922776"/>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Cloud Computing &amp; Implementation Types</a:t>
            </a:r>
          </a:p>
        </p:txBody>
      </p:sp>
      <p:sp>
        <p:nvSpPr>
          <p:cNvPr id="31" name="TextBox 30"/>
          <p:cNvSpPr txBox="1"/>
          <p:nvPr/>
        </p:nvSpPr>
        <p:spPr>
          <a:xfrm>
            <a:off x="708660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public · private · hybrid</a:t>
            </a:r>
          </a:p>
        </p:txBody>
      </p:sp>
      <p:sp>
        <p:nvSpPr>
          <p:cNvPr id="32" name="Rectangle 31"/>
          <p:cNvSpPr/>
          <p:nvPr/>
        </p:nvSpPr>
        <p:spPr>
          <a:xfrm>
            <a:off x="621792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8</a:t>
            </a:r>
          </a:p>
        </p:txBody>
      </p:sp>
      <p:sp>
        <p:nvSpPr>
          <p:cNvPr id="34" name="TextBox 33"/>
          <p:cNvSpPr txBox="1"/>
          <p:nvPr/>
        </p:nvSpPr>
        <p:spPr>
          <a:xfrm>
            <a:off x="7086600" y="5129784"/>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Cloud Service Types &amp; Benefits</a:t>
            </a:r>
          </a:p>
        </p:txBody>
      </p:sp>
      <p:sp>
        <p:nvSpPr>
          <p:cNvPr id="35" name="TextBox 34"/>
          <p:cNvSpPr txBox="1"/>
          <p:nvPr/>
        </p:nvSpPr>
        <p:spPr>
          <a:xfrm>
            <a:off x="708660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SaaS · PaaS · IaaS · 10 benefits</a:t>
            </a:r>
          </a:p>
        </p:txBody>
      </p:sp>
      <p:sp>
        <p:nvSpPr>
          <p:cNvPr id="36" name="TextBox 3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7" name="TextBox 3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1</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Create &amp; Delete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insertOne · insertMany · deleteOne · deleteMany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“Documents in, documents out.”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Tables are collections, rows are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Tables are collections. Rows are documents.</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5547207"/>
                <a:gridCol w="5547208"/>
              </a:tblGrid>
              <a:tr h="640080">
                <a:tc>
                  <a:txBody>
                    <a:bodyPr/>
                    <a:lstStyle/>
                    <a:p>
                      <a:r>
                        <a:rPr sz="1800" b="1">
                          <a:solidFill>
                            <a:srgbClr val="FFFFFF"/>
                          </a:solidFill>
                          <a:latin typeface="Arial"/>
                        </a:rPr>
                        <a:t>SQL</a:t>
                      </a:r>
                    </a:p>
                  </a:txBody>
                  <a:tcPr>
                    <a:solidFill>
                      <a:srgbClr val="14202E"/>
                    </a:solidFill>
                  </a:tcPr>
                </a:tc>
                <a:tc>
                  <a:txBody>
                    <a:bodyPr/>
                    <a:lstStyle/>
                    <a:p>
                      <a:r>
                        <a:rPr sz="1800" b="1">
                          <a:solidFill>
                            <a:srgbClr val="FFFFFF"/>
                          </a:solidFill>
                          <a:latin typeface="Arial"/>
                        </a:rPr>
                        <a:t>MongoDB</a:t>
                      </a:r>
                    </a:p>
                  </a:txBody>
                  <a:tcPr>
                    <a:solidFill>
                      <a:srgbClr val="14202E"/>
                    </a:solidFill>
                  </a:tcPr>
                </a:tc>
              </a:tr>
              <a:tr h="640080">
                <a:tc>
                  <a:txBody>
                    <a:bodyPr/>
                    <a:lstStyle/>
                    <a:p>
                      <a:r>
                        <a:rPr sz="2200" b="1">
                          <a:solidFill>
                            <a:srgbClr val="14202E"/>
                          </a:solidFill>
                          <a:latin typeface="Arial"/>
                        </a:rPr>
                        <a:t>Database</a:t>
                      </a:r>
                    </a:p>
                  </a:txBody>
                  <a:tcPr anchor="ctr">
                    <a:solidFill>
                      <a:srgbClr val="FFFFFF"/>
                    </a:solidFill>
                  </a:tcPr>
                </a:tc>
                <a:tc>
                  <a:txBody>
                    <a:bodyPr/>
                    <a:lstStyle/>
                    <a:p>
                      <a:r>
                        <a:rPr sz="2200" b="0">
                          <a:solidFill>
                            <a:srgbClr val="14202E"/>
                          </a:solidFill>
                          <a:latin typeface="Arial"/>
                        </a:rPr>
                        <a:t>Database</a:t>
                      </a:r>
                    </a:p>
                  </a:txBody>
                  <a:tcPr anchor="ctr">
                    <a:solidFill>
                      <a:srgbClr val="FFFFFF"/>
                    </a:solidFill>
                  </a:tcPr>
                </a:tc>
              </a:tr>
              <a:tr h="640080">
                <a:tc>
                  <a:txBody>
                    <a:bodyPr/>
                    <a:lstStyle/>
                    <a:p>
                      <a:r>
                        <a:rPr sz="2200" b="1">
                          <a:solidFill>
                            <a:srgbClr val="14202E"/>
                          </a:solidFill>
                          <a:latin typeface="Arial"/>
                        </a:rPr>
                        <a:t>Tables</a:t>
                      </a:r>
                    </a:p>
                  </a:txBody>
                  <a:tcPr anchor="ctr">
                    <a:solidFill>
                      <a:srgbClr val="F6F8FA"/>
                    </a:solidFill>
                  </a:tcPr>
                </a:tc>
                <a:tc>
                  <a:txBody>
                    <a:bodyPr/>
                    <a:lstStyle/>
                    <a:p>
                      <a:r>
                        <a:rPr sz="2200" b="0">
                          <a:solidFill>
                            <a:srgbClr val="14202E"/>
                          </a:solidFill>
                          <a:latin typeface="Arial"/>
                        </a:rPr>
                        <a:t>Collections</a:t>
                      </a:r>
                    </a:p>
                  </a:txBody>
                  <a:tcPr anchor="ctr">
                    <a:solidFill>
                      <a:srgbClr val="F6F8FA"/>
                    </a:solidFill>
                  </a:tcPr>
                </a:tc>
              </a:tr>
              <a:tr h="640080">
                <a:tc>
                  <a:txBody>
                    <a:bodyPr/>
                    <a:lstStyle/>
                    <a:p>
                      <a:r>
                        <a:rPr sz="2200" b="1">
                          <a:solidFill>
                            <a:srgbClr val="14202E"/>
                          </a:solidFill>
                          <a:latin typeface="Arial"/>
                        </a:rPr>
                        <a:t>Rows</a:t>
                      </a:r>
                    </a:p>
                  </a:txBody>
                  <a:tcPr anchor="ctr">
                    <a:solidFill>
                      <a:srgbClr val="FFFFFF"/>
                    </a:solidFill>
                  </a:tcPr>
                </a:tc>
                <a:tc>
                  <a:txBody>
                    <a:bodyPr/>
                    <a:lstStyle/>
                    <a:p>
                      <a:r>
                        <a:rPr sz="2200" b="0">
                          <a:solidFill>
                            <a:srgbClr val="14202E"/>
                          </a:solidFill>
                          <a:latin typeface="Arial"/>
                        </a:rPr>
                        <a:t>Documents</a:t>
                      </a:r>
                    </a:p>
                  </a:txBody>
                  <a:tcPr anchor="ctr">
                    <a:solidFill>
                      <a:srgbClr val="FFFFFF"/>
                    </a:solidFill>
                  </a:tcPr>
                </a:tc>
              </a:tr>
              <a:tr h="640080">
                <a:tc>
                  <a:txBody>
                    <a:bodyPr/>
                    <a:lstStyle/>
                    <a:p>
                      <a:r>
                        <a:rPr sz="2200" b="1">
                          <a:solidFill>
                            <a:srgbClr val="14202E"/>
                          </a:solidFill>
                          <a:latin typeface="Arial"/>
                        </a:rPr>
                        <a:t>Columns</a:t>
                      </a:r>
                    </a:p>
                  </a:txBody>
                  <a:tcPr anchor="ctr">
                    <a:solidFill>
                      <a:srgbClr val="F6F8FA"/>
                    </a:solidFill>
                  </a:tcPr>
                </a:tc>
                <a:tc>
                  <a:txBody>
                    <a:bodyPr/>
                    <a:lstStyle/>
                    <a:p>
                      <a:r>
                        <a:rPr sz="2200" b="0">
                          <a:solidFill>
                            <a:srgbClr val="14202E"/>
                          </a:solidFill>
                          <a:latin typeface="Arial"/>
                        </a:rPr>
                        <a:t>Fields</a:t>
                      </a:r>
                    </a:p>
                  </a:txBody>
                  <a:tcPr anchor="ctr">
                    <a:solidFill>
                      <a:srgbClr val="F6F8FA"/>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Collection: like a table with a dynamic schema.</a:t>
            </a:r>
          </a:p>
          <a:p>
            <a:pPr algn="l">
              <a:lnSpc>
                <a:spcPct val="115000"/>
              </a:lnSpc>
            </a:pPr>
            <a:r>
              <a:rPr sz="1700" b="1">
                <a:solidFill>
                  <a:srgbClr val="D9480F"/>
                </a:solidFill>
                <a:latin typeface="Arial"/>
              </a:rPr>
              <a:t>▸  </a:t>
            </a:r>
            <a:r>
              <a:rPr sz="1700" b="0">
                <a:solidFill>
                  <a:srgbClr val="14202E"/>
                </a:solidFill>
                <a:latin typeface="Arial"/>
              </a:rPr>
              <a:t>Document: the basic unit of data. Every document has a unique "_id".</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Handout p.2-3, Table 2</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insertOne: add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document in. MongoDB adds the _id.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db.movies.insertOne({"title" : "Stand by Me"})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747" b="0">
                <a:solidFill>
                  <a:srgbClr val="9FE0C9"/>
                </a:solidFill>
                <a:latin typeface="Courier New"/>
              </a:rPr>
              <a:t>{</a:t>
            </a:r>
          </a:p>
          <a:p>
            <a:pPr algn="l">
              <a:lnSpc>
                <a:spcPct val="100000"/>
              </a:lnSpc>
            </a:pPr>
            <a:r>
              <a:rPr sz="1747" b="0">
                <a:solidFill>
                  <a:srgbClr val="9FE0C9"/>
                </a:solidFill>
                <a:latin typeface="Courier New"/>
              </a:rPr>
              <a:t>  acknowledged: true,</a:t>
            </a:r>
          </a:p>
          <a:p>
            <a:pPr algn="l">
              <a:lnSpc>
                <a:spcPct val="100000"/>
              </a:lnSpc>
            </a:pPr>
            <a:r>
              <a:rPr sz="1747" b="0">
                <a:solidFill>
                  <a:srgbClr val="9FE0C9"/>
                </a:solidFill>
                <a:latin typeface="Courier New"/>
              </a:rPr>
              <a:t>  insertedId: ObjectId('6ae46b1b82cee3acaf544ca7')</a:t>
            </a:r>
          </a:p>
          <a:p>
            <a:pPr algn="l">
              <a:lnSpc>
                <a:spcPct val="100000"/>
              </a:lnSpc>
            </a:pPr>
            <a:r>
              <a:rPr sz="1747"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insertOne adds a single document.</a:t>
            </a:r>
          </a:p>
          <a:p>
            <a:pPr algn="l">
              <a:lnSpc>
                <a:spcPct val="115000"/>
              </a:lnSpc>
            </a:pPr>
            <a:r>
              <a:rPr sz="1800" b="1">
                <a:solidFill>
                  <a:srgbClr val="D9480F"/>
                </a:solidFill>
                <a:latin typeface="Arial"/>
              </a:rPr>
              <a:t>▸  </a:t>
            </a:r>
            <a:r>
              <a:rPr sz="1800" b="0">
                <a:solidFill>
                  <a:srgbClr val="14202E"/>
                </a:solidFill>
                <a:latin typeface="Arial"/>
              </a:rPr>
              <a:t>No "_id" given, so MongoDB added one automatically.</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insertMany: add several at once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Many documents, one command.</a:t>
            </a:r>
          </a:p>
        </p:txBody>
      </p:sp>
      <p:sp>
        <p:nvSpPr>
          <p:cNvPr id="6" name="Rectangle 5"/>
          <p:cNvSpPr/>
          <p:nvPr/>
        </p:nvSpPr>
        <p:spPr>
          <a:xfrm>
            <a:off x="548640" y="1737360"/>
            <a:ext cx="7040880" cy="1033271"/>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704087"/>
          </a:xfrm>
          <a:prstGeom prst="rect">
            <a:avLst/>
          </a:prstGeom>
          <a:noFill/>
        </p:spPr>
        <p:txBody>
          <a:bodyPr wrap="square" anchor="t" lIns="73152" rIns="73152" tIns="73152" bIns="73152">
            <a:spAutoFit/>
          </a:bodyPr>
          <a:lstStyle/>
          <a:p>
            <a:pPr algn="l">
              <a:lnSpc>
                <a:spcPct val="100000"/>
              </a:lnSpc>
            </a:pPr>
            <a:r>
              <a:rPr sz="1105" b="0">
                <a:solidFill>
                  <a:srgbClr val="E6ECF2"/>
                </a:solidFill>
                <a:latin typeface="Courier New"/>
              </a:rPr>
              <a:t>&gt; db.movies.insertMany([{"title" : "Ghostbusters"},</a:t>
            </a:r>
          </a:p>
          <a:p>
            <a:pPr algn="l">
              <a:lnSpc>
                <a:spcPct val="100000"/>
              </a:lnSpc>
            </a:pPr>
            <a:r>
              <a:rPr sz="1105" b="0">
                <a:solidFill>
                  <a:srgbClr val="E6ECF2"/>
                </a:solidFill>
                <a:latin typeface="Courier New"/>
              </a:rPr>
              <a:t>    {"title" : "E.T."},</a:t>
            </a:r>
          </a:p>
          <a:p>
            <a:pPr algn="l">
              <a:lnSpc>
                <a:spcPct val="100000"/>
              </a:lnSpc>
            </a:pPr>
            <a:r>
              <a:rPr sz="1105" b="0">
                <a:solidFill>
                  <a:srgbClr val="E6ECF2"/>
                </a:solidFill>
                <a:latin typeface="Courier New"/>
              </a:rPr>
              <a:t>    {"title" : "Blade Runner"}])</a:t>
            </a:r>
          </a:p>
        </p:txBody>
      </p:sp>
      <p:sp>
        <p:nvSpPr>
          <p:cNvPr id="9" name="Rectangle 8"/>
          <p:cNvSpPr/>
          <p:nvPr/>
        </p:nvSpPr>
        <p:spPr>
          <a:xfrm>
            <a:off x="548640" y="2862071"/>
            <a:ext cx="7040880" cy="344728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862071"/>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154679"/>
            <a:ext cx="6931152" cy="3118105"/>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acknowledged: true,</a:t>
            </a:r>
          </a:p>
          <a:p>
            <a:pPr algn="l">
              <a:lnSpc>
                <a:spcPct val="100000"/>
              </a:lnSpc>
            </a:pPr>
            <a:r>
              <a:rPr sz="1800" b="0">
                <a:solidFill>
                  <a:srgbClr val="9FE0C9"/>
                </a:solidFill>
                <a:latin typeface="Courier New"/>
              </a:rPr>
              <a:t>  insertedIds: {</a:t>
            </a:r>
          </a:p>
          <a:p>
            <a:pPr algn="l">
              <a:lnSpc>
                <a:spcPct val="100000"/>
              </a:lnSpc>
            </a:pPr>
            <a:r>
              <a:rPr sz="1800" b="0">
                <a:solidFill>
                  <a:srgbClr val="9FE0C9"/>
                </a:solidFill>
                <a:latin typeface="Courier New"/>
              </a:rPr>
              <a:t>    '0': ObjectId('6ae46b1c6105fbbbe9544ca7'),</a:t>
            </a:r>
          </a:p>
          <a:p>
            <a:pPr algn="l">
              <a:lnSpc>
                <a:spcPct val="100000"/>
              </a:lnSpc>
            </a:pPr>
            <a:r>
              <a:rPr sz="1800" b="0">
                <a:solidFill>
                  <a:srgbClr val="9FE0C9"/>
                </a:solidFill>
                <a:latin typeface="Courier New"/>
              </a:rPr>
              <a:t>    '1': ObjectId('6ae46b1c6105fbbbe9544ca8'),</a:t>
            </a:r>
          </a:p>
          <a:p>
            <a:pPr algn="l">
              <a:lnSpc>
                <a:spcPct val="100000"/>
              </a:lnSpc>
            </a:pPr>
            <a:r>
              <a:rPr sz="1800" b="0">
                <a:solidFill>
                  <a:srgbClr val="9FE0C9"/>
                </a:solidFill>
                <a:latin typeface="Courier New"/>
              </a:rPr>
              <a:t>    '2': ObjectId('6ae46b1c6105fbbbe9544ca9')</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insertMany takes an array [ ] of documents.</a:t>
            </a:r>
          </a:p>
          <a:p>
            <a:pPr algn="l">
              <a:lnSpc>
                <a:spcPct val="115000"/>
              </a:lnSpc>
            </a:pPr>
            <a:r>
              <a:rPr sz="1800" b="1">
                <a:solidFill>
                  <a:srgbClr val="D9480F"/>
                </a:solidFill>
                <a:latin typeface="Arial"/>
              </a:rPr>
              <a:t>▸  </a:t>
            </a:r>
            <a:r>
              <a:rPr sz="1800" b="0">
                <a:solidFill>
                  <a:srgbClr val="14202E"/>
                </a:solidFill>
                <a:latin typeface="Arial"/>
              </a:rPr>
              <a:t>The output lists one _id per document.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Ordered vs unordered insertMany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Ordered stops at the error. Unordered keeps going.</a:t>
            </a:r>
          </a:p>
        </p:txBody>
      </p:sp>
      <p:sp>
        <p:nvSpPr>
          <p:cNvPr id="6" name="Rectangle 5"/>
          <p:cNvSpPr/>
          <p:nvPr/>
        </p:nvSpPr>
        <p:spPr>
          <a:xfrm>
            <a:off x="548640"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1344168"/>
          </a:xfrm>
          <a:prstGeom prst="rect">
            <a:avLst/>
          </a:prstGeom>
          <a:noFill/>
        </p:spPr>
        <p:txBody>
          <a:bodyPr wrap="square" anchor="t" lIns="73152" rIns="73152" tIns="73152" bIns="73152">
            <a:spAutoFit/>
          </a:bodyPr>
          <a:lstStyle/>
          <a:p>
            <a:pPr algn="l">
              <a:lnSpc>
                <a:spcPct val="100000"/>
              </a:lnSpc>
            </a:pPr>
            <a:r>
              <a:rPr sz="1031" b="0">
                <a:solidFill>
                  <a:srgbClr val="7F91A4"/>
                </a:solidFill>
                <a:latin typeface="Courier New"/>
              </a:rPr>
              <a:t>  // unordered: duplicate _id 4 in the middle</a:t>
            </a:r>
          </a:p>
          <a:p>
            <a:pPr algn="l">
              <a:lnSpc>
                <a:spcPct val="100000"/>
              </a:lnSpc>
            </a:pPr>
            <a:r>
              <a:rPr sz="1031" b="0">
                <a:solidFill>
                  <a:srgbClr val="E6ECF2"/>
                </a:solidFill>
                <a:latin typeface="Courier New"/>
              </a:rPr>
              <a:t>&gt; db.movies.insertMany([{"_id" : 3, "title" : "Sixteen Candles"},</a:t>
            </a:r>
          </a:p>
          <a:p>
            <a:pPr algn="l">
              <a:lnSpc>
                <a:spcPct val="100000"/>
              </a:lnSpc>
            </a:pPr>
            <a:r>
              <a:rPr sz="1031" b="0">
                <a:solidFill>
                  <a:srgbClr val="E6ECF2"/>
                </a:solidFill>
                <a:latin typeface="Courier New"/>
              </a:rPr>
              <a:t>    {"_id" : 4, "title" : "The Terminator"},</a:t>
            </a:r>
          </a:p>
          <a:p>
            <a:pPr algn="l">
              <a:lnSpc>
                <a:spcPct val="100000"/>
              </a:lnSpc>
            </a:pPr>
            <a:r>
              <a:rPr sz="1031" b="0">
                <a:solidFill>
                  <a:srgbClr val="E6ECF2"/>
                </a:solidFill>
                <a:latin typeface="Courier New"/>
              </a:rPr>
              <a:t>    {"_id" : 4, "title" : "The Princess Bride"},</a:t>
            </a:r>
          </a:p>
          <a:p>
            <a:pPr algn="l">
              <a:lnSpc>
                <a:spcPct val="100000"/>
              </a:lnSpc>
            </a:pPr>
            <a:r>
              <a:rPr sz="1031" b="0">
                <a:solidFill>
                  <a:srgbClr val="E6ECF2"/>
                </a:solidFill>
                <a:latin typeface="Courier New"/>
              </a:rPr>
              <a:t>    {"_id" : 5, "title" : "Scarface"}],</a:t>
            </a:r>
          </a:p>
          <a:p>
            <a:pPr algn="l">
              <a:lnSpc>
                <a:spcPct val="100000"/>
              </a:lnSpc>
            </a:pPr>
            <a:r>
              <a:rPr sz="1031" b="0">
                <a:solidFill>
                  <a:srgbClr val="E6ECF2"/>
                </a:solidFill>
                <a:latin typeface="Courier New"/>
              </a:rPr>
              <a:t>    {"ordered" : false})</a:t>
            </a:r>
          </a:p>
          <a:p>
            <a:pPr algn="l">
              <a:lnSpc>
                <a:spcPct val="100000"/>
              </a:lnSpc>
            </a:pPr>
            <a:r>
              <a:rPr sz="1031" b="0">
                <a:solidFill>
                  <a:srgbClr val="E6ECF2"/>
                </a:solidFill>
                <a:latin typeface="Courier New"/>
              </a:rPr>
              <a:t>&gt; db.movies.find({"_id" : {"$in" : [3, 4, 5]}})</a:t>
            </a:r>
          </a:p>
        </p:txBody>
      </p:sp>
      <p:sp>
        <p:nvSpPr>
          <p:cNvPr id="9" name="Rectangle 8"/>
          <p:cNvSpPr/>
          <p:nvPr/>
        </p:nvSpPr>
        <p:spPr>
          <a:xfrm>
            <a:off x="548640"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adbs_part1.movies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  { _id: 5, title: 'Scarface'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&lt;- 3, 4 and 5 were all inserted</a:t>
            </a:r>
          </a:p>
        </p:txBody>
      </p:sp>
      <p:sp>
        <p:nvSpPr>
          <p:cNvPr id="12" name="Rectangle 11"/>
          <p:cNvSpPr/>
          <p:nvPr/>
        </p:nvSpPr>
        <p:spPr>
          <a:xfrm>
            <a:off x="6153912"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1344168"/>
          </a:xfrm>
          <a:prstGeom prst="rect">
            <a:avLst/>
          </a:prstGeom>
          <a:noFill/>
        </p:spPr>
        <p:txBody>
          <a:bodyPr wrap="square" anchor="t" lIns="73152" rIns="73152" tIns="73152" bIns="73152">
            <a:spAutoFit/>
          </a:bodyPr>
          <a:lstStyle/>
          <a:p>
            <a:pPr algn="l">
              <a:lnSpc>
                <a:spcPct val="100000"/>
              </a:lnSpc>
            </a:pPr>
            <a:r>
              <a:rPr sz="1015" b="0">
                <a:solidFill>
                  <a:srgbClr val="7F91A4"/>
                </a:solidFill>
                <a:latin typeface="Courier New"/>
              </a:rPr>
              <a:t>  // ordered (the default): same documents</a:t>
            </a:r>
          </a:p>
          <a:p>
            <a:pPr algn="l">
              <a:lnSpc>
                <a:spcPct val="100000"/>
              </a:lnSpc>
            </a:pPr>
            <a:r>
              <a:rPr sz="1015" b="0">
                <a:solidFill>
                  <a:srgbClr val="E6ECF2"/>
                </a:solidFill>
                <a:latin typeface="Courier New"/>
              </a:rPr>
              <a:t>&gt; db.ordered.insertMany([{"_id" : 3, "title" : "Sixteen Candles"},</a:t>
            </a:r>
          </a:p>
          <a:p>
            <a:pPr algn="l">
              <a:lnSpc>
                <a:spcPct val="100000"/>
              </a:lnSpc>
            </a:pPr>
            <a:r>
              <a:rPr sz="1015" b="0">
                <a:solidFill>
                  <a:srgbClr val="E6ECF2"/>
                </a:solidFill>
                <a:latin typeface="Courier New"/>
              </a:rPr>
              <a:t>    {"_id" : 4, "title" : "The Terminator"},</a:t>
            </a:r>
          </a:p>
          <a:p>
            <a:pPr algn="l">
              <a:lnSpc>
                <a:spcPct val="100000"/>
              </a:lnSpc>
            </a:pPr>
            <a:r>
              <a:rPr sz="1015" b="0">
                <a:solidFill>
                  <a:srgbClr val="E6ECF2"/>
                </a:solidFill>
                <a:latin typeface="Courier New"/>
              </a:rPr>
              <a:t>    {"_id" : 4, "title" : "The Princess Bride"},</a:t>
            </a:r>
          </a:p>
          <a:p>
            <a:pPr algn="l">
              <a:lnSpc>
                <a:spcPct val="100000"/>
              </a:lnSpc>
            </a:pPr>
            <a:r>
              <a:rPr sz="1015" b="0">
                <a:solidFill>
                  <a:srgbClr val="E6ECF2"/>
                </a:solidFill>
                <a:latin typeface="Courier New"/>
              </a:rPr>
              <a:t>    {"_id" : 5, "title" : "Scarface"}])</a:t>
            </a:r>
          </a:p>
          <a:p>
            <a:pPr algn="l">
              <a:lnSpc>
                <a:spcPct val="100000"/>
              </a:lnSpc>
            </a:pPr>
            <a:r>
              <a:rPr sz="1015" b="0">
                <a:solidFill>
                  <a:srgbClr val="E6ECF2"/>
                </a:solidFill>
                <a:latin typeface="Courier New"/>
              </a:rPr>
              <a:t>&gt; db.ordered.find()</a:t>
            </a:r>
          </a:p>
        </p:txBody>
      </p:sp>
      <p:sp>
        <p:nvSpPr>
          <p:cNvPr id="15" name="Rectangle 14"/>
          <p:cNvSpPr/>
          <p:nvPr/>
        </p:nvSpPr>
        <p:spPr>
          <a:xfrm>
            <a:off x="6153912"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adbs_part1.ordered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stopped at the error; Scarface never went in</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deleteOne: remove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deleteOne removes one.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db.movies.deleteOne({"_id" : 4})</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719" b="0">
                <a:solidFill>
                  <a:srgbClr val="9FE0C9"/>
                </a:solidFill>
                <a:latin typeface="Courier New"/>
              </a:rPr>
              <a:t>{ acknowledged: true, deletedCount: 1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db.movies.find({"_id" : {"$in" : [3, 4, 5]}})</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44" b="0">
                <a:solidFill>
                  <a:srgbClr val="9FE0C9"/>
                </a:solidFill>
                <a:latin typeface="Courier New"/>
              </a:rPr>
              <a:t>[ { _id: 3, title: 'Sixteen Candles' }, { _id: 5, title: 'Scarface' } ]</a:t>
            </a:r>
          </a:p>
          <a:p>
            <a:pPr algn="l">
              <a:lnSpc>
                <a:spcPct val="100000"/>
              </a:lnSpc>
            </a:pPr>
            <a:r>
              <a:rPr sz="944" b="0">
                <a:solidFill>
                  <a:srgbClr val="9FE0C9"/>
                </a:solidFill>
                <a:latin typeface="Courier New"/>
              </a:rPr>
              <a:t/>
            </a:r>
            <a:r>
              <a:rPr sz="944" b="0">
                <a:solidFill>
                  <a:srgbClr val="F2B27A"/>
                </a:solidFill>
                <a:latin typeface="Courier New"/>
              </a:rPr>
              <a:t>&lt;- _id 4 is gone</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deleteMany: remove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deleteMany removes every match.</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before: the handout's movies</a:t>
            </a:r>
          </a:p>
          <a:p>
            <a:pPr algn="l">
              <a:lnSpc>
                <a:spcPct val="100000"/>
              </a:lnSpc>
            </a:pPr>
            <a:r>
              <a:rPr sz="900" b="0">
                <a:solidFill>
                  <a:srgbClr val="E6ECF2"/>
                </a:solidFill>
                <a:latin typeface="Courier New"/>
              </a:rPr>
              <a:t>&gt; db.movies.find()</a:t>
            </a:r>
          </a:p>
        </p:txBody>
      </p:sp>
      <p:sp>
        <p:nvSpPr>
          <p:cNvPr id="9" name="Rectangle 8"/>
          <p:cNvSpPr/>
          <p:nvPr/>
        </p:nvSpPr>
        <p:spPr>
          <a:xfrm>
            <a:off x="548640"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26080"/>
            <a:ext cx="5376672" cy="3346704"/>
          </a:xfrm>
          <a:prstGeom prst="rect">
            <a:avLst/>
          </a:prstGeom>
          <a:noFill/>
        </p:spPr>
        <p:txBody>
          <a:bodyPr wrap="square" anchor="t" lIns="73152" rIns="73152" tIns="73152" bIns="73152">
            <a:spAutoFit/>
          </a:bodyPr>
          <a:lstStyle/>
          <a:p>
            <a:pPr algn="l">
              <a:lnSpc>
                <a:spcPct val="100000"/>
              </a:lnSpc>
            </a:pPr>
            <a:r>
              <a:rPr sz="1241" b="0">
                <a:solidFill>
                  <a:srgbClr val="9FE0C9"/>
                </a:solidFill>
                <a:latin typeface="Courier New"/>
              </a:rPr>
              <a:t>[</a:t>
            </a:r>
          </a:p>
          <a:p>
            <a:pPr algn="l">
              <a:lnSpc>
                <a:spcPct val="100000"/>
              </a:lnSpc>
            </a:pPr>
            <a:r>
              <a:rPr sz="1241" b="0">
                <a:solidFill>
                  <a:srgbClr val="9FE0C9"/>
                </a:solidFill>
                <a:latin typeface="Courier New"/>
              </a:rPr>
              <a:t>  { _id: 0, title: 'Top Gun', year: 1985 },</a:t>
            </a:r>
          </a:p>
          <a:p>
            <a:pPr algn="l">
              <a:lnSpc>
                <a:spcPct val="100000"/>
              </a:lnSpc>
            </a:pPr>
            <a:r>
              <a:rPr sz="1241" b="0">
                <a:solidFill>
                  <a:srgbClr val="9FE0C9"/>
                </a:solidFill>
                <a:latin typeface="Courier New"/>
              </a:rPr>
              <a:t>  { _id: 1, title: 'Back to the Future', year: 1985 },</a:t>
            </a:r>
          </a:p>
          <a:p>
            <a:pPr algn="l">
              <a:lnSpc>
                <a:spcPct val="100000"/>
              </a:lnSpc>
            </a:pPr>
            <a:r>
              <a:rPr sz="1241" b="0">
                <a:solidFill>
                  <a:srgbClr val="9FE0C9"/>
                </a:solidFill>
                <a:latin typeface="Courier New"/>
              </a:rPr>
              <a:t>  { _id: 3, title: 'Sixteen Candles', year: 1984 }</a:t>
            </a:r>
          </a:p>
          <a:p>
            <a:pPr algn="l">
              <a:lnSpc>
                <a:spcPct val="100000"/>
              </a:lnSpc>
            </a:pPr>
            <a:r>
              <a:rPr sz="1241" b="0">
                <a:solidFill>
                  <a:srgbClr val="9FE0C9"/>
                </a:solidFill>
                <a:latin typeface="Courier New"/>
              </a:rPr>
              <a:t>]</a:t>
            </a:r>
          </a:p>
        </p:txBody>
      </p:sp>
      <p:sp>
        <p:nvSpPr>
          <p:cNvPr id="12" name="Rectangle 11"/>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db.movies.deleteMany({"year" : 1985})</a:t>
            </a:r>
          </a:p>
          <a:p>
            <a:pPr algn="l">
              <a:lnSpc>
                <a:spcPct val="100000"/>
              </a:lnSpc>
            </a:pPr>
            <a:r>
              <a:rPr sz="900" b="0">
                <a:solidFill>
                  <a:srgbClr val="E6ECF2"/>
                </a:solidFill>
                <a:latin typeface="Courier New"/>
              </a:rPr>
              <a:t>&gt; db.movies.find()</a:t>
            </a:r>
          </a:p>
        </p:txBody>
      </p:sp>
      <p:sp>
        <p:nvSpPr>
          <p:cNvPr id="15" name="Rectangle 14"/>
          <p:cNvSpPr/>
          <p:nvPr/>
        </p:nvSpPr>
        <p:spPr>
          <a:xfrm>
            <a:off x="6153912"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926080"/>
            <a:ext cx="5376672" cy="3346704"/>
          </a:xfrm>
          <a:prstGeom prst="rect">
            <a:avLst/>
          </a:prstGeom>
          <a:noFill/>
        </p:spPr>
        <p:txBody>
          <a:bodyPr wrap="square" anchor="t" lIns="73152" rIns="73152" tIns="73152" bIns="73152">
            <a:spAutoFit/>
          </a:bodyPr>
          <a:lstStyle/>
          <a:p>
            <a:pPr algn="l">
              <a:lnSpc>
                <a:spcPct val="100000"/>
              </a:lnSpc>
            </a:pPr>
            <a:r>
              <a:rPr sz="1289" b="0">
                <a:solidFill>
                  <a:srgbClr val="9FE0C9"/>
                </a:solidFill>
                <a:latin typeface="Courier New"/>
              </a:rPr>
              <a:t>{ acknowledged: true, deletedCount: 2 }</a:t>
            </a:r>
          </a:p>
          <a:p>
            <a:pPr algn="l">
              <a:lnSpc>
                <a:spcPct val="100000"/>
              </a:lnSpc>
            </a:pPr>
            <a:r>
              <a:rPr sz="1289" b="0">
                <a:solidFill>
                  <a:srgbClr val="9FE0C9"/>
                </a:solidFill>
                <a:latin typeface="Courier New"/>
              </a:rPr>
              <a:t> </a:t>
            </a:r>
          </a:p>
          <a:p>
            <a:pPr algn="l">
              <a:lnSpc>
                <a:spcPct val="100000"/>
              </a:lnSpc>
            </a:pPr>
            <a:r>
              <a:rPr sz="1289" b="0">
                <a:solidFill>
                  <a:srgbClr val="9FE0C9"/>
                </a:solidFill>
                <a:latin typeface="Courier New"/>
              </a:rPr>
              <a:t>[ { _id: 3, title: 'Sixteen Candles', year: 1984 } ]</a:t>
            </a:r>
          </a:p>
          <a:p>
            <a:pPr algn="l">
              <a:lnSpc>
                <a:spcPct val="100000"/>
              </a:lnSpc>
            </a:pPr>
            <a:r>
              <a:rPr sz="1289" b="0">
                <a:solidFill>
                  <a:srgbClr val="9FE0C9"/>
                </a:solidFill>
                <a:latin typeface="Courier New"/>
              </a:rPr>
              <a:t/>
            </a:r>
            <a:r>
              <a:rPr sz="1289" b="0">
                <a:solidFill>
                  <a:srgbClr val="F2B27A"/>
                </a:solidFill>
                <a:latin typeface="Courier New"/>
              </a:rPr>
              <a:t>&lt;- only the 1984 movie is left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2</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Find, Replace &amp; Update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findOne · replaceOne · updateOne · updateMany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“Find it first. Then change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735" b="0">
                <a:solidFill>
                  <a:srgbClr val="E6ECF2"/>
                </a:solidFill>
                <a:latin typeface="Courier New"/>
              </a:rPr>
              <a:t>use adbs_part2</a:t>
            </a:r>
          </a:p>
          <a:p>
            <a:pPr algn="l">
              <a:lnSpc>
                <a:spcPct val="100000"/>
              </a:lnSpc>
            </a:pPr>
            <a:r>
              <a:rPr sz="1735" b="0">
                <a:solidFill>
                  <a:srgbClr val="E6ECF2"/>
                </a:solidFill>
                <a:latin typeface="Courier New"/>
              </a:rPr>
              <a:t>db.dropDatabase()</a:t>
            </a:r>
          </a:p>
          <a:p>
            <a:pPr algn="l">
              <a:lnSpc>
                <a:spcPct val="100000"/>
              </a:lnSpc>
            </a:pPr>
            <a:r>
              <a:rPr sz="1735" b="0">
                <a:solidFill>
                  <a:srgbClr val="E6ECF2"/>
                </a:solidFill>
                <a:latin typeface="Courier New"/>
              </a:rPr>
              <a:t>db.users.insertOne({"_id" : ObjectId("4b2b9f67a1f631733d917a7a"),</a:t>
            </a:r>
          </a:p>
          <a:p>
            <a:pPr algn="l">
              <a:lnSpc>
                <a:spcPct val="100000"/>
              </a:lnSpc>
            </a:pPr>
            <a:r>
              <a:rPr sz="1735" b="0">
                <a:solidFill>
                  <a:srgbClr val="E6ECF2"/>
                </a:solidFill>
                <a:latin typeface="Courier New"/>
              </a:rPr>
              <a:t>  "name" : "Joe", "friends" : 32, "enemies" : 2})</a:t>
            </a:r>
          </a:p>
          <a:p>
            <a:pPr algn="l">
              <a:lnSpc>
                <a:spcPct val="100000"/>
              </a:lnSpc>
            </a:pPr>
            <a:r>
              <a:rPr sz="1735" b="0">
                <a:solidFill>
                  <a:srgbClr val="E6ECF2"/>
                </a:solidFill>
                <a:latin typeface="Courier New"/>
              </a:rPr>
              <a:t>db.users.insertOne({"_id" : ObjectId("4b253b067525f35f94b60a31"),</a:t>
            </a:r>
          </a:p>
          <a:p>
            <a:pPr algn="l">
              <a:lnSpc>
                <a:spcPct val="100000"/>
              </a:lnSpc>
            </a:pPr>
            <a:r>
              <a:rPr sz="1735" b="0">
                <a:solidFill>
                  <a:srgbClr val="E6ECF2"/>
                </a:solidFill>
                <a:latin typeface="Courier New"/>
              </a:rPr>
              <a:t>  "name" : "John", "age" : 24, "sex" : "male", "location" : "Taytay"})</a:t>
            </a:r>
          </a:p>
          <a:p>
            <a:pPr algn="l">
              <a:lnSpc>
                <a:spcPct val="100000"/>
              </a:lnSpc>
            </a:pPr>
            <a:r>
              <a:rPr sz="1735" b="0">
                <a:solidFill>
                  <a:srgbClr val="E6ECF2"/>
                </a:solidFill>
                <a:latin typeface="Courier New"/>
              </a:rPr>
              <a:t>db.books.insertOne({"_id" : ObjectId("4b253b067525f35f94b60a31"),</a:t>
            </a:r>
          </a:p>
          <a:p>
            <a:pPr algn="l">
              <a:lnSpc>
                <a:spcPct val="100000"/>
              </a:lnSpc>
            </a:pPr>
            <a:r>
              <a:rPr sz="1735" b="0">
                <a:solidFill>
                  <a:srgbClr val="E6ECF2"/>
                </a:solidFill>
                <a:latin typeface="Courier New"/>
              </a:rPr>
              <a:t>  "title" : "MongoDB-2019",</a:t>
            </a:r>
          </a:p>
          <a:p>
            <a:pPr algn="l">
              <a:lnSpc>
                <a:spcPct val="100000"/>
              </a:lnSpc>
            </a:pPr>
            <a:r>
              <a:rPr sz="1735" b="0">
                <a:solidFill>
                  <a:srgbClr val="E6ECF2"/>
                </a:solidFill>
                <a:latin typeface="Courier New"/>
              </a:rPr>
              <a:t>  "author" : {"name" : "Nicole", "email" : "Nic@example.com"}})</a:t>
            </a:r>
          </a:p>
          <a:p>
            <a:pPr algn="l">
              <a:lnSpc>
                <a:spcPct val="100000"/>
              </a:lnSpc>
            </a:pPr>
            <a:r>
              <a:rPr sz="1735" b="0">
                <a:solidFill>
                  <a:srgbClr val="E6ECF2"/>
                </a:solidFill>
                <a:latin typeface="Courier New"/>
              </a:rPr>
              <a:t>db.users.insertMany([{"_id" : 1, "birthday" : "10/13/1978"},</a:t>
            </a:r>
          </a:p>
          <a:p>
            <a:pPr algn="l">
              <a:lnSpc>
                <a:spcPct val="100000"/>
              </a:lnSpc>
            </a:pPr>
            <a:r>
              <a:rPr sz="1735" b="0">
                <a:solidFill>
                  <a:srgbClr val="E6ECF2"/>
                </a:solidFill>
                <a:latin typeface="Courier New"/>
              </a:rPr>
              <a:t>  {"_id" : 2, "birthday" : "10/13/1978"},</a:t>
            </a:r>
          </a:p>
          <a:p>
            <a:pPr algn="l">
              <a:lnSpc>
                <a:spcPct val="100000"/>
              </a:lnSpc>
            </a:pPr>
            <a:r>
              <a:rPr sz="1735" b="0">
                <a:solidFill>
                  <a:srgbClr val="E6ECF2"/>
                </a:solidFill>
                <a:latin typeface="Courier New"/>
              </a:rPr>
              <a:t>  {"_id" : 3, "birthday" : "10/13/1978"}])</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findOne: get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findOne brings back one document.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db.users.findOne({"name" : "Joe"})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replaceOne: replace the whole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replaceOne swaps the whole document.</a:t>
            </a:r>
          </a:p>
        </p:txBody>
      </p:sp>
      <p:sp>
        <p:nvSpPr>
          <p:cNvPr id="6" name="Rectangle 5"/>
          <p:cNvSpPr/>
          <p:nvPr/>
        </p:nvSpPr>
        <p:spPr>
          <a:xfrm>
            <a:off x="548640" y="1737360"/>
            <a:ext cx="7040880"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1088136"/>
          </a:xfrm>
          <a:prstGeom prst="rect">
            <a:avLst/>
          </a:prstGeom>
          <a:noFill/>
        </p:spPr>
        <p:txBody>
          <a:bodyPr wrap="square" anchor="t" lIns="73152" rIns="73152" tIns="73152" bIns="73152">
            <a:spAutoFit/>
          </a:bodyPr>
          <a:lstStyle/>
          <a:p>
            <a:pPr algn="l">
              <a:lnSpc>
                <a:spcPct val="100000"/>
              </a:lnSpc>
            </a:pPr>
            <a:r>
              <a:rPr sz="1175" b="0">
                <a:solidFill>
                  <a:srgbClr val="E6ECF2"/>
                </a:solidFill>
                <a:latin typeface="Courier New"/>
              </a:rPr>
              <a:t>&gt; var Joe = db.users.findOne({"name" : "Joe"});</a:t>
            </a:r>
          </a:p>
          <a:p>
            <a:pPr algn="l">
              <a:lnSpc>
                <a:spcPct val="100000"/>
              </a:lnSpc>
            </a:pPr>
            <a:r>
              <a:rPr sz="1175" b="0">
                <a:solidFill>
                  <a:srgbClr val="E6ECF2"/>
                </a:solidFill>
                <a:latin typeface="Courier New"/>
              </a:rPr>
              <a:t>  Joe.relationships = {"friends" : Joe.friends, "enemies" : Joe.enemies};</a:t>
            </a:r>
          </a:p>
          <a:p>
            <a:pPr algn="l">
              <a:lnSpc>
                <a:spcPct val="100000"/>
              </a:lnSpc>
            </a:pPr>
            <a:r>
              <a:rPr sz="1175" b="0">
                <a:solidFill>
                  <a:srgbClr val="E6ECF2"/>
                </a:solidFill>
                <a:latin typeface="Courier New"/>
              </a:rPr>
              <a:t>  Joe.username = Joe.name;</a:t>
            </a:r>
          </a:p>
          <a:p>
            <a:pPr algn="l">
              <a:lnSpc>
                <a:spcPct val="100000"/>
              </a:lnSpc>
            </a:pPr>
            <a:r>
              <a:rPr sz="1175" b="0">
                <a:solidFill>
                  <a:srgbClr val="E6ECF2"/>
                </a:solidFill>
                <a:latin typeface="Courier New"/>
              </a:rPr>
              <a:t>  delete Joe.friends; delete Joe.enemies; delete Joe.name;</a:t>
            </a:r>
          </a:p>
          <a:p>
            <a:pPr algn="l">
              <a:lnSpc>
                <a:spcPct val="100000"/>
              </a:lnSpc>
            </a:pPr>
            <a:r>
              <a:rPr sz="1175" b="0">
                <a:solidFill>
                  <a:srgbClr val="E6ECF2"/>
                </a:solidFill>
                <a:latin typeface="Courier New"/>
              </a:rPr>
              <a:t>  db.users.replaceOne({"name" : "Joe"}, Joe)</a:t>
            </a:r>
          </a:p>
        </p:txBody>
      </p:sp>
      <p:sp>
        <p:nvSpPr>
          <p:cNvPr id="9" name="Rectangle 8"/>
          <p:cNvSpPr/>
          <p:nvPr/>
        </p:nvSpPr>
        <p:spPr>
          <a:xfrm>
            <a:off x="548640" y="3246120"/>
            <a:ext cx="7040880" cy="3063240"/>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$set adds or changes a field.</a:t>
            </a:r>
          </a:p>
        </p:txBody>
      </p:sp>
      <p:sp>
        <p:nvSpPr>
          <p:cNvPr id="6" name="Rectangle 5"/>
          <p:cNvSpPr/>
          <p:nvPr/>
        </p:nvSpPr>
        <p:spPr>
          <a:xfrm>
            <a:off x="548640"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822960"/>
          </a:xfrm>
          <a:prstGeom prst="rect">
            <a:avLst/>
          </a:prstGeom>
          <a:noFill/>
        </p:spPr>
        <p:txBody>
          <a:bodyPr wrap="square" anchor="t" lIns="73152" rIns="73152" tIns="73152" bIns="73152">
            <a:spAutoFit/>
          </a:bodyPr>
          <a:lstStyle/>
          <a:p>
            <a:pPr algn="l">
              <a:lnSpc>
                <a:spcPct val="100000"/>
              </a:lnSpc>
            </a:pPr>
            <a:r>
              <a:rPr sz="1197" b="0">
                <a:solidFill>
                  <a:srgbClr val="E6ECF2"/>
                </a:solidFill>
                <a:latin typeface="Courier New"/>
              </a:rPr>
              <a:t>&gt; db.users.updateOne({"name" : "John"},</a:t>
            </a:r>
          </a:p>
          <a:p>
            <a:pPr algn="l">
              <a:lnSpc>
                <a:spcPct val="100000"/>
              </a:lnSpc>
            </a:pPr>
            <a:r>
              <a:rPr sz="1197" b="0">
                <a:solidFill>
                  <a:srgbClr val="E6ECF2"/>
                </a:solidFill>
                <a:latin typeface="Courier New"/>
              </a:rPr>
              <a:t>    {"$set" : {"favorite book" : "Green Eggs and Ham"}})</a:t>
            </a:r>
          </a:p>
        </p:txBody>
      </p:sp>
      <p:sp>
        <p:nvSpPr>
          <p:cNvPr id="9" name="Rectangle 8"/>
          <p:cNvSpPr/>
          <p:nvPr/>
        </p:nvSpPr>
        <p:spPr>
          <a:xfrm>
            <a:off x="548640"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Rectangle 9"/>
          <p:cNvSpPr/>
          <p:nvPr/>
        </p:nvSpPr>
        <p:spPr>
          <a:xfrm>
            <a:off x="6153912"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822960"/>
          </a:xfrm>
          <a:prstGeom prst="rect">
            <a:avLst/>
          </a:prstGeom>
          <a:noFill/>
        </p:spPr>
        <p:txBody>
          <a:bodyPr wrap="square" anchor="t" lIns="73152" rIns="73152" tIns="73152" bIns="73152">
            <a:spAutoFit/>
          </a:bodyPr>
          <a:lstStyle/>
          <a:p>
            <a:pPr algn="l">
              <a:lnSpc>
                <a:spcPct val="100000"/>
              </a:lnSpc>
            </a:pPr>
            <a:r>
              <a:rPr sz="1027" b="0">
                <a:solidFill>
                  <a:srgbClr val="7F91A4"/>
                </a:solidFill>
                <a:latin typeface="Courier New"/>
              </a:rPr>
              <a:t>  // $set can even change the type</a:t>
            </a:r>
          </a:p>
          <a:p>
            <a:pPr algn="l">
              <a:lnSpc>
                <a:spcPct val="100000"/>
              </a:lnSpc>
            </a:pPr>
            <a:r>
              <a:rPr sz="1027" b="0">
                <a:solidFill>
                  <a:srgbClr val="E6ECF2"/>
                </a:solidFill>
                <a:latin typeface="Courier New"/>
              </a:rPr>
              <a:t>&gt; db.users.updateOne({"name" : "John"},</a:t>
            </a:r>
          </a:p>
          <a:p>
            <a:pPr algn="l">
              <a:lnSpc>
                <a:spcPct val="100000"/>
              </a:lnSpc>
            </a:pPr>
            <a:r>
              <a:rPr sz="1027" b="0">
                <a:solidFill>
                  <a:srgbClr val="E6ECF2"/>
                </a:solidFill>
                <a:latin typeface="Courier New"/>
              </a:rPr>
              <a:t>    {"$set" : {"favorite book" :</a:t>
            </a:r>
          </a:p>
          <a:p>
            <a:pPr algn="l">
              <a:lnSpc>
                <a:spcPct val="100000"/>
              </a:lnSpc>
            </a:pPr>
            <a:r>
              <a:rPr sz="1027" b="0">
                <a:solidFill>
                  <a:srgbClr val="E6ECF2"/>
                </a:solidFill>
                <a:latin typeface="Courier New"/>
              </a:rPr>
              <a:t>    ["Cat's Cradle", "Foundation Trilogy", "Ender's Game"]}})</a:t>
            </a:r>
          </a:p>
        </p:txBody>
      </p:sp>
      <p:sp>
        <p:nvSpPr>
          <p:cNvPr id="13" name="Rectangle 12"/>
          <p:cNvSpPr/>
          <p:nvPr/>
        </p:nvSpPr>
        <p:spPr>
          <a:xfrm>
            <a:off x="6153912"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$unset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$unset removes a field.</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db.users.updateOne({"name" : "John"},</a:t>
            </a:r>
          </a:p>
          <a:p>
            <a:pPr algn="l">
              <a:lnSpc>
                <a:spcPct val="100000"/>
              </a:lnSpc>
            </a:pPr>
            <a:r>
              <a:rPr sz="1016" b="0">
                <a:solidFill>
                  <a:srgbClr val="E6ECF2"/>
                </a:solidFill>
                <a:latin typeface="Courier New"/>
              </a:rPr>
              <a:t>    {"$unset" : {"favorite book" : 1}})</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 inside an embedded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db.books.updateOne({"author.name" : "Nicole"},</a:t>
            </a:r>
          </a:p>
          <a:p>
            <a:pPr algn="l">
              <a:lnSpc>
                <a:spcPct val="100000"/>
              </a:lnSpc>
            </a:pPr>
            <a:r>
              <a:rPr sz="1016" b="0">
                <a:solidFill>
                  <a:srgbClr val="E6ECF2"/>
                </a:solidFill>
                <a:latin typeface="Courier New"/>
              </a:rPr>
              <a:t>    {"$set" : {"author.name" : "Nicole Tagayon"}})</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updateMany: update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rule, every match.</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db.users.updateMany({"birthday" : "10/13/1978"},</a:t>
            </a:r>
          </a:p>
          <a:p>
            <a:pPr algn="l">
              <a:lnSpc>
                <a:spcPct val="100000"/>
              </a:lnSpc>
            </a:pPr>
            <a:r>
              <a:rPr sz="1016" b="0">
                <a:solidFill>
                  <a:srgbClr val="E6ECF2"/>
                </a:solidFill>
                <a:latin typeface="Courier New"/>
              </a:rPr>
              <a:t>    {"$set" : {"gift" : "Happy Birthday!"}})</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3</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Comparison</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$lt · $lte · $gt · $gte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“Less, less-or-equal, greater, greater-or-equal.”</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adbs_part3</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db.users.insertMany([{"_id" : 1, "name" : "Ana", "age" : 17},</a:t>
            </a:r>
          </a:p>
          <a:p>
            <a:pPr algn="l">
              <a:lnSpc>
                <a:spcPct val="100000"/>
              </a:lnSpc>
            </a:pPr>
            <a:r>
              <a:rPr sz="1800" b="0">
                <a:solidFill>
                  <a:srgbClr val="E6ECF2"/>
                </a:solidFill>
                <a:latin typeface="Courier New"/>
              </a:rPr>
              <a:t>  {"_id" : 2, "name" : "Ben", "age" : 18},</a:t>
            </a:r>
          </a:p>
          <a:p>
            <a:pPr algn="l">
              <a:lnSpc>
                <a:spcPct val="100000"/>
              </a:lnSpc>
            </a:pPr>
            <a:r>
              <a:rPr sz="1800" b="0">
                <a:solidFill>
                  <a:srgbClr val="E6ECF2"/>
                </a:solidFill>
                <a:latin typeface="Courier New"/>
              </a:rPr>
              <a:t>  {"_id" : 3, "name" : "Cara", "age" : 24},</a:t>
            </a:r>
          </a:p>
          <a:p>
            <a:pPr algn="l">
              <a:lnSpc>
                <a:spcPct val="100000"/>
              </a:lnSpc>
            </a:pPr>
            <a:r>
              <a:rPr sz="1800" b="0">
                <a:solidFill>
                  <a:srgbClr val="E6ECF2"/>
                </a:solidFill>
                <a:latin typeface="Courier New"/>
              </a:rPr>
              <a:t>  {"_id" : 4, "name" : "Dan", "age" : 30},</a:t>
            </a:r>
          </a:p>
          <a:p>
            <a:pPr algn="l">
              <a:lnSpc>
                <a:spcPct val="100000"/>
              </a:lnSpc>
            </a:pPr>
            <a:r>
              <a:rPr sz="1800" b="0">
                <a:solidFill>
                  <a:srgbClr val="E6ECF2"/>
                </a:solidFill>
                <a:latin typeface="Courier New"/>
              </a:rPr>
              <a:t>  {"_id" : 5, "name" : "Eli", "age" : 31}])</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Four comparison operators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The e means equal is allowed.</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3698138"/>
                <a:gridCol w="3698138"/>
                <a:gridCol w="3698139"/>
              </a:tblGrid>
              <a:tr h="640080">
                <a:tc>
                  <a:txBody>
                    <a:bodyPr/>
                    <a:lstStyle/>
                    <a:p>
                      <a:r>
                        <a:rPr sz="1800" b="1">
                          <a:solidFill>
                            <a:srgbClr val="FFFFFF"/>
                          </a:solidFill>
                          <a:latin typeface="Arial"/>
                        </a:rPr>
                        <a:t>Operator</a:t>
                      </a:r>
                    </a:p>
                  </a:txBody>
                  <a:tcPr>
                    <a:solidFill>
                      <a:srgbClr val="14202E"/>
                    </a:solidFill>
                  </a:tcPr>
                </a:tc>
                <a:tc>
                  <a:txBody>
                    <a:bodyPr/>
                    <a:lstStyle/>
                    <a:p>
                      <a:r>
                        <a:rPr sz="1800" b="1">
                          <a:solidFill>
                            <a:srgbClr val="FFFFFF"/>
                          </a:solidFill>
                          <a:latin typeface="Arial"/>
                        </a:rPr>
                        <a:t>Means</a:t>
                      </a:r>
                    </a:p>
                  </a:txBody>
                  <a:tcPr>
                    <a:solidFill>
                      <a:srgbClr val="14202E"/>
                    </a:solidFill>
                  </a:tcPr>
                </a:tc>
                <a:tc>
                  <a:txBody>
                    <a:bodyPr/>
                    <a:lstStyle/>
                    <a:p>
                      <a:r>
                        <a:rPr sz="1800" b="1">
                          <a:solidFill>
                            <a:srgbClr val="FFFFFF"/>
                          </a:solidFill>
                          <a:latin typeface="Arial"/>
                        </a:rPr>
                        <a:t>Symbol</a:t>
                      </a:r>
                    </a:p>
                  </a:txBody>
                  <a:tcPr>
                    <a:solidFill>
                      <a:srgbClr val="14202E"/>
                    </a:solidFill>
                  </a:tcPr>
                </a:tc>
              </a:tr>
              <a:tr h="640080">
                <a:tc>
                  <a:txBody>
                    <a:bodyPr/>
                    <a:lstStyle/>
                    <a:p>
                      <a:r>
                        <a:rPr sz="2200" b="1">
                          <a:solidFill>
                            <a:srgbClr val="D9480F"/>
                          </a:solidFill>
                          <a:latin typeface="Courier New"/>
                        </a:rPr>
                        <a:t>$lt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$lte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Practice ages (ours, not from the handout): Ana 17, Ben 18, Cara 24, Dan 30, Eli 31.</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$lt and $lte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18 is out with $lt, in with $lte.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 : 18}})</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{"$lte" : 18}})</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$gt and $gte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30 is out with $gt, in with $gte.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 : 30}})</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30}})</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Combine them: ages 18 to 30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Two operators, one field, one range.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18, "$lte" : 30}})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4</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$in, $or, $not</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 · $or · $not</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“One field, many values. Many fields, any match.”</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adbs_part4</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db.raffle.insertMany([{"_id" : 1, "ticket_no" : 725, "winner" : false},</a:t>
            </a:r>
          </a:p>
          <a:p>
            <a:pPr algn="l">
              <a:lnSpc>
                <a:spcPct val="100000"/>
              </a:lnSpc>
            </a:pPr>
            <a:r>
              <a:rPr sz="1800" b="0">
                <a:solidFill>
                  <a:srgbClr val="E6ECF2"/>
                </a:solidFill>
                <a:latin typeface="Courier New"/>
              </a:rPr>
              <a:t>  {"_id" : 2, "ticket_no" : 542, "winner" : false},</a:t>
            </a:r>
          </a:p>
          <a:p>
            <a:pPr algn="l">
              <a:lnSpc>
                <a:spcPct val="100000"/>
              </a:lnSpc>
            </a:pPr>
            <a:r>
              <a:rPr sz="1800" b="0">
                <a:solidFill>
                  <a:srgbClr val="E6ECF2"/>
                </a:solidFill>
                <a:latin typeface="Courier New"/>
              </a:rPr>
              <a:t>  {"_id" : 3, "ticket_no" : 390, "winner" : false},</a:t>
            </a:r>
          </a:p>
          <a:p>
            <a:pPr algn="l">
              <a:lnSpc>
                <a:spcPct val="100000"/>
              </a:lnSpc>
            </a:pPr>
            <a:r>
              <a:rPr sz="1800" b="0">
                <a:solidFill>
                  <a:srgbClr val="E6ECF2"/>
                </a:solidFill>
                <a:latin typeface="Courier New"/>
              </a:rPr>
              <a:t>  {"_id" : 4, "ticket_no" : 111, "winner" : true},</a:t>
            </a:r>
          </a:p>
          <a:p>
            <a:pPr algn="l">
              <a:lnSpc>
                <a:spcPct val="100000"/>
              </a:lnSpc>
            </a:pPr>
            <a:r>
              <a:rPr sz="1800" b="0">
                <a:solidFill>
                  <a:srgbClr val="E6ECF2"/>
                </a:solidFill>
                <a:latin typeface="Courier New"/>
              </a:rPr>
              <a:t>  {"_id" : 5, "ticket_no" : 222, "winner" : false}])</a:t>
            </a:r>
          </a:p>
          <a:p>
            <a:pPr algn="l">
              <a:lnSpc>
                <a:spcPct val="100000"/>
              </a:lnSpc>
            </a:pPr>
            <a:r>
              <a:rPr sz="1800" b="0">
                <a:solidFill>
                  <a:srgbClr val="E6ECF2"/>
                </a:solidFill>
                <a:latin typeface="Courier New"/>
              </a:rPr>
              <a:t>db.users.insertMany([{"_id" : 1, "name" : "Rhea", "salary" : 8000},</a:t>
            </a:r>
          </a:p>
          <a:p>
            <a:pPr algn="l">
              <a:lnSpc>
                <a:spcPct val="100000"/>
              </a:lnSpc>
            </a:pPr>
            <a:r>
              <a:rPr sz="1800" b="0">
                <a:solidFill>
                  <a:srgbClr val="E6ECF2"/>
                </a:solidFill>
                <a:latin typeface="Courier New"/>
              </a:rPr>
              <a:t>  {"_id" : 2, "name" : "Mark", "salary" : 10000},</a:t>
            </a:r>
          </a:p>
          <a:p>
            <a:pPr algn="l">
              <a:lnSpc>
                <a:spcPct val="100000"/>
              </a:lnSpc>
            </a:pPr>
            <a:r>
              <a:rPr sz="1800" b="0">
                <a:solidFill>
                  <a:srgbClr val="E6ECF2"/>
                </a:solidFill>
                <a:latin typeface="Courier New"/>
              </a:rPr>
              <a:t>  {"_id" : 3, "name" : "Liza", "salary" : 15000}])</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 many values for one key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$in is a guest list for one field.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db.raffle.find({"ticket_no" : {"$in" : [725, 542, 390]}})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 any condition, across keys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 pass any one test.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db.raffle.find({"$or" : [{"ticket_no" : 725}, {"winner" : true}]})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$not: everything that does NOT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$not flips the condition.</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db.users.find({salary: {$not: {$gt: 10000}}}).pretty()</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5</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Querying Arrays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inserting arrays · array match · $all · $size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“Arrays answer like single values.”</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adbs_part5</a:t>
            </a:r>
          </a:p>
          <a:p>
            <a:pPr algn="l">
              <a:lnSpc>
                <a:spcPct val="100000"/>
              </a:lnSpc>
            </a:pPr>
            <a:r>
              <a:rPr sz="1800" b="0">
                <a:solidFill>
                  <a:srgbClr val="E6ECF2"/>
                </a:solidFill>
                <a:latin typeface="Courier New"/>
              </a:rPr>
              <a:t>db.dropDatabase()</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Inserting arrays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Square brackets make an array.</a:t>
            </a:r>
          </a:p>
        </p:txBody>
      </p:sp>
      <p:sp>
        <p:nvSpPr>
          <p:cNvPr id="6" name="Rectangle 5"/>
          <p:cNvSpPr/>
          <p:nvPr/>
        </p:nvSpPr>
        <p:spPr>
          <a:xfrm>
            <a:off x="548640" y="1737360"/>
            <a:ext cx="7040880" cy="1225295"/>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896111"/>
          </a:xfrm>
          <a:prstGeom prst="rect">
            <a:avLst/>
          </a:prstGeom>
          <a:noFill/>
        </p:spPr>
        <p:txBody>
          <a:bodyPr wrap="square" anchor="t" lIns="73152" rIns="73152" tIns="73152" bIns="73152">
            <a:spAutoFit/>
          </a:bodyPr>
          <a:lstStyle/>
          <a:p>
            <a:pPr algn="l">
              <a:lnSpc>
                <a:spcPct val="100000"/>
              </a:lnSpc>
            </a:pPr>
            <a:r>
              <a:rPr sz="1149" b="0">
                <a:solidFill>
                  <a:srgbClr val="E6ECF2"/>
                </a:solidFill>
                <a:latin typeface="Courier New"/>
              </a:rPr>
              <a:t>&gt; db.food.insertOne({"_id" : 1, "fruit" : ["apple", "banana", "peach"]})</a:t>
            </a:r>
          </a:p>
          <a:p>
            <a:pPr algn="l">
              <a:lnSpc>
                <a:spcPct val="100000"/>
              </a:lnSpc>
            </a:pPr>
            <a:r>
              <a:rPr sz="1149" b="0">
                <a:solidFill>
                  <a:srgbClr val="E6ECF2"/>
                </a:solidFill>
                <a:latin typeface="Courier New"/>
              </a:rPr>
              <a:t>&gt; db.food.insertOne({"_id" : 2, "fruit" : ["apple", "kumquat", "orange"]})</a:t>
            </a:r>
          </a:p>
          <a:p>
            <a:pPr algn="l">
              <a:lnSpc>
                <a:spcPct val="100000"/>
              </a:lnSpc>
            </a:pPr>
            <a:r>
              <a:rPr sz="1149" b="0">
                <a:solidFill>
                  <a:srgbClr val="E6ECF2"/>
                </a:solidFill>
                <a:latin typeface="Courier New"/>
              </a:rPr>
              <a:t>&gt; db.food.insertOne({"_id" : 3, "fruit" : ["cherry", "banana", "apple"]})</a:t>
            </a:r>
          </a:p>
          <a:p>
            <a:pPr algn="l">
              <a:lnSpc>
                <a:spcPct val="100000"/>
              </a:lnSpc>
            </a:pPr>
            <a:r>
              <a:rPr sz="1149" b="0">
                <a:solidFill>
                  <a:srgbClr val="E6ECF2"/>
                </a:solidFill>
                <a:latin typeface="Courier New"/>
              </a:rPr>
              <a:t>&gt; db.food.find()</a:t>
            </a:r>
          </a:p>
        </p:txBody>
      </p:sp>
      <p:sp>
        <p:nvSpPr>
          <p:cNvPr id="9" name="Rectangle 8"/>
          <p:cNvSpPr/>
          <p:nvPr/>
        </p:nvSpPr>
        <p:spPr>
          <a:xfrm>
            <a:off x="548640" y="3054095"/>
            <a:ext cx="7040880" cy="3255265"/>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 an array like a single value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Ask for banana, get every basket with a banana.</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$all: must have every listed element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$all: has them all, any order.</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{$all : ["apple",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 specific position: key.index</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Count from zero.</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db.food.find({"fruit.2" : "peach"})</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$size: match by number of elements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$size counts the elements.</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{"$size" : 3}})</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6</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$slice &amp; Embedded Documents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$slice · dot notation · embedded documents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“Trim what you see. Reach inside with a dot.”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adbs_part6</a:t>
            </a:r>
          </a:p>
          <a:p>
            <a:pPr algn="l">
              <a:lnSpc>
                <a:spcPct val="100000"/>
              </a:lnSpc>
            </a:pPr>
            <a:r>
              <a:rPr sz="1800" b="0">
                <a:solidFill>
                  <a:srgbClr val="E6ECF2"/>
                </a:solidFill>
                <a:latin typeface="Courier New"/>
              </a:rPr>
              <a:t>db.dropDatabase()</a:t>
            </a:r>
          </a:p>
          <a:p>
            <a:pPr algn="l">
              <a:lnSpc>
                <a:spcPct val="100000"/>
              </a:lnSpc>
            </a:pPr>
            <a:r>
              <a:rPr sz="1800" b="0">
                <a:solidFill>
                  <a:srgbClr val="E6ECF2"/>
                </a:solidFill>
                <a:latin typeface="Courier New"/>
              </a:rPr>
              <a:t>db.blog.posts.insertOne({"_id" : 1, "title" : "ADBS",</a:t>
            </a:r>
          </a:p>
          <a:p>
            <a:pPr algn="l">
              <a:lnSpc>
                <a:spcPct val="100000"/>
              </a:lnSpc>
            </a:pPr>
            <a:r>
              <a:rPr sz="1800" b="0">
                <a:solidFill>
                  <a:srgbClr val="E6ECF2"/>
                </a:solidFill>
                <a:latin typeface="Courier New"/>
              </a:rPr>
              <a:t>  "comments" : Array.from({length : 40}, (_, i) =&gt; "c" + (i + 1))})</a:t>
            </a:r>
          </a:p>
          <a:p>
            <a:pPr algn="l">
              <a:lnSpc>
                <a:spcPct val="100000"/>
              </a:lnSpc>
            </a:pPr>
            <a:r>
              <a:rPr sz="1800" b="0">
                <a:solidFill>
                  <a:srgbClr val="E6ECF2"/>
                </a:solidFill>
                <a:latin typeface="Courier New"/>
              </a:rPr>
              <a:t>db.people.insertOne({"_id" : 1,</a:t>
            </a:r>
          </a:p>
          <a:p>
            <a:pPr algn="l">
              <a:lnSpc>
                <a:spcPct val="100000"/>
              </a:lnSpc>
            </a:pPr>
            <a:r>
              <a:rPr sz="1800" b="0">
                <a:solidFill>
                  <a:srgbClr val="E6ECF2"/>
                </a:solidFill>
                <a:latin typeface="Courier New"/>
              </a:rPr>
              <a:t>  "name" : {"first" : "John", "last" : "Escalona"}, "age" : 45})</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first 10 or last 10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Positive from the front, negative from the back.</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blog post with 40 comments (our practice data)</a:t>
            </a:r>
          </a:p>
          <a:p>
            <a:pPr algn="l">
              <a:lnSpc>
                <a:spcPct val="100000"/>
              </a:lnSpc>
            </a:pPr>
            <a:r>
              <a:rPr sz="900" b="0">
                <a:solidFill>
                  <a:srgbClr val="E6ECF2"/>
                </a:solidFill>
                <a:latin typeface="Courier New"/>
              </a:rPr>
              <a:t>&gt; db.blog.posts.findOne({"_id" : 1}, {"comments" : {"$slice" : 10}})</a:t>
            </a:r>
          </a:p>
        </p:txBody>
      </p:sp>
      <p:sp>
        <p:nvSpPr>
          <p:cNvPr id="9" name="Rectangle 8"/>
          <p:cNvSpPr/>
          <p:nvPr/>
        </p:nvSpPr>
        <p:spPr>
          <a:xfrm>
            <a:off x="548640"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Rectangle 9"/>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71" b="0">
                <a:solidFill>
                  <a:srgbClr val="E6ECF2"/>
                </a:solidFill>
                <a:latin typeface="Courier New"/>
              </a:rPr>
              <a:t>&gt; db.blog.posts.findOne({"_id" : 1}, {"comments" : {"$slice" : -10}})</a:t>
            </a:r>
          </a:p>
        </p:txBody>
      </p:sp>
      <p:sp>
        <p:nvSpPr>
          <p:cNvPr id="13" name="Rectangle 12"/>
          <p:cNvSpPr/>
          <p:nvPr/>
        </p:nvSpPr>
        <p:spPr>
          <a:xfrm>
            <a:off x="6153912"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[23, 10]: a page from the middle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Skip 23, take 10.</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db.blog.posts.findOne({"_id" : 1}, {"comments" : {"$slice" : [23, 10]}})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Querying embedded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db.people.find({"name.first" : "John", "name.last" : "Escalona"})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press Ctrl + V, then drag the picture here.</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7</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Computing &amp; Implementation Types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public · private · hybrid</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“Cloud type = where it lives + who controls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What cloud computing is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If it has the web, it has your data.</a:t>
            </a:r>
          </a:p>
        </p:txBody>
      </p:sp>
      <p:sp>
        <p:nvSpPr>
          <p:cNvPr id="6" name="TextBox 5"/>
          <p:cNvSpPr txBox="1"/>
          <p:nvPr/>
        </p:nvSpPr>
        <p:spPr>
          <a:xfrm>
            <a:off x="548640" y="1920240"/>
            <a:ext cx="10972800" cy="4206240"/>
          </a:xfrm>
          <a:prstGeom prst="rect">
            <a:avLst/>
          </a:prstGeom>
          <a:noFill/>
        </p:spPr>
        <p:txBody>
          <a:bodyPr wrap="square" anchor="t" lIns="73152" rIns="73152" tIns="73152" bIns="73152">
            <a:spAutoFit/>
          </a:bodyPr>
          <a:lstStyle/>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p:txBody>
      </p:sp>
      <p:sp>
        <p:nvSpPr>
          <p:cNvPr id="7" name="TextBox 6"/>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8" name="TextBox 7"/>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cloud implementation types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Rent it, own it, or mix both.</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Built by / for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c>
                  <a:txBody>
                    <a:bodyPr/>
                    <a:lstStyle/>
                    <a:p>
                      <a:r>
                        <a:rPr sz="1600" b="1">
                          <a:solidFill>
                            <a:srgbClr val="FFFFFF"/>
                          </a:solidFill>
                          <a:latin typeface="Arial"/>
                        </a:rPr>
                        <a:t>Key point</a:t>
                      </a:r>
                    </a:p>
                  </a:txBody>
                  <a:tcPr>
                    <a:solidFill>
                      <a:srgbClr val="14202E"/>
                    </a:solidFill>
                  </a:tcPr>
                </a:tc>
              </a:tr>
              <a:tr h="868680">
                <a:tc>
                  <a:txBody>
                    <a:bodyPr/>
                    <a:lstStyle/>
                    <a:p>
                      <a:r>
                        <a:rPr sz="1500" b="1">
                          <a:solidFill>
                            <a:srgbClr val="D9480F"/>
                          </a:solidFill>
                          <a:latin typeface="Arial"/>
                        </a:rPr>
                        <a:t>Public</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Private</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Hybrid</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Type = where the infrastructure resides and who controls it.</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8</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Service Types &amp; Benefits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SaaS · PaaS · IaaS · 10 benefits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“Use it, build on it, or rent the machine.”</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types of cloud services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SaaS: use it. PaaS: build on it. IaaS: rent the machine.</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Provider offers</a:t>
                      </a:r>
                    </a:p>
                  </a:txBody>
                  <a:tcPr>
                    <a:solidFill>
                      <a:srgbClr val="14202E"/>
                    </a:solidFill>
                  </a:tcPr>
                </a:tc>
                <a:tc>
                  <a:txBody>
                    <a:bodyPr/>
                    <a:lstStyle/>
                    <a:p>
                      <a:r>
                        <a:rPr sz="1600" b="1">
                          <a:solidFill>
                            <a:srgbClr val="FFFFFF"/>
                          </a:solidFill>
                          <a:latin typeface="Arial"/>
                        </a:rPr>
                        <a:t>The consumer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r>
              <a:tr h="868680">
                <a:tc>
                  <a:txBody>
                    <a:bodyPr/>
                    <a:lstStyle/>
                    <a:p>
                      <a:r>
                        <a:rPr sz="1500" b="1">
                          <a:solidFill>
                            <a:srgbClr val="D9480F"/>
                          </a:solidFill>
                          <a:latin typeface="Arial"/>
                        </a:rPr>
                        <a:t>SaaS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PaaS</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IaaS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Services follow an à la carte model and can build on top of each other.</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10 benefits of cloud computing</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Scale up fast. Pay for what you use.</a:t>
            </a:r>
          </a:p>
        </p:txBody>
      </p:sp>
      <p:sp>
        <p:nvSpPr>
          <p:cNvPr id="6" name="TextBox 5"/>
          <p:cNvSpPr txBox="1"/>
          <p:nvPr/>
        </p:nvSpPr>
        <p:spPr>
          <a:xfrm>
            <a:off x="54864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a:t>
            </a:r>
          </a:p>
        </p:txBody>
      </p:sp>
      <p:sp>
        <p:nvSpPr>
          <p:cNvPr id="7" name="TextBox 6"/>
          <p:cNvSpPr txBox="1"/>
          <p:nvPr/>
        </p:nvSpPr>
        <p:spPr>
          <a:xfrm>
            <a:off x="118872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8" name="TextBox 7"/>
          <p:cNvSpPr txBox="1"/>
          <p:nvPr/>
        </p:nvSpPr>
        <p:spPr>
          <a:xfrm>
            <a:off x="54864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2</a:t>
            </a:r>
          </a:p>
        </p:txBody>
      </p:sp>
      <p:sp>
        <p:nvSpPr>
          <p:cNvPr id="9" name="TextBox 8"/>
          <p:cNvSpPr txBox="1"/>
          <p:nvPr/>
        </p:nvSpPr>
        <p:spPr>
          <a:xfrm>
            <a:off x="118872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0" name="TextBox 9"/>
          <p:cNvSpPr txBox="1"/>
          <p:nvPr/>
        </p:nvSpPr>
        <p:spPr>
          <a:xfrm>
            <a:off x="54864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3</a:t>
            </a:r>
          </a:p>
        </p:txBody>
      </p:sp>
      <p:sp>
        <p:nvSpPr>
          <p:cNvPr id="11" name="TextBox 10"/>
          <p:cNvSpPr txBox="1"/>
          <p:nvPr/>
        </p:nvSpPr>
        <p:spPr>
          <a:xfrm>
            <a:off x="118872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2" name="TextBox 11"/>
          <p:cNvSpPr txBox="1"/>
          <p:nvPr/>
        </p:nvSpPr>
        <p:spPr>
          <a:xfrm>
            <a:off x="54864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4</a:t>
            </a:r>
          </a:p>
        </p:txBody>
      </p:sp>
      <p:sp>
        <p:nvSpPr>
          <p:cNvPr id="13" name="TextBox 12"/>
          <p:cNvSpPr txBox="1"/>
          <p:nvPr/>
        </p:nvSpPr>
        <p:spPr>
          <a:xfrm>
            <a:off x="118872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4" name="TextBox 13"/>
          <p:cNvSpPr txBox="1"/>
          <p:nvPr/>
        </p:nvSpPr>
        <p:spPr>
          <a:xfrm>
            <a:off x="54864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5</a:t>
            </a:r>
          </a:p>
        </p:txBody>
      </p:sp>
      <p:sp>
        <p:nvSpPr>
          <p:cNvPr id="15" name="TextBox 14"/>
          <p:cNvSpPr txBox="1"/>
          <p:nvPr/>
        </p:nvSpPr>
        <p:spPr>
          <a:xfrm>
            <a:off x="118872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6" name="TextBox 15"/>
          <p:cNvSpPr txBox="1"/>
          <p:nvPr/>
        </p:nvSpPr>
        <p:spPr>
          <a:xfrm>
            <a:off x="621792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6</a:t>
            </a:r>
          </a:p>
        </p:txBody>
      </p:sp>
      <p:sp>
        <p:nvSpPr>
          <p:cNvPr id="17" name="TextBox 16"/>
          <p:cNvSpPr txBox="1"/>
          <p:nvPr/>
        </p:nvSpPr>
        <p:spPr>
          <a:xfrm>
            <a:off x="685800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8" name="TextBox 17"/>
          <p:cNvSpPr txBox="1"/>
          <p:nvPr/>
        </p:nvSpPr>
        <p:spPr>
          <a:xfrm>
            <a:off x="621792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7</a:t>
            </a:r>
          </a:p>
        </p:txBody>
      </p:sp>
      <p:sp>
        <p:nvSpPr>
          <p:cNvPr id="19" name="TextBox 18"/>
          <p:cNvSpPr txBox="1"/>
          <p:nvPr/>
        </p:nvSpPr>
        <p:spPr>
          <a:xfrm>
            <a:off x="685800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0" name="TextBox 19"/>
          <p:cNvSpPr txBox="1"/>
          <p:nvPr/>
        </p:nvSpPr>
        <p:spPr>
          <a:xfrm>
            <a:off x="621792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8</a:t>
            </a:r>
          </a:p>
        </p:txBody>
      </p:sp>
      <p:sp>
        <p:nvSpPr>
          <p:cNvPr id="21" name="TextBox 20"/>
          <p:cNvSpPr txBox="1"/>
          <p:nvPr/>
        </p:nvSpPr>
        <p:spPr>
          <a:xfrm>
            <a:off x="685800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2" name="TextBox 21"/>
          <p:cNvSpPr txBox="1"/>
          <p:nvPr/>
        </p:nvSpPr>
        <p:spPr>
          <a:xfrm>
            <a:off x="621792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9</a:t>
            </a:r>
          </a:p>
        </p:txBody>
      </p:sp>
      <p:sp>
        <p:nvSpPr>
          <p:cNvPr id="23" name="TextBox 22"/>
          <p:cNvSpPr txBox="1"/>
          <p:nvPr/>
        </p:nvSpPr>
        <p:spPr>
          <a:xfrm>
            <a:off x="685800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4" name="TextBox 23"/>
          <p:cNvSpPr txBox="1"/>
          <p:nvPr/>
        </p:nvSpPr>
        <p:spPr>
          <a:xfrm>
            <a:off x="621792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10</a:t>
            </a:r>
          </a:p>
        </p:txBody>
      </p:sp>
      <p:sp>
        <p:nvSpPr>
          <p:cNvPr id="25" name="TextBox 24"/>
          <p:cNvSpPr txBox="1"/>
          <p:nvPr/>
        </p:nvSpPr>
        <p:spPr>
          <a:xfrm>
            <a:off x="685800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6" name="TextBox 2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p.1-2</a:t>
            </a:r>
          </a:p>
        </p:txBody>
      </p:sp>
      <p:sp>
        <p:nvSpPr>
          <p:cNvPr id="27" name="TextBox 2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Summary of commands</a:t>
            </a:r>
          </a:p>
        </p:txBody>
      </p:sp>
      <p:sp>
        <p:nvSpPr>
          <p:cNvPr id="4" name="Rectangle 3"/>
          <p:cNvSpPr/>
          <p:nvPr/>
        </p:nvSpPr>
        <p:spPr>
          <a:xfrm>
            <a:off x="548640" y="132588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Create</a:t>
            </a:r>
          </a:p>
        </p:txBody>
      </p:sp>
      <p:sp>
        <p:nvSpPr>
          <p:cNvPr id="6" name="TextBox 5"/>
          <p:cNvSpPr txBox="1"/>
          <p:nvPr/>
        </p:nvSpPr>
        <p:spPr>
          <a:xfrm>
            <a:off x="2468880" y="13258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insertOne({...})   insertMany([{...}, {...}], {"ordered" : false})</a:t>
            </a:r>
          </a:p>
        </p:txBody>
      </p:sp>
      <p:sp>
        <p:nvSpPr>
          <p:cNvPr id="7" name="Rectangle 6"/>
          <p:cNvSpPr/>
          <p:nvPr/>
        </p:nvSpPr>
        <p:spPr>
          <a:xfrm>
            <a:off x="548640" y="187452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Delete</a:t>
            </a:r>
          </a:p>
        </p:txBody>
      </p:sp>
      <p:sp>
        <p:nvSpPr>
          <p:cNvPr id="9" name="TextBox 8"/>
          <p:cNvSpPr txBox="1"/>
          <p:nvPr/>
        </p:nvSpPr>
        <p:spPr>
          <a:xfrm>
            <a:off x="2468880" y="18745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deleteOne(filter)   deleteMany(filter)</a:t>
            </a:r>
          </a:p>
        </p:txBody>
      </p:sp>
      <p:sp>
        <p:nvSpPr>
          <p:cNvPr id="10" name="Rectangle 9"/>
          <p:cNvSpPr/>
          <p:nvPr/>
        </p:nvSpPr>
        <p:spPr>
          <a:xfrm>
            <a:off x="548640" y="242316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231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Read</a:t>
            </a:r>
          </a:p>
        </p:txBody>
      </p:sp>
      <p:sp>
        <p:nvSpPr>
          <p:cNvPr id="12" name="TextBox 11"/>
          <p:cNvSpPr txBox="1"/>
          <p:nvPr/>
        </p:nvSpPr>
        <p:spPr>
          <a:xfrm>
            <a:off x="2468880" y="24231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find(filter)   findOne(filter)</a:t>
            </a:r>
          </a:p>
        </p:txBody>
      </p:sp>
      <p:sp>
        <p:nvSpPr>
          <p:cNvPr id="13" name="Rectangle 12"/>
          <p:cNvSpPr/>
          <p:nvPr/>
        </p:nvSpPr>
        <p:spPr>
          <a:xfrm>
            <a:off x="548640" y="297180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Change</a:t>
            </a:r>
          </a:p>
        </p:txBody>
      </p:sp>
      <p:sp>
        <p:nvSpPr>
          <p:cNvPr id="15" name="TextBox 14"/>
          <p:cNvSpPr txBox="1"/>
          <p:nvPr/>
        </p:nvSpPr>
        <p:spPr>
          <a:xfrm>
            <a:off x="2468880" y="29718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replaceOne(filter, doc)   updateOne / updateMany(filter, {$set | $unset})</a:t>
            </a:r>
          </a:p>
        </p:txBody>
      </p:sp>
      <p:sp>
        <p:nvSpPr>
          <p:cNvPr id="16" name="Rectangle 15"/>
          <p:cNvSpPr/>
          <p:nvPr/>
        </p:nvSpPr>
        <p:spPr>
          <a:xfrm>
            <a:off x="548640" y="352044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2044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Compare</a:t>
            </a:r>
          </a:p>
        </p:txBody>
      </p:sp>
      <p:sp>
        <p:nvSpPr>
          <p:cNvPr id="18" name="TextBox 17"/>
          <p:cNvSpPr txBox="1"/>
          <p:nvPr/>
        </p:nvSpPr>
        <p:spPr>
          <a:xfrm>
            <a:off x="2468880" y="352044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$lt &lt;   $lte &lt;=   $gt &gt;   $gte &gt;=</a:t>
            </a:r>
          </a:p>
        </p:txBody>
      </p:sp>
      <p:sp>
        <p:nvSpPr>
          <p:cNvPr id="19" name="Rectangle 18"/>
          <p:cNvSpPr/>
          <p:nvPr/>
        </p:nvSpPr>
        <p:spPr>
          <a:xfrm>
            <a:off x="548640" y="406908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0690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Choose</a:t>
            </a:r>
          </a:p>
        </p:txBody>
      </p:sp>
      <p:sp>
        <p:nvSpPr>
          <p:cNvPr id="21" name="TextBox 20"/>
          <p:cNvSpPr txBox="1"/>
          <p:nvPr/>
        </p:nvSpPr>
        <p:spPr>
          <a:xfrm>
            <a:off x="2468880" y="40690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 [values]   $or [conditions]   $not {condition}</a:t>
            </a:r>
          </a:p>
        </p:txBody>
      </p:sp>
      <p:sp>
        <p:nvSpPr>
          <p:cNvPr id="22" name="Rectangle 21"/>
          <p:cNvSpPr/>
          <p:nvPr/>
        </p:nvSpPr>
        <p:spPr>
          <a:xfrm>
            <a:off x="548640" y="461772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6177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Arrays</a:t>
            </a:r>
          </a:p>
        </p:txBody>
      </p:sp>
      <p:sp>
        <p:nvSpPr>
          <p:cNvPr id="24" name="TextBox 23"/>
          <p:cNvSpPr txBox="1"/>
          <p:nvPr/>
        </p:nvSpPr>
        <p:spPr>
          <a:xfrm>
            <a:off x="2468880" y="46177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field: value   $all [...]   "fruit.2"   $size: n</a:t>
            </a:r>
          </a:p>
        </p:txBody>
      </p:sp>
      <p:sp>
        <p:nvSpPr>
          <p:cNvPr id="25" name="Rectangle 24"/>
          <p:cNvSpPr/>
          <p:nvPr/>
        </p:nvSpPr>
        <p:spPr>
          <a:xfrm>
            <a:off x="548640" y="516636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663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Slice / nest</a:t>
            </a:r>
          </a:p>
        </p:txBody>
      </p:sp>
      <p:sp>
        <p:nvSpPr>
          <p:cNvPr id="27" name="TextBox 26"/>
          <p:cNvSpPr txBox="1"/>
          <p:nvPr/>
        </p:nvSpPr>
        <p:spPr>
          <a:xfrm>
            <a:off x="2468880" y="51663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$slice: 10 | -10 | [23, 10]   "name.first"</a:t>
            </a:r>
          </a:p>
        </p:txBody>
      </p:sp>
      <p:sp>
        <p:nvSpPr>
          <p:cNvPr id="28" name="Rectangle 27"/>
          <p:cNvSpPr/>
          <p:nvPr/>
        </p:nvSpPr>
        <p:spPr>
          <a:xfrm>
            <a:off x="548640" y="571500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7150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Cloud</a:t>
            </a:r>
          </a:p>
        </p:txBody>
      </p:sp>
      <p:sp>
        <p:nvSpPr>
          <p:cNvPr id="30" name="TextBox 29"/>
          <p:cNvSpPr txBox="1"/>
          <p:nvPr/>
        </p:nvSpPr>
        <p:spPr>
          <a:xfrm>
            <a:off x="2468880" y="57150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Public · Private · Hybrid      SaaS · PaaS · IaaS</a:t>
            </a:r>
          </a:p>
        </p:txBody>
      </p:sp>
      <p:sp>
        <p:nvSpPr>
          <p:cNvPr id="31" name="TextBox 3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2" name="TextBox 3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References</a:t>
            </a:r>
          </a:p>
        </p:txBody>
      </p:sp>
      <p:sp>
        <p:nvSpPr>
          <p:cNvPr id="4" name="TextBox 3"/>
          <p:cNvSpPr txBox="1"/>
          <p:nvPr/>
        </p:nvSpPr>
        <p:spPr>
          <a:xfrm>
            <a:off x="548640" y="1280160"/>
            <a:ext cx="11064240" cy="4937760"/>
          </a:xfrm>
          <a:prstGeom prst="rect">
            <a:avLst/>
          </a:prstGeom>
          <a:noFill/>
        </p:spPr>
        <p:txBody>
          <a:bodyPr wrap="square" anchor="t" lIns="73152" rIns="73152" tIns="73152" bIns="73152">
            <a:spAutoFit/>
          </a:bodyPr>
          <a:lstStyle/>
          <a:p>
            <a:pPr algn="l">
              <a:lnSpc>
                <a:spcPct val="130000"/>
              </a:lnSpc>
            </a:pPr>
            <a:r>
              <a:rPr sz="1600" b="0">
                <a:solidFill>
                  <a:srgbClr val="14202E"/>
                </a:solidFill>
                <a:latin typeface="Arial"/>
              </a:rPr>
              <a:t>STI IT2003 07 Handout 1: Introduction to NoSQL Database Management Systems.</a:t>
            </a:r>
          </a:p>
          <a:p>
            <a:pPr algn="l">
              <a:lnSpc>
                <a:spcPct val="130000"/>
              </a:lnSpc>
            </a:pPr>
            <a:r>
              <a:rPr sz="1600" b="0">
                <a:solidFill>
                  <a:srgbClr val="14202E"/>
                </a:solidFill>
                <a:latin typeface="Arial"/>
              </a:rPr>
              <a:t>STI IT2003 08 Handout 1: Fundamentals of Document-Oriented Database.</a:t>
            </a:r>
          </a:p>
          <a:p>
            <a:pPr algn="l">
              <a:lnSpc>
                <a:spcPct val="130000"/>
              </a:lnSpc>
            </a:pPr>
            <a:r>
              <a:rPr sz="1600" b="0">
                <a:solidFill>
                  <a:srgbClr val="14202E"/>
                </a:solidFill>
                <a:latin typeface="Arial"/>
              </a:rPr>
              <a:t>STI IT2003 09 Handout 1: Cloud Computing.</a:t>
            </a:r>
          </a:p>
          <a:p>
            <a:pPr algn="l">
              <a:lnSpc>
                <a:spcPct val="130000"/>
              </a:lnSpc>
            </a:pPr>
            <a:r>
              <a:rPr sz="1600" b="0">
                <a:solidFill>
                  <a:srgbClr val="14202E"/>
                </a:solidFill>
                <a:latin typeface="Arial"/>
              </a:rPr>
              <a:t>Chodorow, K., Brazil, E., &amp; Bradshaw, S. (2019). MongoDB: The definitive guide (3rd ed.). O'Reilly Media.</a:t>
            </a:r>
          </a:p>
          <a:p>
            <a:pPr algn="l">
              <a:lnSpc>
                <a:spcPct val="130000"/>
              </a:lnSpc>
            </a:pPr>
            <a:r>
              <a:rPr sz="1600" b="0">
                <a:solidFill>
                  <a:srgbClr val="14202E"/>
                </a:solidFill>
                <a:latin typeface="Arial"/>
              </a:rPr>
              <a:t>Coronel, C., &amp; Morris, S. (2018). Database systems: Design, implementation, &amp; management (13th ed.). Cengage Learning.</a:t>
            </a:r>
          </a:p>
          <a:p>
            <a:pPr algn="l">
              <a:lnSpc>
                <a:spcPct val="130000"/>
              </a:lnSpc>
            </a:pPr>
            <a:r>
              <a:rPr sz="1600" b="0">
                <a:solidFill>
                  <a:srgbClr val="14202E"/>
                </a:solidFill>
                <a:latin typeface="Arial"/>
              </a:rPr>
              <a:t>MongoDB (n.d.). Query and Update Operators. https://docs.mongodb.com/manual/reference/operator/</a:t>
            </a:r>
          </a:p>
        </p:txBody>
      </p:sp>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