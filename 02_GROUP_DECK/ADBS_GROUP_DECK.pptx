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250 words, about 1 min 55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insertMany adds many documents with one command. We pass an array, in square brackets. Before: only Stand by Me. 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Now an error on purpose. 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21):</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21):</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21):</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21):</a:t>
            </a:r>
          </a:p>
          <a:p>
            <a:r>
              <a:t>(No new words. Let the class read this slide, then click.)</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21):</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21):</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21):</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21):</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21):</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21):</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21):</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21):</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21):</a:t>
            </a:r>
          </a:p>
          <a:p>
            <a:r>
              <a:t>Dollar set can reach inside an embedded document. 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21):</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21):</a:t>
            </a:r>
          </a:p>
          <a:p>
            <a:r>
              <a:t>updateMany works like updateOne and takes the same parameters. 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21):</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21 of 21):</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Shared group deck · Part 1 is done · Parts 2-8: fill the orange boxes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Win + Shift + S. Click the box's edge, press Delete, then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1 min 55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db.movies.insertOne({"title" : "Stand by Me"})</a:t>
            </a:r>
          </a:p>
        </p:txBody>
      </p:sp>
      <p:sp>
        <p:nvSpPr>
          <p:cNvPr id="7" name="EXEMPT_PASTE"/>
          <p:cNvSpPr/>
          <p:nvPr/>
        </p:nvSpPr>
        <p:spPr>
          <a:xfrm>
            <a:off x="411480" y="3739896"/>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db.movies.insertMany([{"title" : "Ghostbusters"},</a:t>
            </a:r>
          </a:p>
          <a:p>
            <a:pPr algn="l">
              <a:lnSpc>
                <a:spcPct val="100000"/>
              </a:lnSpc>
            </a:pPr>
            <a:r>
              <a:rPr sz="2800" b="0">
                <a:solidFill>
                  <a:srgbClr val="E6ECF2"/>
                </a:solidFill>
                <a:latin typeface="Courier New"/>
              </a:rPr>
              <a:t>  {"title" : "E.T."},</a:t>
            </a:r>
          </a:p>
          <a:p>
            <a:pPr algn="l">
              <a:lnSpc>
                <a:spcPct val="100000"/>
              </a:lnSpc>
            </a:pPr>
            <a:r>
              <a:rPr sz="2800" b="0">
                <a:solidFill>
                  <a:srgbClr val="E6ECF2"/>
                </a:solidFill>
                <a:latin typeface="Courier New"/>
              </a:rPr>
              <a:t>  {"title" : "Blade Runner"}])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6"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E6ECF2"/>
                </a:solidFill>
                <a:latin typeface="Courier New"/>
              </a:rPr>
              <a:t>  {"ordered" : false})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6"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db.ordered.insertMany([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303580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5876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5020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db.movies.deleteOne({"_id" : 4})</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8172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7316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db.movies.deleteMany({"year" : 1985})</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2432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21 slides · about 2 min 08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db.users.findOne({"name" : "Joe"})</a:t>
            </a:r>
          </a:p>
        </p:txBody>
      </p:sp>
      <p:sp>
        <p:nvSpPr>
          <p:cNvPr id="6" name="EXEMPT_PASTE"/>
          <p:cNvSpPr/>
          <p:nvPr/>
        </p:nvSpPr>
        <p:spPr>
          <a:xfrm>
            <a:off x="411480" y="2212848"/>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var Joe = db.users.findOne({"name" : "Joe"});</a:t>
            </a:r>
          </a:p>
          <a:p>
            <a:pPr algn="l">
              <a:lnSpc>
                <a:spcPct val="100000"/>
              </a:lnSpc>
            </a:pPr>
            <a:r>
              <a:rPr sz="2800" b="0">
                <a:solidFill>
                  <a:srgbClr val="E6ECF2"/>
                </a:solidFill>
                <a:latin typeface="Courier New"/>
              </a:rPr>
              <a:t>Joe.relationships = {"friends" : Joe.friends,</a:t>
            </a:r>
          </a:p>
          <a:p>
            <a:pPr algn="l">
              <a:lnSpc>
                <a:spcPct val="100000"/>
              </a:lnSpc>
            </a:pPr>
            <a:r>
              <a:rPr sz="2800" b="0">
                <a:solidFill>
                  <a:srgbClr val="E6ECF2"/>
                </a:solidFill>
                <a:latin typeface="Courier New"/>
              </a:rPr>
              <a:t>  "enemies" : Joe.enemies};</a:t>
            </a:r>
          </a:p>
          <a:p>
            <a:pPr algn="l">
              <a:lnSpc>
                <a:spcPct val="100000"/>
              </a:lnSpc>
            </a:pPr>
            <a:r>
              <a:rPr sz="2800" b="0">
                <a:solidFill>
                  <a:srgbClr val="E6ECF2"/>
                </a:solidFill>
                <a:latin typeface="Courier New"/>
              </a:rPr>
              <a:t>Joe.username = Joe.name;</a:t>
            </a:r>
          </a:p>
          <a:p>
            <a:pPr algn="l">
              <a:lnSpc>
                <a:spcPct val="100000"/>
              </a:lnSpc>
            </a:pPr>
            <a:r>
              <a:rPr sz="2800" b="0">
                <a:solidFill>
                  <a:srgbClr val="E6ECF2"/>
                </a:solidFill>
                <a:latin typeface="Courier New"/>
              </a:rPr>
              <a:t>delete Joe.friends; delete Joe.enemies;</a:t>
            </a:r>
          </a:p>
          <a:p>
            <a:pPr algn="l">
              <a:lnSpc>
                <a:spcPct val="100000"/>
              </a:lnSpc>
            </a:pPr>
            <a:r>
              <a:rPr sz="2800" b="0">
                <a:solidFill>
                  <a:srgbClr val="E6ECF2"/>
                </a:solidFill>
                <a:latin typeface="Courier New"/>
              </a:rPr>
              <a:t>delete Joe.name;</a:t>
            </a:r>
          </a:p>
          <a:p>
            <a:pPr algn="l">
              <a:lnSpc>
                <a:spcPct val="100000"/>
              </a:lnSpc>
            </a:pPr>
            <a:r>
              <a:rPr sz="2800" b="0">
                <a:solidFill>
                  <a:srgbClr val="E6ECF2"/>
                </a:solidFill>
                <a:latin typeface="Courier New"/>
              </a:rPr>
              <a:t>db.users.replaceOne({"name" : "Joe"}, Joe)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27024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36168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"Green Eggs and Ham"}})</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["Cat's Cradle", "Foundation Trilogy",</a:t>
            </a:r>
          </a:p>
          <a:p>
            <a:pPr algn="l">
              <a:lnSpc>
                <a:spcPct val="100000"/>
              </a:lnSpc>
            </a:pPr>
            <a:r>
              <a:rPr sz="2800" b="0">
                <a:solidFill>
                  <a:srgbClr val="E6ECF2"/>
                </a:solidFill>
                <a:latin typeface="Courier New"/>
              </a:rPr>
              <a:t>   "Ender's Game"]}})</a:t>
            </a:r>
          </a:p>
        </p:txBody>
      </p:sp>
      <p:sp>
        <p:nvSpPr>
          <p:cNvPr id="6" name="EXEMPT_PASTE"/>
          <p:cNvSpPr/>
          <p:nvPr/>
        </p:nvSpPr>
        <p:spPr>
          <a:xfrm>
            <a:off x="411480" y="344728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{"$unset" : {"favorite book" : 1}})</a:t>
            </a:r>
          </a:p>
        </p:txBody>
      </p:sp>
      <p:sp>
        <p:nvSpPr>
          <p:cNvPr id="6" name="EXEMPT_PASTE"/>
          <p:cNvSpPr/>
          <p:nvPr/>
        </p:nvSpPr>
        <p:spPr>
          <a:xfrm>
            <a:off x="411480" y="262432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8172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7316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db.books.updateOne({"author.name" : "Nicole"},</a:t>
            </a:r>
          </a:p>
          <a:p>
            <a:pPr algn="l">
              <a:lnSpc>
                <a:spcPct val="100000"/>
              </a:lnSpc>
            </a:pPr>
            <a:r>
              <a:rPr sz="2800" b="0">
                <a:solidFill>
                  <a:srgbClr val="E6ECF2"/>
                </a:solidFill>
                <a:latin typeface="Courier New"/>
              </a:rPr>
              <a:t>  {"$set" : {"author.name" : "Nicole Tagayon"}})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5876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5020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db.users.updateMany({"birthday" : "10/13/1978"},</a:t>
            </a:r>
          </a:p>
          <a:p>
            <a:pPr algn="l">
              <a:lnSpc>
                <a:spcPct val="100000"/>
              </a:lnSpc>
            </a:pPr>
            <a:r>
              <a:rPr sz="2800" b="0">
                <a:solidFill>
                  <a:srgbClr val="E6ECF2"/>
                </a:solidFill>
                <a:latin typeface="Courier New"/>
              </a:rPr>
              <a:t>  {"$set" : {"gift" : "Happy Birthday!"}})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21 of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2743200"/>
                <a:gridCol w="5882335"/>
                <a:gridCol w="2743200"/>
              </a:tblGrid>
              <a:tr h="713232">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{"$lt" : 18}})</a:t>
            </a:r>
          </a:p>
        </p:txBody>
      </p:sp>
      <p:sp>
        <p:nvSpPr>
          <p:cNvPr id="6" name="EXEMPT_PASTE"/>
          <p:cNvSpPr/>
          <p:nvPr/>
        </p:nvSpPr>
        <p:spPr>
          <a:xfrm>
            <a:off x="411480" y="221284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3989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31335"/>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{"$lte" : 18}})</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EXEMPT_PASTE"/>
          <p:cNvSpPr/>
          <p:nvPr/>
        </p:nvSpPr>
        <p:spPr>
          <a:xfrm>
            <a:off x="411480" y="1097280"/>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 : 30}})</a:t>
            </a:r>
          </a:p>
        </p:txBody>
      </p:sp>
      <p:sp>
        <p:nvSpPr>
          <p:cNvPr id="6" name="EXEMPT_PASTE"/>
          <p:cNvSpPr/>
          <p:nvPr/>
        </p:nvSpPr>
        <p:spPr>
          <a:xfrm>
            <a:off x="411480" y="221284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3989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31335"/>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{"$gte" : 30}})</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EXEMPT_PASTE"/>
          <p:cNvSpPr/>
          <p:nvPr/>
        </p:nvSpPr>
        <p:spPr>
          <a:xfrm>
            <a:off x="411480" y="1097280"/>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{"$gte" : 18, "$lte" : 30}})</a:t>
            </a:r>
          </a:p>
        </p:txBody>
      </p:sp>
      <p:sp>
        <p:nvSpPr>
          <p:cNvPr id="6" name="EXEMPT_PASTE"/>
          <p:cNvSpPr/>
          <p:nvPr/>
        </p:nvSpPr>
        <p:spPr>
          <a:xfrm>
            <a:off x="411480" y="221284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22 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db.raffle.find({"ticket_no" :</a:t>
            </a:r>
          </a:p>
          <a:p>
            <a:pPr algn="l">
              <a:lnSpc>
                <a:spcPct val="100000"/>
              </a:lnSpc>
            </a:pPr>
            <a:r>
              <a:rPr sz="2800" b="0">
                <a:solidFill>
                  <a:srgbClr val="E6ECF2"/>
                </a:solidFill>
                <a:latin typeface="Courier New"/>
              </a:rPr>
              <a:t>  {"$in" : [725, 542, 390]}})</a:t>
            </a:r>
          </a:p>
        </p:txBody>
      </p:sp>
      <p:sp>
        <p:nvSpPr>
          <p:cNvPr id="6" name="EXEMPT_PASTE"/>
          <p:cNvSpPr/>
          <p:nvPr/>
        </p:nvSpPr>
        <p:spPr>
          <a:xfrm>
            <a:off x="411480" y="262432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db.raffle.find({"$or" : [{"ticket_no" : 725},</a:t>
            </a:r>
          </a:p>
          <a:p>
            <a:pPr algn="l">
              <a:lnSpc>
                <a:spcPct val="100000"/>
              </a:lnSpc>
            </a:pPr>
            <a:r>
              <a:rPr sz="2800" b="0">
                <a:solidFill>
                  <a:srgbClr val="E6ECF2"/>
                </a:solidFill>
                <a:latin typeface="Courier New"/>
              </a:rPr>
              <a:t>  {"winner" : true}]})</a:t>
            </a:r>
          </a:p>
        </p:txBody>
      </p:sp>
      <p:sp>
        <p:nvSpPr>
          <p:cNvPr id="6"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t>
            </a:r>
          </a:p>
        </p:txBody>
      </p:sp>
      <p:sp>
        <p:nvSpPr>
          <p:cNvPr id="6" name="EXEMPT_PASTE"/>
          <p:cNvSpPr/>
          <p:nvPr/>
        </p:nvSpPr>
        <p:spPr>
          <a:xfrm>
            <a:off x="411480" y="221284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db.users.find({salary:</a:t>
            </a:r>
          </a:p>
          <a:p>
            <a:pPr algn="l">
              <a:lnSpc>
                <a:spcPct val="100000"/>
              </a:lnSpc>
            </a:pPr>
            <a:r>
              <a:rPr sz="2800" b="0">
                <a:solidFill>
                  <a:srgbClr val="E6ECF2"/>
                </a:solidFill>
                <a:latin typeface="Courier New"/>
              </a:rPr>
              <a:t>  {$not: {$gt: 10000}}}).pretty()</a:t>
            </a:r>
          </a:p>
        </p:txBody>
      </p:sp>
      <p:sp>
        <p:nvSpPr>
          <p:cNvPr id="6"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26 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db.food.insertOne({"_id" : 1,</a:t>
            </a:r>
          </a:p>
          <a:p>
            <a:pPr algn="l">
              <a:lnSpc>
                <a:spcPct val="100000"/>
              </a:lnSpc>
            </a:pPr>
            <a:r>
              <a:rPr sz="2800" b="0">
                <a:solidFill>
                  <a:srgbClr val="E6ECF2"/>
                </a:solidFill>
                <a:latin typeface="Courier New"/>
              </a:rPr>
              <a:t>  "fruit" : ["apple", "banana", "peach"]})</a:t>
            </a:r>
          </a:p>
          <a:p>
            <a:pPr algn="l">
              <a:lnSpc>
                <a:spcPct val="100000"/>
              </a:lnSpc>
            </a:pPr>
            <a:r>
              <a:rPr sz="2800" b="0">
                <a:solidFill>
                  <a:srgbClr val="E6ECF2"/>
                </a:solidFill>
                <a:latin typeface="Courier New"/>
              </a:rPr>
              <a:t>db.food.insertOne({"_id" : 2,</a:t>
            </a:r>
          </a:p>
          <a:p>
            <a:pPr algn="l">
              <a:lnSpc>
                <a:spcPct val="100000"/>
              </a:lnSpc>
            </a:pPr>
            <a:r>
              <a:rPr sz="2800" b="0">
                <a:solidFill>
                  <a:srgbClr val="E6ECF2"/>
                </a:solidFill>
                <a:latin typeface="Courier New"/>
              </a:rPr>
              <a:t>  "fruit" : ["apple", "kumquat", "orange"]})</a:t>
            </a:r>
          </a:p>
          <a:p>
            <a:pPr algn="l">
              <a:lnSpc>
                <a:spcPct val="100000"/>
              </a:lnSpc>
            </a:pPr>
            <a:r>
              <a:rPr sz="2800" b="0">
                <a:solidFill>
                  <a:srgbClr val="E6ECF2"/>
                </a:solidFill>
                <a:latin typeface="Courier New"/>
              </a:rPr>
              <a:t>db.food.insertOne({"_id" : 3,</a:t>
            </a:r>
          </a:p>
          <a:p>
            <a:pPr algn="l">
              <a:lnSpc>
                <a:spcPct val="100000"/>
              </a:lnSpc>
            </a:pPr>
            <a:r>
              <a:rPr sz="2800" b="0">
                <a:solidFill>
                  <a:srgbClr val="E6ECF2"/>
                </a:solidFill>
                <a:latin typeface="Courier New"/>
              </a:rPr>
              <a:t>  "fruit" : ["cherry", "banana", "apple"]})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"banana"})</a:t>
            </a:r>
          </a:p>
        </p:txBody>
      </p:sp>
      <p:sp>
        <p:nvSpPr>
          <p:cNvPr id="6" name="EXEMPT_PASTE"/>
          <p:cNvSpPr/>
          <p:nvPr/>
        </p:nvSpPr>
        <p:spPr>
          <a:xfrm>
            <a:off x="411480" y="221284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{$all : ["apple", "banana"]}})</a:t>
            </a:r>
          </a:p>
        </p:txBody>
      </p:sp>
      <p:sp>
        <p:nvSpPr>
          <p:cNvPr id="6" name="EXEMPT_PASTE"/>
          <p:cNvSpPr/>
          <p:nvPr/>
        </p:nvSpPr>
        <p:spPr>
          <a:xfrm>
            <a:off x="411480" y="221284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db.food.find({"fruit.2" : "peach"})</a:t>
            </a:r>
          </a:p>
        </p:txBody>
      </p:sp>
      <p:sp>
        <p:nvSpPr>
          <p:cNvPr id="6" name="EXEMPT_PASTE"/>
          <p:cNvSpPr/>
          <p:nvPr/>
        </p:nvSpPr>
        <p:spPr>
          <a:xfrm>
            <a:off x="411480" y="221284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{"$size" : 3}})</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10 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8FA3B8"/>
                </a:solidFill>
                <a:latin typeface="Courier New"/>
              </a:rPr>
              <a:t>// practice post: 40 comments, c1 to c40</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[23,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db.people.find({"name.first" : "John",</a:t>
            </a:r>
          </a:p>
          <a:p>
            <a:pPr algn="l">
              <a:lnSpc>
                <a:spcPct val="100000"/>
              </a:lnSpc>
            </a:pPr>
            <a:r>
              <a:rPr sz="2800" b="0">
                <a:solidFill>
                  <a:srgbClr val="E6ECF2"/>
                </a:solidFill>
                <a:latin typeface="Courier New"/>
              </a:rPr>
              <a:t>  "name.last" : "Escalona"})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