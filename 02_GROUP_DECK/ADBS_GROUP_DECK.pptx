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Good day. We are [group name]. Our topic is MongoDB commands and cloud computing, from the 07, 08 and 09 handouts. Each of us has 3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Instructions for group members.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have eight parts. Parts 1 to 6 are MongoDB commands. Parts 7 and 8 are cloud computing.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1 is Create and Delete. Every slide shows the data before, the command, and the data after. Watch what changes.</a:t>
            </a:r>
          </a:p>
          <a:p/>
          <a:p>
            <a:r>
              <a:t>(Whole part: 292 words, about 2 min 15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2 of 15):</a:t>
            </a:r>
          </a:p>
          <a:p>
            <a:r>
              <a:t>First, four words. In SQL we say table, row and column. In MongoDB we say collection, document and field. A collection is like a table with a flexible schema. A document is one record. Every document has a unique underscore I D.</a:t>
            </a:r>
          </a:p>
          <a:p/>
          <a:p>
            <a:r>
              <a:t>Source: 07 Handout p.2-3, Table 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3 of 15):</a:t>
            </a:r>
          </a:p>
          <a:p>
            <a:r>
              <a:t>insertOne adds one document. Before: the movies collection is empty, so nothing prints. We insert one movie, Stand by Me. We did not give an underscore I D, so MongoDB made one for us. After: the collection has Stand by Me. One document in.</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4 of 15):</a:t>
            </a:r>
          </a:p>
          <a:p>
            <a:r>
              <a:t>insertMany adds many documents with one command. We pass an array, in square brackets. Before: only Stand by Me.</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5 of 15):</a:t>
            </a:r>
          </a:p>
          <a:p>
            <a:r>
              <a:t>The reply lists three new I Ds.</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6 of 15):</a:t>
            </a:r>
          </a:p>
          <a:p>
            <a:r>
              <a:t>After: four movies. The three new ones are highlighted.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7 of 15):</a:t>
            </a:r>
          </a:p>
          <a:p>
            <a:r>
              <a:t>Now an error on purpose.</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8 of 15):</a:t>
            </a:r>
          </a:p>
          <a:p>
            <a:r>
              <a:t>We insert four movies, but two of them use underscore I D 4. With ordered false, MongoDB tries every document, even after an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9 of 15):</a:t>
            </a:r>
          </a:p>
          <a:p>
            <a:r>
              <a:t>After: 3, 4 and 5 are saved. Only the duplicate failed. Unordered keeps going.</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10 of 15):</a:t>
            </a:r>
          </a:p>
          <a:p>
            <a:r>
              <a:t>Same four movies, but ordered. Ordered is the default. The duplicate 4 causes an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11 of 15):</a:t>
            </a:r>
          </a:p>
          <a:p>
            <a:r>
              <a:t>After: only 3 and 4 are saved. Scarface came after the error, so it never went in.</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12 of 15):</a:t>
            </a:r>
          </a:p>
          <a:p>
            <a:r>
              <a:t>deleteOne removes one document that matches the filter. Before: 3, 4 and 5. We delete underscore I D 4. The reply says deleted count 1.</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13 of 15):</a:t>
            </a:r>
          </a:p>
          <a:p>
            <a:r>
              <a:t>After: only 3 and 5 are left.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14 of 15):</a:t>
            </a:r>
          </a:p>
          <a:p>
            <a:r>
              <a:t>deleteMany removes every match. We start from the handout's three movies: two from 1985 and one from 1984.</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15 of 15):</a:t>
            </a:r>
          </a:p>
          <a:p>
            <a:r>
              <a:t>We delete year 1985. Deleted count is 2. After: only Sixteen Candles, from 1984, is left. Documents in, documents out.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2 is Find, Replace and Update. The rule is simple: find it first, then change it.</a:t>
            </a:r>
          </a:p>
          <a:p/>
          <a:p>
            <a:r>
              <a:t>(Whole part: 299 words, about 2 min 18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2 of 19):</a:t>
            </a:r>
          </a:p>
          <a:p>
            <a:r>
              <a:t>findOne returns one document that matches the filter. Here we find Joe. Joe has 32 friends and 2 enemies. Remember this shape. We change it next.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3 of 19):</a:t>
            </a:r>
          </a:p>
          <a:p>
            <a:r>
              <a:t>replaceOne swaps the whole document for a new one. Before: Joe, as on the last slide. The handout uses it for a big change. We load Joe into a variable, move friends and enemies into a new relationships field, copy name into username, delete the old fields, then save with replaceOne. The reply says matched 1, modified 1.</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4 of 19):</a:t>
            </a:r>
          </a:p>
          <a:p>
            <a:r>
              <a:t>(No new words. Let the class read this slide, then click.)</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5 of 19):</a:t>
            </a:r>
          </a:p>
          <a:p>
            <a:r>
              <a:t>After: Joe has relationships and username. The old fields are gone.</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6 of 19):</a:t>
            </a:r>
          </a:p>
          <a:p>
            <a:r>
              <a:t>updateOne takes a filter, then a change. The dollar set operator sets a field. If the field does not exist yet, it is created. Before: John has no favorite book.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7 of 19):</a:t>
            </a:r>
          </a:p>
          <a:p>
            <a:r>
              <a:t>(No new words. Let the class read this slide, then click.)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8 of 19):</a:t>
            </a:r>
          </a:p>
          <a:p>
            <a:r>
              <a:t>After: John has a favorite book, Green Eggs and Ham.</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9 of 19):</a:t>
            </a:r>
          </a:p>
          <a:p>
            <a:r>
              <a:t>Dollar set can even change the type of a field. Before: John, as on the last slide. Now favorite book becomes an array of three books.</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10 of 19):</a:t>
            </a:r>
          </a:p>
          <a:p>
            <a:r>
              <a:t>(No new words. Let the class read this slide, then click.)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11 of 19):</a:t>
            </a:r>
          </a:p>
          <a:p>
            <a:r>
              <a:t>After: the single text value is replaced by a list.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12 of 19):</a:t>
            </a:r>
          </a:p>
          <a:p>
            <a:r>
              <a:t>Dollar unset removes a field completely. Before: John, as on the last slide.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13 of 19):</a:t>
            </a:r>
          </a:p>
          <a:p>
            <a:r>
              <a:t>After: favorite book is gone. The rest of John stays the same.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14 of 19):</a:t>
            </a:r>
          </a:p>
          <a:p>
            <a:r>
              <a:t>Dollar set can reach inside an embedded document.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15 of 19):</a:t>
            </a:r>
          </a:p>
          <a:p>
            <a:r>
              <a:t>Author is a document inside the book. We use author dot name, in quotes, to change only the name.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16 of 19):</a:t>
            </a:r>
          </a:p>
          <a:p>
            <a:r>
              <a:t>After: the name is Nicole Tagayon. The email did not change.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17 of 19):</a:t>
            </a:r>
          </a:p>
          <a:p>
            <a:r>
              <a:t>updateMany works like updateOne and takes the same parameters.</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18 of 19):</a:t>
            </a:r>
          </a:p>
          <a:p>
            <a:r>
              <a:t>The difference is how many documents can change. Three users share the birthday October 13, 1978. Matched 3, modified 3.</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19 of 19):</a:t>
            </a:r>
          </a:p>
          <a:p>
            <a:r>
              <a:t>After: all three have the gift Happy Birthday. Find it first, then change it.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3 is comparison operators. There are four: less than, less than or equal, greater than, and greater than or equal.</a:t>
            </a:r>
          </a:p>
          <a:p/>
          <a:p>
            <a:r>
              <a:t>(Whole part: 213 words, about 1 min 38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2 of 9):</a:t>
            </a:r>
          </a:p>
          <a:p>
            <a:r>
              <a:t>Here are the four. Dollar L T is less than. Dollar L T E is less than or equal. Dollar G T is greater than. Dollar G T E is greater than or equal. Tip: the letter E means equal is allowed.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3 of 9):</a:t>
            </a:r>
          </a:p>
          <a:p>
            <a:r>
              <a:t>This is our practice data. It is not from the handout. Five users: Ana is 17, Ben 18, Cara 24, Dan 30, and Eli 31. Keep these ages in mind.</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4 of 9):</a:t>
            </a:r>
          </a:p>
          <a:p>
            <a:r>
              <a:t>(No new words. Let the class read this slide, then click.)</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5 of 9):</a:t>
            </a:r>
          </a:p>
          <a:p>
            <a:r>
              <a:t>Read the first command as: find users where age is less than 18. We get only Ana, who is 17. The second is less than or equal to 18. We get Ana and Ben. Ben is exactly 18, so the E lets him in.</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6 of 9):</a:t>
            </a:r>
          </a:p>
          <a:p>
            <a:r>
              <a:t>(No new words. Let the class read this slide, then click.)</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7 of 9):</a:t>
            </a:r>
          </a:p>
          <a:p>
            <a:r>
              <a:t>Greater than 30 gives only Eli, who is 31. Greater than or equal to 30 gives Dan and Eli. Dan is exactly 30, so he is in this time.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8 of 9):</a:t>
            </a:r>
          </a:p>
          <a:p>
            <a:r>
              <a:t>(No new words. Let the class read this slide, then click.)</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9 of 9):</a:t>
            </a:r>
          </a:p>
          <a:p>
            <a:r>
              <a:t>The handout finds users between 18 and 30. Put greater than or equal 18 and less than or equal 30 on the same field. Both must be true. The result is Ben, Cara and Dan. Remember: the E means equal is allowed.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4 is three more query selectors: dollar in, dollar or, and dollar not. The handout says there are two ways to do an OR query in MongoDB. The first is dollar in. The second is dollar or. After those, dollar not.</a:t>
            </a:r>
          </a:p>
          <a:p/>
          <a:p>
            <a:r>
              <a:t>(Whole part: 308 words, about 2 min 22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2 of 7):</a:t>
            </a:r>
          </a:p>
          <a:p>
            <a:r>
              <a:t>This is the raffle. It is our practice data, built around the handout's winning tickets. There are five tickets: 725, 542, 390, 111 and 222. Ticket 111 is the only one where winner is true. Keep this list in mind for the next two slides.</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3 of 7):</a:t>
            </a:r>
          </a:p>
          <a:p>
            <a:r>
              <a:t>(No new words. Let the class read this slide, then click.)</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4 of 7):</a:t>
            </a:r>
          </a:p>
          <a:p>
            <a:r>
              <a:t>Dollar in checks many values for one key. The handout's winning tickets are 725, 542 and 390. Read the command as: find tickets where the ticket number is in this list. One query returns all three. Tickets 111 and 222 are not in the list, so they do not come back.</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5 of 7):</a:t>
            </a:r>
          </a:p>
          <a:p>
            <a:r>
              <a:t>Dollar or is more general. The handout says it takes an array of possible criteria, and each one can use a different key. Here the array has two conditions: ticket number 725, or winner is true. A document only needs to pass one of them. Ticket 725 passes the first test. Ticket 111 passes the second. Ticket 542 passes neither, so it is out.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6 of 7):</a:t>
            </a:r>
          </a:p>
          <a:p>
            <a:r>
              <a:t>Now three users, also practice data. Rhea earns 8,000 pesos, Mark earns exactly 10,000, and Liza earns 15,000.</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7 of 7):</a:t>
            </a:r>
          </a:p>
          <a:p>
            <a:r>
              <a:t>Dollar not returns the documents that do not match a condition. The handout's example finds employees whose salary is not greater than 10,000 pesos. On its own, dollar g t 10,000 would match only Liza. Dollar not flips it, so we get everyone else: Rhea and Mark. Mark is exactly 10,000, which is not greater, so he is in. To sum up: one key, many values, use dollar in. Many keys, any match, use dollar or. To flip a condition, use dollar not.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5 is querying arrays. An array is a list of values inside one field, written in square brackets. We will insert arrays, then query them four ways.</a:t>
            </a:r>
          </a:p>
          <a:p/>
          <a:p>
            <a:r>
              <a:t>(Whole part: 305 words, about 2 min 21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2 of 9):</a:t>
            </a:r>
          </a:p>
          <a:p>
            <a:r>
              <a:t>We insert the handout's three fruit baskets. Each basket is a document, and its fruit field is an array of three elements. Before: the food collection is empty.</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3 of 9):</a:t>
            </a:r>
          </a:p>
          <a:p>
            <a:r>
              <a:t>We run three insertOne commands. The shell prints the reply of the last one: inserted I D 3.</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4 of 9):</a:t>
            </a:r>
          </a:p>
          <a:p>
            <a:r>
              <a:t>After: three baskets. Basket 1 has apple, banana, peach. Basket 2 has apple, kumquat, orange. Basket 3 has cherry, banana, apple. We use these three baskets for the rest of this part.</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5 of 9):</a:t>
            </a:r>
          </a:p>
          <a:p>
            <a:r>
              <a:t>The handout says querying an array is designed to behave like querying a single value, such as a string, a number or a date. So we simply ask for banana. Any basket with banana anywhere in its list matches. Baskets 1 and 3 come back. Basket 2 has no banana.</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6 of 9):</a:t>
            </a:r>
          </a:p>
          <a:p>
            <a:r>
              <a:t>What if we need more than one element? The handout uses dollar all. It matches arrays that contain every element in the list. We ask for apple and banana. Baskets 1 and 3 have both. Basket 2 has apple but no banana, so it is out. Order does not matter: basket 3 has banana before apple, and it still matches.</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7 of 9):</a:t>
            </a:r>
          </a:p>
          <a:p>
            <a:r>
              <a:t>To check one exact position, write the key, a dot, and the index number. Counting starts at zero, so fruit dot 0 is the first fruit and fruit dot 2 is the third. We ask for peach in position 2. Only basket 1 has peach in third place.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8 of 9):</a:t>
            </a:r>
          </a:p>
          <a:p>
            <a:r>
              <a:t>Dollar size matches arrays with exactly that many elements. Every basket has 3 fruits, so dollar size 3 returns all three. A basket with 2 or 4 fruits would not match. Arrays answer like single values.</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9 of 9):</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6 is dollar slice, and embedded documents: documents inside documents.</a:t>
            </a:r>
          </a:p>
          <a:p/>
          <a:p>
            <a:r>
              <a:t>(Whole part: 255 words, about 1 min 58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2 of 10):</a:t>
            </a:r>
          </a:p>
          <a:p>
            <a:r>
              <a:t>Dollar slice returns only part of an array. The handout's example is a blog post with many comments. Our practice post has 40 comments, named c1 to c40. Slice 10 returns the first 10: c1 to c10. The other 30 are still saved. We just do not show them.</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3 of 10):</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4 of 10):</a:t>
            </a:r>
          </a:p>
          <a:p>
            <a:r>
              <a:t>Slice minus 10 returns the last 10: c31 to c40. Positive numbers count from the front. Negative numbers count from the back.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5 of 10):</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6 of 10):</a:t>
            </a:r>
          </a:p>
          <a:p>
            <a:r>
              <a:t>Slice with two numbers gives a page from the middle. The first number, 23, means skip 23. The second number, 10, means take 10. So we get the 24th to the 33rd: c24 to c33. The handout adds: if there were fewer than 33 elements, it would return as many as possible.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7 of 10):</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8 of 10):</a:t>
            </a:r>
          </a:p>
          <a:p>
            <a:r>
              <a:t>An embedded document is a document inside another document. Here, John's name field holds a whole document with first and last. To query inside it, use dot notation, in quotes: name dot first, and name dot last. Both must match, and John Escalona comes back.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9 of 10):</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10 of 10):</a:t>
            </a:r>
          </a:p>
          <a:p>
            <a:r>
              <a:t>Why embed at all? The handout's data model section explains. Embedded documents keep related data together in one document. This is called a denormalized model. The benefit: an application can read and change related data in a single database operation. The other option is references, which link one document to another. That is a normalized model. To sum up: trim what you see with slice, and reach inside with a dot.</a:t>
            </a:r>
          </a:p>
          <a:p/>
          <a:p>
            <a:r>
              <a:t>Source: 08 Handout p.4-5</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7 is cloud computing and its three implementation types.</a:t>
            </a:r>
          </a:p>
          <a:p/>
          <a:p>
            <a:r>
              <a:t>(Whole part: 228 words, about 1 min 45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2 of 6):</a:t>
            </a:r>
          </a:p>
          <a:p>
            <a:r>
              <a:t>Cloud computing is the delivery of services through the Internet: data storage, servers, databases, networking and software. Instead of keeping files on a local hard drive, cloud storage saves them to a remote database. If a device can reach the web, it can reach the data and the programs to run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3 of 6):</a:t>
            </a:r>
          </a:p>
          <a:p>
            <a:r>
              <a:t>The implementation type depends on two things: where the infrastructure is, and who controls it. There are three types: public, private and hybrid.</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4 of 6):</a:t>
            </a:r>
          </a:p>
          <a:p>
            <a:r>
              <a:t>A public cloud is built by a third party to sell cloud services to the general public. It is the most common type. Examples are Amazon Web Services, Google Application Engine and Microsoft Azure. It is reliable, low cost, needs zero maintenance and scales on demand. But it is not suitable for organizations with sensitive information under strict security rules.</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5 of 6):</a:t>
            </a:r>
          </a:p>
          <a:p>
            <a:r>
              <a:t>A private cloud is built by an organization only for its own needs. Large organizations spread across many places use it to add agility and flexibility. Their own I T staff or an outside third party can manage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6 of 6):</a:t>
            </a:r>
          </a:p>
          <a:p>
            <a:r>
              <a:t>A hybrid cloud combines private and public. For example, a business uses the public cloud for high-volume apps like email, and a private cloud for sensitive things like financials and data recovery. Rent it, own it, or mix both.</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8 is the types of cloud services, and the ten benefits of cloud computing.</a:t>
            </a:r>
          </a:p>
          <a:p/>
          <a:p>
            <a:r>
              <a:t>(Whole part: 243 words, about 1 min 52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2 of 7):</a:t>
            </a:r>
          </a:p>
          <a:p>
            <a:r>
              <a:t>Cloud services follow an a la carte model. You pick what you need, and services can build on each other. There are three: software, platform, and infrastructure as a service.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3 of 7):</a:t>
            </a:r>
          </a:p>
          <a:p>
            <a:r>
              <a:t>Software as a Service, or SaaS. The provider offers ready-to-use applications that run in the cloud. You can customize some parts, but not the application itself. Examples: Microsoft Office 365, Google Docs, TurboTax Online and SCALA digital signage.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4 of 7):</a:t>
            </a:r>
          </a:p>
          <a:p>
            <a:r>
              <a:t>Platform as a Service, or PaaS. The provider gives tools, languages and interfaces to build and run your own applications. You manage your apps, not the infrastructure. Example: the Microsoft Azure platform with dot NET and Java.</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5 of 7):</a:t>
            </a:r>
          </a:p>
          <a:p>
            <a:r>
              <a:t>Infrastructure as a Service, or IaaS. You get resources on demand: storage, servers, databases, processing, even a full virtual desktop. You add or remove them as needed. Example: an Amazon Web Services server running Linux and Apache, with 16 gigabytes of RAM and 160 gigabytes of storage.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6 of 7):</a:t>
            </a:r>
          </a:p>
          <a:p>
            <a:r>
              <a:t>The handout lists ten benefits. One, instant scalability: scale up or down to meet demand. Two, anywhere accessibility. Three, increased speed and agility: add capacity with a click. Four, reduced expenditure: cost depends on use. Five, automatic updates and patches.</a:t>
            </a:r>
          </a:p>
          <a:p/>
          <a:p>
            <a:r>
              <a:t>Source: 09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7 of 7):</a:t>
            </a:r>
          </a:p>
          <a:p>
            <a:r>
              <a:t>Six, disaster recovery. Seven, high security. Eight, reduced carbon footprint. Nine, flexibility: any device, any place. Ten, enterprise collaboration: shared, central documents. Scale up fast, and pay for what you use.</a:t>
            </a:r>
          </a:p>
          <a:p/>
          <a:p>
            <a:r>
              <a:t>Source: 09 Handout p.2</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5257800"/>
            <a:ext cx="12191695" cy="91440"/>
          </a:xfrm>
          <a:prstGeom prst="rect">
            <a:avLst/>
          </a:prstGeom>
          <a:solidFill>
            <a:srgbClr val="F2B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822960"/>
            <a:ext cx="11368735" cy="548640"/>
          </a:xfrm>
          <a:prstGeom prst="rect">
            <a:avLst/>
          </a:prstGeom>
          <a:noFill/>
        </p:spPr>
        <p:txBody>
          <a:bodyPr wrap="square" anchor="t" lIns="0" rIns="0" tIns="0" bIns="0">
            <a:spAutoFit/>
          </a:bodyPr>
          <a:lstStyle/>
          <a:p>
            <a:pPr algn="l">
              <a:lnSpc>
                <a:spcPct val="100000"/>
              </a:lnSpc>
            </a:pPr>
            <a:r>
              <a:rPr sz="2800" b="1">
                <a:solidFill>
                  <a:srgbClr val="F2B27A"/>
                </a:solidFill>
                <a:latin typeface="Arial"/>
              </a:rPr>
              <a:t>IT2003 · ADVANCED DATABASE SYSTEMS</a:t>
            </a:r>
          </a:p>
        </p:txBody>
      </p:sp>
      <p:sp>
        <p:nvSpPr>
          <p:cNvPr id="4" name="TextBox 3"/>
          <p:cNvSpPr txBox="1"/>
          <p:nvPr/>
        </p:nvSpPr>
        <p:spPr>
          <a:xfrm>
            <a:off x="411480" y="1463040"/>
            <a:ext cx="11368735" cy="2194560"/>
          </a:xfrm>
          <a:prstGeom prst="rect">
            <a:avLst/>
          </a:prstGeom>
          <a:noFill/>
        </p:spPr>
        <p:txBody>
          <a:bodyPr wrap="square" anchor="t" lIns="0" rIns="0" tIns="0" bIns="0">
            <a:spAutoFit/>
          </a:bodyPr>
          <a:lstStyle/>
          <a:p>
            <a:pPr algn="l">
              <a:lnSpc>
                <a:spcPct val="95000"/>
              </a:lnSpc>
            </a:pPr>
            <a:r>
              <a:rPr sz="6000" b="1">
                <a:solidFill>
                  <a:srgbClr val="FFFFFF"/>
                </a:solidFill>
                <a:latin typeface="Arial"/>
              </a:rPr>
              <a:t>MongoDB Commands</a:t>
            </a:r>
          </a:p>
          <a:p>
            <a:pPr algn="l">
              <a:lnSpc>
                <a:spcPct val="95000"/>
              </a:lnSpc>
            </a:pPr>
            <a:r>
              <a:rPr sz="6000" b="1">
                <a:solidFill>
                  <a:srgbClr val="FFFFFF"/>
                </a:solidFill>
                <a:latin typeface="Arial"/>
              </a:rPr>
              <a:t>&amp; Cloud Computing</a:t>
            </a:r>
          </a:p>
        </p:txBody>
      </p:sp>
      <p:sp>
        <p:nvSpPr>
          <p:cNvPr id="5" name="TextBox 4"/>
          <p:cNvSpPr txBox="1"/>
          <p:nvPr/>
        </p:nvSpPr>
        <p:spPr>
          <a:xfrm>
            <a:off x="411480" y="3566160"/>
            <a:ext cx="11368735" cy="128016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Shared group deck · Part 1 is done · Parts 2-8: fill the orange boxes</a:t>
            </a:r>
          </a:p>
        </p:txBody>
      </p:sp>
      <p:sp>
        <p:nvSpPr>
          <p:cNvPr id="6" name="TextBox 5"/>
          <p:cNvSpPr txBox="1"/>
          <p:nvPr/>
        </p:nvSpPr>
        <p:spPr>
          <a:xfrm>
            <a:off x="411480" y="5623560"/>
            <a:ext cx="11368735" cy="640080"/>
          </a:xfrm>
          <a:prstGeom prst="rect">
            <a:avLst/>
          </a:prstGeom>
          <a:noFill/>
        </p:spPr>
        <p:txBody>
          <a:bodyPr wrap="square" anchor="t" lIns="0" rIns="0" tIns="0" bIns="0">
            <a:spAutoFit/>
          </a:bodyPr>
          <a:lstStyle/>
          <a:p>
            <a:pPr algn="l">
              <a:lnSpc>
                <a:spcPct val="100000"/>
              </a:lnSpc>
            </a:pPr>
            <a:r>
              <a:rPr sz="3200" b="1">
                <a:solidFill>
                  <a:srgbClr val="FFFFFF"/>
                </a:solidFill>
                <a:latin typeface="Arial"/>
              </a:rPr>
              <a:t>Section 3.1A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How to do your part (read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HOWTO"/>
          <p:cNvSpPr/>
          <p:nvPr/>
        </p:nvSpPr>
        <p:spPr>
          <a:xfrm>
            <a:off x="411480" y="1188720"/>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HOWTO"/>
          <p:cNvSpPr txBox="1"/>
          <p:nvPr/>
        </p:nvSpPr>
        <p:spPr>
          <a:xfrm>
            <a:off x="521208" y="1188720"/>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1</a:t>
            </a:r>
          </a:p>
        </p:txBody>
      </p:sp>
      <p:sp>
        <p:nvSpPr>
          <p:cNvPr id="7" name="EXEMPT_HOWTO"/>
          <p:cNvSpPr txBox="1"/>
          <p:nvPr/>
        </p:nvSpPr>
        <p:spPr>
          <a:xfrm>
            <a:off x="1234440" y="1280160"/>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Find your part</a:t>
            </a:r>
          </a:p>
          <a:p>
            <a:pPr algn="l">
              <a:lnSpc>
                <a:spcPct val="100000"/>
              </a:lnSpc>
            </a:pPr>
            <a:r>
              <a:rPr sz="1600" b="0">
                <a:solidFill>
                  <a:srgbClr val="4A5868"/>
                </a:solidFill>
                <a:latin typeface="Arial"/>
              </a:rPr>
              <a:t>The 'Eight parts' slide lists them. Your part has a big number divider.</a:t>
            </a:r>
          </a:p>
        </p:txBody>
      </p:sp>
      <p:sp>
        <p:nvSpPr>
          <p:cNvPr id="8" name="EXEMPT_HOWTO"/>
          <p:cNvSpPr/>
          <p:nvPr/>
        </p:nvSpPr>
        <p:spPr>
          <a:xfrm>
            <a:off x="411480" y="2404872"/>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EXEMPT_HOWTO"/>
          <p:cNvSpPr txBox="1"/>
          <p:nvPr/>
        </p:nvSpPr>
        <p:spPr>
          <a:xfrm>
            <a:off x="521208" y="2404872"/>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2</a:t>
            </a:r>
          </a:p>
        </p:txBody>
      </p:sp>
      <p:sp>
        <p:nvSpPr>
          <p:cNvPr id="10" name="EXEMPT_HOWTO"/>
          <p:cNvSpPr txBox="1"/>
          <p:nvPr/>
        </p:nvSpPr>
        <p:spPr>
          <a:xfrm>
            <a:off x="1234440" y="2496312"/>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Look at Part 1</a:t>
            </a:r>
          </a:p>
          <a:p>
            <a:pPr algn="l">
              <a:lnSpc>
                <a:spcPct val="100000"/>
              </a:lnSpc>
            </a:pPr>
            <a:r>
              <a:rPr sz="1600" b="0">
                <a:solidFill>
                  <a:srgbClr val="4A5868"/>
                </a:solidFill>
                <a:latin typeface="Arial"/>
              </a:rPr>
              <a:t>Part 1 is finished. Make yours look like it.</a:t>
            </a:r>
          </a:p>
        </p:txBody>
      </p:sp>
      <p:sp>
        <p:nvSpPr>
          <p:cNvPr id="11" name="EXEMPT_HOWTO"/>
          <p:cNvSpPr/>
          <p:nvPr/>
        </p:nvSpPr>
        <p:spPr>
          <a:xfrm>
            <a:off x="411480" y="3621024"/>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EXEMPT_HOWTO"/>
          <p:cNvSpPr txBox="1"/>
          <p:nvPr/>
        </p:nvSpPr>
        <p:spPr>
          <a:xfrm>
            <a:off x="521208" y="3621024"/>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3</a:t>
            </a:r>
          </a:p>
        </p:txBody>
      </p:sp>
      <p:sp>
        <p:nvSpPr>
          <p:cNvPr id="13" name="EXEMPT_HOWTO"/>
          <p:cNvSpPr txBox="1"/>
          <p:nvPr/>
        </p:nvSpPr>
        <p:spPr>
          <a:xfrm>
            <a:off x="1234440" y="3712463"/>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Open the MongoDB shell</a:t>
            </a:r>
          </a:p>
          <a:p>
            <a:pPr algn="l">
              <a:lnSpc>
                <a:spcPct val="100000"/>
              </a:lnSpc>
            </a:pPr>
            <a:r>
              <a:rPr sz="1600" b="0">
                <a:solidFill>
                  <a:srgbClr val="4A5868"/>
                </a:solidFill>
                <a:latin typeface="Arial"/>
              </a:rPr>
              <a:t>MongoDB Compass → Connect → click  &gt;_ Open MongoDB shell.</a:t>
            </a:r>
          </a:p>
        </p:txBody>
      </p:sp>
      <p:sp>
        <p:nvSpPr>
          <p:cNvPr id="14" name="EXEMPT_HOWTO"/>
          <p:cNvSpPr/>
          <p:nvPr/>
        </p:nvSpPr>
        <p:spPr>
          <a:xfrm>
            <a:off x="411480" y="4837176"/>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EXEMPT_HOWTO"/>
          <p:cNvSpPr txBox="1"/>
          <p:nvPr/>
        </p:nvSpPr>
        <p:spPr>
          <a:xfrm>
            <a:off x="521208" y="4837176"/>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4</a:t>
            </a:r>
          </a:p>
        </p:txBody>
      </p:sp>
      <p:sp>
        <p:nvSpPr>
          <p:cNvPr id="16" name="EXEMPT_HOWTO"/>
          <p:cNvSpPr txBox="1"/>
          <p:nvPr/>
        </p:nvSpPr>
        <p:spPr>
          <a:xfrm>
            <a:off x="1234440" y="4928616"/>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Run your SETUP slide</a:t>
            </a:r>
          </a:p>
          <a:p>
            <a:pPr algn="l">
              <a:lnSpc>
                <a:spcPct val="100000"/>
              </a:lnSpc>
            </a:pPr>
            <a:r>
              <a:rPr sz="1600" b="0">
                <a:solidFill>
                  <a:srgbClr val="4A5868"/>
                </a:solidFill>
                <a:latin typeface="Arial"/>
              </a:rPr>
              <a:t>Copy all its lines, paste in the shell, press Enter.</a:t>
            </a:r>
          </a:p>
        </p:txBody>
      </p:sp>
      <p:sp>
        <p:nvSpPr>
          <p:cNvPr id="17" name="EXEMPT_HOWTO"/>
          <p:cNvSpPr/>
          <p:nvPr/>
        </p:nvSpPr>
        <p:spPr>
          <a:xfrm>
            <a:off x="6172200" y="1188720"/>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EXEMPT_HOWTO"/>
          <p:cNvSpPr txBox="1"/>
          <p:nvPr/>
        </p:nvSpPr>
        <p:spPr>
          <a:xfrm>
            <a:off x="6281928" y="1188720"/>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5</a:t>
            </a:r>
          </a:p>
        </p:txBody>
      </p:sp>
      <p:sp>
        <p:nvSpPr>
          <p:cNvPr id="19" name="EXEMPT_HOWTO"/>
          <p:cNvSpPr txBox="1"/>
          <p:nvPr/>
        </p:nvSpPr>
        <p:spPr>
          <a:xfrm>
            <a:off x="6995160" y="1280160"/>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Go box by box, top to bottom</a:t>
            </a:r>
          </a:p>
          <a:p>
            <a:pPr algn="l">
              <a:lnSpc>
                <a:spcPct val="100000"/>
              </a:lnSpc>
            </a:pPr>
            <a:r>
              <a:rPr sz="1600" b="0">
                <a:solidFill>
                  <a:srgbClr val="4A5868"/>
                </a:solidFill>
                <a:latin typeface="Arial"/>
              </a:rPr>
              <a:t>Each orange box says what to run. Order: 1 BEFORE, 2 COMMAND, 3 AFTER.</a:t>
            </a:r>
          </a:p>
        </p:txBody>
      </p:sp>
      <p:sp>
        <p:nvSpPr>
          <p:cNvPr id="20" name="EXEMPT_HOWTO"/>
          <p:cNvSpPr/>
          <p:nvPr/>
        </p:nvSpPr>
        <p:spPr>
          <a:xfrm>
            <a:off x="6172200" y="2404872"/>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EXEMPT_HOWTO"/>
          <p:cNvSpPr txBox="1"/>
          <p:nvPr/>
        </p:nvSpPr>
        <p:spPr>
          <a:xfrm>
            <a:off x="6281928" y="2404872"/>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6</a:t>
            </a:r>
          </a:p>
        </p:txBody>
      </p:sp>
      <p:sp>
        <p:nvSpPr>
          <p:cNvPr id="22" name="EXEMPT_HOWTO"/>
          <p:cNvSpPr txBox="1"/>
          <p:nvPr/>
        </p:nvSpPr>
        <p:spPr>
          <a:xfrm>
            <a:off x="6995160" y="2496312"/>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Paste a screenshot</a:t>
            </a:r>
          </a:p>
          <a:p>
            <a:pPr algn="l">
              <a:lnSpc>
                <a:spcPct val="100000"/>
              </a:lnSpc>
            </a:pPr>
            <a:r>
              <a:rPr sz="1600" b="0">
                <a:solidFill>
                  <a:srgbClr val="4A5868"/>
                </a:solidFill>
                <a:latin typeface="Arial"/>
              </a:rPr>
              <a:t>In Compass press Ctrl and = until the text is big. Win + Shift + S, then click the box's edge, Delete, Ctrl + V.</a:t>
            </a:r>
          </a:p>
        </p:txBody>
      </p:sp>
      <p:sp>
        <p:nvSpPr>
          <p:cNvPr id="23" name="EXEMPT_HOWTO"/>
          <p:cNvSpPr/>
          <p:nvPr/>
        </p:nvSpPr>
        <p:spPr>
          <a:xfrm>
            <a:off x="6172200" y="3621024"/>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EXEMPT_HOWTO"/>
          <p:cNvSpPr txBox="1"/>
          <p:nvPr/>
        </p:nvSpPr>
        <p:spPr>
          <a:xfrm>
            <a:off x="6281928" y="3621024"/>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7</a:t>
            </a:r>
          </a:p>
        </p:txBody>
      </p:sp>
      <p:sp>
        <p:nvSpPr>
          <p:cNvPr id="25" name="EXEMPT_HOWTO"/>
          <p:cNvSpPr txBox="1"/>
          <p:nvPr/>
        </p:nvSpPr>
        <p:spPr>
          <a:xfrm>
            <a:off x="6995160" y="3712463"/>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Fill the blanks</a:t>
            </a:r>
          </a:p>
          <a:p>
            <a:pPr algn="l">
              <a:lnSpc>
                <a:spcPct val="100000"/>
              </a:lnSpc>
            </a:pPr>
            <a:r>
              <a:rPr sz="1600" b="0">
                <a:solidFill>
                  <a:srgbClr val="4A5868"/>
                </a:solidFill>
                <a:latin typeface="Arial"/>
              </a:rPr>
              <a:t>Replace every ______ using the handout page in the footer.</a:t>
            </a:r>
          </a:p>
        </p:txBody>
      </p:sp>
      <p:sp>
        <p:nvSpPr>
          <p:cNvPr id="26" name="EXEMPT_HOWTO"/>
          <p:cNvSpPr/>
          <p:nvPr/>
        </p:nvSpPr>
        <p:spPr>
          <a:xfrm>
            <a:off x="6172200" y="4837176"/>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EXEMPT_HOWTO"/>
          <p:cNvSpPr txBox="1"/>
          <p:nvPr/>
        </p:nvSpPr>
        <p:spPr>
          <a:xfrm>
            <a:off x="6281928" y="4837176"/>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8</a:t>
            </a:r>
          </a:p>
        </p:txBody>
      </p:sp>
      <p:sp>
        <p:nvSpPr>
          <p:cNvPr id="28" name="EXEMPT_HOWTO"/>
          <p:cNvSpPr txBox="1"/>
          <p:nvPr/>
        </p:nvSpPr>
        <p:spPr>
          <a:xfrm>
            <a:off x="6995160" y="4928616"/>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Practice the script</a:t>
            </a:r>
          </a:p>
          <a:p>
            <a:pPr algn="l">
              <a:lnSpc>
                <a:spcPct val="100000"/>
              </a:lnSpc>
            </a:pPr>
            <a:r>
              <a:rPr sz="1600" b="0">
                <a:solidFill>
                  <a:srgbClr val="4A5868"/>
                </a:solidFill>
                <a:latin typeface="Arial"/>
              </a:rPr>
              <a:t>View → Notes. Read it aloud with a timer. Stay under 3 minutes.</a:t>
            </a:r>
          </a:p>
        </p:txBody>
      </p:sp>
      <p:sp>
        <p:nvSpPr>
          <p:cNvPr id="29" name="EXEMPT_HOWTO"/>
          <p:cNvSpPr txBox="1"/>
          <p:nvPr/>
        </p:nvSpPr>
        <p:spPr>
          <a:xfrm>
            <a:off x="411480" y="6080760"/>
            <a:ext cx="11368735" cy="365760"/>
          </a:xfrm>
          <a:prstGeom prst="rect">
            <a:avLst/>
          </a:prstGeom>
          <a:noFill/>
        </p:spPr>
        <p:txBody>
          <a:bodyPr wrap="square" anchor="t" lIns="0" rIns="0" tIns="0" bIns="0">
            <a:spAutoFit/>
          </a:bodyPr>
          <a:lstStyle/>
          <a:p>
            <a:pPr algn="l">
              <a:lnSpc>
                <a:spcPct val="100000"/>
              </a:lnSpc>
            </a:pPr>
            <a:r>
              <a:rPr sz="1800" b="1">
                <a:solidFill>
                  <a:srgbClr val="C2410C"/>
                </a:solidFill>
                <a:latin typeface="Arial"/>
              </a:rPr>
              <a:t>Only edit YOUR part. Delete every slide marked HELPER before presenting.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Eight parts · 3 minutes each</a:t>
            </a:r>
          </a:p>
        </p:txBody>
      </p:sp>
      <p:sp>
        <p:nvSpPr>
          <p:cNvPr id="4" name="Rectangle 3"/>
          <p:cNvSpPr/>
          <p:nvPr/>
        </p:nvSpPr>
        <p:spPr>
          <a:xfrm>
            <a:off x="411480" y="1097280"/>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1</a:t>
            </a:r>
          </a:p>
        </p:txBody>
      </p:sp>
      <p:sp>
        <p:nvSpPr>
          <p:cNvPr id="6" name="TextBox 5"/>
          <p:cNvSpPr txBox="1"/>
          <p:nvPr/>
        </p:nvSpPr>
        <p:spPr>
          <a:xfrm>
            <a:off x="1371600" y="1097280"/>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 &amp; Delete</a:t>
            </a:r>
          </a:p>
        </p:txBody>
      </p:sp>
      <p:sp>
        <p:nvSpPr>
          <p:cNvPr id="7" name="Rectangle 6"/>
          <p:cNvSpPr/>
          <p:nvPr/>
        </p:nvSpPr>
        <p:spPr>
          <a:xfrm>
            <a:off x="411480" y="2359152"/>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359152"/>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2</a:t>
            </a:r>
          </a:p>
        </p:txBody>
      </p:sp>
      <p:sp>
        <p:nvSpPr>
          <p:cNvPr id="9" name="TextBox 8"/>
          <p:cNvSpPr txBox="1"/>
          <p:nvPr/>
        </p:nvSpPr>
        <p:spPr>
          <a:xfrm>
            <a:off x="1371600" y="2359152"/>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Find, Replace &amp; Update</a:t>
            </a:r>
          </a:p>
        </p:txBody>
      </p:sp>
      <p:sp>
        <p:nvSpPr>
          <p:cNvPr id="10" name="Rectangle 9"/>
          <p:cNvSpPr/>
          <p:nvPr/>
        </p:nvSpPr>
        <p:spPr>
          <a:xfrm>
            <a:off x="411480" y="3621024"/>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621024"/>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3</a:t>
            </a:r>
          </a:p>
        </p:txBody>
      </p:sp>
      <p:sp>
        <p:nvSpPr>
          <p:cNvPr id="12" name="TextBox 11"/>
          <p:cNvSpPr txBox="1"/>
          <p:nvPr/>
        </p:nvSpPr>
        <p:spPr>
          <a:xfrm>
            <a:off x="1371600" y="3621024"/>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Comparison Operators</a:t>
            </a:r>
          </a:p>
        </p:txBody>
      </p:sp>
      <p:sp>
        <p:nvSpPr>
          <p:cNvPr id="13" name="Rectangle 12"/>
          <p:cNvSpPr/>
          <p:nvPr/>
        </p:nvSpPr>
        <p:spPr>
          <a:xfrm>
            <a:off x="411480" y="4882896"/>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82896"/>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4</a:t>
            </a:r>
          </a:p>
        </p:txBody>
      </p:sp>
      <p:sp>
        <p:nvSpPr>
          <p:cNvPr id="15" name="TextBox 14"/>
          <p:cNvSpPr txBox="1"/>
          <p:nvPr/>
        </p:nvSpPr>
        <p:spPr>
          <a:xfrm>
            <a:off x="1371600" y="4882896"/>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$in, $or, $not</a:t>
            </a:r>
          </a:p>
        </p:txBody>
      </p:sp>
      <p:sp>
        <p:nvSpPr>
          <p:cNvPr id="16" name="Rectangle 15"/>
          <p:cNvSpPr/>
          <p:nvPr/>
        </p:nvSpPr>
        <p:spPr>
          <a:xfrm>
            <a:off x="6172200" y="1097280"/>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1097280"/>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5</a:t>
            </a:r>
          </a:p>
        </p:txBody>
      </p:sp>
      <p:sp>
        <p:nvSpPr>
          <p:cNvPr id="18" name="TextBox 17"/>
          <p:cNvSpPr txBox="1"/>
          <p:nvPr/>
        </p:nvSpPr>
        <p:spPr>
          <a:xfrm>
            <a:off x="7132320" y="1097280"/>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Querying Arrays</a:t>
            </a:r>
          </a:p>
        </p:txBody>
      </p:sp>
      <p:sp>
        <p:nvSpPr>
          <p:cNvPr id="19" name="Rectangle 18"/>
          <p:cNvSpPr/>
          <p:nvPr/>
        </p:nvSpPr>
        <p:spPr>
          <a:xfrm>
            <a:off x="6172200" y="2359152"/>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2359152"/>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6</a:t>
            </a:r>
          </a:p>
        </p:txBody>
      </p:sp>
      <p:sp>
        <p:nvSpPr>
          <p:cNvPr id="21" name="TextBox 20"/>
          <p:cNvSpPr txBox="1"/>
          <p:nvPr/>
        </p:nvSpPr>
        <p:spPr>
          <a:xfrm>
            <a:off x="7132320" y="2359152"/>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$slice &amp; Embedded Documents</a:t>
            </a:r>
          </a:p>
        </p:txBody>
      </p:sp>
      <p:sp>
        <p:nvSpPr>
          <p:cNvPr id="22" name="Rectangle 21"/>
          <p:cNvSpPr/>
          <p:nvPr/>
        </p:nvSpPr>
        <p:spPr>
          <a:xfrm>
            <a:off x="6172200" y="3621024"/>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0" y="3621024"/>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7</a:t>
            </a:r>
          </a:p>
        </p:txBody>
      </p:sp>
      <p:sp>
        <p:nvSpPr>
          <p:cNvPr id="24" name="TextBox 23"/>
          <p:cNvSpPr txBox="1"/>
          <p:nvPr/>
        </p:nvSpPr>
        <p:spPr>
          <a:xfrm>
            <a:off x="7132320" y="3621024"/>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Computing &amp; Implementation Types</a:t>
            </a:r>
          </a:p>
        </p:txBody>
      </p:sp>
      <p:sp>
        <p:nvSpPr>
          <p:cNvPr id="25" name="Rectangle 24"/>
          <p:cNvSpPr/>
          <p:nvPr/>
        </p:nvSpPr>
        <p:spPr>
          <a:xfrm>
            <a:off x="6172200" y="4882896"/>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4882896"/>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8</a:t>
            </a:r>
          </a:p>
        </p:txBody>
      </p:sp>
      <p:sp>
        <p:nvSpPr>
          <p:cNvPr id="27" name="TextBox 26"/>
          <p:cNvSpPr txBox="1"/>
          <p:nvPr/>
        </p:nvSpPr>
        <p:spPr>
          <a:xfrm>
            <a:off x="7132320" y="4882896"/>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Service Types &amp; Benefits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1</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Create &amp; Delete</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insertOne · insertMany · deleteOne · deleteMany</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“Documents in, documents out.”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15 slides · about 2 min 15 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Tables are collections. Rows are documents.</a:t>
            </a:r>
          </a:p>
        </p:txBody>
      </p:sp>
      <p:graphicFrame>
        <p:nvGraphicFramePr>
          <p:cNvPr id="4" name="Table 3"/>
          <p:cNvGraphicFramePr>
            <a:graphicFrameLocks noGrp="1"/>
          </p:cNvGraphicFramePr>
          <p:nvPr/>
        </p:nvGraphicFramePr>
        <p:xfrm>
          <a:off x="411480" y="1234439"/>
          <a:ext cx="11368735" cy="4352540"/>
        </p:xfrm>
        <a:graphic>
          <a:graphicData uri="http://schemas.openxmlformats.org/drawingml/2006/table">
            <a:tbl>
              <a:tblPr firstRow="1" bandRow="1">
                <a:tableStyleId>{5C22544A-7EE6-4342-B048-85BDC9FD1C3A}</a:tableStyleId>
              </a:tblPr>
              <a:tblGrid>
                <a:gridCol w="3291840"/>
                <a:gridCol w="8076895"/>
              </a:tblGrid>
              <a:tr h="870508">
                <a:tc>
                  <a:txBody>
                    <a:bodyPr wrap="square" anchor="ctr" lIns="109728" rIns="109728" tIns="109728" bIns="109728"/>
                    <a:lstStyle/>
                    <a:p>
                      <a:pPr algn="l">
                        <a:lnSpc>
                          <a:spcPct val="100000"/>
                        </a:lnSpc>
                      </a:pPr>
                      <a:r>
                        <a:rPr sz="2800" b="1">
                          <a:solidFill>
                            <a:srgbClr val="FFFFFF"/>
                          </a:solidFill>
                          <a:latin typeface="Arial"/>
                        </a:rPr>
                        <a:t>SQL</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MongoDB</a:t>
                      </a:r>
                    </a:p>
                  </a:txBody>
                  <a:tcPr>
                    <a:solidFill>
                      <a:srgbClr val="14202E"/>
                    </a:solidFill>
                  </a:tcPr>
                </a:tc>
              </a:tr>
              <a:tr h="870508">
                <a:tc>
                  <a:txBody>
                    <a:bodyPr wrap="square" anchor="ctr" lIns="109728" rIns="109728" tIns="109728" bIns="109728"/>
                    <a:lstStyle/>
                    <a:p>
                      <a:pPr algn="l">
                        <a:lnSpc>
                          <a:spcPct val="100000"/>
                        </a:lnSpc>
                      </a:pPr>
                      <a:r>
                        <a:rPr sz="3000" b="1">
                          <a:solidFill>
                            <a:srgbClr val="14202E"/>
                          </a:solidFill>
                          <a:latin typeface="Arial"/>
                        </a:rPr>
                        <a:t>Database</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Database</a:t>
                      </a:r>
                    </a:p>
                  </a:txBody>
                  <a:tcPr>
                    <a:solidFill>
                      <a:srgbClr val="FFFFFF"/>
                    </a:solidFill>
                  </a:tcPr>
                </a:tc>
              </a:tr>
              <a:tr h="870508">
                <a:tc>
                  <a:txBody>
                    <a:bodyPr wrap="square" anchor="ctr" lIns="109728" rIns="109728" tIns="109728" bIns="109728"/>
                    <a:lstStyle/>
                    <a:p>
                      <a:pPr algn="l">
                        <a:lnSpc>
                          <a:spcPct val="100000"/>
                        </a:lnSpc>
                      </a:pPr>
                      <a:r>
                        <a:rPr sz="3000" b="1">
                          <a:solidFill>
                            <a:srgbClr val="14202E"/>
                          </a:solidFill>
                          <a:latin typeface="Arial"/>
                        </a:rPr>
                        <a:t>Table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Collection</a:t>
                      </a:r>
                    </a:p>
                  </a:txBody>
                  <a:tcPr>
                    <a:solidFill>
                      <a:srgbClr val="EEF1F4"/>
                    </a:solidFill>
                  </a:tcPr>
                </a:tc>
              </a:tr>
              <a:tr h="870508">
                <a:tc>
                  <a:txBody>
                    <a:bodyPr wrap="square" anchor="ctr" lIns="109728" rIns="109728" tIns="109728" bIns="109728"/>
                    <a:lstStyle/>
                    <a:p>
                      <a:pPr algn="l">
                        <a:lnSpc>
                          <a:spcPct val="100000"/>
                        </a:lnSpc>
                      </a:pPr>
                      <a:r>
                        <a:rPr sz="3000" b="1">
                          <a:solidFill>
                            <a:srgbClr val="14202E"/>
                          </a:solidFill>
                          <a:latin typeface="Arial"/>
                        </a:rPr>
                        <a:t>Row</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Document</a:t>
                      </a:r>
                    </a:p>
                  </a:txBody>
                  <a:tcPr>
                    <a:solidFill>
                      <a:srgbClr val="FFFFFF"/>
                    </a:solidFill>
                  </a:tcPr>
                </a:tc>
              </a:tr>
              <a:tr h="870508">
                <a:tc>
                  <a:txBody>
                    <a:bodyPr wrap="square" anchor="ctr" lIns="109728" rIns="109728" tIns="109728" bIns="109728"/>
                    <a:lstStyle/>
                    <a:p>
                      <a:pPr algn="l">
                        <a:lnSpc>
                          <a:spcPct val="100000"/>
                        </a:lnSpc>
                      </a:pPr>
                      <a:r>
                        <a:rPr sz="3000" b="1">
                          <a:solidFill>
                            <a:srgbClr val="14202E"/>
                          </a:solidFill>
                          <a:latin typeface="Arial"/>
                        </a:rPr>
                        <a:t>Column</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Field</a:t>
                      </a:r>
                    </a:p>
                  </a:txBody>
                  <a:tcPr>
                    <a:solidFill>
                      <a:srgbClr val="EEF1F4"/>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Same idea, new words.</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07 Handout p.2-3, Table 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2 of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insertOne adds one document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2202688"/>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db.movies.insertOne({"title" : "Stand by Me"})</a:t>
            </a:r>
          </a:p>
          <a:p>
            <a:pPr algn="l">
              <a:lnSpc>
                <a:spcPts val="3200"/>
              </a:lnSpc>
            </a:pPr>
            <a:r>
              <a:rPr sz="2800" b="0">
                <a:solidFill>
                  <a:srgbClr val="9FE0C9"/>
                </a:solidFill>
                <a:latin typeface="Courier New"/>
              </a:rPr>
              <a:t>{ acknowledged: true,</a:t>
            </a:r>
          </a:p>
          <a:p>
            <a:pPr algn="l">
              <a:lnSpc>
                <a:spcPts val="3200"/>
              </a:lnSpc>
            </a:pPr>
            <a:r>
              <a:rPr sz="2800" b="0">
                <a:solidFill>
                  <a:srgbClr val="9FE0C9"/>
                </a:solidFill>
                <a:latin typeface="Courier New"/>
              </a:rPr>
              <a:t>  insertedId: ObjectId('6ae590867b507d5b5c544ca7') }</a:t>
            </a:r>
          </a:p>
        </p:txBody>
      </p:sp>
      <p:sp>
        <p:nvSpPr>
          <p:cNvPr id="8" name="Rectangle 7"/>
          <p:cNvSpPr/>
          <p:nvPr/>
        </p:nvSpPr>
        <p:spPr>
          <a:xfrm>
            <a:off x="411480" y="4120895"/>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7784" y="4212335"/>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 {"_id" : 0})</a:t>
            </a:r>
          </a:p>
          <a:p>
            <a:pPr algn="l">
              <a:lnSpc>
                <a:spcPts val="3200"/>
              </a:lnSpc>
            </a:pPr>
            <a:r>
              <a:rPr sz="2800" b="0">
                <a:solidFill>
                  <a:srgbClr val="9FE0C9"/>
                </a:solidFill>
                <a:latin typeface="Courier New"/>
              </a:rPr>
              <a:t>[ { </a:t>
            </a:r>
            <a:r>
              <a:rPr sz="2800" b="1" u="sng">
                <a:solidFill>
                  <a:srgbClr val="FFD27F"/>
                </a:solidFill>
                <a:latin typeface="Courier New"/>
              </a:rPr>
              <a:t>title: 'Stand by Me'</a:t>
            </a:r>
            <a:r>
              <a:rPr sz="2800" b="0">
                <a:solidFill>
                  <a:srgbClr val="9FE0C9"/>
                </a:solidFill>
                <a:latin typeface="Courier New"/>
              </a:rPr>
              <a:t> } ]</a:t>
            </a:r>
          </a:p>
        </p:txBody>
      </p:sp>
      <p:sp>
        <p:nvSpPr>
          <p:cNvPr id="10" name="Rectangle 9"/>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document in. MongoDB adds the _id.</a:t>
            </a:r>
          </a:p>
        </p:txBody>
      </p:sp>
      <p:sp>
        <p:nvSpPr>
          <p:cNvPr id="11"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2"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3"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3 of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 {"_id" : 0})</a:t>
            </a:r>
          </a:p>
          <a:p>
            <a:pPr algn="l">
              <a:lnSpc>
                <a:spcPts val="3200"/>
              </a:lnSpc>
            </a:pPr>
            <a:r>
              <a:rPr sz="2800" b="0">
                <a:solidFill>
                  <a:srgbClr val="9FE0C9"/>
                </a:solidFill>
                <a:latin typeface="Courier New"/>
              </a:rPr>
              <a:t>[ { title: 'Stand by Me' } ]</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 REPLY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4 of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5059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9499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db.movies.insertMany([{"title" : "Ghostbusters"},</a:t>
            </a:r>
          </a:p>
          <a:p>
            <a:pPr algn="l">
              <a:lnSpc>
                <a:spcPts val="3200"/>
              </a:lnSpc>
            </a:pPr>
            <a:r>
              <a:rPr sz="2800" b="0">
                <a:solidFill>
                  <a:srgbClr val="E6ECF2"/>
                </a:solidFill>
                <a:latin typeface="Courier New"/>
              </a:rPr>
              <a:t>  {"title" : "E.T."},</a:t>
            </a:r>
          </a:p>
          <a:p>
            <a:pPr algn="l">
              <a:lnSpc>
                <a:spcPts val="3200"/>
              </a:lnSpc>
            </a:pPr>
            <a:r>
              <a:rPr sz="2800" b="0">
                <a:solidFill>
                  <a:srgbClr val="E6ECF2"/>
                </a:solidFill>
                <a:latin typeface="Courier New"/>
              </a:rPr>
              <a:t>  {"title" : "Blade Runner"}])</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acknowledged: true,</a:t>
            </a:r>
          </a:p>
          <a:p>
            <a:pPr algn="l">
              <a:lnSpc>
                <a:spcPts val="3200"/>
              </a:lnSpc>
            </a:pPr>
            <a:r>
              <a:rPr sz="2800" b="0">
                <a:solidFill>
                  <a:srgbClr val="9FE0C9"/>
                </a:solidFill>
                <a:latin typeface="Courier New"/>
              </a:rPr>
              <a:t>  insertedIds: {</a:t>
            </a:r>
          </a:p>
          <a:p>
            <a:pPr algn="l">
              <a:lnSpc>
                <a:spcPts val="3200"/>
              </a:lnSpc>
            </a:pPr>
            <a:r>
              <a:rPr sz="2800" b="0">
                <a:solidFill>
                  <a:srgbClr val="9FE0C9"/>
                </a:solidFill>
                <a:latin typeface="Courier New"/>
              </a:rPr>
              <a:t>    '0': ObjectId('6ae59088cd1d7692c9544ca7'),</a:t>
            </a:r>
          </a:p>
          <a:p>
            <a:pPr algn="l">
              <a:lnSpc>
                <a:spcPts val="3200"/>
              </a:lnSpc>
            </a:pPr>
            <a:r>
              <a:rPr sz="2800" b="0">
                <a:solidFill>
                  <a:srgbClr val="9FE0C9"/>
                </a:solidFill>
                <a:latin typeface="Courier New"/>
              </a:rPr>
              <a:t>    '1': ObjectId('6ae59088cd1d7692c9544ca8'),</a:t>
            </a:r>
          </a:p>
          <a:p>
            <a:pPr algn="l">
              <a:lnSpc>
                <a:spcPts val="3200"/>
              </a:lnSpc>
            </a:pPr>
            <a:r>
              <a:rPr sz="2800" b="0">
                <a:solidFill>
                  <a:srgbClr val="9FE0C9"/>
                </a:solidFill>
                <a:latin typeface="Courier New"/>
              </a:rPr>
              <a:t>    '2': ObjectId('6ae59088cd1d7692c9544ca9')</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5 of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title: 'Stand by Me' },</a:t>
            </a:r>
          </a:p>
          <a:p>
            <a:pPr algn="l">
              <a:lnSpc>
                <a:spcPts val="3200"/>
              </a:lnSpc>
            </a:pPr>
            <a:r>
              <a:rPr sz="2800" b="0">
                <a:solidFill>
                  <a:srgbClr val="9FE0C9"/>
                </a:solidFill>
                <a:latin typeface="Courier New"/>
              </a:rPr>
              <a:t>  { </a:t>
            </a:r>
            <a:r>
              <a:rPr sz="2800" b="1" u="sng">
                <a:solidFill>
                  <a:srgbClr val="FFD27F"/>
                </a:solidFill>
                <a:latin typeface="Courier New"/>
              </a:rPr>
              <a:t>title: 'Ghostbusters'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title: 'E.T.'</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title: 'Blade Runner'</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Many documents, one command.</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6 of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db.movies.find({"_id" : {"$in" : [3, 4, 5]}})</a:t>
            </a:r>
          </a:p>
          <a:p>
            <a:pPr algn="l">
              <a:lnSpc>
                <a:spcPts val="3200"/>
              </a:lnSpc>
            </a:pPr>
            <a:r>
              <a:rPr sz="2800" b="0">
                <a:solidFill>
                  <a:srgbClr val="8FA3B8"/>
                </a:solidFill>
                <a:latin typeface="Courier New"/>
              </a:rPr>
              <a:t>// no output: the collection is empty</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 REPLY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7 of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db.movies.insertMany([</a:t>
            </a:r>
          </a:p>
          <a:p>
            <a:pPr algn="l">
              <a:lnSpc>
                <a:spcPts val="3200"/>
              </a:lnSpc>
            </a:pPr>
            <a:r>
              <a:rPr sz="2800" b="0">
                <a:solidFill>
                  <a:srgbClr val="E6ECF2"/>
                </a:solidFill>
                <a:latin typeface="Courier New"/>
              </a:rPr>
              <a:t>  {"_id" : 3, "title" : "Sixteen Candles"},</a:t>
            </a:r>
          </a:p>
          <a:p>
            <a:pPr algn="l">
              <a:lnSpc>
                <a:spcPts val="3200"/>
              </a:lnSpc>
            </a:pPr>
            <a:r>
              <a:rPr sz="2800" b="0">
                <a:solidFill>
                  <a:srgbClr val="E6ECF2"/>
                </a:solidFill>
                <a:latin typeface="Courier New"/>
              </a:rPr>
              <a:t>  {"_id" : 4, "title" : "The Terminator"},</a:t>
            </a:r>
          </a:p>
          <a:p>
            <a:pPr algn="l">
              <a:lnSpc>
                <a:spcPts val="3200"/>
              </a:lnSpc>
            </a:pPr>
            <a:r>
              <a:rPr sz="2800" b="0">
                <a:solidFill>
                  <a:srgbClr val="E6ECF2"/>
                </a:solidFill>
                <a:latin typeface="Courier New"/>
              </a:rPr>
              <a:t>  {"_id" : 4, "title" : "The Princess Bride"},</a:t>
            </a:r>
          </a:p>
          <a:p>
            <a:pPr algn="l">
              <a:lnSpc>
                <a:spcPts val="3200"/>
              </a:lnSpc>
            </a:pPr>
            <a:r>
              <a:rPr sz="2800" b="0">
                <a:solidFill>
                  <a:srgbClr val="E6ECF2"/>
                </a:solidFill>
                <a:latin typeface="Courier New"/>
              </a:rPr>
              <a:t>  {"_id" : 5, "title" : "Scarface"}],</a:t>
            </a:r>
          </a:p>
          <a:p>
            <a:pPr algn="l">
              <a:lnSpc>
                <a:spcPts val="3200"/>
              </a:lnSpc>
            </a:pPr>
            <a:r>
              <a:rPr sz="2800" b="0">
                <a:solidFill>
                  <a:srgbClr val="E6ECF2"/>
                </a:solidFill>
                <a:latin typeface="Courier New"/>
              </a:rPr>
              <a:t>  {"ordered" : false})</a:t>
            </a:r>
          </a:p>
          <a:p>
            <a:pPr algn="l">
              <a:lnSpc>
                <a:spcPts val="3200"/>
              </a:lnSpc>
            </a:pPr>
            <a:r>
              <a:rPr sz="2800" b="0">
                <a:solidFill>
                  <a:srgbClr val="FFB4A8"/>
                </a:solidFill>
                <a:latin typeface="Courier New"/>
              </a:rPr>
              <a:t>MongoBulkWriteError: E11000 duplicate key error</a:t>
            </a:r>
          </a:p>
          <a:p>
            <a:pPr algn="l">
              <a:lnSpc>
                <a:spcPts val="3200"/>
              </a:lnSpc>
            </a:pPr>
            <a:r>
              <a:rPr sz="2800" b="0">
                <a:solidFill>
                  <a:srgbClr val="FFB4A8"/>
                </a:solidFill>
                <a:latin typeface="Courier New"/>
              </a:rPr>
              <a:t>collection: adbs_part1.movies index: _id_ dup key: {</a:t>
            </a:r>
          </a:p>
          <a:p>
            <a:pPr algn="l">
              <a:lnSpc>
                <a:spcPts val="3200"/>
              </a:lnSpc>
            </a:pPr>
            <a:r>
              <a:rPr sz="2800" b="0">
                <a:solidFill>
                  <a:srgbClr val="FFB4A8"/>
                </a:solidFill>
                <a:latin typeface="Courier New"/>
              </a:rPr>
              <a:t>_id: 4 }</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8 of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a:t>
            </a:r>
            <a:r>
              <a:rPr sz="2800" b="1" u="sng">
                <a:solidFill>
                  <a:srgbClr val="FFD27F"/>
                </a:solidFill>
                <a:latin typeface="Courier New"/>
              </a:rPr>
              <a:t>_id: 3, title: 'Sixteen Candles'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5, title: 'Scarface'</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Unordered: tries every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9 of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db.ordered.find()</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2202688"/>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db.ordered.insertMany([</a:t>
            </a:r>
          </a:p>
          <a:p>
            <a:pPr algn="l">
              <a:lnSpc>
                <a:spcPts val="3200"/>
              </a:lnSpc>
            </a:pPr>
            <a:r>
              <a:rPr sz="2800" b="0">
                <a:solidFill>
                  <a:srgbClr val="E6ECF2"/>
                </a:solidFill>
                <a:latin typeface="Courier New"/>
              </a:rPr>
              <a:t>  {"_id" : 3, "title" : "Sixteen Candles"},</a:t>
            </a:r>
          </a:p>
          <a:p>
            <a:pPr algn="l">
              <a:lnSpc>
                <a:spcPts val="3200"/>
              </a:lnSpc>
            </a:pPr>
            <a:r>
              <a:rPr sz="2800" b="0">
                <a:solidFill>
                  <a:srgbClr val="E6ECF2"/>
                </a:solidFill>
                <a:latin typeface="Courier New"/>
              </a:rPr>
              <a:t>  {"_id" : 4, "title" : "The Terminator"},</a:t>
            </a:r>
          </a:p>
          <a:p>
            <a:pPr algn="l">
              <a:lnSpc>
                <a:spcPts val="3200"/>
              </a:lnSpc>
            </a:pPr>
            <a:r>
              <a:rPr sz="2800" b="0">
                <a:solidFill>
                  <a:srgbClr val="E6ECF2"/>
                </a:solidFill>
                <a:latin typeface="Courier New"/>
              </a:rPr>
              <a:t>  {"_id" : 4, "title" : "The Princess Bride"},</a:t>
            </a:r>
          </a:p>
          <a:p>
            <a:pPr algn="l">
              <a:lnSpc>
                <a:spcPts val="3200"/>
              </a:lnSpc>
            </a:pPr>
            <a:r>
              <a:rPr sz="2800" b="0">
                <a:solidFill>
                  <a:srgbClr val="E6ECF2"/>
                </a:solidFill>
                <a:latin typeface="Courier New"/>
              </a:rPr>
              <a:t>  {"_id" : 5, "title" : "Scarface"}])</a:t>
            </a:r>
          </a:p>
          <a:p>
            <a:pPr algn="l">
              <a:lnSpc>
                <a:spcPts val="3200"/>
              </a:lnSpc>
            </a:pPr>
            <a:r>
              <a:rPr sz="2800" b="0">
                <a:solidFill>
                  <a:srgbClr val="FFB4A8"/>
                </a:solidFill>
                <a:latin typeface="Courier New"/>
              </a:rPr>
              <a:t>MongoBulkWriteError: E11000 duplicate key error</a:t>
            </a:r>
          </a:p>
          <a:p>
            <a:pPr algn="l">
              <a:lnSpc>
                <a:spcPts val="3200"/>
              </a:lnSpc>
            </a:pPr>
            <a:r>
              <a:rPr sz="2800" b="0">
                <a:solidFill>
                  <a:srgbClr val="FFB4A8"/>
                </a:solidFill>
                <a:latin typeface="Courier New"/>
              </a:rPr>
              <a:t>collection: adbs_part1.ordered index: _id_ dup key:</a:t>
            </a:r>
          </a:p>
          <a:p>
            <a:pPr algn="l">
              <a:lnSpc>
                <a:spcPts val="3200"/>
              </a:lnSpc>
            </a:pPr>
            <a:r>
              <a:rPr sz="2800" b="0">
                <a:solidFill>
                  <a:srgbClr val="FFB4A8"/>
                </a:solidFill>
                <a:latin typeface="Courier New"/>
              </a:rPr>
              <a:t>{ _id: 4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10 of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2214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105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db.ordered.find()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a:t>
            </a:r>
            <a:r>
              <a:rPr sz="2800" b="1" u="sng">
                <a:solidFill>
                  <a:srgbClr val="FFD27F"/>
                </a:solidFill>
                <a:latin typeface="Courier New"/>
              </a:rPr>
              <a:t>_id: 3, title: 'Sixteen Candles'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Ordered (the default): stops at the error.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11 of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3, title: 'Sixteen Candles' },</a:t>
            </a:r>
          </a:p>
          <a:p>
            <a:pPr algn="l">
              <a:lnSpc>
                <a:spcPts val="3200"/>
              </a:lnSpc>
            </a:pPr>
            <a:r>
              <a:rPr sz="2800" b="0">
                <a:solidFill>
                  <a:srgbClr val="9FE0C9"/>
                </a:solidFill>
                <a:latin typeface="Courier New"/>
              </a:rPr>
              <a:t>  { </a:t>
            </a:r>
            <a:r>
              <a:rPr sz="2800" b="0" strike="sngStrike">
                <a:solidFill>
                  <a:srgbClr val="FFB4A8"/>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  { _id: 5, title: 'Scarface' }</a:t>
            </a:r>
          </a:p>
          <a:p>
            <a:pPr algn="l">
              <a:lnSpc>
                <a:spcPts val="3200"/>
              </a:lnSpc>
            </a:pPr>
            <a:r>
              <a:rPr sz="2800" b="0">
                <a:solidFill>
                  <a:srgbClr val="9FE0C9"/>
                </a:solidFill>
                <a:latin typeface="Courier New"/>
              </a:rPr>
              <a:t>]</a:t>
            </a:r>
          </a:p>
        </p:txBody>
      </p:sp>
      <p:sp>
        <p:nvSpPr>
          <p:cNvPr id="6" name="Rectangle 5"/>
          <p:cNvSpPr/>
          <p:nvPr/>
        </p:nvSpPr>
        <p:spPr>
          <a:xfrm>
            <a:off x="411480" y="4234688"/>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4326128"/>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db.movies.deleteOne({"_id" : 4})</a:t>
            </a:r>
          </a:p>
          <a:p>
            <a:pPr algn="l">
              <a:lnSpc>
                <a:spcPts val="3200"/>
              </a:lnSpc>
            </a:pPr>
            <a:r>
              <a:rPr sz="2800" b="0">
                <a:solidFill>
                  <a:srgbClr val="9FE0C9"/>
                </a:solidFill>
                <a:latin typeface="Courier New"/>
              </a:rPr>
              <a:t>{ acknowledged: true, deletedCount: 1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12 of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3, title: 'Sixteen Candles' },</a:t>
            </a:r>
          </a:p>
          <a:p>
            <a:pPr algn="l">
              <a:lnSpc>
                <a:spcPts val="3200"/>
              </a:lnSpc>
            </a:pPr>
            <a:r>
              <a:rPr sz="2800" b="0">
                <a:solidFill>
                  <a:srgbClr val="9FE0C9"/>
                </a:solidFill>
                <a:latin typeface="Courier New"/>
              </a:rPr>
              <a:t>  { _id: 5, title: 'Scarface'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deleteOne removes one.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13 of 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a:t>
            </a:r>
          </a:p>
          <a:p>
            <a:pPr algn="l">
              <a:lnSpc>
                <a:spcPts val="3200"/>
              </a:lnSpc>
            </a:pPr>
            <a:r>
              <a:rPr sz="2800" b="0">
                <a:solidFill>
                  <a:srgbClr val="8FA3B8"/>
                </a:solidFill>
                <a:latin typeface="Courier New"/>
              </a:rPr>
              <a:t>// the handout's three movies</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0, </a:t>
            </a:r>
            <a:r>
              <a:rPr sz="2800" b="0" strike="sngStrike">
                <a:solidFill>
                  <a:srgbClr val="FFB4A8"/>
                </a:solidFill>
                <a:latin typeface="Courier New"/>
              </a:rPr>
              <a:t>title: 'Top Gun'</a:t>
            </a:r>
            <a:r>
              <a:rPr sz="2800" b="0">
                <a:solidFill>
                  <a:srgbClr val="9FE0C9"/>
                </a:solidFill>
                <a:latin typeface="Courier New"/>
              </a:rPr>
              <a:t>, year: 1985 },</a:t>
            </a:r>
          </a:p>
          <a:p>
            <a:pPr algn="l">
              <a:lnSpc>
                <a:spcPts val="3200"/>
              </a:lnSpc>
            </a:pPr>
            <a:r>
              <a:rPr sz="2800" b="0">
                <a:solidFill>
                  <a:srgbClr val="9FE0C9"/>
                </a:solidFill>
                <a:latin typeface="Courier New"/>
              </a:rPr>
              <a:t>  { _id: 1, </a:t>
            </a:r>
            <a:r>
              <a:rPr sz="2800" b="0" strike="sngStrike">
                <a:solidFill>
                  <a:srgbClr val="FFB4A8"/>
                </a:solidFill>
                <a:latin typeface="Courier New"/>
              </a:rPr>
              <a:t>title: 'Back to the Future'</a:t>
            </a:r>
            <a:r>
              <a:rPr sz="2800" b="0">
                <a:solidFill>
                  <a:srgbClr val="9FE0C9"/>
                </a:solidFill>
                <a:latin typeface="Courier New"/>
              </a:rPr>
              <a:t>,</a:t>
            </a:r>
          </a:p>
          <a:p>
            <a:pPr algn="l">
              <a:lnSpc>
                <a:spcPts val="3200"/>
              </a:lnSpc>
            </a:pPr>
            <a:r>
              <a:rPr sz="2800" b="0">
                <a:solidFill>
                  <a:srgbClr val="9FE0C9"/>
                </a:solidFill>
                <a:latin typeface="Courier New"/>
              </a:rPr>
              <a:t>    year: 1985 },</a:t>
            </a:r>
          </a:p>
          <a:p>
            <a:pPr algn="l">
              <a:lnSpc>
                <a:spcPts val="3200"/>
              </a:lnSpc>
            </a:pPr>
            <a:r>
              <a:rPr sz="2800" b="0">
                <a:solidFill>
                  <a:srgbClr val="9FE0C9"/>
                </a:solidFill>
                <a:latin typeface="Courier New"/>
              </a:rPr>
              <a:t>  { _id: 3, title: 'Sixteen Candles', year: 1984 }</a:t>
            </a:r>
          </a:p>
          <a:p>
            <a:pPr algn="l">
              <a:lnSpc>
                <a:spcPts val="3200"/>
              </a:lnSpc>
            </a:pPr>
            <a:r>
              <a:rPr sz="2800" b="0">
                <a:solidFill>
                  <a:srgbClr val="9FE0C9"/>
                </a:solidFill>
                <a:latin typeface="Courier New"/>
              </a:rPr>
              <a:t>]</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 REPLY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14 of 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db.movies.deleteMany({"year" : 1985})</a:t>
            </a:r>
          </a:p>
          <a:p>
            <a:pPr algn="l">
              <a:lnSpc>
                <a:spcPts val="3200"/>
              </a:lnSpc>
            </a:pPr>
            <a:r>
              <a:rPr sz="2800" b="0">
                <a:solidFill>
                  <a:srgbClr val="9FE0C9"/>
                </a:solidFill>
                <a:latin typeface="Courier New"/>
              </a:rPr>
              <a:t>{ acknowledged: true, deletedCount: 2 }</a:t>
            </a:r>
          </a:p>
        </p:txBody>
      </p:sp>
      <p:sp>
        <p:nvSpPr>
          <p:cNvPr id="6" name="Rectangle 5"/>
          <p:cNvSpPr/>
          <p:nvPr/>
        </p:nvSpPr>
        <p:spPr>
          <a:xfrm>
            <a:off x="411480" y="2609088"/>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00528"/>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a:t>
            </a:r>
          </a:p>
          <a:p>
            <a:pPr algn="l">
              <a:lnSpc>
                <a:spcPts val="3200"/>
              </a:lnSpc>
            </a:pPr>
            <a:r>
              <a:rPr sz="2800" b="0">
                <a:solidFill>
                  <a:srgbClr val="9FE0C9"/>
                </a:solidFill>
                <a:latin typeface="Courier New"/>
              </a:rPr>
              <a:t>[ { _id: 3, title: 'Sixteen Candles', year: 1984 } ]</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deleteMany removes every match.</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15 of 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2</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Find, Replace &amp; Update</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findOne · replaceOne · updateOne · updateMany</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“Find it first. Then change it.”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19 slides · about 2 min 18 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2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adbs_part2</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db.users.insertOne({"_id" : ObjectId("4b2b9f67a1f631733d917a7a"),</a:t>
            </a:r>
          </a:p>
          <a:p>
            <a:pPr algn="l">
              <a:lnSpc>
                <a:spcPct val="100000"/>
              </a:lnSpc>
            </a:pPr>
            <a:r>
              <a:rPr sz="2000" b="0">
                <a:solidFill>
                  <a:srgbClr val="E6ECF2"/>
                </a:solidFill>
                <a:latin typeface="Courier New"/>
              </a:rPr>
              <a:t>  "name" : "Joe", "friends" : 32, "enemies" : 2})</a:t>
            </a:r>
          </a:p>
          <a:p>
            <a:pPr algn="l">
              <a:lnSpc>
                <a:spcPct val="100000"/>
              </a:lnSpc>
            </a:pPr>
            <a:r>
              <a:rPr sz="2000" b="0">
                <a:solidFill>
                  <a:srgbClr val="E6ECF2"/>
                </a:solidFill>
                <a:latin typeface="Courier New"/>
              </a:rPr>
              <a:t>db.users.insertOne({"_id" : ObjectId("4b253b067525f35f94b60a31"),</a:t>
            </a:r>
          </a:p>
          <a:p>
            <a:pPr algn="l">
              <a:lnSpc>
                <a:spcPct val="100000"/>
              </a:lnSpc>
            </a:pPr>
            <a:r>
              <a:rPr sz="2000" b="0">
                <a:solidFill>
                  <a:srgbClr val="E6ECF2"/>
                </a:solidFill>
                <a:latin typeface="Courier New"/>
              </a:rPr>
              <a:t>  "name" : "John", "age" : 24, "sex" : "male", "location" : "Taytay"})</a:t>
            </a:r>
          </a:p>
          <a:p>
            <a:pPr algn="l">
              <a:lnSpc>
                <a:spcPct val="100000"/>
              </a:lnSpc>
            </a:pPr>
            <a:r>
              <a:rPr sz="2000" b="0">
                <a:solidFill>
                  <a:srgbClr val="E6ECF2"/>
                </a:solidFill>
                <a:latin typeface="Courier New"/>
              </a:rPr>
              <a:t>db.books.insertOne({"_id" : ObjectId("4b253b067525f35f94b60a31"),</a:t>
            </a:r>
          </a:p>
          <a:p>
            <a:pPr algn="l">
              <a:lnSpc>
                <a:spcPct val="100000"/>
              </a:lnSpc>
            </a:pPr>
            <a:r>
              <a:rPr sz="2000" b="0">
                <a:solidFill>
                  <a:srgbClr val="E6ECF2"/>
                </a:solidFill>
                <a:latin typeface="Courier New"/>
              </a:rPr>
              <a:t>  "title" : "MongoDB-2019",</a:t>
            </a:r>
          </a:p>
          <a:p>
            <a:pPr algn="l">
              <a:lnSpc>
                <a:spcPct val="100000"/>
              </a:lnSpc>
            </a:pPr>
            <a:r>
              <a:rPr sz="2000" b="0">
                <a:solidFill>
                  <a:srgbClr val="E6ECF2"/>
                </a:solidFill>
                <a:latin typeface="Courier New"/>
              </a:rPr>
              <a:t>  "author" : {"name" : "Nicole", "email" : "Nic@example.com"}})</a:t>
            </a:r>
          </a:p>
          <a:p>
            <a:pPr algn="l">
              <a:lnSpc>
                <a:spcPct val="100000"/>
              </a:lnSpc>
            </a:pPr>
            <a:r>
              <a:rPr sz="2000" b="0">
                <a:solidFill>
                  <a:srgbClr val="E6ECF2"/>
                </a:solidFill>
                <a:latin typeface="Courier New"/>
              </a:rPr>
              <a:t>db.users.insertMany([{"_id" : 1, "birthday" : "10/13/1978"},</a:t>
            </a:r>
          </a:p>
          <a:p>
            <a:pPr algn="l">
              <a:lnSpc>
                <a:spcPct val="100000"/>
              </a:lnSpc>
            </a:pPr>
            <a:r>
              <a:rPr sz="2000" b="0">
                <a:solidFill>
                  <a:srgbClr val="E6ECF2"/>
                </a:solidFill>
                <a:latin typeface="Courier New"/>
              </a:rPr>
              <a:t>  {"_id" : 2, "birthday" : "10/13/1978"},</a:t>
            </a:r>
          </a:p>
          <a:p>
            <a:pPr algn="l">
              <a:lnSpc>
                <a:spcPct val="100000"/>
              </a:lnSpc>
            </a:pPr>
            <a:r>
              <a:rPr sz="2000" b="0">
                <a:solidFill>
                  <a:srgbClr val="E6ECF2"/>
                </a:solidFill>
                <a:latin typeface="Courier New"/>
              </a:rPr>
              <a:t>  {"_id" : 3, "birthday" : "10/13/1978"}])</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findOne returns one document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db.users.findOne({"name" : "Joe"})</a:t>
            </a:r>
          </a:p>
        </p:txBody>
      </p:sp>
      <p:sp>
        <p:nvSpPr>
          <p:cNvPr id="6" name="EXEMPT_PASTE"/>
          <p:cNvSpPr/>
          <p:nvPr/>
        </p:nvSpPr>
        <p:spPr>
          <a:xfrm>
            <a:off x="411480" y="2202688"/>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findOne brings back one document.</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 of 19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 same as the last slide</a:t>
            </a:r>
          </a:p>
        </p:txBody>
      </p:sp>
      <p:sp>
        <p:nvSpPr>
          <p:cNvPr id="6" name="Rectangle 5"/>
          <p:cNvSpPr/>
          <p:nvPr/>
        </p:nvSpPr>
        <p:spPr>
          <a:xfrm>
            <a:off x="411480" y="2202688"/>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var Joe = db.users.findOne({"name" : "Joe"});</a:t>
            </a:r>
          </a:p>
          <a:p>
            <a:pPr algn="l">
              <a:lnSpc>
                <a:spcPts val="3200"/>
              </a:lnSpc>
            </a:pPr>
            <a:r>
              <a:rPr sz="2800" b="0">
                <a:solidFill>
                  <a:srgbClr val="E6ECF2"/>
                </a:solidFill>
                <a:latin typeface="Courier New"/>
              </a:rPr>
              <a:t>Joe.relationships = {"friends" : Joe.friends,</a:t>
            </a:r>
          </a:p>
          <a:p>
            <a:pPr algn="l">
              <a:lnSpc>
                <a:spcPts val="3200"/>
              </a:lnSpc>
            </a:pPr>
            <a:r>
              <a:rPr sz="2800" b="0">
                <a:solidFill>
                  <a:srgbClr val="E6ECF2"/>
                </a:solidFill>
                <a:latin typeface="Courier New"/>
              </a:rPr>
              <a:t>  "enemies" : Joe.enemies};</a:t>
            </a:r>
          </a:p>
          <a:p>
            <a:pPr algn="l">
              <a:lnSpc>
                <a:spcPts val="3200"/>
              </a:lnSpc>
            </a:pPr>
            <a:r>
              <a:rPr sz="2800" b="0">
                <a:solidFill>
                  <a:srgbClr val="E6ECF2"/>
                </a:solidFill>
                <a:latin typeface="Courier New"/>
              </a:rPr>
              <a:t>Joe.username = Joe.name;</a:t>
            </a:r>
          </a:p>
          <a:p>
            <a:pPr algn="l">
              <a:lnSpc>
                <a:spcPts val="3200"/>
              </a:lnSpc>
            </a:pPr>
            <a:r>
              <a:rPr sz="2800" b="0">
                <a:solidFill>
                  <a:srgbClr val="E6ECF2"/>
                </a:solidFill>
                <a:latin typeface="Courier New"/>
              </a:rPr>
              <a:t>delete Joe.friends; delete Joe.enemies;</a:t>
            </a:r>
          </a:p>
          <a:p>
            <a:pPr algn="l">
              <a:lnSpc>
                <a:spcPts val="3200"/>
              </a:lnSpc>
            </a:pPr>
            <a:r>
              <a:rPr sz="2800" b="0">
                <a:solidFill>
                  <a:srgbClr val="E6ECF2"/>
                </a:solidFill>
                <a:latin typeface="Courier New"/>
              </a:rPr>
              <a:t>delete Joe.name;</a:t>
            </a:r>
          </a:p>
          <a:p>
            <a:pPr algn="l">
              <a:lnSpc>
                <a:spcPts val="3200"/>
              </a:lnSpc>
            </a:pPr>
            <a:r>
              <a:rPr sz="2800" b="0">
                <a:solidFill>
                  <a:srgbClr val="E6ECF2"/>
                </a:solidFill>
                <a:latin typeface="Courier New"/>
              </a:rPr>
              <a:t>db.users.replaceOne({"name" : "Joe"}, Joe)</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3 of 19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EXEMPT_PASTE"/>
          <p:cNvSpPr/>
          <p:nvPr/>
        </p:nvSpPr>
        <p:spPr>
          <a:xfrm>
            <a:off x="411480" y="1097280"/>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Zoom in (Ctrl + =). Screenshot the reply (Win + Shift + S). Click this box's edge, Delete, Ctrl + V.</a:t>
            </a:r>
          </a:p>
        </p:txBody>
      </p:sp>
      <p:sp>
        <p:nvSpPr>
          <p:cNvPr id="5" name="TextBox 4"/>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4 of 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EXEMPT_PASTE"/>
          <p:cNvSpPr/>
          <p:nvPr/>
        </p:nvSpPr>
        <p:spPr>
          <a:xfrm>
            <a:off x="411480" y="1097280"/>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db.users.findOne({"username" : "Joe"})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5 of 19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TextBox 4"/>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6 of 19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{"$set" : {"favorite book" :</a:t>
            </a:r>
          </a:p>
          <a:p>
            <a:pPr algn="l">
              <a:lnSpc>
                <a:spcPts val="3200"/>
              </a:lnSpc>
            </a:pPr>
            <a:r>
              <a:rPr sz="2800" b="0">
                <a:solidFill>
                  <a:srgbClr val="E6ECF2"/>
                </a:solidFill>
                <a:latin typeface="Courier New"/>
              </a:rPr>
              <a:t>    "Green Eggs and Ham"}})</a:t>
            </a:r>
          </a:p>
        </p:txBody>
      </p:sp>
      <p:sp>
        <p:nvSpPr>
          <p:cNvPr id="6" name="EXEMPT_PASTE"/>
          <p:cNvSpPr/>
          <p:nvPr/>
        </p:nvSpPr>
        <p:spPr>
          <a:xfrm>
            <a:off x="411480" y="3015487"/>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Zoom in (Ctrl + =). Screenshot the reply (Win + Shift + S). Click this box's edge, Delete, Ctrl + V.</a:t>
            </a:r>
          </a:p>
        </p:txBody>
      </p:sp>
      <p:sp>
        <p:nvSpPr>
          <p:cNvPr id="7" name="TextBox 6"/>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7 of 19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$set: add it or change it.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8 of 19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 same as the last slide</a:t>
            </a:r>
          </a:p>
        </p:txBody>
      </p:sp>
      <p:sp>
        <p:nvSpPr>
          <p:cNvPr id="6" name="Rectangle 5"/>
          <p:cNvSpPr/>
          <p:nvPr/>
        </p:nvSpPr>
        <p:spPr>
          <a:xfrm>
            <a:off x="411480" y="2202688"/>
            <a:ext cx="11368735" cy="2214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2105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{"$set" : {"favorite book" :</a:t>
            </a:r>
          </a:p>
          <a:p>
            <a:pPr algn="l">
              <a:lnSpc>
                <a:spcPts val="3200"/>
              </a:lnSpc>
            </a:pPr>
            <a:r>
              <a:rPr sz="2800" b="0">
                <a:solidFill>
                  <a:srgbClr val="E6ECF2"/>
                </a:solidFill>
                <a:latin typeface="Courier New"/>
              </a:rPr>
              <a:t>  ["Cat's Cradle", "Foundation Trilogy",</a:t>
            </a:r>
          </a:p>
          <a:p>
            <a:pPr algn="l">
              <a:lnSpc>
                <a:spcPts val="3200"/>
              </a:lnSpc>
            </a:pPr>
            <a:r>
              <a:rPr sz="2800" b="0">
                <a:solidFill>
                  <a:srgbClr val="E6ECF2"/>
                </a:solidFill>
                <a:latin typeface="Courier New"/>
              </a:rPr>
              <a:t>   "Ender's Game"]}})</a:t>
            </a:r>
          </a:p>
        </p:txBody>
      </p:sp>
      <p:sp>
        <p:nvSpPr>
          <p:cNvPr id="8" name="TextBox 7"/>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REPLY  →</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9 of 19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EXEMPT_PASTE"/>
          <p:cNvSpPr/>
          <p:nvPr/>
        </p:nvSpPr>
        <p:spPr>
          <a:xfrm>
            <a:off x="411480" y="1097280"/>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Zoom in (Ctrl + =). Screenshot the reply (Win + Shift + S). Click this box's edge, Delete, Ctrl + V.</a:t>
            </a:r>
          </a:p>
        </p:txBody>
      </p:sp>
      <p:sp>
        <p:nvSpPr>
          <p:cNvPr id="5" name="TextBox 4"/>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10 of 19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EXEMPT_PASTE"/>
          <p:cNvSpPr/>
          <p:nvPr/>
        </p:nvSpPr>
        <p:spPr>
          <a:xfrm>
            <a:off x="411480" y="1097280"/>
            <a:ext cx="11368735" cy="38404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Text becomes a list.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11 of 19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 same as the last slide</a:t>
            </a:r>
          </a:p>
        </p:txBody>
      </p:sp>
      <p:sp>
        <p:nvSpPr>
          <p:cNvPr id="6" name="Rectangle 5"/>
          <p:cNvSpPr/>
          <p:nvPr/>
        </p:nvSpPr>
        <p:spPr>
          <a:xfrm>
            <a:off x="411480" y="2202688"/>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{"$unset" : {"favorite book" : 1}})</a:t>
            </a:r>
          </a:p>
        </p:txBody>
      </p:sp>
      <p:sp>
        <p:nvSpPr>
          <p:cNvPr id="8" name="EXEMPT_PASTE"/>
          <p:cNvSpPr/>
          <p:nvPr/>
        </p:nvSpPr>
        <p:spPr>
          <a:xfrm>
            <a:off x="411480" y="3714496"/>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Zoom in (Ctrl + =). Screenshot the reply (Win + Shift + S). Click this box's edge, Delete, Ctrl + V.</a:t>
            </a:r>
          </a:p>
        </p:txBody>
      </p:sp>
      <p:sp>
        <p:nvSpPr>
          <p:cNvPr id="9" name="TextBox 8"/>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10"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12 of 19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$unset: the field is gone.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13 of 19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db.books.findOne({}, {"_id" : 0})</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TextBox 4"/>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14 of 19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db.books.updateOne({"author.name" : "Nicole"},</a:t>
            </a:r>
          </a:p>
          <a:p>
            <a:pPr algn="l">
              <a:lnSpc>
                <a:spcPts val="3200"/>
              </a:lnSpc>
            </a:pPr>
            <a:r>
              <a:rPr sz="2800" b="0">
                <a:solidFill>
                  <a:srgbClr val="E6ECF2"/>
                </a:solidFill>
                <a:latin typeface="Courier New"/>
              </a:rPr>
              <a:t>  {"$set" : {"author.name" : "Nicole Tagayon"}})</a:t>
            </a:r>
          </a:p>
        </p:txBody>
      </p:sp>
      <p:sp>
        <p:nvSpPr>
          <p:cNvPr id="6" name="EXEMPT_PASTE"/>
          <p:cNvSpPr/>
          <p:nvPr/>
        </p:nvSpPr>
        <p:spPr>
          <a:xfrm>
            <a:off x="411480" y="2609088"/>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Zoom in (Ctrl + =). Screenshot the reply (Win + Shift + S). Click this box's edge, Delete, Ctrl + V.</a:t>
            </a:r>
          </a:p>
        </p:txBody>
      </p:sp>
      <p:sp>
        <p:nvSpPr>
          <p:cNvPr id="7" name="TextBox 6"/>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15 of 19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db.books.findOne({}, {"_id" : 0})</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16 of 19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EXEMPT_PASTE"/>
          <p:cNvSpPr/>
          <p:nvPr/>
        </p:nvSpPr>
        <p:spPr>
          <a:xfrm>
            <a:off x="411480" y="1097280"/>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db.users.find({"birthday" : "10/13/1978"})</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TextBox 4"/>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17 of 19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db.users.updateMany({"birthday" : "10/13/1978"},</a:t>
            </a:r>
          </a:p>
          <a:p>
            <a:pPr algn="l">
              <a:lnSpc>
                <a:spcPts val="3200"/>
              </a:lnSpc>
            </a:pPr>
            <a:r>
              <a:rPr sz="2800" b="0">
                <a:solidFill>
                  <a:srgbClr val="E6ECF2"/>
                </a:solidFill>
                <a:latin typeface="Courier New"/>
              </a:rPr>
              <a:t>  {"$set" : {"gift" : "Happy Birthday!"}})</a:t>
            </a:r>
          </a:p>
        </p:txBody>
      </p:sp>
      <p:sp>
        <p:nvSpPr>
          <p:cNvPr id="6" name="EXEMPT_PASTE"/>
          <p:cNvSpPr/>
          <p:nvPr/>
        </p:nvSpPr>
        <p:spPr>
          <a:xfrm>
            <a:off x="411480" y="2609088"/>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Zoom in (Ctrl + =). Screenshot the reply (Win + Shift + S). Click this box's edge, Delete, Ctrl + V.</a:t>
            </a:r>
          </a:p>
        </p:txBody>
      </p:sp>
      <p:sp>
        <p:nvSpPr>
          <p:cNvPr id="7" name="TextBox 6"/>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18 of 19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EXEMPT_PASTE"/>
          <p:cNvSpPr/>
          <p:nvPr/>
        </p:nvSpPr>
        <p:spPr>
          <a:xfrm>
            <a:off x="411480" y="1097280"/>
            <a:ext cx="11368735" cy="38404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db.users.find({"birthday" : "10/13/1978"})</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rule, every match.</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19 of 19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3</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Comparison Operators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$lt · $lte · $gt · $gte</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“The e means equal is allowed.”</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9 slides · about 1 min 38 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3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adbs_part3</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db.users.insertMany([{"_id" : 1, "name" : "Ana", "age" : 17},</a:t>
            </a:r>
          </a:p>
          <a:p>
            <a:pPr algn="l">
              <a:lnSpc>
                <a:spcPct val="100000"/>
              </a:lnSpc>
            </a:pPr>
            <a:r>
              <a:rPr sz="2000" b="0">
                <a:solidFill>
                  <a:srgbClr val="E6ECF2"/>
                </a:solidFill>
                <a:latin typeface="Courier New"/>
              </a:rPr>
              <a:t>  {"_id" : 2, "name" : "Ben", "age" : 18},</a:t>
            </a:r>
          </a:p>
          <a:p>
            <a:pPr algn="l">
              <a:lnSpc>
                <a:spcPct val="100000"/>
              </a:lnSpc>
            </a:pPr>
            <a:r>
              <a:rPr sz="2000" b="0">
                <a:solidFill>
                  <a:srgbClr val="E6ECF2"/>
                </a:solidFill>
                <a:latin typeface="Courier New"/>
              </a:rPr>
              <a:t>  {"_id" : 3, "name" : "Cara", "age" : 24},</a:t>
            </a:r>
          </a:p>
          <a:p>
            <a:pPr algn="l">
              <a:lnSpc>
                <a:spcPct val="100000"/>
              </a:lnSpc>
            </a:pPr>
            <a:r>
              <a:rPr sz="2000" b="0">
                <a:solidFill>
                  <a:srgbClr val="E6ECF2"/>
                </a:solidFill>
                <a:latin typeface="Courier New"/>
              </a:rPr>
              <a:t>  {"_id" : 4, "name" : "Dan", "age" : 30},</a:t>
            </a:r>
          </a:p>
          <a:p>
            <a:pPr algn="l">
              <a:lnSpc>
                <a:spcPct val="100000"/>
              </a:lnSpc>
            </a:pPr>
            <a:r>
              <a:rPr sz="2000" b="0">
                <a:solidFill>
                  <a:srgbClr val="E6ECF2"/>
                </a:solidFill>
                <a:latin typeface="Courier New"/>
              </a:rPr>
              <a:t>  {"_id" : 5, "name" : "Eli", "age" : 31}])</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Four comparison operators</a:t>
            </a:r>
          </a:p>
        </p:txBody>
      </p:sp>
      <p:graphicFrame>
        <p:nvGraphicFramePr>
          <p:cNvPr id="4" name="Table 3"/>
          <p:cNvGraphicFramePr>
            <a:graphicFrameLocks noGrp="1"/>
          </p:cNvGraphicFramePr>
          <p:nvPr/>
        </p:nvGraphicFramePr>
        <p:xfrm>
          <a:off x="411480" y="1234439"/>
          <a:ext cx="11368735" cy="4352540"/>
        </p:xfrm>
        <a:graphic>
          <a:graphicData uri="http://schemas.openxmlformats.org/drawingml/2006/table">
            <a:tbl>
              <a:tblPr firstRow="1" bandRow="1">
                <a:tableStyleId>{5C22544A-7EE6-4342-B048-85BDC9FD1C3A}</a:tableStyleId>
              </a:tblPr>
              <a:tblGrid>
                <a:gridCol w="2743200"/>
                <a:gridCol w="5882335"/>
                <a:gridCol w="2743200"/>
              </a:tblGrid>
              <a:tr h="870508">
                <a:tc>
                  <a:txBody>
                    <a:bodyPr wrap="square" anchor="ctr" lIns="109728" rIns="109728" tIns="109728" bIns="109728"/>
                    <a:lstStyle/>
                    <a:p>
                      <a:pPr algn="l">
                        <a:lnSpc>
                          <a:spcPct val="100000"/>
                        </a:lnSpc>
                      </a:pPr>
                      <a:r>
                        <a:rPr sz="2800" b="1">
                          <a:solidFill>
                            <a:srgbClr val="FFFFFF"/>
                          </a:solidFill>
                          <a:latin typeface="Arial"/>
                        </a:rPr>
                        <a:t>Operator</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Means</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Symbol</a:t>
                      </a:r>
                    </a:p>
                  </a:txBody>
                  <a:tcPr>
                    <a:solidFill>
                      <a:srgbClr val="14202E"/>
                    </a:solidFill>
                  </a:tcPr>
                </a:tc>
              </a:tr>
              <a:tr h="870508">
                <a:tc>
                  <a:txBody>
                    <a:bodyPr wrap="square" anchor="ctr" lIns="109728" rIns="109728" tIns="109728" bIns="109728"/>
                    <a:lstStyle/>
                    <a:p>
                      <a:pPr algn="l">
                        <a:lnSpc>
                          <a:spcPct val="100000"/>
                        </a:lnSpc>
                      </a:pPr>
                      <a:r>
                        <a:rPr sz="3000" b="1">
                          <a:solidFill>
                            <a:srgbClr val="14202E"/>
                          </a:solidFill>
                          <a:latin typeface="Courier New"/>
                        </a:rPr>
                        <a:t>$lt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r h="870508">
                <a:tc>
                  <a:txBody>
                    <a:bodyPr wrap="square" anchor="ctr" lIns="109728" rIns="109728" tIns="109728" bIns="109728"/>
                    <a:lstStyle/>
                    <a:p>
                      <a:pPr algn="l">
                        <a:lnSpc>
                          <a:spcPct val="100000"/>
                        </a:lnSpc>
                      </a:pPr>
                      <a:r>
                        <a:rPr sz="3000" b="1">
                          <a:solidFill>
                            <a:srgbClr val="14202E"/>
                          </a:solidFill>
                          <a:latin typeface="Courier New"/>
                        </a:rPr>
                        <a:t>$lte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r h="870508">
                <a:tc>
                  <a:txBody>
                    <a:bodyPr wrap="square" anchor="ctr" lIns="109728" rIns="109728" tIns="109728" bIns="109728"/>
                    <a:lstStyle/>
                    <a:p>
                      <a:pPr algn="l">
                        <a:lnSpc>
                          <a:spcPct val="100000"/>
                        </a:lnSpc>
                      </a:pPr>
                      <a:r>
                        <a:rPr sz="3000" b="1">
                          <a:solidFill>
                            <a:srgbClr val="14202E"/>
                          </a:solidFill>
                          <a:latin typeface="Courier New"/>
                        </a:rPr>
                        <a:t>$gt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r h="870508">
                <a:tc>
                  <a:txBody>
                    <a:bodyPr wrap="square" anchor="ctr" lIns="109728" rIns="109728" tIns="109728" bIns="109728"/>
                    <a:lstStyle/>
                    <a:p>
                      <a:pPr algn="l">
                        <a:lnSpc>
                          <a:spcPct val="100000"/>
                        </a:lnSpc>
                      </a:pPr>
                      <a:r>
                        <a:rPr sz="3000" b="1">
                          <a:solidFill>
                            <a:srgbClr val="14202E"/>
                          </a:solidFill>
                          <a:latin typeface="Courier New"/>
                        </a:rPr>
                        <a:t>$gte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The e means equal is allowed.</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2 of 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Our practice data: five users</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RESULT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3 of 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Our practice data: five users</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Ages 17, 18, 24, 30, 31.</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4 of 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$lt vs $lte at 18</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db.users.find({"age" : {"$lt" : 18}})</a:t>
            </a:r>
          </a:p>
        </p:txBody>
      </p:sp>
      <p:sp>
        <p:nvSpPr>
          <p:cNvPr id="6" name="EXEMPT_PASTE"/>
          <p:cNvSpPr/>
          <p:nvPr/>
        </p:nvSpPr>
        <p:spPr>
          <a:xfrm>
            <a:off x="411480" y="2202688"/>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3714496"/>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3805935"/>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db.users.find({"age" : {"$lte" : 18}})</a:t>
            </a:r>
          </a:p>
        </p:txBody>
      </p:sp>
      <p:sp>
        <p:nvSpPr>
          <p:cNvPr id="9" name="TextBox 8"/>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RESULT  →</a:t>
            </a:r>
          </a:p>
        </p:txBody>
      </p:sp>
      <p:sp>
        <p:nvSpPr>
          <p:cNvPr id="10"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5 of 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$lt vs $lte at 18</a:t>
            </a:r>
          </a:p>
        </p:txBody>
      </p:sp>
      <p:sp>
        <p:nvSpPr>
          <p:cNvPr id="4" name="EXEMPT_PASTE"/>
          <p:cNvSpPr/>
          <p:nvPr/>
        </p:nvSpPr>
        <p:spPr>
          <a:xfrm>
            <a:off x="411480" y="1097280"/>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18 is out with $lt, in with $lte.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6 of 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$gt vs $gte at 30</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db.users.find({"age" : {"$gt" : 30}})</a:t>
            </a:r>
          </a:p>
        </p:txBody>
      </p:sp>
      <p:sp>
        <p:nvSpPr>
          <p:cNvPr id="6" name="EXEMPT_PASTE"/>
          <p:cNvSpPr/>
          <p:nvPr/>
        </p:nvSpPr>
        <p:spPr>
          <a:xfrm>
            <a:off x="411480" y="2202688"/>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3714496"/>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3805935"/>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db.users.find({"age" : {"$gte" : 30}})</a:t>
            </a:r>
          </a:p>
        </p:txBody>
      </p:sp>
      <p:sp>
        <p:nvSpPr>
          <p:cNvPr id="9" name="TextBox 8"/>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RESULT  →</a:t>
            </a:r>
          </a:p>
        </p:txBody>
      </p:sp>
      <p:sp>
        <p:nvSpPr>
          <p:cNvPr id="10"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7 of 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$gt vs $gte at 30</a:t>
            </a:r>
          </a:p>
        </p:txBody>
      </p:sp>
      <p:sp>
        <p:nvSpPr>
          <p:cNvPr id="4" name="EXEMPT_PASTE"/>
          <p:cNvSpPr/>
          <p:nvPr/>
        </p:nvSpPr>
        <p:spPr>
          <a:xfrm>
            <a:off x="411480" y="1097280"/>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30 is out with $gt, in with $gte.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8 of 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Combine two: ages 18 to 30</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db.users.find({"age" : {"$gte" : 18, "$lte" : 30}})</a:t>
            </a:r>
          </a:p>
        </p:txBody>
      </p:sp>
      <p:sp>
        <p:nvSpPr>
          <p:cNvPr id="6" name="EXEMPT_PASTE"/>
          <p:cNvSpPr/>
          <p:nvPr/>
        </p:nvSpPr>
        <p:spPr>
          <a:xfrm>
            <a:off x="411480" y="2202688"/>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Two operators, one field, one range.</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9 of 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4</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$in, $or, $not</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 · $or · $not</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“One key, many values. Many keys, any match.”</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2 min 22 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4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adbs_part4</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db.raffle.insertMany([{"_id" : 1, "ticket_no" : 725, "winner" : false},</a:t>
            </a:r>
          </a:p>
          <a:p>
            <a:pPr algn="l">
              <a:lnSpc>
                <a:spcPct val="100000"/>
              </a:lnSpc>
            </a:pPr>
            <a:r>
              <a:rPr sz="2000" b="0">
                <a:solidFill>
                  <a:srgbClr val="E6ECF2"/>
                </a:solidFill>
                <a:latin typeface="Courier New"/>
              </a:rPr>
              <a:t>  {"_id" : 2, "ticket_no" : 542, "winner" : false},</a:t>
            </a:r>
          </a:p>
          <a:p>
            <a:pPr algn="l">
              <a:lnSpc>
                <a:spcPct val="100000"/>
              </a:lnSpc>
            </a:pPr>
            <a:r>
              <a:rPr sz="2000" b="0">
                <a:solidFill>
                  <a:srgbClr val="E6ECF2"/>
                </a:solidFill>
                <a:latin typeface="Courier New"/>
              </a:rPr>
              <a:t>  {"_id" : 3, "ticket_no" : 390, "winner" : false},</a:t>
            </a:r>
          </a:p>
          <a:p>
            <a:pPr algn="l">
              <a:lnSpc>
                <a:spcPct val="100000"/>
              </a:lnSpc>
            </a:pPr>
            <a:r>
              <a:rPr sz="2000" b="0">
                <a:solidFill>
                  <a:srgbClr val="E6ECF2"/>
                </a:solidFill>
                <a:latin typeface="Courier New"/>
              </a:rPr>
              <a:t>  {"_id" : 4, "ticket_no" : 111, "winner" : true},</a:t>
            </a:r>
          </a:p>
          <a:p>
            <a:pPr algn="l">
              <a:lnSpc>
                <a:spcPct val="100000"/>
              </a:lnSpc>
            </a:pPr>
            <a:r>
              <a:rPr sz="2000" b="0">
                <a:solidFill>
                  <a:srgbClr val="E6ECF2"/>
                </a:solidFill>
                <a:latin typeface="Courier New"/>
              </a:rPr>
              <a:t>  {"_id" : 5, "ticket_no" : 222, "winner" : false}])</a:t>
            </a:r>
          </a:p>
          <a:p>
            <a:pPr algn="l">
              <a:lnSpc>
                <a:spcPct val="100000"/>
              </a:lnSpc>
            </a:pPr>
            <a:r>
              <a:rPr sz="2000" b="0">
                <a:solidFill>
                  <a:srgbClr val="E6ECF2"/>
                </a:solidFill>
                <a:latin typeface="Courier New"/>
              </a:rPr>
              <a:t>db.users.insertMany([{"_id" : 1, "name" : "Rhea", "salary" : 8000},</a:t>
            </a:r>
          </a:p>
          <a:p>
            <a:pPr algn="l">
              <a:lnSpc>
                <a:spcPct val="100000"/>
              </a:lnSpc>
            </a:pPr>
            <a:r>
              <a:rPr sz="2000" b="0">
                <a:solidFill>
                  <a:srgbClr val="E6ECF2"/>
                </a:solidFill>
                <a:latin typeface="Courier New"/>
              </a:rPr>
              <a:t>  {"_id" : 2, "name" : "Mark", "salary" : 10000},</a:t>
            </a:r>
          </a:p>
          <a:p>
            <a:pPr algn="l">
              <a:lnSpc>
                <a:spcPct val="100000"/>
              </a:lnSpc>
            </a:pPr>
            <a:r>
              <a:rPr sz="2000" b="0">
                <a:solidFill>
                  <a:srgbClr val="E6ECF2"/>
                </a:solidFill>
                <a:latin typeface="Courier New"/>
              </a:rPr>
              <a:t>  {"_id" : 3, "name" : "Liza", "salary" : 15000}])</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the raffle</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db.raffle.find()</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RESULT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2 of 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the raffle</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Five tickets. Only 111 is a winner.</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3 of 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 many values for one key</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db.raffle.find({"ticket_no" :</a:t>
            </a:r>
          </a:p>
          <a:p>
            <a:pPr algn="l">
              <a:lnSpc>
                <a:spcPts val="3200"/>
              </a:lnSpc>
            </a:pPr>
            <a:r>
              <a:rPr sz="2800" b="0">
                <a:solidFill>
                  <a:srgbClr val="E6ECF2"/>
                </a:solidFill>
                <a:latin typeface="Courier New"/>
              </a:rPr>
              <a:t>  {"$in" : [725, 542, 390]}})</a:t>
            </a:r>
          </a:p>
        </p:txBody>
      </p:sp>
      <p:sp>
        <p:nvSpPr>
          <p:cNvPr id="6" name="EXEMPT_PASTE"/>
          <p:cNvSpPr/>
          <p:nvPr/>
        </p:nvSpPr>
        <p:spPr>
          <a:xfrm>
            <a:off x="411480" y="2609088"/>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$in is a guest list for one key.</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4 of 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 pass any one condition</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db.raffle.find({"$or" : [{"ticket_no" : 725},</a:t>
            </a:r>
          </a:p>
          <a:p>
            <a:pPr algn="l">
              <a:lnSpc>
                <a:spcPts val="3200"/>
              </a:lnSpc>
            </a:pPr>
            <a:r>
              <a:rPr sz="2800" b="0">
                <a:solidFill>
                  <a:srgbClr val="E6ECF2"/>
                </a:solidFill>
                <a:latin typeface="Courier New"/>
              </a:rPr>
              <a:t>  {"winner" : true}]})</a:t>
            </a:r>
          </a:p>
        </p:txBody>
      </p:sp>
      <p:sp>
        <p:nvSpPr>
          <p:cNvPr id="6" name="EXEMPT_PASTE"/>
          <p:cNvSpPr/>
          <p:nvPr/>
        </p:nvSpPr>
        <p:spPr>
          <a:xfrm>
            <a:off x="411480" y="2609088"/>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 pass any one test.</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5 of 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three salaries</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t>
            </a:r>
          </a:p>
        </p:txBody>
      </p:sp>
      <p:sp>
        <p:nvSpPr>
          <p:cNvPr id="6" name="EXEMPT_PASTE"/>
          <p:cNvSpPr/>
          <p:nvPr/>
        </p:nvSpPr>
        <p:spPr>
          <a:xfrm>
            <a:off x="411480" y="2202688"/>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8,000 · 10,000 · 15,000 pesos.</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6 of 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$not: everything that does NOT match</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db.users.find({salary:</a:t>
            </a:r>
          </a:p>
          <a:p>
            <a:pPr algn="l">
              <a:lnSpc>
                <a:spcPts val="3200"/>
              </a:lnSpc>
            </a:pPr>
            <a:r>
              <a:rPr sz="2800" b="0">
                <a:solidFill>
                  <a:srgbClr val="E6ECF2"/>
                </a:solidFill>
                <a:latin typeface="Courier New"/>
              </a:rPr>
              <a:t>  {$not: {$gt: 10000}}}).pretty()</a:t>
            </a:r>
          </a:p>
        </p:txBody>
      </p:sp>
      <p:sp>
        <p:nvSpPr>
          <p:cNvPr id="6" name="EXEMPT_PASTE"/>
          <p:cNvSpPr/>
          <p:nvPr/>
        </p:nvSpPr>
        <p:spPr>
          <a:xfrm>
            <a:off x="411480" y="2609088"/>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$not flips the condition.</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7 of 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5</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Querying Arrays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inserting arrays · $all · key.index · $size</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“Arrays answer like single values.”</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9 slides · about 2 min 21 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5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adbs_part5</a:t>
            </a:r>
          </a:p>
          <a:p>
            <a:pPr algn="l">
              <a:lnSpc>
                <a:spcPct val="100000"/>
              </a:lnSpc>
            </a:pPr>
            <a:r>
              <a:rPr sz="2000" b="0">
                <a:solidFill>
                  <a:srgbClr val="E6ECF2"/>
                </a:solidFill>
                <a:latin typeface="Courier New"/>
              </a:rPr>
              <a:t>db.dropDatabase()</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elements in an array</a:t>
            </a:r>
          </a:p>
        </p:txBody>
      </p:sp>
      <p:sp>
        <p:nvSpPr>
          <p:cNvPr id="4" name="EXEMPT_PASTE"/>
          <p:cNvSpPr/>
          <p:nvPr/>
        </p:nvSpPr>
        <p:spPr>
          <a:xfrm>
            <a:off x="411480" y="1097280"/>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db.food.find()</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TextBox 4"/>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2 of 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elements in an array</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db.food.insertOne({"_id" : 1,</a:t>
            </a:r>
          </a:p>
          <a:p>
            <a:pPr algn="l">
              <a:lnSpc>
                <a:spcPts val="3200"/>
              </a:lnSpc>
            </a:pPr>
            <a:r>
              <a:rPr sz="2800" b="0">
                <a:solidFill>
                  <a:srgbClr val="E6ECF2"/>
                </a:solidFill>
                <a:latin typeface="Courier New"/>
              </a:rPr>
              <a:t>  "fruit" : ["apple", "banana", "peach"]})</a:t>
            </a:r>
          </a:p>
          <a:p>
            <a:pPr algn="l">
              <a:lnSpc>
                <a:spcPts val="3200"/>
              </a:lnSpc>
            </a:pPr>
            <a:r>
              <a:rPr sz="2800" b="0">
                <a:solidFill>
                  <a:srgbClr val="E6ECF2"/>
                </a:solidFill>
                <a:latin typeface="Courier New"/>
              </a:rPr>
              <a:t>db.food.insertOne({"_id" : 2,</a:t>
            </a:r>
          </a:p>
          <a:p>
            <a:pPr algn="l">
              <a:lnSpc>
                <a:spcPts val="3200"/>
              </a:lnSpc>
            </a:pPr>
            <a:r>
              <a:rPr sz="2800" b="0">
                <a:solidFill>
                  <a:srgbClr val="E6ECF2"/>
                </a:solidFill>
                <a:latin typeface="Courier New"/>
              </a:rPr>
              <a:t>  "fruit" : ["apple", "kumquat", "orange"]})</a:t>
            </a:r>
          </a:p>
          <a:p>
            <a:pPr algn="l">
              <a:lnSpc>
                <a:spcPts val="3200"/>
              </a:lnSpc>
            </a:pPr>
            <a:r>
              <a:rPr sz="2800" b="0">
                <a:solidFill>
                  <a:srgbClr val="E6ECF2"/>
                </a:solidFill>
                <a:latin typeface="Courier New"/>
              </a:rPr>
              <a:t>db.food.insertOne({"_id" : 3,</a:t>
            </a:r>
          </a:p>
          <a:p>
            <a:pPr algn="l">
              <a:lnSpc>
                <a:spcPts val="3200"/>
              </a:lnSpc>
            </a:pPr>
            <a:r>
              <a:rPr sz="2800" b="0">
                <a:solidFill>
                  <a:srgbClr val="E6ECF2"/>
                </a:solidFill>
                <a:latin typeface="Courier New"/>
              </a:rPr>
              <a:t>  "fruit" : ["cherry", "banana", "apple"]})</a:t>
            </a:r>
          </a:p>
        </p:txBody>
      </p:sp>
      <p:sp>
        <p:nvSpPr>
          <p:cNvPr id="6" name="EXEMPT_PASTE"/>
          <p:cNvSpPr/>
          <p:nvPr/>
        </p:nvSpPr>
        <p:spPr>
          <a:xfrm>
            <a:off x="411480" y="4234688"/>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Zoom in (Ctrl + =). Screenshot the reply (Win + Shift + S). Click this box's edge, Delete, Ctrl + V.</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3 of 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elements in an array</a:t>
            </a:r>
          </a:p>
        </p:txBody>
      </p:sp>
      <p:sp>
        <p:nvSpPr>
          <p:cNvPr id="4" name="EXEMPT_PASTE"/>
          <p:cNvSpPr/>
          <p:nvPr/>
        </p:nvSpPr>
        <p:spPr>
          <a:xfrm>
            <a:off x="411480" y="1097280"/>
            <a:ext cx="11368735" cy="38404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db.food.find()</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4 of 9</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Ask for one element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db.food.find({"fruit" : "banana"})</a:t>
            </a:r>
          </a:p>
        </p:txBody>
      </p:sp>
      <p:sp>
        <p:nvSpPr>
          <p:cNvPr id="6" name="EXEMPT_PASTE"/>
          <p:cNvSpPr/>
          <p:nvPr/>
        </p:nvSpPr>
        <p:spPr>
          <a:xfrm>
            <a:off x="411480" y="2202688"/>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Ask for banana, get every basket with a banana.</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5 of 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must have every listed element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db.food.find({fruit : {$all : ["apple", "banana"]}})</a:t>
            </a:r>
          </a:p>
        </p:txBody>
      </p:sp>
      <p:sp>
        <p:nvSpPr>
          <p:cNvPr id="6" name="EXEMPT_PASTE"/>
          <p:cNvSpPr/>
          <p:nvPr/>
        </p:nvSpPr>
        <p:spPr>
          <a:xfrm>
            <a:off x="411480" y="2202688"/>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$all: has them all, any order.</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6 of 9</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One position: key.index</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db.food.find({"fruit.2" : "peach"})</a:t>
            </a:r>
          </a:p>
        </p:txBody>
      </p:sp>
      <p:sp>
        <p:nvSpPr>
          <p:cNvPr id="6" name="EXEMPT_PASTE"/>
          <p:cNvSpPr/>
          <p:nvPr/>
        </p:nvSpPr>
        <p:spPr>
          <a:xfrm>
            <a:off x="411480" y="2202688"/>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Count from zero.</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7 of 9</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$size: match by number of elements</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db.food.find({"fruit" : {"$size" : 3}})</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RESULT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8 of 9</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$size: match by number of elements</a:t>
            </a:r>
          </a:p>
        </p:txBody>
      </p:sp>
      <p:sp>
        <p:nvSpPr>
          <p:cNvPr id="4" name="EXEMPT_PASTE"/>
          <p:cNvSpPr/>
          <p:nvPr/>
        </p:nvSpPr>
        <p:spPr>
          <a:xfrm>
            <a:off x="411480" y="1097280"/>
            <a:ext cx="11368735" cy="38404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$size counts the elements.</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9 of 9</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6</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$slice &amp; Embedded Documents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$slice · dot notation · embedded data</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“Trim what you see. Reach inside with a dot.”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10 slides · about 1 min 58 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6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adbs_part6</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db.blog.posts.insertOne({"_id" : 1, "title" : "ADBS",</a:t>
            </a:r>
          </a:p>
          <a:p>
            <a:pPr algn="l">
              <a:lnSpc>
                <a:spcPct val="100000"/>
              </a:lnSpc>
            </a:pPr>
            <a:r>
              <a:rPr sz="2000" b="0">
                <a:solidFill>
                  <a:srgbClr val="E6ECF2"/>
                </a:solidFill>
                <a:latin typeface="Courier New"/>
              </a:rPr>
              <a:t>  "comments" : Array.from({length : 40}, (_, i) =&gt; "c" + (i + 1))})</a:t>
            </a:r>
          </a:p>
          <a:p>
            <a:pPr algn="l">
              <a:lnSpc>
                <a:spcPct val="100000"/>
              </a:lnSpc>
            </a:pPr>
            <a:r>
              <a:rPr sz="2000" b="0">
                <a:solidFill>
                  <a:srgbClr val="E6ECF2"/>
                </a:solidFill>
                <a:latin typeface="Courier New"/>
              </a:rPr>
              <a:t>db.people.insertOne({"_id" : 1,</a:t>
            </a:r>
          </a:p>
          <a:p>
            <a:pPr algn="l">
              <a:lnSpc>
                <a:spcPct val="100000"/>
              </a:lnSpc>
            </a:pPr>
            <a:r>
              <a:rPr sz="2000" b="0">
                <a:solidFill>
                  <a:srgbClr val="E6ECF2"/>
                </a:solidFill>
                <a:latin typeface="Courier New"/>
              </a:rPr>
              <a:t>  "name" : {"first" : "John", "last" : "Escalona"}, "age" : 45})</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first 10</a:t>
            </a:r>
          </a:p>
        </p:txBody>
      </p:sp>
      <p:sp>
        <p:nvSpPr>
          <p:cNvPr id="4" name="Rectangle 3"/>
          <p:cNvSpPr/>
          <p:nvPr/>
        </p:nvSpPr>
        <p:spPr>
          <a:xfrm>
            <a:off x="411480" y="1097280"/>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8FA3B8"/>
                </a:solidFill>
                <a:latin typeface="Courier New"/>
              </a:rPr>
              <a:t>// practice post: 40 comments, c1 to c40</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10}})</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RESULT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2 of 10</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first 10</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Positive counts from the front.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3 of 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last 10</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-10}})</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RESULT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4 of 10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last 10</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Negative counts from the back.</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5 of 10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[23, 10]: a page from the middle</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[23, 10]}})</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RESULT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6 of 10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[23, 10]: a page from the middle</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Skip 23, take 10.</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7 of 10</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Query inside an embedded document</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db.people.find({"name.first" : "John",</a:t>
            </a:r>
          </a:p>
          <a:p>
            <a:pPr algn="l">
              <a:lnSpc>
                <a:spcPts val="3200"/>
              </a:lnSpc>
            </a:pPr>
            <a:r>
              <a:rPr sz="2800" b="0">
                <a:solidFill>
                  <a:srgbClr val="E6ECF2"/>
                </a:solidFill>
                <a:latin typeface="Courier New"/>
              </a:rPr>
              <a:t>  "name.last" : "Escalona"})</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RESULT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8 of 10</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Query inside an embedded document</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9 of 10</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Embedded data vs references</a:t>
            </a:r>
          </a:p>
        </p:txBody>
      </p:sp>
      <p:sp>
        <p:nvSpPr>
          <p:cNvPr id="4" name="TextBox 3"/>
          <p:cNvSpPr txBox="1"/>
          <p:nvPr/>
        </p:nvSpPr>
        <p:spPr>
          <a:xfrm>
            <a:off x="411480" y="1234439"/>
            <a:ext cx="11368735" cy="4325112"/>
          </a:xfrm>
          <a:prstGeom prst="rect">
            <a:avLst/>
          </a:prstGeom>
          <a:noFill/>
        </p:spPr>
        <p:txBody>
          <a:bodyPr wrap="square" anchor="t" lIns="0" rIns="0" tIns="0" bIns="0">
            <a:spAutoFit/>
          </a:bodyPr>
          <a:lstStyle/>
          <a:p>
            <a:pPr algn="l">
              <a:lnSpc>
                <a:spcPct val="110000"/>
              </a:lnSpc>
            </a:pPr>
            <a:r>
              <a:rPr sz="3200" b="1">
                <a:solidFill>
                  <a:srgbClr val="C2410C"/>
                </a:solidFill>
                <a:latin typeface="Arial"/>
              </a:rPr>
              <a:t>▸  </a:t>
            </a:r>
            <a:r>
              <a:rPr sz="3200" b="0">
                <a:solidFill>
                  <a:srgbClr val="14202E"/>
                </a:solidFill>
                <a:latin typeface="Arial"/>
              </a:rPr>
              <a:t>____________________________</a:t>
            </a:r>
          </a:p>
          <a:p>
            <a:pPr algn="l">
              <a:lnSpc>
                <a:spcPct val="110000"/>
              </a:lnSpc>
            </a:pPr>
            <a:r>
              <a:rPr sz="3200" b="1">
                <a:solidFill>
                  <a:srgbClr val="C2410C"/>
                </a:solidFill>
                <a:latin typeface="Arial"/>
              </a:rPr>
              <a:t>▸  </a:t>
            </a:r>
            <a:r>
              <a:rPr sz="3200" b="0">
                <a:solidFill>
                  <a:srgbClr val="14202E"/>
                </a:solidFill>
                <a:latin typeface="Arial"/>
              </a:rPr>
              <a:t>____________________________</a:t>
            </a:r>
          </a:p>
          <a:p>
            <a:pPr algn="l">
              <a:lnSpc>
                <a:spcPct val="110000"/>
              </a:lnSpc>
            </a:pPr>
            <a:r>
              <a:rPr sz="3200" b="1">
                <a:solidFill>
                  <a:srgbClr val="C2410C"/>
                </a:solidFill>
                <a:latin typeface="Arial"/>
              </a:rPr>
              <a:t>▸  </a:t>
            </a:r>
            <a:r>
              <a:rPr sz="3200" b="0">
                <a:solidFill>
                  <a:srgbClr val="14202E"/>
                </a:solidFill>
                <a:latin typeface="Arial"/>
              </a:rPr>
              <a:t>____________________________</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Embed together, or link apart.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p.4-5</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10 of 10</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7</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Computing &amp; Implementation Types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public · private · hybrid</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“Where it lives + who controls it.”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45 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What cloud computing is</a:t>
            </a:r>
          </a:p>
        </p:txBody>
      </p:sp>
      <p:sp>
        <p:nvSpPr>
          <p:cNvPr id="4" name="TextBox 3"/>
          <p:cNvSpPr txBox="1"/>
          <p:nvPr/>
        </p:nvSpPr>
        <p:spPr>
          <a:xfrm>
            <a:off x="411480" y="1234439"/>
            <a:ext cx="11368735" cy="4325112"/>
          </a:xfrm>
          <a:prstGeom prst="rect">
            <a:avLst/>
          </a:prstGeom>
          <a:noFill/>
        </p:spPr>
        <p:txBody>
          <a:bodyPr wrap="square" anchor="t" lIns="0" rIns="0" tIns="0" bIns="0">
            <a:spAutoFit/>
          </a:bodyPr>
          <a:lstStyle/>
          <a:p>
            <a:pPr algn="l">
              <a:lnSpc>
                <a:spcPct val="110000"/>
              </a:lnSpc>
            </a:pPr>
            <a:r>
              <a:rPr sz="3200" b="1">
                <a:solidFill>
                  <a:srgbClr val="C2410C"/>
                </a:solidFill>
                <a:latin typeface="Arial"/>
              </a:rPr>
              <a:t>▸  </a:t>
            </a:r>
            <a:r>
              <a:rPr sz="3200" b="0">
                <a:solidFill>
                  <a:srgbClr val="14202E"/>
                </a:solidFill>
                <a:latin typeface="Arial"/>
              </a:rPr>
              <a:t>____________________________</a:t>
            </a:r>
          </a:p>
          <a:p>
            <a:pPr algn="l">
              <a:lnSpc>
                <a:spcPct val="110000"/>
              </a:lnSpc>
            </a:pPr>
            <a:r>
              <a:rPr sz="3200" b="1">
                <a:solidFill>
                  <a:srgbClr val="C2410C"/>
                </a:solidFill>
                <a:latin typeface="Arial"/>
              </a:rPr>
              <a:t>▸  </a:t>
            </a:r>
            <a:r>
              <a:rPr sz="3200" b="0">
                <a:solidFill>
                  <a:srgbClr val="14202E"/>
                </a:solidFill>
                <a:latin typeface="Arial"/>
              </a:rPr>
              <a:t>____________________________</a:t>
            </a:r>
          </a:p>
          <a:p>
            <a:pPr algn="l">
              <a:lnSpc>
                <a:spcPct val="110000"/>
              </a:lnSpc>
            </a:pPr>
            <a:r>
              <a:rPr sz="3200" b="1">
                <a:solidFill>
                  <a:srgbClr val="C2410C"/>
                </a:solidFill>
                <a:latin typeface="Arial"/>
              </a:rPr>
              <a:t>▸  </a:t>
            </a:r>
            <a:r>
              <a:rPr sz="3200" b="0">
                <a:solidFill>
                  <a:srgbClr val="14202E"/>
                </a:solidFill>
                <a:latin typeface="Arial"/>
              </a:rPr>
              <a:t>____________________________</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If it has the web, it has your data.</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2 of 6</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implementation types</a:t>
            </a:r>
          </a:p>
        </p:txBody>
      </p:sp>
      <p:graphicFrame>
        <p:nvGraphicFramePr>
          <p:cNvPr id="4" name="Table 3"/>
          <p:cNvGraphicFramePr>
            <a:graphicFrameLocks noGrp="1"/>
          </p:cNvGraphicFramePr>
          <p:nvPr/>
        </p:nvGraphicFramePr>
        <p:xfrm>
          <a:off x="411480" y="1234439"/>
          <a:ext cx="11368735" cy="3657600"/>
        </p:xfrm>
        <a:graphic>
          <a:graphicData uri="http://schemas.openxmlformats.org/drawingml/2006/table">
            <a:tbl>
              <a:tblPr firstRow="1" bandRow="1">
                <a:tableStyleId>{5C22544A-7EE6-4342-B048-85BDC9FD1C3A}</a:tableStyleId>
              </a:tblPr>
              <a:tblGrid>
                <a:gridCol w="3291840"/>
                <a:gridCol w="8076895"/>
              </a:tblGrid>
              <a:tr h="914400">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914400">
                <a:tc>
                  <a:txBody>
                    <a:bodyPr wrap="square" anchor="ctr" lIns="109728" rIns="109728" tIns="109728" bIns="109728"/>
                    <a:lstStyle/>
                    <a:p>
                      <a:pPr algn="l">
                        <a:lnSpc>
                          <a:spcPct val="100000"/>
                        </a:lnSpc>
                      </a:pPr>
                      <a:r>
                        <a:rPr sz="3000" b="1">
                          <a:solidFill>
                            <a:srgbClr val="14202E"/>
                          </a:solidFill>
                          <a:latin typeface="Arial"/>
                        </a:rPr>
                        <a:t>Public</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914400">
                <a:tc>
                  <a:txBody>
                    <a:bodyPr wrap="square" anchor="ctr" lIns="109728" rIns="109728" tIns="109728" bIns="109728"/>
                    <a:lstStyle/>
                    <a:p>
                      <a:pPr algn="l">
                        <a:lnSpc>
                          <a:spcPct val="100000"/>
                        </a:lnSpc>
                      </a:pPr>
                      <a:r>
                        <a:rPr sz="3000" b="1">
                          <a:solidFill>
                            <a:srgbClr val="14202E"/>
                          </a:solidFill>
                          <a:latin typeface="Arial"/>
                        </a:rPr>
                        <a:t>Private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914400">
                <a:tc>
                  <a:txBody>
                    <a:bodyPr wrap="square" anchor="ctr" lIns="109728" rIns="109728" tIns="109728" bIns="109728"/>
                    <a:lstStyle/>
                    <a:p>
                      <a:pPr algn="l">
                        <a:lnSpc>
                          <a:spcPct val="100000"/>
                        </a:lnSpc>
                      </a:pPr>
                      <a:r>
                        <a:rPr sz="3000" b="1">
                          <a:solidFill>
                            <a:srgbClr val="14202E"/>
                          </a:solidFill>
                          <a:latin typeface="Arial"/>
                        </a:rPr>
                        <a:t>Hybrid</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 own it, or mix both.</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3 of 6</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Public cloud</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529137" y="1280160"/>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9" name="TextBox 8"/>
          <p:cNvSpPr txBox="1"/>
          <p:nvPr/>
        </p:nvSpPr>
        <p:spPr>
          <a:xfrm>
            <a:off x="2529137" y="2002536"/>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Plus</a:t>
            </a:r>
          </a:p>
        </p:txBody>
      </p:sp>
      <p:sp>
        <p:nvSpPr>
          <p:cNvPr id="12" name="TextBox 11"/>
          <p:cNvSpPr txBox="1"/>
          <p:nvPr/>
        </p:nvSpPr>
        <p:spPr>
          <a:xfrm>
            <a:off x="2529137" y="2724912"/>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3355848"/>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Minus</a:t>
            </a:r>
          </a:p>
        </p:txBody>
      </p:sp>
      <p:sp>
        <p:nvSpPr>
          <p:cNvPr id="15" name="TextBox 14"/>
          <p:cNvSpPr txBox="1"/>
          <p:nvPr/>
        </p:nvSpPr>
        <p:spPr>
          <a:xfrm>
            <a:off x="2529137" y="3447288"/>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4 of 6</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Private cloud</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923636" y="1280160"/>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Used by</a:t>
            </a:r>
          </a:p>
        </p:txBody>
      </p:sp>
      <p:sp>
        <p:nvSpPr>
          <p:cNvPr id="9" name="TextBox 8"/>
          <p:cNvSpPr txBox="1"/>
          <p:nvPr/>
        </p:nvSpPr>
        <p:spPr>
          <a:xfrm>
            <a:off x="2923636" y="2002536"/>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Managed by</a:t>
            </a:r>
          </a:p>
        </p:txBody>
      </p:sp>
      <p:sp>
        <p:nvSpPr>
          <p:cNvPr id="12" name="TextBox 11"/>
          <p:cNvSpPr txBox="1"/>
          <p:nvPr/>
        </p:nvSpPr>
        <p:spPr>
          <a:xfrm>
            <a:off x="2923636" y="2724912"/>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Own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5 of 6</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Hybrid cloud</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Is</a:t>
            </a:r>
          </a:p>
        </p:txBody>
      </p:sp>
      <p:sp>
        <p:nvSpPr>
          <p:cNvPr id="6" name="TextBox 5"/>
          <p:cNvSpPr txBox="1"/>
          <p:nvPr/>
        </p:nvSpPr>
        <p:spPr>
          <a:xfrm>
            <a:off x="2627588" y="1280160"/>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Public for</a:t>
            </a:r>
          </a:p>
        </p:txBody>
      </p:sp>
      <p:sp>
        <p:nvSpPr>
          <p:cNvPr id="9" name="TextBox 8"/>
          <p:cNvSpPr txBox="1"/>
          <p:nvPr/>
        </p:nvSpPr>
        <p:spPr>
          <a:xfrm>
            <a:off x="2627588" y="2002536"/>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Private for</a:t>
            </a:r>
          </a:p>
        </p:txBody>
      </p:sp>
      <p:sp>
        <p:nvSpPr>
          <p:cNvPr id="12" name="TextBox 11"/>
          <p:cNvSpPr txBox="1"/>
          <p:nvPr/>
        </p:nvSpPr>
        <p:spPr>
          <a:xfrm>
            <a:off x="2627588" y="2724912"/>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3355848"/>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Gain</a:t>
            </a:r>
          </a:p>
        </p:txBody>
      </p:sp>
      <p:sp>
        <p:nvSpPr>
          <p:cNvPr id="15" name="TextBox 14"/>
          <p:cNvSpPr txBox="1"/>
          <p:nvPr/>
        </p:nvSpPr>
        <p:spPr>
          <a:xfrm>
            <a:off x="2627588" y="3447288"/>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Mix both.</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6 of 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8</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Service Types &amp; Benefits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SaaS · PaaS · IaaS · 10 benefits</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“Use it, build on it, or rent the machine.”</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1 min 52 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types of cloud services</a:t>
            </a:r>
          </a:p>
        </p:txBody>
      </p:sp>
      <p:graphicFrame>
        <p:nvGraphicFramePr>
          <p:cNvPr id="4" name="Table 3"/>
          <p:cNvGraphicFramePr>
            <a:graphicFrameLocks noGrp="1"/>
          </p:cNvGraphicFramePr>
          <p:nvPr/>
        </p:nvGraphicFramePr>
        <p:xfrm>
          <a:off x="411480" y="1234439"/>
          <a:ext cx="11368735" cy="3657600"/>
        </p:xfrm>
        <a:graphic>
          <a:graphicData uri="http://schemas.openxmlformats.org/drawingml/2006/table">
            <a:tbl>
              <a:tblPr firstRow="1" bandRow="1">
                <a:tableStyleId>{5C22544A-7EE6-4342-B048-85BDC9FD1C3A}</a:tableStyleId>
              </a:tblPr>
              <a:tblGrid>
                <a:gridCol w="3291840"/>
                <a:gridCol w="8076895"/>
              </a:tblGrid>
              <a:tr h="914400">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914400">
                <a:tc>
                  <a:txBody>
                    <a:bodyPr wrap="square" anchor="ctr" lIns="109728" rIns="109728" tIns="109728" bIns="109728"/>
                    <a:lstStyle/>
                    <a:p>
                      <a:pPr algn="l">
                        <a:lnSpc>
                          <a:spcPct val="100000"/>
                        </a:lnSpc>
                      </a:pPr>
                      <a:r>
                        <a:rPr sz="3000" b="1">
                          <a:solidFill>
                            <a:srgbClr val="14202E"/>
                          </a:solidFill>
                          <a:latin typeface="Arial"/>
                        </a:rPr>
                        <a:t>SaaS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914400">
                <a:tc>
                  <a:txBody>
                    <a:bodyPr wrap="square" anchor="ctr" lIns="109728" rIns="109728" tIns="109728" bIns="109728"/>
                    <a:lstStyle/>
                    <a:p>
                      <a:pPr algn="l">
                        <a:lnSpc>
                          <a:spcPct val="100000"/>
                        </a:lnSpc>
                      </a:pPr>
                      <a:r>
                        <a:rPr sz="3000" b="1">
                          <a:solidFill>
                            <a:srgbClr val="14202E"/>
                          </a:solidFill>
                          <a:latin typeface="Arial"/>
                        </a:rPr>
                        <a:t>PaaS</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914400">
                <a:tc>
                  <a:txBody>
                    <a:bodyPr wrap="square" anchor="ctr" lIns="109728" rIns="109728" tIns="109728" bIns="109728"/>
                    <a:lstStyle/>
                    <a:p>
                      <a:pPr algn="l">
                        <a:lnSpc>
                          <a:spcPct val="100000"/>
                        </a:lnSpc>
                      </a:pPr>
                      <a:r>
                        <a:rPr sz="3000" b="1">
                          <a:solidFill>
                            <a:srgbClr val="14202E"/>
                          </a:solidFill>
                          <a:latin typeface="Arial"/>
                        </a:rPr>
                        <a:t>IaaS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 build on it, or rent the machine.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2 of 7</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SaaS: Software as a Service</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12" name="TextBox 11"/>
          <p:cNvSpPr txBox="1"/>
          <p:nvPr/>
        </p:nvSpPr>
        <p:spPr>
          <a:xfrm>
            <a:off x="3398173" y="2724912"/>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3 of 7</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PaaS: Platform as a Service</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do not</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2724912"/>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Build on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4 of 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IaaS: Infrastructure as a Service</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2724912"/>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the machine.</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5 of 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1 to 5</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2</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3</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4</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5</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Scale up fast.</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6 of 7</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6 to 10</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6</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7</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8</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9</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10</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Pay for what you use.</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7 of 7</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commands on one slide</a:t>
            </a:r>
          </a:p>
        </p:txBody>
      </p:sp>
      <p:sp>
        <p:nvSpPr>
          <p:cNvPr id="4" name="Rectangle 3"/>
          <p:cNvSpPr/>
          <p:nvPr/>
        </p:nvSpPr>
        <p:spPr>
          <a:xfrm>
            <a:off x="411480" y="1097280"/>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a:t>
            </a:r>
          </a:p>
        </p:txBody>
      </p:sp>
      <p:sp>
        <p:nvSpPr>
          <p:cNvPr id="6" name="TextBox 5"/>
          <p:cNvSpPr txBox="1"/>
          <p:nvPr/>
        </p:nvSpPr>
        <p:spPr>
          <a:xfrm>
            <a:off x="3063240" y="1097280"/>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insertOne  insertMany</a:t>
            </a:r>
          </a:p>
        </p:txBody>
      </p:sp>
      <p:sp>
        <p:nvSpPr>
          <p:cNvPr id="7" name="Rectangle 6"/>
          <p:cNvSpPr/>
          <p:nvPr/>
        </p:nvSpPr>
        <p:spPr>
          <a:xfrm>
            <a:off x="411480" y="1609344"/>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09344"/>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Delete</a:t>
            </a:r>
          </a:p>
        </p:txBody>
      </p:sp>
      <p:sp>
        <p:nvSpPr>
          <p:cNvPr id="9" name="TextBox 8"/>
          <p:cNvSpPr txBox="1"/>
          <p:nvPr/>
        </p:nvSpPr>
        <p:spPr>
          <a:xfrm>
            <a:off x="3063240" y="1609344"/>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deleteOne  deleteMany</a:t>
            </a:r>
          </a:p>
        </p:txBody>
      </p:sp>
      <p:sp>
        <p:nvSpPr>
          <p:cNvPr id="10" name="Rectangle 9"/>
          <p:cNvSpPr/>
          <p:nvPr/>
        </p:nvSpPr>
        <p:spPr>
          <a:xfrm>
            <a:off x="411480" y="2121408"/>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121408"/>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Read</a:t>
            </a:r>
          </a:p>
        </p:txBody>
      </p:sp>
      <p:sp>
        <p:nvSpPr>
          <p:cNvPr id="12" name="TextBox 11"/>
          <p:cNvSpPr txBox="1"/>
          <p:nvPr/>
        </p:nvSpPr>
        <p:spPr>
          <a:xfrm>
            <a:off x="3063240" y="2121408"/>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find  findOne</a:t>
            </a:r>
          </a:p>
        </p:txBody>
      </p:sp>
      <p:sp>
        <p:nvSpPr>
          <p:cNvPr id="13" name="Rectangle 12"/>
          <p:cNvSpPr/>
          <p:nvPr/>
        </p:nvSpPr>
        <p:spPr>
          <a:xfrm>
            <a:off x="411480" y="2633472"/>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633472"/>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Change</a:t>
            </a:r>
          </a:p>
        </p:txBody>
      </p:sp>
      <p:sp>
        <p:nvSpPr>
          <p:cNvPr id="15" name="TextBox 14"/>
          <p:cNvSpPr txBox="1"/>
          <p:nvPr/>
        </p:nvSpPr>
        <p:spPr>
          <a:xfrm>
            <a:off x="3063240" y="2633472"/>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replaceOne  updateOne  updateMany</a:t>
            </a:r>
          </a:p>
        </p:txBody>
      </p:sp>
      <p:sp>
        <p:nvSpPr>
          <p:cNvPr id="16" name="Rectangle 15"/>
          <p:cNvSpPr/>
          <p:nvPr/>
        </p:nvSpPr>
        <p:spPr>
          <a:xfrm>
            <a:off x="411480" y="3145536"/>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145536"/>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Fields</a:t>
            </a:r>
          </a:p>
        </p:txBody>
      </p:sp>
      <p:sp>
        <p:nvSpPr>
          <p:cNvPr id="18" name="TextBox 17"/>
          <p:cNvSpPr txBox="1"/>
          <p:nvPr/>
        </p:nvSpPr>
        <p:spPr>
          <a:xfrm>
            <a:off x="3063240" y="3145536"/>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$set  $unset</a:t>
            </a:r>
          </a:p>
        </p:txBody>
      </p:sp>
      <p:sp>
        <p:nvSpPr>
          <p:cNvPr id="19" name="Rectangle 18"/>
          <p:cNvSpPr/>
          <p:nvPr/>
        </p:nvSpPr>
        <p:spPr>
          <a:xfrm>
            <a:off x="411480" y="3657600"/>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657600"/>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Compare</a:t>
            </a:r>
          </a:p>
        </p:txBody>
      </p:sp>
      <p:sp>
        <p:nvSpPr>
          <p:cNvPr id="21" name="TextBox 20"/>
          <p:cNvSpPr txBox="1"/>
          <p:nvPr/>
        </p:nvSpPr>
        <p:spPr>
          <a:xfrm>
            <a:off x="3063240" y="3657600"/>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$lt  $lte  $gt  $gte</a:t>
            </a:r>
          </a:p>
        </p:txBody>
      </p:sp>
      <p:sp>
        <p:nvSpPr>
          <p:cNvPr id="22" name="Rectangle 21"/>
          <p:cNvSpPr/>
          <p:nvPr/>
        </p:nvSpPr>
        <p:spPr>
          <a:xfrm>
            <a:off x="411480" y="4169664"/>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169664"/>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Choose</a:t>
            </a:r>
          </a:p>
        </p:txBody>
      </p:sp>
      <p:sp>
        <p:nvSpPr>
          <p:cNvPr id="24" name="TextBox 23"/>
          <p:cNvSpPr txBox="1"/>
          <p:nvPr/>
        </p:nvSpPr>
        <p:spPr>
          <a:xfrm>
            <a:off x="3063240" y="4169664"/>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  $or  $not</a:t>
            </a:r>
          </a:p>
        </p:txBody>
      </p:sp>
      <p:sp>
        <p:nvSpPr>
          <p:cNvPr id="25" name="Rectangle 24"/>
          <p:cNvSpPr/>
          <p:nvPr/>
        </p:nvSpPr>
        <p:spPr>
          <a:xfrm>
            <a:off x="411480" y="4681728"/>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681728"/>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Arrays</a:t>
            </a:r>
          </a:p>
        </p:txBody>
      </p:sp>
      <p:sp>
        <p:nvSpPr>
          <p:cNvPr id="27" name="TextBox 26"/>
          <p:cNvSpPr txBox="1"/>
          <p:nvPr/>
        </p:nvSpPr>
        <p:spPr>
          <a:xfrm>
            <a:off x="3063240" y="4681728"/>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$all  $size  "fruit.2"  $slice</a:t>
            </a:r>
          </a:p>
        </p:txBody>
      </p:sp>
      <p:sp>
        <p:nvSpPr>
          <p:cNvPr id="28" name="Rectangle 27"/>
          <p:cNvSpPr/>
          <p:nvPr/>
        </p:nvSpPr>
        <p:spPr>
          <a:xfrm>
            <a:off x="411480" y="5193792"/>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5193792"/>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a:t>
            </a:r>
          </a:p>
        </p:txBody>
      </p:sp>
      <p:sp>
        <p:nvSpPr>
          <p:cNvPr id="30" name="TextBox 29"/>
          <p:cNvSpPr txBox="1"/>
          <p:nvPr/>
        </p:nvSpPr>
        <p:spPr>
          <a:xfrm>
            <a:off x="3063240" y="5193792"/>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Arial"/>
              </a:rPr>
              <a:t>Public · Private · Hybrid | SaaS · PaaS · IaaS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