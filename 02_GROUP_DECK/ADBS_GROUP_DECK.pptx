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Section 3.1A. Our topic is MongoDB commands and cloud computing, from the 07, 08 and 09 handouts. Each of us has 3 minutes.</a:t>
            </a:r>
          </a:p>
          <a:p/>
          <a:p>
            <a:r>
              <a:t>SOUNDBITE (say it last, slowly): Store it. Query it. Put it in the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a:p/>
          <a:p>
            <a:r>
              <a:t>SOUNDBITE (say it last, slowly): Six parts MongoDB. Two parts cloud.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 After: the collection has Stand by Me. One document in.</a:t>
            </a:r>
          </a:p>
          <a:p/>
          <a:p>
            <a:r>
              <a:t>SOUNDBITE (say it last, slowly): One document in. MongoDB adds the _id.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insertMany adds many documents with one command. We pass an array, in square brackets. Before: only Stand by Me. The reply lists three new I Ds.</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(No new words. Let the class read this slide, then click.)</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After: four movies. The three new ones are highlighted.</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Now an error on purpose.</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We insert four movies, but two of them use underscore I D 4. With ordered false, MongoDB tries every document, even after an error.</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After: 3, 4 and 5 are saved. Only the duplicate failed. Unordered keeps going.</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Same four movies, but ordered.</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Ordered is the default. The duplicate 4 causes an error.</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We delete underscore I D 4. The reply says deleted count 1. After: only 3 and 5 are left.</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20):</a:t>
            </a:r>
          </a:p>
          <a:p>
            <a:r>
              <a:t>findOne returns one document that matches the filter. Here we find Joe. Joe has 32 friends and 2 enemies. Remember this shape. We change it next.</a:t>
            </a:r>
          </a:p>
          <a:p/>
          <a:p>
            <a:r>
              <a:t>SOUNDBITE (say it last, slowly): findOne brings back one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20):</a:t>
            </a:r>
          </a:p>
          <a:p>
            <a:r>
              <a:t>replaceOne swaps the whole document for a new one. Before: Joe, as on the last slide.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20):</a:t>
            </a:r>
          </a:p>
          <a:p>
            <a:r>
              <a:t>(No new words. Let the class read this slide, then click.)</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20):</a:t>
            </a:r>
          </a:p>
          <a:p>
            <a:r>
              <a:t>After: Joe has relationships and username. The old fields are gone.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20):</a:t>
            </a:r>
          </a:p>
          <a:p>
            <a:r>
              <a:t>updateOne takes a filter, then a change. The dollar set operator sets a field. If the field does not exist yet, it is created. Before: John has no favorite book.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20):</a:t>
            </a:r>
          </a:p>
          <a:p>
            <a:r>
              <a:t>(No new words. Let the class read this slide, then click.)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20):</a:t>
            </a:r>
          </a:p>
          <a:p>
            <a:r>
              <a:t>After: John has a favorite book, Green Eggs and Ham.</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20):</a:t>
            </a:r>
          </a:p>
          <a:p>
            <a:r>
              <a:t>Dollar set can even change the type of a field. Before: John, as on the last slide. Now favorite book becomes an array of three books.</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20):</a:t>
            </a:r>
          </a:p>
          <a:p>
            <a:r>
              <a:t>(No new words. Let the class read this slide, then click.)</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20):</a:t>
            </a:r>
          </a:p>
          <a:p>
            <a:r>
              <a:t>After: the single text value is replaced by a list.</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20):</a:t>
            </a:r>
          </a:p>
          <a:p>
            <a:r>
              <a:t>Dollar unset removes a field completely. Before: John, as on the last slide.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20):</a:t>
            </a:r>
          </a:p>
          <a:p>
            <a:r>
              <a:t>After: favorite book is gone. The rest of John stays the same.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20):</a:t>
            </a:r>
          </a:p>
          <a:p>
            <a:r>
              <a:t>Dollar set can reach inside an embedded document.</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20):</a:t>
            </a:r>
          </a:p>
          <a:p>
            <a:r>
              <a:t>Author is a document inside the book. We use author dot name, in quotes, to change only the name.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20):</a:t>
            </a:r>
          </a:p>
          <a:p>
            <a:r>
              <a:t>After: the name is Nicole Tagayon. The email did not change.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20):</a:t>
            </a:r>
          </a:p>
          <a:p>
            <a:r>
              <a:t>updateMany works like updateOne and takes the same parameters.</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20):</a:t>
            </a:r>
          </a:p>
          <a:p>
            <a:r>
              <a:t>The difference is how many documents can change. Three users share the birthday October 13, 1978. Matched 3, modified 3.</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20):</a:t>
            </a:r>
          </a:p>
          <a:p>
            <a:r>
              <a:t>After: all three have the gift Happy Birthday. Find it first, then change it.</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SOUNDBITE (say it last, slowly):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We get Ana and Ben. Ben is exactly 18, so the E lets him in.</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Dan is exactly 30, so he is in this time.</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SOUNDBITE (say it last, slowly): Two operators, one field, one range.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built around the handout's winning tickets. There are five tickets: 725, 542, 390, 111 and 222. Ticket 111 is the only one where winner is true. Keep this list in mind for the next two slides.</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SOUNDBITE (say it last, slowly): $in is a guest list for one key.</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SOUNDBITE (say it last, slowly): $or: pass any one test.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earns exactly 10,000, and Liza earns 15,000.</a:t>
            </a:r>
          </a:p>
          <a:p/>
          <a:p>
            <a:r>
              <a:t>SOUNDBITE (say it last, slowly): 8,000 · 10,000 · 15,000 pesos.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SOUNDBITE (say it last, slowly): $not flips the condition.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Each basket is a document, and its fruit field is an array of three elements. Before: the food collection is empty.</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We run three insertOne commands. The shell prints the reply of the last one: inserted I D 3.</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(No new words. Let the class read this slide, then click.)</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After: three baskets. Basket 1 has apple, banana, peach. Basket 2 has apple, kumquat, orange. Basket 3 has cherry, banana, apple. We use these three baskets for the rest of this part.</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SOUNDBITE (say it last, slowly): Ask for banana, get every basket with a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SOUNDBITE (say it last, slowly): $all: has them all, any order.</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dollar size 3 returns all three. A basket with 2 or 4 fruits would not match. Arrays answer like single values.</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numbers count from the front. Negative numbers count from the back.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SOUNDBITE (say it last, slowly): If it has the web, it has your data.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SOUNDBITE (say it last, slowly):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SOUNDBITE (say it last, slowly): Rent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SOUNDBITE (say it last, slowly): Own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SOUNDBITE (say it last, slowly):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SOUNDBITE (say it last, slowly): Use it, build on it, or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SOUNDBITE (say it last, slowly): Use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SOUNDBITE (say it last, slowly): Build on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SOUNDBITE (say it last, slowly):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SOUNDBITE (say it last, slowly): Scale up fast.</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SOUNDBITE (say it last, slowly):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a:p/>
          <a:p>
            <a:r>
              <a:t>SOUNDBITE: Every command, one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20440"/>
            <a:ext cx="11368735" cy="64008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“Store it. Query it. Put it in the cloud.”</a:t>
            </a:r>
          </a:p>
        </p:txBody>
      </p:sp>
      <p:sp>
        <p:nvSpPr>
          <p:cNvPr id="6" name="TextBox 5"/>
          <p:cNvSpPr txBox="1"/>
          <p:nvPr/>
        </p:nvSpPr>
        <p:spPr>
          <a:xfrm>
            <a:off x="411480" y="4251960"/>
            <a:ext cx="11368735"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Based on the 07, 08 and 09 Handouts</a:t>
            </a:r>
          </a:p>
        </p:txBody>
      </p:sp>
      <p:sp>
        <p:nvSpPr>
          <p:cNvPr id="7" name="TextBox 6"/>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In Compass press Ctrl and = until the text is big. Win + Shift + S, then click the box's edge, Delete,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
        <p:nvSpPr>
          <p:cNvPr id="28" name="Rectangle 2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Six parts MongoDB. Two parts cloud.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04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18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db.users.findOne({"name" : "Joe"})</a:t>
            </a:r>
          </a:p>
        </p:txBody>
      </p:sp>
      <p:sp>
        <p:nvSpPr>
          <p:cNvPr id="6" name="EXEMPT_PASTE"/>
          <p:cNvSpPr/>
          <p:nvPr/>
        </p:nvSpPr>
        <p:spPr>
          <a:xfrm>
            <a:off x="411480" y="2202688"/>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p:txBody>
      </p:sp>
      <p:sp>
        <p:nvSpPr>
          <p:cNvPr id="6" name="EXEMPT_PASTE"/>
          <p:cNvSpPr/>
          <p:nvPr/>
        </p:nvSpPr>
        <p:spPr>
          <a:xfrm>
            <a:off x="411480" y="3015487"/>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p:txBody>
      </p:sp>
      <p:sp>
        <p:nvSpPr>
          <p:cNvPr id="8" name="EXEMPT_PASTE"/>
          <p:cNvSpPr/>
          <p:nvPr/>
        </p:nvSpPr>
        <p:spPr>
          <a:xfrm>
            <a:off x="411480" y="3714496"/>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9" name="Rectangle 8"/>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 : 18}})</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{"$lte" : 18}})</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 : 30}})</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30}})</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18, "$lte" : 30}})</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2 min 22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p:txBody>
      </p:sp>
      <p:sp>
        <p:nvSpPr>
          <p:cNvPr id="6" name="EXEMPT_PASTE"/>
          <p:cNvSpPr/>
          <p:nvPr/>
        </p:nvSpPr>
        <p:spPr>
          <a:xfrm>
            <a:off x="411480" y="26090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59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{$all : ["apple",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{"$size" : 3}})</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32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581912"/>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8191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58191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066543"/>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66543"/>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066543"/>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551176"/>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5117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55117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035808"/>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035808"/>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520440"/>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2044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52044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005072"/>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0507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00507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489704"/>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89704"/>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489704"/>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4974336"/>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97433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497433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
        <p:nvSpPr>
          <p:cNvPr id="31" name="Rectangle 30"/>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Every command, one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