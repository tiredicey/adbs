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Good day. We are [group name]. Our topic is MongoDB commands and cloud computing, from the 07, 08 and 09 handouts. Each of us has 3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Instructions for group members. Delete this slide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have eight parts. Parts 1 to 6 are MongoDB commands. Parts 7 and 8 are cloud computing.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Hello, I am [your name]. Part 1 is Create and Delete. First, two words: in MongoDB, a table is called a collection, and a row is called a document. Every slide shows the data before, the command, and the data after. Watch what changes.</a:t>
            </a:r>
          </a:p>
          <a:p/>
          <a:p>
            <a:r>
              <a:t>(Whole part: 268 words, about 2 min 04 s at a calm 130 words a minute. Limit: 3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2 of 14):</a:t>
            </a:r>
          </a:p>
          <a:p>
            <a:r>
              <a:t>insertOne adds one document. Before: the movies collection is empty, so nothing prints. We insert one movie, Stand by Me. We did not give an underscore I D, so MongoDB made one for us. After: the collection has Stand by Me. One document in.</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3 of 14):</a:t>
            </a:r>
          </a:p>
          <a:p>
            <a:r>
              <a:t>insertMany adds many documents with one command. We pass an array, in square brackets. Before: only Stand by Me.</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4 of 14):</a:t>
            </a:r>
          </a:p>
          <a:p>
            <a:r>
              <a:t>The reply lists three new I Ds.</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5 of 14):</a:t>
            </a:r>
          </a:p>
          <a:p>
            <a:r>
              <a:t>After: four movies. The three new ones are highlighted.</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6 of 14):</a:t>
            </a:r>
          </a:p>
          <a:p>
            <a:r>
              <a:t>Now an error on purpose.</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7 of 14):</a:t>
            </a:r>
          </a:p>
          <a:p>
            <a:r>
              <a:t>We insert four movies, but two of them use underscore I D 4. With ordered false, MongoDB tries every document, even after an error.</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8 of 14):</a:t>
            </a:r>
          </a:p>
          <a:p>
            <a:r>
              <a:t>After: 3, 4 and 5 are saved. Only the duplicate failed. Unordered keeps going.</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9 of 14):</a:t>
            </a:r>
          </a:p>
          <a:p>
            <a:r>
              <a:t>Same four movies, but ordered. Ordered is the default. The duplicate 4 causes an error.</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10 of 14):</a:t>
            </a:r>
          </a:p>
          <a:p>
            <a:r>
              <a:t>After: only 3 and 4 are saved. Scarface came after the error, so it never went in.</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11 of 14):</a:t>
            </a:r>
          </a:p>
          <a:p>
            <a:r>
              <a:t>deleteOne removes one document that matches the filter. Before: 3, 4 and 5. We delete underscore I D 4. The reply says deleted count 1.</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12 of 14):</a:t>
            </a:r>
          </a:p>
          <a:p>
            <a:r>
              <a:t>After: only 3 and 5 are left.</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13 of 14):</a:t>
            </a:r>
          </a:p>
          <a:p>
            <a:r>
              <a:t>deleteMany removes every match. We start from the handout's three movies: two from 1985 and one from 1984.</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1 · 14 of 14):</a:t>
            </a:r>
          </a:p>
          <a:p>
            <a:r>
              <a:t>We delete year 1985. Deleted count is 2. After: only Sixteen Candles, from 1984, is left. Documents in, documents out.</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Hello, I am [your name]. Part 2 is Find, Replace and Update. The rule is simple: find it first, then change it.</a:t>
            </a:r>
          </a:p>
          <a:p/>
          <a:p>
            <a:r>
              <a:t>(Whole part: 299 words, about 2 min 18 s at a calm 130 words a minute. Limit: 3 minutes.)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only. Delete this slide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2 of 19):</a:t>
            </a:r>
          </a:p>
          <a:p>
            <a:r>
              <a:t>findOne returns one document that matches the filter. Here we find Joe. Joe has 32 friends and 2 enemies. Remember this shape. We change it next.</a:t>
            </a:r>
          </a:p>
          <a:p/>
          <a:p>
            <a:r>
              <a:t>Source: 08 Handout p.1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3 of 19):</a:t>
            </a:r>
          </a:p>
          <a:p>
            <a:r>
              <a:t>replaceOne swaps the whole document for a new one. Before: Joe, as on the last slide. The handout uses it for a big change. We load Joe into a variable, move friends and enemies into a new relationships field, copy name into username, delete the old fields, then save with replaceOne. The reply says matched 1, modified 1.</a:t>
            </a:r>
          </a:p>
          <a:p/>
          <a:p>
            <a:r>
              <a:t>Source: 08 Handout p.1-2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4 of 19):</a:t>
            </a:r>
          </a:p>
          <a:p>
            <a:r>
              <a:t>(No new words. Let the class read this slide, then click.)</a:t>
            </a:r>
          </a:p>
          <a:p/>
          <a:p>
            <a:r>
              <a:t>Source: 08 Handout p.1-2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5 of 19):</a:t>
            </a:r>
          </a:p>
          <a:p>
            <a:r>
              <a:t>After: Joe has relationships and username. The old fields are gone.</a:t>
            </a:r>
          </a:p>
          <a:p/>
          <a:p>
            <a:r>
              <a:t>Source: 08 Handout p.1-2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6 of 19):</a:t>
            </a:r>
          </a:p>
          <a:p>
            <a:r>
              <a:t>updateOne takes a filter, then a change. The dollar set operator sets a field. If the field does not exist yet, it is created. Before: John has no favorite book.</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7 of 19):</a:t>
            </a:r>
          </a:p>
          <a:p>
            <a:r>
              <a:t>(No new words. Let the class read this slide, then click.)</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8 of 19):</a:t>
            </a:r>
          </a:p>
          <a:p>
            <a:r>
              <a:t>After: John has a favorite book, Green Eggs and Ham.</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9 of 19):</a:t>
            </a:r>
          </a:p>
          <a:p>
            <a:r>
              <a:t>Dollar set can even change the type of a field. Before: John, as on the last slide. Now favorite book becomes an array of three books.</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10 of 19):</a:t>
            </a:r>
          </a:p>
          <a:p>
            <a:r>
              <a:t>(No new words. Let the class read this slide, then click.)</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11 of 19):</a:t>
            </a:r>
          </a:p>
          <a:p>
            <a:r>
              <a:t>After: the single text value is replaced by a list.</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12 of 19):</a:t>
            </a:r>
          </a:p>
          <a:p>
            <a:r>
              <a:t>Dollar unset removes a field completely. Before: John, as on the last slide.</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13 of 19):</a:t>
            </a:r>
          </a:p>
          <a:p>
            <a:r>
              <a:t>After: favorite book is gone. The rest of John stays the same.</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14 of 19):</a:t>
            </a:r>
          </a:p>
          <a:p>
            <a:r>
              <a:t>Dollar set can reach inside an embedded document.</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15 of 19):</a:t>
            </a:r>
          </a:p>
          <a:p>
            <a:r>
              <a:t>Author is a document inside the book. We use author dot name, in quotes, to change only the name.</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16 of 19):</a:t>
            </a:r>
          </a:p>
          <a:p>
            <a:r>
              <a:t>After: the name is Nicole Tagayon. The email did not change.</a:t>
            </a:r>
          </a:p>
          <a:p/>
          <a:p>
            <a:r>
              <a:t>Source: 08 Handout p.2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17 of 19):</a:t>
            </a:r>
          </a:p>
          <a:p>
            <a:r>
              <a:t>updateMany works like updateOne and takes the same parameters.</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18 of 19):</a:t>
            </a:r>
          </a:p>
          <a:p>
            <a:r>
              <a:t>The difference is how many documents can change. Three users share the birthday October 13, 1978. Matched 3, modified 3.</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2 · 19 of 19):</a:t>
            </a:r>
          </a:p>
          <a:p>
            <a:r>
              <a:t>After: all three have the gift Happy Birthday. Find it first, then change it.</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Hello, I am [your name]. Part 3 is comparison operators. There are four: less than, less than or equal, greater than, and greater than or equal.</a:t>
            </a:r>
          </a:p>
          <a:p/>
          <a:p>
            <a:r>
              <a:t>(Whole part: 213 words, about 1 min 38 s at a calm 130 words a minute. Limit: 3 minutes.)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only. Delete this slide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3 · 2 of 9):</a:t>
            </a:r>
          </a:p>
          <a:p>
            <a:r>
              <a:t>Here are the four. Dollar L T is less than. Dollar L T E is less than or equal. Dollar G T is greater than. Dollar G T E is greater than or equal. Tip: the letter E means equal is allowed.</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3 · 3 of 9):</a:t>
            </a:r>
          </a:p>
          <a:p>
            <a:r>
              <a:t>This is our practice data. It is not from the handout. Five users: Ana is 17, Ben 18, Cara 24, Dan 30, and Eli 31. Keep these ages in mind.</a:t>
            </a:r>
          </a:p>
          <a:p/>
          <a:p>
            <a:r>
              <a:t>Source: Practice data (ours) for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3 · 4 of 9):</a:t>
            </a:r>
          </a:p>
          <a:p>
            <a:r>
              <a:t>(No new words. Let the class read this slide, then click.)</a:t>
            </a:r>
          </a:p>
          <a:p/>
          <a:p>
            <a:r>
              <a:t>Source: Practice data (ours) for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3 · 5 of 9):</a:t>
            </a:r>
          </a:p>
          <a:p>
            <a:r>
              <a:t>Read the first command as: find users where age is less than 18. We get only Ana, who is 17. The second is less than or equal to 18. We get Ana and Ben. Ben is exactly 18, so the E lets him in.</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3 · 6 of 9):</a:t>
            </a:r>
          </a:p>
          <a:p>
            <a:r>
              <a:t>(No new words. Let the class read this slide, then click.)</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3 · 7 of 9):</a:t>
            </a:r>
          </a:p>
          <a:p>
            <a:r>
              <a:t>Greater than 30 gives only Eli, who is 31. Greater than or equal to 30 gives Dan and Eli. Dan is exactly 30, so he is in this time.</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3 · 8 of 9):</a:t>
            </a:r>
          </a:p>
          <a:p>
            <a:r>
              <a:t>(No new words. Let the class read this slide, then click.)</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3 · 9 of 9):</a:t>
            </a:r>
          </a:p>
          <a:p>
            <a:r>
              <a:t>The handout finds users between 18 and 30. Put greater than or equal 18 and less than or equal 30 on the same field. Both must be true. The result is Ben, Cara and Dan. Remember: the E means equal is allowed.</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Hello, I am [your name]. Part 4 is three more query selectors: dollar in, dollar or, and dollar not. The handout says there are two ways to do an OR query in MongoDB. The first is dollar in. The second is dollar or. After those, dollar not.</a:t>
            </a:r>
          </a:p>
          <a:p/>
          <a:p>
            <a:r>
              <a:t>(Whole part: 308 words, about 2 min 22 s at a calm 130 words a minute. Limit: 3 minutes.)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only. Delete this slide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4 · 2 of 7):</a:t>
            </a:r>
          </a:p>
          <a:p>
            <a:r>
              <a:t>This is the raffle. It is our practice data, built around the handout's winning tickets. There are five tickets: 725, 542, 390, 111 and 222. Ticket 111 is the only one where winner is true. Keep this list in mind for the next two slides.</a:t>
            </a:r>
          </a:p>
          <a:p/>
          <a:p>
            <a:r>
              <a:t>Source: Practice data (ours) for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4 · 3 of 7):</a:t>
            </a:r>
          </a:p>
          <a:p>
            <a:r>
              <a:t>(No new words. Let the class read this slide, then click.)</a:t>
            </a:r>
          </a:p>
          <a:p/>
          <a:p>
            <a:r>
              <a:t>Source: Practice data (ours) for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4 · 4 of 7):</a:t>
            </a:r>
          </a:p>
          <a:p>
            <a:r>
              <a:t>Dollar in checks many values for one key. The handout's winning tickets are 725, 542 and 390. Read the command as: find tickets where the ticket number is in this list. One query returns all three. Tickets 111 and 222 are not in the list, so they do not come back.</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4 · 5 of 7):</a:t>
            </a:r>
          </a:p>
          <a:p>
            <a:r>
              <a:t>Dollar or is more general. The handout says it takes an array of possible criteria, and each one can use a different key. Here the array has two conditions: ticket number 725, or winner is true. A document only needs to pass one of them. Ticket 725 passes the first test. Ticket 111 passes the second. Ticket 542 passes neither, so it is out.</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4 · 6 of 7):</a:t>
            </a:r>
          </a:p>
          <a:p>
            <a:r>
              <a:t>Now three users, also practice data. Rhea earns 8,000 pesos, Mark earns exactly 10,000, and Liza earns 15,000.</a:t>
            </a:r>
          </a:p>
          <a:p/>
          <a:p>
            <a:r>
              <a:t>Source: Practice data (ours) for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4 · 7 of 7):</a:t>
            </a:r>
          </a:p>
          <a:p>
            <a:r>
              <a:t>Dollar not returns the documents that do not match a condition. The handout's example finds employees whose salary is not greater than 10,000 pesos. On its own, dollar g t 10,000 would match only Liza. Dollar not flips it, so we get everyone else: Rhea and Mark. Mark is exactly 10,000, which is not greater, so he is in. To sum up: one key, many values, use dollar in. Many keys, any match, use dollar or. To flip a condition, use dollar not.</a:t>
            </a:r>
          </a:p>
          <a:p/>
          <a:p>
            <a:r>
              <a:t>Source: 08 Handout p.3</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Hello, I am [your name]. Part 5 is querying arrays. An array is a list of values inside one field, written in square brackets. We will insert arrays, then query them three ways.</a:t>
            </a:r>
          </a:p>
          <a:p/>
          <a:p>
            <a:r>
              <a:t>(Whole part: 257 words, about 1 min 59 s at a calm 130 words a minute. Limit: 3 minutes.)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only. Delete this slide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5 · 2 of 8):</a:t>
            </a:r>
          </a:p>
          <a:p>
            <a:r>
              <a:t>We insert the handout's three fruit baskets. Each basket is a document, and its fruit field is an array of three elements. Before: the food collection is empty.</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5 · 3 of 8):</a:t>
            </a:r>
          </a:p>
          <a:p>
            <a:r>
              <a:t>We run three insertOne commands. The shell prints the reply of the last one: inserted I D 3.</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5 · 4 of 8):</a:t>
            </a:r>
          </a:p>
          <a:p>
            <a:r>
              <a:t>After: three baskets. Basket 1 has apple, banana, peach. Basket 2 has apple, kumquat, orange. Basket 3 has cherry, banana, apple. We use these three baskets for the rest of this part.</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5 · 5 of 8):</a:t>
            </a:r>
          </a:p>
          <a:p>
            <a:r>
              <a:t>The handout says querying an array is designed to behave like querying a single value, such as a string, a number or a date. So we simply ask for banana. Any basket with banana anywhere in its list matches. Baskets 1 and 3 come back. Basket 2 has no banana.</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5 · 6 of 8):</a:t>
            </a:r>
          </a:p>
          <a:p>
            <a:r>
              <a:t>What if we need more than one element? The handout uses dollar all. It matches arrays that contain every element in the list. We ask for apple and banana. Baskets 1 and 3 have both. Basket 2 has apple but no banana, so it is out. Order does not matter: basket 3 has banana before apple, and it still matches.</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5 · 7 of 8):</a:t>
            </a:r>
          </a:p>
          <a:p>
            <a:r>
              <a:t>Dollar size matches arrays with exactly that many elements. Every basket has 3 fruits, so dollar size 3 returns all three. A basket with 2 or 4 fruits would not match. Arrays answer like single values.</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5 · 8 of 8):</a:t>
            </a:r>
          </a:p>
          <a:p>
            <a:r>
              <a:t>(No new words. Let the class read this slide, then click.)</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Hello, I am [your name]. Part 6 is dollar slice, and embedded documents: documents inside documents.</a:t>
            </a:r>
          </a:p>
          <a:p/>
          <a:p>
            <a:r>
              <a:t>(Whole part: 199 words, about 1 min 32 s at a calm 130 words a minute. Limit: 3 minutes.)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only. Delete this slide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6 · 2 of 9):</a:t>
            </a:r>
          </a:p>
          <a:p>
            <a:r>
              <a:t>Dollar slice returns only part of an array. The handout's example is a blog post with many comments. Our practice post has 40 comments, named c1 to c40. Slice 10 returns the first 10: c1 to c10. The other 30 are still saved. We just do not show them.</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6 · 3 of 9):</a:t>
            </a:r>
          </a:p>
          <a:p>
            <a:r>
              <a:t>(No new words. Let the class read this slide, then click.)</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6 · 4 of 9):</a:t>
            </a:r>
          </a:p>
          <a:p>
            <a:r>
              <a:t>Slice minus 10 returns the last 10: c31 to c40. Positive numbers count from the front. Negative numbers count from the back.</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6 · 5 of 9):</a:t>
            </a:r>
          </a:p>
          <a:p>
            <a:r>
              <a:t>(No new words. Let the class read this slide, then click.)</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6 · 6 of 9):</a:t>
            </a:r>
          </a:p>
          <a:p>
            <a:r>
              <a:t>Slice with two numbers gives a page from the middle. The first number, 23, means skip 23. The second number, 10, means take 10. So we get the 24th to the 33rd: c24 to c33. The handout adds: if there were fewer than 33 elements, it would return as many as possible.</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6 · 7 of 9):</a:t>
            </a:r>
          </a:p>
          <a:p>
            <a:r>
              <a:t>(No new words. Let the class read this slide, then click.)</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6 · 8 of 9):</a:t>
            </a:r>
          </a:p>
          <a:p>
            <a:r>
              <a:t>An embedded document is a document inside another document. Here, John's name field holds a whole document with first and last. To query inside it, use dot notation, in quotes: name dot first, and name dot last. Both must match, and John Escalona comes back. To sum up: trim what you see with slice, and reach inside with a dot.</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6 · 9 of 9):</a:t>
            </a:r>
          </a:p>
          <a:p>
            <a:r>
              <a:t>(No new words. Let the class read this slide, then click.)</a:t>
            </a:r>
          </a:p>
          <a:p/>
          <a:p>
            <a:r>
              <a:t>Source: 08 Handout p.4</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Hello, I am [your name]. Part 7 is cloud computing and its three implementation types.</a:t>
            </a:r>
          </a:p>
          <a:p/>
          <a:p>
            <a:r>
              <a:t>(Whole part: 228 words, about 1 min 45 s at a calm 130 words a minute. Limit: 3 minutes.)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7 · 2 of 6):</a:t>
            </a:r>
          </a:p>
          <a:p>
            <a:r>
              <a:t>Cloud computing is the delivery of services through the Internet: data storage, servers, databases, networking and software. Instead of keeping files on a local hard drive, cloud storage saves them to a remote database. If a device can reach the web, it can reach the data and the programs to run it.</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7 · 3 of 6):</a:t>
            </a:r>
          </a:p>
          <a:p>
            <a:r>
              <a:t>The implementation type depends on two things: where the infrastructure is, and who controls it. There are three types: public, private and hybrid.</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7 · 4 of 6):</a:t>
            </a:r>
          </a:p>
          <a:p>
            <a:r>
              <a:t>A public cloud is built by a third party to sell cloud services to the general public. It is the most common type. Examples are Amazon Web Services, Google Application Engine and Microsoft Azure. It is reliable, low cost, needs zero maintenance and scales on demand. But it is not suitable for organizations with sensitive information under strict security rules.</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7 · 5 of 6):</a:t>
            </a:r>
          </a:p>
          <a:p>
            <a:r>
              <a:t>A private cloud is built by an organization only for its own needs. Large organizations spread across many places use it to add agility and flexibility. Their own I T staff or an outside third party can manage it.</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7 · 6 of 6):</a:t>
            </a:r>
          </a:p>
          <a:p>
            <a:r>
              <a:t>A hybrid cloud combines private and public. For example, a business uses the public cloud for high-volume apps like email, and a private cloud for sensitive things like financials and data recovery. Rent it, own it, or mix both.</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Hello, I am [your name]. Part 8 is the types of cloud services, and the ten benefits of cloud computing.</a:t>
            </a:r>
          </a:p>
          <a:p/>
          <a:p>
            <a:r>
              <a:t>(Whole part: 243 words, about 1 min 52 s at a calm 130 words a minute. Limit: 3 minutes.)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8 · 2 of 7):</a:t>
            </a:r>
          </a:p>
          <a:p>
            <a:r>
              <a:t>Cloud services follow an a la carte model. You pick what you need, and services can build on each other. There are three: software, platform, and infrastructure as a service.</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8 · 3 of 7):</a:t>
            </a:r>
          </a:p>
          <a:p>
            <a:r>
              <a:t>Software as a Service, or SaaS. The provider offers ready-to-use applications that run in the cloud. You can customize some parts, but not the application itself. Examples: Microsoft Office 365, Google Docs, TurboTax Online and SCALA digital signage.</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8 · 4 of 7):</a:t>
            </a:r>
          </a:p>
          <a:p>
            <a:r>
              <a:t>Platform as a Service, or PaaS. The provider gives tools, languages and interfaces to build and run your own applications. You manage your apps, not the infrastructure. Example: the Microsoft Azure platform with dot NET and Java.</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8 · 5 of 7):</a:t>
            </a:r>
          </a:p>
          <a:p>
            <a:r>
              <a:t>Infrastructure as a Service, or IaaS. You get resources on demand: storage, servers, databases, processing, even a full virtual desktop. You add or remove them as needed. Example: an Amazon Web Services server running Linux and Apache, with 16 gigabytes of RAM and 160 gigabytes of storage.</a:t>
            </a:r>
          </a:p>
          <a:p/>
          <a:p>
            <a:r>
              <a:t>Source: 09 Handout p.1</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8 · 6 of 7):</a:t>
            </a:r>
          </a:p>
          <a:p>
            <a:r>
              <a:t>The handout lists ten benefits. One, instant scalability: scale up or down to meet demand. Two, anywhere accessibility. Three, increased speed and agility: add capacity with a click. Four, reduced expenditure: cost depends on use. Five, automatic updates and patches.</a:t>
            </a:r>
          </a:p>
          <a:p/>
          <a:p>
            <a:r>
              <a:t>Source: 09 Handout p.1-2</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DO: run the commands, paste screenshots into the orange boxes, fill the blanks.</a:t>
            </a:r>
          </a:p>
          <a:p>
            <a:r>
              <a:t>Suggested script:</a:t>
            </a:r>
          </a:p>
          <a:p>
            <a:r>
              <a:t>SAY (Part 8 · 7 of 7):</a:t>
            </a:r>
          </a:p>
          <a:p>
            <a:r>
              <a:t>Six, disaster recovery. Seven, high security. Eight, reduced carbon footprint. Nine, flexibility: any device, any place. Ten, enterprise collaboration: shared, central documents. Scale up fast, and pay for what you use.</a:t>
            </a:r>
          </a:p>
          <a:p/>
          <a:p>
            <a:r>
              <a:t>Source: 09 Handout p.2</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Rectangle 1"/>
          <p:cNvSpPr/>
          <p:nvPr/>
        </p:nvSpPr>
        <p:spPr>
          <a:xfrm>
            <a:off x="0" y="5257800"/>
            <a:ext cx="12191695" cy="91440"/>
          </a:xfrm>
          <a:prstGeom prst="rect">
            <a:avLst/>
          </a:prstGeom>
          <a:solidFill>
            <a:srgbClr val="F2B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822960"/>
            <a:ext cx="11368735" cy="548640"/>
          </a:xfrm>
          <a:prstGeom prst="rect">
            <a:avLst/>
          </a:prstGeom>
          <a:noFill/>
        </p:spPr>
        <p:txBody>
          <a:bodyPr wrap="square" anchor="t" lIns="0" rIns="0" tIns="0" bIns="0">
            <a:spAutoFit/>
          </a:bodyPr>
          <a:lstStyle/>
          <a:p>
            <a:pPr algn="l">
              <a:lnSpc>
                <a:spcPct val="100000"/>
              </a:lnSpc>
            </a:pPr>
            <a:r>
              <a:rPr sz="2800" b="1">
                <a:solidFill>
                  <a:srgbClr val="F2B27A"/>
                </a:solidFill>
                <a:latin typeface="Arial"/>
              </a:rPr>
              <a:t>IT2003 · ADVANCED DATABASE SYSTEMS</a:t>
            </a:r>
          </a:p>
        </p:txBody>
      </p:sp>
      <p:sp>
        <p:nvSpPr>
          <p:cNvPr id="4" name="TextBox 3"/>
          <p:cNvSpPr txBox="1"/>
          <p:nvPr/>
        </p:nvSpPr>
        <p:spPr>
          <a:xfrm>
            <a:off x="411480" y="1463040"/>
            <a:ext cx="11368735" cy="2194560"/>
          </a:xfrm>
          <a:prstGeom prst="rect">
            <a:avLst/>
          </a:prstGeom>
          <a:noFill/>
        </p:spPr>
        <p:txBody>
          <a:bodyPr wrap="square" anchor="t" lIns="0" rIns="0" tIns="0" bIns="0">
            <a:spAutoFit/>
          </a:bodyPr>
          <a:lstStyle/>
          <a:p>
            <a:pPr algn="l">
              <a:lnSpc>
                <a:spcPct val="95000"/>
              </a:lnSpc>
            </a:pPr>
            <a:r>
              <a:rPr sz="6000" b="1">
                <a:solidFill>
                  <a:srgbClr val="FFFFFF"/>
                </a:solidFill>
                <a:latin typeface="Arial"/>
              </a:rPr>
              <a:t>MongoDB Commands</a:t>
            </a:r>
          </a:p>
          <a:p>
            <a:pPr algn="l">
              <a:lnSpc>
                <a:spcPct val="95000"/>
              </a:lnSpc>
            </a:pPr>
            <a:r>
              <a:rPr sz="6000" b="1">
                <a:solidFill>
                  <a:srgbClr val="FFFFFF"/>
                </a:solidFill>
                <a:latin typeface="Arial"/>
              </a:rPr>
              <a:t>&amp; Cloud Computing</a:t>
            </a:r>
          </a:p>
        </p:txBody>
      </p:sp>
      <p:sp>
        <p:nvSpPr>
          <p:cNvPr id="5" name="TextBox 4"/>
          <p:cNvSpPr txBox="1"/>
          <p:nvPr/>
        </p:nvSpPr>
        <p:spPr>
          <a:xfrm>
            <a:off x="411480" y="3566160"/>
            <a:ext cx="11368735" cy="1280160"/>
          </a:xfrm>
          <a:prstGeom prst="rect">
            <a:avLst/>
          </a:prstGeom>
          <a:noFill/>
        </p:spPr>
        <p:txBody>
          <a:bodyPr wrap="square" anchor="t" lIns="0" rIns="0" tIns="0" bIns="0">
            <a:spAutoFit/>
          </a:bodyPr>
          <a:lstStyle/>
          <a:p>
            <a:pPr algn="l">
              <a:lnSpc>
                <a:spcPct val="100000"/>
              </a:lnSpc>
            </a:pPr>
            <a:r>
              <a:rPr sz="2800" b="0">
                <a:solidFill>
                  <a:srgbClr val="E6ECF2"/>
                </a:solidFill>
                <a:latin typeface="Arial"/>
              </a:rPr>
              <a:t>Shared group deck · Part 1 is done · Parts 2-8: fill the orange boxes</a:t>
            </a:r>
          </a:p>
        </p:txBody>
      </p:sp>
      <p:sp>
        <p:nvSpPr>
          <p:cNvPr id="6" name="TextBox 5"/>
          <p:cNvSpPr txBox="1"/>
          <p:nvPr/>
        </p:nvSpPr>
        <p:spPr>
          <a:xfrm>
            <a:off x="411480" y="5623560"/>
            <a:ext cx="11368735" cy="640080"/>
          </a:xfrm>
          <a:prstGeom prst="rect">
            <a:avLst/>
          </a:prstGeom>
          <a:noFill/>
        </p:spPr>
        <p:txBody>
          <a:bodyPr wrap="square" anchor="t" lIns="0" rIns="0" tIns="0" bIns="0">
            <a:spAutoFit/>
          </a:bodyPr>
          <a:lstStyle/>
          <a:p>
            <a:pPr algn="l">
              <a:lnSpc>
                <a:spcPct val="100000"/>
              </a:lnSpc>
            </a:pPr>
            <a:r>
              <a:rPr sz="3200" b="1">
                <a:solidFill>
                  <a:srgbClr val="FFFFFF"/>
                </a:solidFill>
                <a:latin typeface="Arial"/>
              </a:rPr>
              <a:t>Section 3.1A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How to do your part (read this first)</a:t>
            </a:r>
          </a:p>
        </p:txBody>
      </p:sp>
      <p:sp>
        <p:nvSpPr>
          <p:cNvPr id="4" name="EXEMPT_HELPER"/>
          <p:cNvSpPr txBox="1"/>
          <p:nvPr/>
        </p:nvSpPr>
        <p:spPr>
          <a:xfrm>
            <a:off x="7863840" y="45720"/>
            <a:ext cx="3916375" cy="274320"/>
          </a:xfrm>
          <a:prstGeom prst="rect">
            <a:avLst/>
          </a:prstGeom>
          <a:noFill/>
        </p:spPr>
        <p:txBody>
          <a:bodyPr wrap="square" anchor="t" lIns="0" rIns="0" tIns="0" bIns="0">
            <a:spAutoFit/>
          </a:bodyPr>
          <a:lstStyle/>
          <a:p>
            <a:pPr algn="r">
              <a:lnSpc>
                <a:spcPct val="100000"/>
              </a:lnSpc>
            </a:pPr>
            <a:r>
              <a:rPr sz="1400" b="1">
                <a:solidFill>
                  <a:srgbClr val="C2410C"/>
                </a:solidFill>
                <a:latin typeface="Arial"/>
              </a:rPr>
              <a:t>HELPER · delete before presenting</a:t>
            </a:r>
          </a:p>
        </p:txBody>
      </p:sp>
      <p:sp>
        <p:nvSpPr>
          <p:cNvPr id="5" name="EXEMPT_HOWTO"/>
          <p:cNvSpPr/>
          <p:nvPr/>
        </p:nvSpPr>
        <p:spPr>
          <a:xfrm>
            <a:off x="411480" y="1188720"/>
            <a:ext cx="5577840" cy="109728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MPT_HOWTO"/>
          <p:cNvSpPr txBox="1"/>
          <p:nvPr/>
        </p:nvSpPr>
        <p:spPr>
          <a:xfrm>
            <a:off x="521208" y="1188720"/>
            <a:ext cx="731520" cy="109728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1</a:t>
            </a:r>
          </a:p>
        </p:txBody>
      </p:sp>
      <p:sp>
        <p:nvSpPr>
          <p:cNvPr id="7" name="EXEMPT_HOWTO"/>
          <p:cNvSpPr txBox="1"/>
          <p:nvPr/>
        </p:nvSpPr>
        <p:spPr>
          <a:xfrm>
            <a:off x="1234440" y="1280160"/>
            <a:ext cx="4663440" cy="960120"/>
          </a:xfrm>
          <a:prstGeom prst="rect">
            <a:avLst/>
          </a:prstGeom>
          <a:noFill/>
        </p:spPr>
        <p:txBody>
          <a:bodyPr wrap="square" anchor="t" lIns="0" rIns="0" tIns="0" bIns="0">
            <a:spAutoFit/>
          </a:bodyPr>
          <a:lstStyle/>
          <a:p>
            <a:pPr algn="l">
              <a:lnSpc>
                <a:spcPct val="100000"/>
              </a:lnSpc>
            </a:pPr>
            <a:r>
              <a:rPr sz="2000" b="1">
                <a:solidFill>
                  <a:srgbClr val="14202E"/>
                </a:solidFill>
                <a:latin typeface="Arial"/>
              </a:rPr>
              <a:t>Find your part</a:t>
            </a:r>
          </a:p>
          <a:p>
            <a:pPr algn="l">
              <a:lnSpc>
                <a:spcPct val="100000"/>
              </a:lnSpc>
            </a:pPr>
            <a:r>
              <a:rPr sz="1600" b="0">
                <a:solidFill>
                  <a:srgbClr val="4A5868"/>
                </a:solidFill>
                <a:latin typeface="Arial"/>
              </a:rPr>
              <a:t>The 'Eight parts' slide lists them. Your part has a big number divider.</a:t>
            </a:r>
          </a:p>
        </p:txBody>
      </p:sp>
      <p:sp>
        <p:nvSpPr>
          <p:cNvPr id="8" name="EXEMPT_HOWTO"/>
          <p:cNvSpPr/>
          <p:nvPr/>
        </p:nvSpPr>
        <p:spPr>
          <a:xfrm>
            <a:off x="411480" y="2404872"/>
            <a:ext cx="5577840" cy="109728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XEMPT_HOWTO"/>
          <p:cNvSpPr txBox="1"/>
          <p:nvPr/>
        </p:nvSpPr>
        <p:spPr>
          <a:xfrm>
            <a:off x="521208" y="2404872"/>
            <a:ext cx="731520" cy="109728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2</a:t>
            </a:r>
          </a:p>
        </p:txBody>
      </p:sp>
      <p:sp>
        <p:nvSpPr>
          <p:cNvPr id="10" name="EXEMPT_HOWTO"/>
          <p:cNvSpPr txBox="1"/>
          <p:nvPr/>
        </p:nvSpPr>
        <p:spPr>
          <a:xfrm>
            <a:off x="1234440" y="2496312"/>
            <a:ext cx="4663440" cy="960120"/>
          </a:xfrm>
          <a:prstGeom prst="rect">
            <a:avLst/>
          </a:prstGeom>
          <a:noFill/>
        </p:spPr>
        <p:txBody>
          <a:bodyPr wrap="square" anchor="t" lIns="0" rIns="0" tIns="0" bIns="0">
            <a:spAutoFit/>
          </a:bodyPr>
          <a:lstStyle/>
          <a:p>
            <a:pPr algn="l">
              <a:lnSpc>
                <a:spcPct val="100000"/>
              </a:lnSpc>
            </a:pPr>
            <a:r>
              <a:rPr sz="2000" b="1">
                <a:solidFill>
                  <a:srgbClr val="14202E"/>
                </a:solidFill>
                <a:latin typeface="Arial"/>
              </a:rPr>
              <a:t>Look at Part 1</a:t>
            </a:r>
          </a:p>
          <a:p>
            <a:pPr algn="l">
              <a:lnSpc>
                <a:spcPct val="100000"/>
              </a:lnSpc>
            </a:pPr>
            <a:r>
              <a:rPr sz="1600" b="0">
                <a:solidFill>
                  <a:srgbClr val="4A5868"/>
                </a:solidFill>
                <a:latin typeface="Arial"/>
              </a:rPr>
              <a:t>Part 1 is finished. Make yours look like it.</a:t>
            </a:r>
          </a:p>
        </p:txBody>
      </p:sp>
      <p:sp>
        <p:nvSpPr>
          <p:cNvPr id="11" name="EXEMPT_HOWTO"/>
          <p:cNvSpPr/>
          <p:nvPr/>
        </p:nvSpPr>
        <p:spPr>
          <a:xfrm>
            <a:off x="411480" y="3621024"/>
            <a:ext cx="5577840" cy="109728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XEMPT_HOWTO"/>
          <p:cNvSpPr txBox="1"/>
          <p:nvPr/>
        </p:nvSpPr>
        <p:spPr>
          <a:xfrm>
            <a:off x="521208" y="3621024"/>
            <a:ext cx="731520" cy="109728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3</a:t>
            </a:r>
          </a:p>
        </p:txBody>
      </p:sp>
      <p:sp>
        <p:nvSpPr>
          <p:cNvPr id="13" name="EXEMPT_HOWTO"/>
          <p:cNvSpPr txBox="1"/>
          <p:nvPr/>
        </p:nvSpPr>
        <p:spPr>
          <a:xfrm>
            <a:off x="1234440" y="3712463"/>
            <a:ext cx="4663440" cy="960120"/>
          </a:xfrm>
          <a:prstGeom prst="rect">
            <a:avLst/>
          </a:prstGeom>
          <a:noFill/>
        </p:spPr>
        <p:txBody>
          <a:bodyPr wrap="square" anchor="t" lIns="0" rIns="0" tIns="0" bIns="0">
            <a:spAutoFit/>
          </a:bodyPr>
          <a:lstStyle/>
          <a:p>
            <a:pPr algn="l">
              <a:lnSpc>
                <a:spcPct val="100000"/>
              </a:lnSpc>
            </a:pPr>
            <a:r>
              <a:rPr sz="2000" b="1">
                <a:solidFill>
                  <a:srgbClr val="14202E"/>
                </a:solidFill>
                <a:latin typeface="Arial"/>
              </a:rPr>
              <a:t>Open the MongoDB shell</a:t>
            </a:r>
          </a:p>
          <a:p>
            <a:pPr algn="l">
              <a:lnSpc>
                <a:spcPct val="100000"/>
              </a:lnSpc>
            </a:pPr>
            <a:r>
              <a:rPr sz="1600" b="0">
                <a:solidFill>
                  <a:srgbClr val="4A5868"/>
                </a:solidFill>
                <a:latin typeface="Arial"/>
              </a:rPr>
              <a:t>MongoDB Compass → Connect → click  &gt;_ Open MongoDB shell.</a:t>
            </a:r>
          </a:p>
        </p:txBody>
      </p:sp>
      <p:sp>
        <p:nvSpPr>
          <p:cNvPr id="14" name="EXEMPT_HOWTO"/>
          <p:cNvSpPr/>
          <p:nvPr/>
        </p:nvSpPr>
        <p:spPr>
          <a:xfrm>
            <a:off x="411480" y="4837176"/>
            <a:ext cx="5577840" cy="109728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XEMPT_HOWTO"/>
          <p:cNvSpPr txBox="1"/>
          <p:nvPr/>
        </p:nvSpPr>
        <p:spPr>
          <a:xfrm>
            <a:off x="521208" y="4837176"/>
            <a:ext cx="731520" cy="109728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4</a:t>
            </a:r>
          </a:p>
        </p:txBody>
      </p:sp>
      <p:sp>
        <p:nvSpPr>
          <p:cNvPr id="16" name="EXEMPT_HOWTO"/>
          <p:cNvSpPr txBox="1"/>
          <p:nvPr/>
        </p:nvSpPr>
        <p:spPr>
          <a:xfrm>
            <a:off x="1234440" y="4928616"/>
            <a:ext cx="4663440" cy="960120"/>
          </a:xfrm>
          <a:prstGeom prst="rect">
            <a:avLst/>
          </a:prstGeom>
          <a:noFill/>
        </p:spPr>
        <p:txBody>
          <a:bodyPr wrap="square" anchor="t" lIns="0" rIns="0" tIns="0" bIns="0">
            <a:spAutoFit/>
          </a:bodyPr>
          <a:lstStyle/>
          <a:p>
            <a:pPr algn="l">
              <a:lnSpc>
                <a:spcPct val="100000"/>
              </a:lnSpc>
            </a:pPr>
            <a:r>
              <a:rPr sz="2000" b="1">
                <a:solidFill>
                  <a:srgbClr val="14202E"/>
                </a:solidFill>
                <a:latin typeface="Arial"/>
              </a:rPr>
              <a:t>Run your SETUP slide</a:t>
            </a:r>
          </a:p>
          <a:p>
            <a:pPr algn="l">
              <a:lnSpc>
                <a:spcPct val="100000"/>
              </a:lnSpc>
            </a:pPr>
            <a:r>
              <a:rPr sz="1600" b="0">
                <a:solidFill>
                  <a:srgbClr val="4A5868"/>
                </a:solidFill>
                <a:latin typeface="Arial"/>
              </a:rPr>
              <a:t>Copy all its lines, paste in the shell, press Enter.</a:t>
            </a:r>
          </a:p>
        </p:txBody>
      </p:sp>
      <p:sp>
        <p:nvSpPr>
          <p:cNvPr id="17" name="EXEMPT_HOWTO"/>
          <p:cNvSpPr/>
          <p:nvPr/>
        </p:nvSpPr>
        <p:spPr>
          <a:xfrm>
            <a:off x="6172200" y="1188720"/>
            <a:ext cx="5577840" cy="109728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XEMPT_HOWTO"/>
          <p:cNvSpPr txBox="1"/>
          <p:nvPr/>
        </p:nvSpPr>
        <p:spPr>
          <a:xfrm>
            <a:off x="6281928" y="1188720"/>
            <a:ext cx="731520" cy="109728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5</a:t>
            </a:r>
          </a:p>
        </p:txBody>
      </p:sp>
      <p:sp>
        <p:nvSpPr>
          <p:cNvPr id="19" name="EXEMPT_HOWTO"/>
          <p:cNvSpPr txBox="1"/>
          <p:nvPr/>
        </p:nvSpPr>
        <p:spPr>
          <a:xfrm>
            <a:off x="6995160" y="1280160"/>
            <a:ext cx="4663440" cy="960120"/>
          </a:xfrm>
          <a:prstGeom prst="rect">
            <a:avLst/>
          </a:prstGeom>
          <a:noFill/>
        </p:spPr>
        <p:txBody>
          <a:bodyPr wrap="square" anchor="t" lIns="0" rIns="0" tIns="0" bIns="0">
            <a:spAutoFit/>
          </a:bodyPr>
          <a:lstStyle/>
          <a:p>
            <a:pPr algn="l">
              <a:lnSpc>
                <a:spcPct val="100000"/>
              </a:lnSpc>
            </a:pPr>
            <a:r>
              <a:rPr sz="2000" b="1">
                <a:solidFill>
                  <a:srgbClr val="14202E"/>
                </a:solidFill>
                <a:latin typeface="Arial"/>
              </a:rPr>
              <a:t>Go box by box, top to bottom</a:t>
            </a:r>
          </a:p>
          <a:p>
            <a:pPr algn="l">
              <a:lnSpc>
                <a:spcPct val="100000"/>
              </a:lnSpc>
            </a:pPr>
            <a:r>
              <a:rPr sz="1600" b="0">
                <a:solidFill>
                  <a:srgbClr val="4A5868"/>
                </a:solidFill>
                <a:latin typeface="Arial"/>
              </a:rPr>
              <a:t>Each orange box says what to run. Order: 1 BEFORE, 2 COMMAND, 3 AFTER.</a:t>
            </a:r>
          </a:p>
        </p:txBody>
      </p:sp>
      <p:sp>
        <p:nvSpPr>
          <p:cNvPr id="20" name="EXEMPT_HOWTO"/>
          <p:cNvSpPr/>
          <p:nvPr/>
        </p:nvSpPr>
        <p:spPr>
          <a:xfrm>
            <a:off x="6172200" y="2404872"/>
            <a:ext cx="5577840" cy="109728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XEMPT_HOWTO"/>
          <p:cNvSpPr txBox="1"/>
          <p:nvPr/>
        </p:nvSpPr>
        <p:spPr>
          <a:xfrm>
            <a:off x="6281928" y="2404872"/>
            <a:ext cx="731520" cy="109728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6</a:t>
            </a:r>
          </a:p>
        </p:txBody>
      </p:sp>
      <p:sp>
        <p:nvSpPr>
          <p:cNvPr id="22" name="EXEMPT_HOWTO"/>
          <p:cNvSpPr txBox="1"/>
          <p:nvPr/>
        </p:nvSpPr>
        <p:spPr>
          <a:xfrm>
            <a:off x="6995160" y="2496312"/>
            <a:ext cx="4663440" cy="960120"/>
          </a:xfrm>
          <a:prstGeom prst="rect">
            <a:avLst/>
          </a:prstGeom>
          <a:noFill/>
        </p:spPr>
        <p:txBody>
          <a:bodyPr wrap="square" anchor="t" lIns="0" rIns="0" tIns="0" bIns="0">
            <a:spAutoFit/>
          </a:bodyPr>
          <a:lstStyle/>
          <a:p>
            <a:pPr algn="l">
              <a:lnSpc>
                <a:spcPct val="100000"/>
              </a:lnSpc>
            </a:pPr>
            <a:r>
              <a:rPr sz="2000" b="1">
                <a:solidFill>
                  <a:srgbClr val="14202E"/>
                </a:solidFill>
                <a:latin typeface="Arial"/>
              </a:rPr>
              <a:t>Paste a screenshot</a:t>
            </a:r>
          </a:p>
          <a:p>
            <a:pPr algn="l">
              <a:lnSpc>
                <a:spcPct val="100000"/>
              </a:lnSpc>
            </a:pPr>
            <a:r>
              <a:rPr sz="1600" b="0">
                <a:solidFill>
                  <a:srgbClr val="4A5868"/>
                </a:solidFill>
                <a:latin typeface="Arial"/>
              </a:rPr>
              <a:t>In Compass press Ctrl and = until the text is big. Win + Shift + S, then click the box's edge, Delete, Ctrl + V.</a:t>
            </a:r>
          </a:p>
        </p:txBody>
      </p:sp>
      <p:sp>
        <p:nvSpPr>
          <p:cNvPr id="23" name="EXEMPT_HOWTO"/>
          <p:cNvSpPr/>
          <p:nvPr/>
        </p:nvSpPr>
        <p:spPr>
          <a:xfrm>
            <a:off x="6172200" y="3621024"/>
            <a:ext cx="5577840" cy="109728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XEMPT_HOWTO"/>
          <p:cNvSpPr txBox="1"/>
          <p:nvPr/>
        </p:nvSpPr>
        <p:spPr>
          <a:xfrm>
            <a:off x="6281928" y="3621024"/>
            <a:ext cx="731520" cy="109728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7</a:t>
            </a:r>
          </a:p>
        </p:txBody>
      </p:sp>
      <p:sp>
        <p:nvSpPr>
          <p:cNvPr id="25" name="EXEMPT_HOWTO"/>
          <p:cNvSpPr txBox="1"/>
          <p:nvPr/>
        </p:nvSpPr>
        <p:spPr>
          <a:xfrm>
            <a:off x="6995160" y="3712463"/>
            <a:ext cx="4663440" cy="960120"/>
          </a:xfrm>
          <a:prstGeom prst="rect">
            <a:avLst/>
          </a:prstGeom>
          <a:noFill/>
        </p:spPr>
        <p:txBody>
          <a:bodyPr wrap="square" anchor="t" lIns="0" rIns="0" tIns="0" bIns="0">
            <a:spAutoFit/>
          </a:bodyPr>
          <a:lstStyle/>
          <a:p>
            <a:pPr algn="l">
              <a:lnSpc>
                <a:spcPct val="100000"/>
              </a:lnSpc>
            </a:pPr>
            <a:r>
              <a:rPr sz="2000" b="1">
                <a:solidFill>
                  <a:srgbClr val="14202E"/>
                </a:solidFill>
                <a:latin typeface="Arial"/>
              </a:rPr>
              <a:t>Fill the blanks</a:t>
            </a:r>
          </a:p>
          <a:p>
            <a:pPr algn="l">
              <a:lnSpc>
                <a:spcPct val="100000"/>
              </a:lnSpc>
            </a:pPr>
            <a:r>
              <a:rPr sz="1600" b="0">
                <a:solidFill>
                  <a:srgbClr val="4A5868"/>
                </a:solidFill>
                <a:latin typeface="Arial"/>
              </a:rPr>
              <a:t>Replace every ______ using the handout page in the footer.</a:t>
            </a:r>
          </a:p>
        </p:txBody>
      </p:sp>
      <p:sp>
        <p:nvSpPr>
          <p:cNvPr id="26" name="EXEMPT_HOWTO"/>
          <p:cNvSpPr/>
          <p:nvPr/>
        </p:nvSpPr>
        <p:spPr>
          <a:xfrm>
            <a:off x="6172200" y="4837176"/>
            <a:ext cx="5577840" cy="109728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XEMPT_HOWTO"/>
          <p:cNvSpPr txBox="1"/>
          <p:nvPr/>
        </p:nvSpPr>
        <p:spPr>
          <a:xfrm>
            <a:off x="6281928" y="4837176"/>
            <a:ext cx="731520" cy="109728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8</a:t>
            </a:r>
          </a:p>
        </p:txBody>
      </p:sp>
      <p:sp>
        <p:nvSpPr>
          <p:cNvPr id="28" name="EXEMPT_HOWTO"/>
          <p:cNvSpPr txBox="1"/>
          <p:nvPr/>
        </p:nvSpPr>
        <p:spPr>
          <a:xfrm>
            <a:off x="6995160" y="4928616"/>
            <a:ext cx="4663440" cy="960120"/>
          </a:xfrm>
          <a:prstGeom prst="rect">
            <a:avLst/>
          </a:prstGeom>
          <a:noFill/>
        </p:spPr>
        <p:txBody>
          <a:bodyPr wrap="square" anchor="t" lIns="0" rIns="0" tIns="0" bIns="0">
            <a:spAutoFit/>
          </a:bodyPr>
          <a:lstStyle/>
          <a:p>
            <a:pPr algn="l">
              <a:lnSpc>
                <a:spcPct val="100000"/>
              </a:lnSpc>
            </a:pPr>
            <a:r>
              <a:rPr sz="2000" b="1">
                <a:solidFill>
                  <a:srgbClr val="14202E"/>
                </a:solidFill>
                <a:latin typeface="Arial"/>
              </a:rPr>
              <a:t>Practice the script</a:t>
            </a:r>
          </a:p>
          <a:p>
            <a:pPr algn="l">
              <a:lnSpc>
                <a:spcPct val="100000"/>
              </a:lnSpc>
            </a:pPr>
            <a:r>
              <a:rPr sz="1600" b="0">
                <a:solidFill>
                  <a:srgbClr val="4A5868"/>
                </a:solidFill>
                <a:latin typeface="Arial"/>
              </a:rPr>
              <a:t>View → Notes. Read it aloud with a timer. Stay under 3 minutes.</a:t>
            </a:r>
          </a:p>
        </p:txBody>
      </p:sp>
      <p:sp>
        <p:nvSpPr>
          <p:cNvPr id="29" name="EXEMPT_HOWTO"/>
          <p:cNvSpPr txBox="1"/>
          <p:nvPr/>
        </p:nvSpPr>
        <p:spPr>
          <a:xfrm>
            <a:off x="411480" y="6080760"/>
            <a:ext cx="11368735" cy="365760"/>
          </a:xfrm>
          <a:prstGeom prst="rect">
            <a:avLst/>
          </a:prstGeom>
          <a:noFill/>
        </p:spPr>
        <p:txBody>
          <a:bodyPr wrap="square" anchor="t" lIns="0" rIns="0" tIns="0" bIns="0">
            <a:spAutoFit/>
          </a:bodyPr>
          <a:lstStyle/>
          <a:p>
            <a:pPr algn="l">
              <a:lnSpc>
                <a:spcPct val="100000"/>
              </a:lnSpc>
            </a:pPr>
            <a:r>
              <a:rPr sz="1800" b="1">
                <a:solidFill>
                  <a:srgbClr val="C2410C"/>
                </a:solidFill>
                <a:latin typeface="Arial"/>
              </a:rPr>
              <a:t>Only edit YOUR part. Delete every slide marked HELPER before presenting.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Eight parts · 3 minutes each</a:t>
            </a:r>
          </a:p>
        </p:txBody>
      </p:sp>
      <p:sp>
        <p:nvSpPr>
          <p:cNvPr id="4" name="Rectangle 3"/>
          <p:cNvSpPr/>
          <p:nvPr/>
        </p:nvSpPr>
        <p:spPr>
          <a:xfrm>
            <a:off x="411480" y="1097280"/>
            <a:ext cx="5577840" cy="114300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822960" cy="114300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1</a:t>
            </a:r>
          </a:p>
        </p:txBody>
      </p:sp>
      <p:sp>
        <p:nvSpPr>
          <p:cNvPr id="6" name="TextBox 5"/>
          <p:cNvSpPr txBox="1"/>
          <p:nvPr/>
        </p:nvSpPr>
        <p:spPr>
          <a:xfrm>
            <a:off x="1371600" y="1097280"/>
            <a:ext cx="4526280" cy="1143000"/>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Create &amp; Delete</a:t>
            </a:r>
          </a:p>
        </p:txBody>
      </p:sp>
      <p:sp>
        <p:nvSpPr>
          <p:cNvPr id="7" name="Rectangle 6"/>
          <p:cNvSpPr/>
          <p:nvPr/>
        </p:nvSpPr>
        <p:spPr>
          <a:xfrm>
            <a:off x="411480" y="2359152"/>
            <a:ext cx="5577840" cy="114300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59152"/>
            <a:ext cx="822960" cy="114300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2</a:t>
            </a:r>
          </a:p>
        </p:txBody>
      </p:sp>
      <p:sp>
        <p:nvSpPr>
          <p:cNvPr id="9" name="TextBox 8"/>
          <p:cNvSpPr txBox="1"/>
          <p:nvPr/>
        </p:nvSpPr>
        <p:spPr>
          <a:xfrm>
            <a:off x="1371600" y="2359152"/>
            <a:ext cx="4526280" cy="1143000"/>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Find, Replace &amp; Update</a:t>
            </a:r>
          </a:p>
        </p:txBody>
      </p:sp>
      <p:sp>
        <p:nvSpPr>
          <p:cNvPr id="10" name="Rectangle 9"/>
          <p:cNvSpPr/>
          <p:nvPr/>
        </p:nvSpPr>
        <p:spPr>
          <a:xfrm>
            <a:off x="411480" y="3621024"/>
            <a:ext cx="5577840" cy="114300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621024"/>
            <a:ext cx="822960" cy="114300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3</a:t>
            </a:r>
          </a:p>
        </p:txBody>
      </p:sp>
      <p:sp>
        <p:nvSpPr>
          <p:cNvPr id="12" name="TextBox 11"/>
          <p:cNvSpPr txBox="1"/>
          <p:nvPr/>
        </p:nvSpPr>
        <p:spPr>
          <a:xfrm>
            <a:off x="1371600" y="3621024"/>
            <a:ext cx="4526280" cy="1143000"/>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Comparison Operators</a:t>
            </a:r>
          </a:p>
        </p:txBody>
      </p:sp>
      <p:sp>
        <p:nvSpPr>
          <p:cNvPr id="13" name="Rectangle 12"/>
          <p:cNvSpPr/>
          <p:nvPr/>
        </p:nvSpPr>
        <p:spPr>
          <a:xfrm>
            <a:off x="411480" y="4882896"/>
            <a:ext cx="5577840" cy="114300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882896"/>
            <a:ext cx="822960" cy="114300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4</a:t>
            </a:r>
          </a:p>
        </p:txBody>
      </p:sp>
      <p:sp>
        <p:nvSpPr>
          <p:cNvPr id="15" name="TextBox 14"/>
          <p:cNvSpPr txBox="1"/>
          <p:nvPr/>
        </p:nvSpPr>
        <p:spPr>
          <a:xfrm>
            <a:off x="1371600" y="4882896"/>
            <a:ext cx="4526280" cy="1143000"/>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$in, $or, $not</a:t>
            </a:r>
          </a:p>
        </p:txBody>
      </p:sp>
      <p:sp>
        <p:nvSpPr>
          <p:cNvPr id="16" name="Rectangle 15"/>
          <p:cNvSpPr/>
          <p:nvPr/>
        </p:nvSpPr>
        <p:spPr>
          <a:xfrm>
            <a:off x="6172200" y="1097280"/>
            <a:ext cx="5577840" cy="114300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097280"/>
            <a:ext cx="822960" cy="114300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5</a:t>
            </a:r>
          </a:p>
        </p:txBody>
      </p:sp>
      <p:sp>
        <p:nvSpPr>
          <p:cNvPr id="18" name="TextBox 17"/>
          <p:cNvSpPr txBox="1"/>
          <p:nvPr/>
        </p:nvSpPr>
        <p:spPr>
          <a:xfrm>
            <a:off x="7132320" y="1097280"/>
            <a:ext cx="4526280" cy="1143000"/>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Querying Arrays</a:t>
            </a:r>
          </a:p>
        </p:txBody>
      </p:sp>
      <p:sp>
        <p:nvSpPr>
          <p:cNvPr id="19" name="Rectangle 18"/>
          <p:cNvSpPr/>
          <p:nvPr/>
        </p:nvSpPr>
        <p:spPr>
          <a:xfrm>
            <a:off x="6172200" y="2359152"/>
            <a:ext cx="5577840" cy="114300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359152"/>
            <a:ext cx="822960" cy="114300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6</a:t>
            </a:r>
          </a:p>
        </p:txBody>
      </p:sp>
      <p:sp>
        <p:nvSpPr>
          <p:cNvPr id="21" name="TextBox 20"/>
          <p:cNvSpPr txBox="1"/>
          <p:nvPr/>
        </p:nvSpPr>
        <p:spPr>
          <a:xfrm>
            <a:off x="7132320" y="2359152"/>
            <a:ext cx="4526280" cy="1143000"/>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$slice &amp; Embedded Documents</a:t>
            </a:r>
          </a:p>
        </p:txBody>
      </p:sp>
      <p:sp>
        <p:nvSpPr>
          <p:cNvPr id="22" name="Rectangle 21"/>
          <p:cNvSpPr/>
          <p:nvPr/>
        </p:nvSpPr>
        <p:spPr>
          <a:xfrm>
            <a:off x="6172200" y="3621024"/>
            <a:ext cx="5577840" cy="114300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3621024"/>
            <a:ext cx="822960" cy="114300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7</a:t>
            </a:r>
          </a:p>
        </p:txBody>
      </p:sp>
      <p:sp>
        <p:nvSpPr>
          <p:cNvPr id="24" name="TextBox 23"/>
          <p:cNvSpPr txBox="1"/>
          <p:nvPr/>
        </p:nvSpPr>
        <p:spPr>
          <a:xfrm>
            <a:off x="7132320" y="3621024"/>
            <a:ext cx="4526280" cy="1143000"/>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Cloud Computing &amp; Implementation Types</a:t>
            </a:r>
          </a:p>
        </p:txBody>
      </p:sp>
      <p:sp>
        <p:nvSpPr>
          <p:cNvPr id="25" name="Rectangle 24"/>
          <p:cNvSpPr/>
          <p:nvPr/>
        </p:nvSpPr>
        <p:spPr>
          <a:xfrm>
            <a:off x="6172200" y="4882896"/>
            <a:ext cx="5577840" cy="1143000"/>
          </a:xfrm>
          <a:prstGeom prst="rect">
            <a:avLst/>
          </a:prstGeom>
          <a:solidFill>
            <a:srgbClr val="FFFFFF"/>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4882896"/>
            <a:ext cx="822960" cy="1143000"/>
          </a:xfrm>
          <a:prstGeom prst="rect">
            <a:avLst/>
          </a:prstGeom>
          <a:noFill/>
        </p:spPr>
        <p:txBody>
          <a:bodyPr wrap="square" anchor="ctr" lIns="0" rIns="0" tIns="0" bIns="0">
            <a:spAutoFit/>
          </a:bodyPr>
          <a:lstStyle/>
          <a:p>
            <a:pPr algn="l">
              <a:lnSpc>
                <a:spcPct val="100000"/>
              </a:lnSpc>
            </a:pPr>
            <a:r>
              <a:rPr sz="4000" b="1">
                <a:solidFill>
                  <a:srgbClr val="C2410C"/>
                </a:solidFill>
                <a:latin typeface="Arial"/>
              </a:rPr>
              <a:t>8</a:t>
            </a:r>
          </a:p>
        </p:txBody>
      </p:sp>
      <p:sp>
        <p:nvSpPr>
          <p:cNvPr id="27" name="TextBox 26"/>
          <p:cNvSpPr txBox="1"/>
          <p:nvPr/>
        </p:nvSpPr>
        <p:spPr>
          <a:xfrm>
            <a:off x="7132320" y="4882896"/>
            <a:ext cx="4526280" cy="1143000"/>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Cloud Service Types &amp; Benefits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411480" y="914400"/>
            <a:ext cx="3291840" cy="2743200"/>
          </a:xfrm>
          <a:prstGeom prst="rect">
            <a:avLst/>
          </a:prstGeom>
          <a:noFill/>
        </p:spPr>
        <p:txBody>
          <a:bodyPr wrap="square" anchor="t" lIns="0" rIns="0" tIns="0" bIns="0">
            <a:spAutoFit/>
          </a:bodyPr>
          <a:lstStyle/>
          <a:p>
            <a:pPr algn="l">
              <a:lnSpc>
                <a:spcPct val="100000"/>
              </a:lnSpc>
            </a:pPr>
            <a:r>
              <a:rPr sz="18000" b="1">
                <a:solidFill>
                  <a:srgbClr val="F2B27A"/>
                </a:solidFill>
                <a:latin typeface="Arial"/>
              </a:rPr>
              <a:t>1</a:t>
            </a:r>
          </a:p>
        </p:txBody>
      </p:sp>
      <p:sp>
        <p:nvSpPr>
          <p:cNvPr id="3" name="TextBox 2"/>
          <p:cNvSpPr txBox="1"/>
          <p:nvPr/>
        </p:nvSpPr>
        <p:spPr>
          <a:xfrm>
            <a:off x="3840480" y="548640"/>
            <a:ext cx="7863840" cy="2103120"/>
          </a:xfrm>
          <a:prstGeom prst="rect">
            <a:avLst/>
          </a:prstGeom>
          <a:noFill/>
        </p:spPr>
        <p:txBody>
          <a:bodyPr wrap="square" anchor="b" lIns="0" rIns="0" tIns="0" bIns="0">
            <a:spAutoFit/>
          </a:bodyPr>
          <a:lstStyle/>
          <a:p>
            <a:pPr algn="l">
              <a:lnSpc>
                <a:spcPct val="100000"/>
              </a:lnSpc>
            </a:pPr>
            <a:r>
              <a:rPr sz="4400" b="1">
                <a:solidFill>
                  <a:srgbClr val="FFFFFF"/>
                </a:solidFill>
                <a:latin typeface="Arial"/>
              </a:rPr>
              <a:t>Create &amp; Delete</a:t>
            </a:r>
          </a:p>
        </p:txBody>
      </p:sp>
      <p:sp>
        <p:nvSpPr>
          <p:cNvPr id="4" name="TextBox 3"/>
          <p:cNvSpPr txBox="1"/>
          <p:nvPr/>
        </p:nvSpPr>
        <p:spPr>
          <a:xfrm>
            <a:off x="3840480" y="2743200"/>
            <a:ext cx="7863840" cy="914400"/>
          </a:xfrm>
          <a:prstGeom prst="rect">
            <a:avLst/>
          </a:prstGeom>
          <a:noFill/>
        </p:spPr>
        <p:txBody>
          <a:bodyPr wrap="square" anchor="t" lIns="0" rIns="0" tIns="0" bIns="0">
            <a:spAutoFit/>
          </a:bodyPr>
          <a:lstStyle/>
          <a:p>
            <a:pPr algn="l">
              <a:lnSpc>
                <a:spcPct val="100000"/>
              </a:lnSpc>
            </a:pPr>
            <a:r>
              <a:rPr sz="2800" b="0">
                <a:solidFill>
                  <a:srgbClr val="9FE0C9"/>
                </a:solidFill>
                <a:latin typeface="Arial"/>
              </a:rPr>
              <a:t>insertOne · insertMany · deleteOne · deleteMany</a:t>
            </a:r>
          </a:p>
        </p:txBody>
      </p:sp>
      <p:sp>
        <p:nvSpPr>
          <p:cNvPr id="5" name="TextBox 4"/>
          <p:cNvSpPr txBox="1"/>
          <p:nvPr/>
        </p:nvSpPr>
        <p:spPr>
          <a:xfrm>
            <a:off x="3840480" y="3794760"/>
            <a:ext cx="7863840" cy="1005840"/>
          </a:xfrm>
          <a:prstGeom prst="rect">
            <a:avLst/>
          </a:prstGeom>
          <a:noFill/>
        </p:spPr>
        <p:txBody>
          <a:bodyPr wrap="square" anchor="t" lIns="0" rIns="0" tIns="0" bIns="0">
            <a:spAutoFit/>
          </a:bodyPr>
          <a:lstStyle/>
          <a:p>
            <a:pPr algn="l">
              <a:lnSpc>
                <a:spcPct val="100000"/>
              </a:lnSpc>
            </a:pPr>
            <a:r>
              <a:rPr sz="3200" b="0">
                <a:solidFill>
                  <a:srgbClr val="F2B27A"/>
                </a:solidFill>
                <a:latin typeface="Arial"/>
              </a:rPr>
              <a:t>“Documents in, documents out.”</a:t>
            </a:r>
          </a:p>
        </p:txBody>
      </p:sp>
      <p:sp>
        <p:nvSpPr>
          <p:cNvPr id="6" name="EXEMPT_PROGRESS"/>
          <p:cNvSpPr txBox="1"/>
          <p:nvPr/>
        </p:nvSpPr>
        <p:spPr>
          <a:xfrm>
            <a:off x="3840480" y="5074920"/>
            <a:ext cx="7863840" cy="457200"/>
          </a:xfrm>
          <a:prstGeom prst="rect">
            <a:avLst/>
          </a:prstGeom>
          <a:noFill/>
        </p:spPr>
        <p:txBody>
          <a:bodyPr wrap="square" anchor="t" lIns="0" rIns="0" tIns="0" bIns="0">
            <a:spAutoFit/>
          </a:bodyPr>
          <a:lstStyle/>
          <a:p>
            <a:pPr algn="l">
              <a:lnSpc>
                <a:spcPct val="100000"/>
              </a:lnSpc>
            </a:pPr>
            <a:r>
              <a:rPr sz="2200" b="0">
                <a:solidFill>
                  <a:srgbClr val="8FA3B8"/>
                </a:solidFill>
                <a:latin typeface="Arial"/>
              </a:rPr>
              <a:t>14 slides · about 2 min 04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insertOne adds one document</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r>
              <a:rPr sz="2800" b="0">
                <a:solidFill>
                  <a:srgbClr val="8FA3B8"/>
                </a:solidFill>
                <a:latin typeface="Courier New"/>
              </a:rPr>
              <a:t>   db.movies.find()</a:t>
            </a:r>
          </a:p>
          <a:p>
            <a:pPr algn="l">
              <a:lnSpc>
                <a:spcPts val="3200"/>
              </a:lnSpc>
            </a:pPr>
            <a:r>
              <a:rPr sz="2800" b="0">
                <a:solidFill>
                  <a:srgbClr val="8FA3B8"/>
                </a:solidFill>
                <a:latin typeface="Courier New"/>
              </a:rPr>
              <a:t>// no output: the collection is empty</a:t>
            </a:r>
          </a:p>
        </p:txBody>
      </p:sp>
      <p:sp>
        <p:nvSpPr>
          <p:cNvPr id="6" name="Rectangle 5"/>
          <p:cNvSpPr/>
          <p:nvPr/>
        </p:nvSpPr>
        <p:spPr>
          <a:xfrm>
            <a:off x="411480" y="2202688"/>
            <a:ext cx="11368735" cy="18084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2294128"/>
            <a:ext cx="11149279" cy="16987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 → REPLY</a:t>
            </a:r>
          </a:p>
          <a:p>
            <a:pPr algn="l">
              <a:lnSpc>
                <a:spcPts val="3200"/>
              </a:lnSpc>
            </a:pPr>
            <a:r>
              <a:rPr sz="2800" b="0">
                <a:solidFill>
                  <a:srgbClr val="E6ECF2"/>
                </a:solidFill>
                <a:latin typeface="Courier New"/>
              </a:rPr>
              <a:t>db.movies.insertOne({"title" : "Stand by Me"})</a:t>
            </a:r>
          </a:p>
          <a:p>
            <a:pPr algn="l">
              <a:lnSpc>
                <a:spcPts val="3200"/>
              </a:lnSpc>
            </a:pPr>
            <a:r>
              <a:rPr sz="2800" b="0">
                <a:solidFill>
                  <a:srgbClr val="9FE0C9"/>
                </a:solidFill>
                <a:latin typeface="Courier New"/>
              </a:rPr>
              <a:t>{ acknowledged: true,</a:t>
            </a:r>
          </a:p>
          <a:p>
            <a:pPr algn="l">
              <a:lnSpc>
                <a:spcPts val="3200"/>
              </a:lnSpc>
            </a:pPr>
            <a:r>
              <a:rPr sz="2800" b="0">
                <a:solidFill>
                  <a:srgbClr val="9FE0C9"/>
                </a:solidFill>
                <a:latin typeface="Courier New"/>
              </a:rPr>
              <a:t>  insertedId: ObjectId('6ae590867b507d5b5c544ca7') }</a:t>
            </a:r>
          </a:p>
        </p:txBody>
      </p:sp>
      <p:sp>
        <p:nvSpPr>
          <p:cNvPr id="8" name="Rectangle 7"/>
          <p:cNvSpPr/>
          <p:nvPr/>
        </p:nvSpPr>
        <p:spPr>
          <a:xfrm>
            <a:off x="411480" y="4120895"/>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4212335"/>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3  AFTER</a:t>
            </a:r>
            <a:r>
              <a:rPr sz="2800" b="0">
                <a:solidFill>
                  <a:srgbClr val="8FA3B8"/>
                </a:solidFill>
                <a:latin typeface="Courier New"/>
              </a:rPr>
              <a:t>   db.movies.find({}, {"_id" : 0})</a:t>
            </a:r>
          </a:p>
          <a:p>
            <a:pPr algn="l">
              <a:lnSpc>
                <a:spcPts val="3200"/>
              </a:lnSpc>
            </a:pPr>
            <a:r>
              <a:rPr sz="2800" b="0">
                <a:solidFill>
                  <a:srgbClr val="9FE0C9"/>
                </a:solidFill>
                <a:latin typeface="Courier New"/>
              </a:rPr>
              <a:t>[ { </a:t>
            </a:r>
            <a:r>
              <a:rPr sz="2800" b="1" u="sng">
                <a:solidFill>
                  <a:srgbClr val="FFD27F"/>
                </a:solidFill>
                <a:latin typeface="Courier New"/>
              </a:rPr>
              <a:t>title: 'Stand by Me'</a:t>
            </a:r>
            <a:r>
              <a:rPr sz="2800" b="0">
                <a:solidFill>
                  <a:srgbClr val="9FE0C9"/>
                </a:solidFill>
                <a:latin typeface="Courier New"/>
              </a:rPr>
              <a:t> } ]</a:t>
            </a:r>
          </a:p>
        </p:txBody>
      </p:sp>
      <p:sp>
        <p:nvSpPr>
          <p:cNvPr id="10" name="Rectangle 9"/>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One document in. MongoDB adds the _id.</a:t>
            </a:r>
          </a:p>
        </p:txBody>
      </p:sp>
      <p:sp>
        <p:nvSpPr>
          <p:cNvPr id="11"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12"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13"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2 of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insertMany adds several at once</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r>
              <a:rPr sz="2800" b="0">
                <a:solidFill>
                  <a:srgbClr val="8FA3B8"/>
                </a:solidFill>
                <a:latin typeface="Courier New"/>
              </a:rPr>
              <a:t>   db.movies.find({}, {"_id" : 0})</a:t>
            </a:r>
          </a:p>
          <a:p>
            <a:pPr algn="l">
              <a:lnSpc>
                <a:spcPts val="3200"/>
              </a:lnSpc>
            </a:pPr>
            <a:r>
              <a:rPr sz="2800" b="0">
                <a:solidFill>
                  <a:srgbClr val="9FE0C9"/>
                </a:solidFill>
                <a:latin typeface="Courier New"/>
              </a:rPr>
              <a:t>[ { title: 'Stand by Me' } ]</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2  COMMAND → REPLY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8"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3 of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insertMany adds several at once</a:t>
            </a:r>
          </a:p>
        </p:txBody>
      </p:sp>
      <p:sp>
        <p:nvSpPr>
          <p:cNvPr id="4" name="Rectangle 3"/>
          <p:cNvSpPr/>
          <p:nvPr/>
        </p:nvSpPr>
        <p:spPr>
          <a:xfrm>
            <a:off x="411480" y="1097280"/>
            <a:ext cx="11368735" cy="50596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49499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 → REPLY</a:t>
            </a:r>
          </a:p>
          <a:p>
            <a:pPr algn="l">
              <a:lnSpc>
                <a:spcPts val="3200"/>
              </a:lnSpc>
            </a:pPr>
            <a:r>
              <a:rPr sz="2800" b="0">
                <a:solidFill>
                  <a:srgbClr val="E6ECF2"/>
                </a:solidFill>
                <a:latin typeface="Courier New"/>
              </a:rPr>
              <a:t>db.movies.insertMany([{"title" : "Ghostbusters"},</a:t>
            </a:r>
          </a:p>
          <a:p>
            <a:pPr algn="l">
              <a:lnSpc>
                <a:spcPts val="3200"/>
              </a:lnSpc>
            </a:pPr>
            <a:r>
              <a:rPr sz="2800" b="0">
                <a:solidFill>
                  <a:srgbClr val="E6ECF2"/>
                </a:solidFill>
                <a:latin typeface="Courier New"/>
              </a:rPr>
              <a:t>  {"title" : "E.T."},</a:t>
            </a:r>
          </a:p>
          <a:p>
            <a:pPr algn="l">
              <a:lnSpc>
                <a:spcPts val="3200"/>
              </a:lnSpc>
            </a:pPr>
            <a:r>
              <a:rPr sz="2800" b="0">
                <a:solidFill>
                  <a:srgbClr val="E6ECF2"/>
                </a:solidFill>
                <a:latin typeface="Courier New"/>
              </a:rPr>
              <a:t>  {"title" : "Blade Runner"}])</a:t>
            </a:r>
          </a:p>
          <a:p>
            <a:pPr algn="l">
              <a:lnSpc>
                <a:spcPts val="3200"/>
              </a:lnSpc>
            </a:pPr>
            <a:r>
              <a:rPr sz="2800" b="0">
                <a:solidFill>
                  <a:srgbClr val="9FE0C9"/>
                </a:solidFill>
                <a:latin typeface="Courier New"/>
              </a:rPr>
              <a:t>{</a:t>
            </a:r>
          </a:p>
          <a:p>
            <a:pPr algn="l">
              <a:lnSpc>
                <a:spcPts val="3200"/>
              </a:lnSpc>
            </a:pPr>
            <a:r>
              <a:rPr sz="2800" b="0">
                <a:solidFill>
                  <a:srgbClr val="9FE0C9"/>
                </a:solidFill>
                <a:latin typeface="Courier New"/>
              </a:rPr>
              <a:t>  acknowledged: true,</a:t>
            </a:r>
          </a:p>
          <a:p>
            <a:pPr algn="l">
              <a:lnSpc>
                <a:spcPts val="3200"/>
              </a:lnSpc>
            </a:pPr>
            <a:r>
              <a:rPr sz="2800" b="0">
                <a:solidFill>
                  <a:srgbClr val="9FE0C9"/>
                </a:solidFill>
                <a:latin typeface="Courier New"/>
              </a:rPr>
              <a:t>  insertedIds: {</a:t>
            </a:r>
          </a:p>
          <a:p>
            <a:pPr algn="l">
              <a:lnSpc>
                <a:spcPts val="3200"/>
              </a:lnSpc>
            </a:pPr>
            <a:r>
              <a:rPr sz="2800" b="0">
                <a:solidFill>
                  <a:srgbClr val="9FE0C9"/>
                </a:solidFill>
                <a:latin typeface="Courier New"/>
              </a:rPr>
              <a:t>    '0': ObjectId('6ae59088cd1d7692c9544ca7'),</a:t>
            </a:r>
          </a:p>
          <a:p>
            <a:pPr algn="l">
              <a:lnSpc>
                <a:spcPts val="3200"/>
              </a:lnSpc>
            </a:pPr>
            <a:r>
              <a:rPr sz="2800" b="0">
                <a:solidFill>
                  <a:srgbClr val="9FE0C9"/>
                </a:solidFill>
                <a:latin typeface="Courier New"/>
              </a:rPr>
              <a:t>    '1': ObjectId('6ae59088cd1d7692c9544ca8'),</a:t>
            </a:r>
          </a:p>
          <a:p>
            <a:pPr algn="l">
              <a:lnSpc>
                <a:spcPts val="3200"/>
              </a:lnSpc>
            </a:pPr>
            <a:r>
              <a:rPr sz="2800" b="0">
                <a:solidFill>
                  <a:srgbClr val="9FE0C9"/>
                </a:solidFill>
                <a:latin typeface="Courier New"/>
              </a:rPr>
              <a:t>    '2': ObjectId('6ae59088cd1d7692c9544ca9')</a:t>
            </a:r>
          </a:p>
          <a:p>
            <a:pPr algn="l">
              <a:lnSpc>
                <a:spcPts val="3200"/>
              </a:lnSpc>
            </a:pPr>
            <a:r>
              <a:rPr sz="2800" b="0">
                <a:solidFill>
                  <a:srgbClr val="9FE0C9"/>
                </a:solidFill>
                <a:latin typeface="Courier New"/>
              </a:rPr>
              <a:t>  }</a:t>
            </a:r>
          </a:p>
          <a:p>
            <a:pPr algn="l">
              <a:lnSpc>
                <a:spcPts val="3200"/>
              </a:lnSpc>
            </a:pPr>
            <a:r>
              <a:rPr sz="2800" b="0">
                <a:solidFill>
                  <a:srgbClr val="9FE0C9"/>
                </a:solidFill>
                <a:latin typeface="Courier New"/>
              </a:rPr>
              <a:t>}</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7"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4 of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insertMany adds several at once</a:t>
            </a:r>
          </a:p>
        </p:txBody>
      </p:sp>
      <p:sp>
        <p:nvSpPr>
          <p:cNvPr id="4" name="Rectangle 3"/>
          <p:cNvSpPr/>
          <p:nvPr/>
        </p:nvSpPr>
        <p:spPr>
          <a:xfrm>
            <a:off x="411480" y="1097280"/>
            <a:ext cx="11368735" cy="30276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2917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3  AFTER</a:t>
            </a:r>
            <a:r>
              <a:rPr sz="2800" b="0">
                <a:solidFill>
                  <a:srgbClr val="8FA3B8"/>
                </a:solidFill>
                <a:latin typeface="Courier New"/>
              </a:rPr>
              <a:t>   db.movies.find({}, {"_id" : 0})</a:t>
            </a:r>
          </a:p>
          <a:p>
            <a:pPr algn="l">
              <a:lnSpc>
                <a:spcPts val="3200"/>
              </a:lnSpc>
            </a:pPr>
            <a:r>
              <a:rPr sz="2800" b="0">
                <a:solidFill>
                  <a:srgbClr val="9FE0C9"/>
                </a:solidFill>
                <a:latin typeface="Courier New"/>
              </a:rPr>
              <a:t>[</a:t>
            </a:r>
          </a:p>
          <a:p>
            <a:pPr algn="l">
              <a:lnSpc>
                <a:spcPts val="3200"/>
              </a:lnSpc>
            </a:pPr>
            <a:r>
              <a:rPr sz="2800" b="0">
                <a:solidFill>
                  <a:srgbClr val="9FE0C9"/>
                </a:solidFill>
                <a:latin typeface="Courier New"/>
              </a:rPr>
              <a:t>  { title: 'Stand by Me' },</a:t>
            </a:r>
          </a:p>
          <a:p>
            <a:pPr algn="l">
              <a:lnSpc>
                <a:spcPts val="3200"/>
              </a:lnSpc>
            </a:pPr>
            <a:r>
              <a:rPr sz="2800" b="0">
                <a:solidFill>
                  <a:srgbClr val="9FE0C9"/>
                </a:solidFill>
                <a:latin typeface="Courier New"/>
              </a:rPr>
              <a:t>  { </a:t>
            </a:r>
            <a:r>
              <a:rPr sz="2800" b="1" u="sng">
                <a:solidFill>
                  <a:srgbClr val="FFD27F"/>
                </a:solidFill>
                <a:latin typeface="Courier New"/>
              </a:rPr>
              <a:t>title: 'Ghostbusters'</a:t>
            </a:r>
            <a:r>
              <a:rPr sz="2800" b="0">
                <a:solidFill>
                  <a:srgbClr val="9FE0C9"/>
                </a:solidFill>
                <a:latin typeface="Courier New"/>
              </a:rPr>
              <a:t> },</a:t>
            </a:r>
          </a:p>
          <a:p>
            <a:pPr algn="l">
              <a:lnSpc>
                <a:spcPts val="3200"/>
              </a:lnSpc>
            </a:pPr>
            <a:r>
              <a:rPr sz="2800" b="0">
                <a:solidFill>
                  <a:srgbClr val="9FE0C9"/>
                </a:solidFill>
                <a:latin typeface="Courier New"/>
              </a:rPr>
              <a:t>  { </a:t>
            </a:r>
            <a:r>
              <a:rPr sz="2800" b="1" u="sng">
                <a:solidFill>
                  <a:srgbClr val="FFD27F"/>
                </a:solidFill>
                <a:latin typeface="Courier New"/>
              </a:rPr>
              <a:t>title: 'E.T.'</a:t>
            </a:r>
            <a:r>
              <a:rPr sz="2800" b="0">
                <a:solidFill>
                  <a:srgbClr val="9FE0C9"/>
                </a:solidFill>
                <a:latin typeface="Courier New"/>
              </a:rPr>
              <a:t> },</a:t>
            </a:r>
          </a:p>
          <a:p>
            <a:pPr algn="l">
              <a:lnSpc>
                <a:spcPts val="3200"/>
              </a:lnSpc>
            </a:pPr>
            <a:r>
              <a:rPr sz="2800" b="0">
                <a:solidFill>
                  <a:srgbClr val="9FE0C9"/>
                </a:solidFill>
                <a:latin typeface="Courier New"/>
              </a:rPr>
              <a:t>  { </a:t>
            </a:r>
            <a:r>
              <a:rPr sz="2800" b="1" u="sng">
                <a:solidFill>
                  <a:srgbClr val="FFD27F"/>
                </a:solidFill>
                <a:latin typeface="Courier New"/>
              </a:rPr>
              <a:t>title: 'Blade Runner'</a:t>
            </a:r>
            <a:r>
              <a:rPr sz="2800" b="0">
                <a:solidFill>
                  <a:srgbClr val="9FE0C9"/>
                </a:solidFill>
                <a:latin typeface="Courier New"/>
              </a:rPr>
              <a:t> }</a:t>
            </a:r>
          </a:p>
          <a:p>
            <a:pPr algn="l">
              <a:lnSpc>
                <a:spcPts val="3200"/>
              </a:lnSpc>
            </a:pPr>
            <a:r>
              <a:rPr sz="2800" b="0">
                <a:solidFill>
                  <a:srgbClr val="9FE0C9"/>
                </a:solidFill>
                <a:latin typeface="Courier New"/>
              </a:rPr>
              <a:t>]</a:t>
            </a:r>
          </a:p>
        </p:txBody>
      </p:sp>
      <p:sp>
        <p:nvSpPr>
          <p:cNvPr id="6" name="Rectangle 5"/>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Many documents, one command.</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8"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5 of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Unordered insertMany keeps going</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p>
          <a:p>
            <a:pPr algn="l">
              <a:lnSpc>
                <a:spcPts val="3200"/>
              </a:lnSpc>
            </a:pPr>
            <a:r>
              <a:rPr sz="2800" b="0">
                <a:solidFill>
                  <a:srgbClr val="8FA3B8"/>
                </a:solidFill>
                <a:latin typeface="Courier New"/>
              </a:rPr>
              <a:t>db.movies.find({"_id" : {"$in" : [3, 4, 5]}})</a:t>
            </a:r>
          </a:p>
          <a:p>
            <a:pPr algn="l">
              <a:lnSpc>
                <a:spcPts val="3200"/>
              </a:lnSpc>
            </a:pPr>
            <a:r>
              <a:rPr sz="2800" b="0">
                <a:solidFill>
                  <a:srgbClr val="8FA3B8"/>
                </a:solidFill>
                <a:latin typeface="Courier New"/>
              </a:rPr>
              <a:t>// no output: the collection is empty</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2  COMMAND → REPLY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8"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6 of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Unordered insertMany keeps going</a:t>
            </a:r>
          </a:p>
        </p:txBody>
      </p:sp>
      <p:sp>
        <p:nvSpPr>
          <p:cNvPr id="4" name="Rectangle 3"/>
          <p:cNvSpPr/>
          <p:nvPr/>
        </p:nvSpPr>
        <p:spPr>
          <a:xfrm>
            <a:off x="411480" y="1097280"/>
            <a:ext cx="11368735" cy="42468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41371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 → REPLY</a:t>
            </a:r>
          </a:p>
          <a:p>
            <a:pPr algn="l">
              <a:lnSpc>
                <a:spcPts val="3200"/>
              </a:lnSpc>
            </a:pPr>
            <a:r>
              <a:rPr sz="2800" b="0">
                <a:solidFill>
                  <a:srgbClr val="E6ECF2"/>
                </a:solidFill>
                <a:latin typeface="Courier New"/>
              </a:rPr>
              <a:t>db.movies.insertMany([</a:t>
            </a:r>
          </a:p>
          <a:p>
            <a:pPr algn="l">
              <a:lnSpc>
                <a:spcPts val="3200"/>
              </a:lnSpc>
            </a:pPr>
            <a:r>
              <a:rPr sz="2800" b="0">
                <a:solidFill>
                  <a:srgbClr val="E6ECF2"/>
                </a:solidFill>
                <a:latin typeface="Courier New"/>
              </a:rPr>
              <a:t>  {"_id" : 3, "title" : "Sixteen Candles"},</a:t>
            </a:r>
          </a:p>
          <a:p>
            <a:pPr algn="l">
              <a:lnSpc>
                <a:spcPts val="3200"/>
              </a:lnSpc>
            </a:pPr>
            <a:r>
              <a:rPr sz="2800" b="0">
                <a:solidFill>
                  <a:srgbClr val="E6ECF2"/>
                </a:solidFill>
                <a:latin typeface="Courier New"/>
              </a:rPr>
              <a:t>  {"_id" : 4, "title" : "The Terminator"},</a:t>
            </a:r>
          </a:p>
          <a:p>
            <a:pPr algn="l">
              <a:lnSpc>
                <a:spcPts val="3200"/>
              </a:lnSpc>
            </a:pPr>
            <a:r>
              <a:rPr sz="2800" b="0">
                <a:solidFill>
                  <a:srgbClr val="E6ECF2"/>
                </a:solidFill>
                <a:latin typeface="Courier New"/>
              </a:rPr>
              <a:t>  {"_id" : 4, "title" : "The Princess Bride"},</a:t>
            </a:r>
          </a:p>
          <a:p>
            <a:pPr algn="l">
              <a:lnSpc>
                <a:spcPts val="3200"/>
              </a:lnSpc>
            </a:pPr>
            <a:r>
              <a:rPr sz="2800" b="0">
                <a:solidFill>
                  <a:srgbClr val="E6ECF2"/>
                </a:solidFill>
                <a:latin typeface="Courier New"/>
              </a:rPr>
              <a:t>  {"_id" : 5, "title" : "Scarface"}],</a:t>
            </a:r>
          </a:p>
          <a:p>
            <a:pPr algn="l">
              <a:lnSpc>
                <a:spcPts val="3200"/>
              </a:lnSpc>
            </a:pPr>
            <a:r>
              <a:rPr sz="2800" b="0">
                <a:solidFill>
                  <a:srgbClr val="E6ECF2"/>
                </a:solidFill>
                <a:latin typeface="Courier New"/>
              </a:rPr>
              <a:t>  {"ordered" : false})</a:t>
            </a:r>
          </a:p>
          <a:p>
            <a:pPr algn="l">
              <a:lnSpc>
                <a:spcPts val="3200"/>
              </a:lnSpc>
            </a:pPr>
            <a:r>
              <a:rPr sz="2800" b="0">
                <a:solidFill>
                  <a:srgbClr val="FFB4A8"/>
                </a:solidFill>
                <a:latin typeface="Courier New"/>
              </a:rPr>
              <a:t>MongoBulkWriteError: E11000 duplicate key error</a:t>
            </a:r>
          </a:p>
          <a:p>
            <a:pPr algn="l">
              <a:lnSpc>
                <a:spcPts val="3200"/>
              </a:lnSpc>
            </a:pPr>
            <a:r>
              <a:rPr sz="2800" b="0">
                <a:solidFill>
                  <a:srgbClr val="FFB4A8"/>
                </a:solidFill>
                <a:latin typeface="Courier New"/>
              </a:rPr>
              <a:t>collection: adbs_part1.movies index: _id_ dup key: {</a:t>
            </a:r>
          </a:p>
          <a:p>
            <a:pPr algn="l">
              <a:lnSpc>
                <a:spcPts val="3200"/>
              </a:lnSpc>
            </a:pPr>
            <a:r>
              <a:rPr sz="2800" b="0">
                <a:solidFill>
                  <a:srgbClr val="FFB4A8"/>
                </a:solidFill>
                <a:latin typeface="Courier New"/>
              </a:rPr>
              <a:t>_id: 4 }</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3  AFTER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8"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7 of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Unordered insertMany keeps going</a:t>
            </a:r>
          </a:p>
        </p:txBody>
      </p:sp>
      <p:sp>
        <p:nvSpPr>
          <p:cNvPr id="4" name="Rectangle 3"/>
          <p:cNvSpPr/>
          <p:nvPr/>
        </p:nvSpPr>
        <p:spPr>
          <a:xfrm>
            <a:off x="411480" y="1097280"/>
            <a:ext cx="11368735" cy="30276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2917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3  AFTER</a:t>
            </a:r>
          </a:p>
          <a:p>
            <a:pPr algn="l">
              <a:lnSpc>
                <a:spcPts val="3200"/>
              </a:lnSpc>
            </a:pPr>
            <a:r>
              <a:rPr sz="2800" b="0">
                <a:solidFill>
                  <a:srgbClr val="8FA3B8"/>
                </a:solidFill>
                <a:latin typeface="Courier New"/>
              </a:rPr>
              <a:t>db.movies.find({"_id" : {"$in" : [3, 4, 5]}})</a:t>
            </a:r>
          </a:p>
          <a:p>
            <a:pPr algn="l">
              <a:lnSpc>
                <a:spcPts val="3200"/>
              </a:lnSpc>
            </a:pPr>
            <a:r>
              <a:rPr sz="2800" b="0">
                <a:solidFill>
                  <a:srgbClr val="9FE0C9"/>
                </a:solidFill>
                <a:latin typeface="Courier New"/>
              </a:rPr>
              <a:t>[</a:t>
            </a:r>
          </a:p>
          <a:p>
            <a:pPr algn="l">
              <a:lnSpc>
                <a:spcPts val="3200"/>
              </a:lnSpc>
            </a:pPr>
            <a:r>
              <a:rPr sz="2800" b="0">
                <a:solidFill>
                  <a:srgbClr val="9FE0C9"/>
                </a:solidFill>
                <a:latin typeface="Courier New"/>
              </a:rPr>
              <a:t>  { </a:t>
            </a:r>
            <a:r>
              <a:rPr sz="2800" b="1" u="sng">
                <a:solidFill>
                  <a:srgbClr val="FFD27F"/>
                </a:solidFill>
                <a:latin typeface="Courier New"/>
              </a:rPr>
              <a:t>_id: 3, title: 'Sixteen Candles'</a:t>
            </a:r>
            <a:r>
              <a:rPr sz="2800" b="0">
                <a:solidFill>
                  <a:srgbClr val="9FE0C9"/>
                </a:solidFill>
                <a:latin typeface="Courier New"/>
              </a:rPr>
              <a:t> },</a:t>
            </a:r>
          </a:p>
          <a:p>
            <a:pPr algn="l">
              <a:lnSpc>
                <a:spcPts val="3200"/>
              </a:lnSpc>
            </a:pPr>
            <a:r>
              <a:rPr sz="2800" b="0">
                <a:solidFill>
                  <a:srgbClr val="9FE0C9"/>
                </a:solidFill>
                <a:latin typeface="Courier New"/>
              </a:rPr>
              <a:t>  { </a:t>
            </a:r>
            <a:r>
              <a:rPr sz="2800" b="1" u="sng">
                <a:solidFill>
                  <a:srgbClr val="FFD27F"/>
                </a:solidFill>
                <a:latin typeface="Courier New"/>
              </a:rPr>
              <a:t>_id: 4, title: 'The Terminator'</a:t>
            </a:r>
            <a:r>
              <a:rPr sz="2800" b="0">
                <a:solidFill>
                  <a:srgbClr val="9FE0C9"/>
                </a:solidFill>
                <a:latin typeface="Courier New"/>
              </a:rPr>
              <a:t> },</a:t>
            </a:r>
          </a:p>
          <a:p>
            <a:pPr algn="l">
              <a:lnSpc>
                <a:spcPts val="3200"/>
              </a:lnSpc>
            </a:pPr>
            <a:r>
              <a:rPr sz="2800" b="0">
                <a:solidFill>
                  <a:srgbClr val="9FE0C9"/>
                </a:solidFill>
                <a:latin typeface="Courier New"/>
              </a:rPr>
              <a:t>  { </a:t>
            </a:r>
            <a:r>
              <a:rPr sz="2800" b="1" u="sng">
                <a:solidFill>
                  <a:srgbClr val="FFD27F"/>
                </a:solidFill>
                <a:latin typeface="Courier New"/>
              </a:rPr>
              <a:t>_id: 5, title: 'Scarface'</a:t>
            </a:r>
            <a:r>
              <a:rPr sz="2800" b="0">
                <a:solidFill>
                  <a:srgbClr val="9FE0C9"/>
                </a:solidFill>
                <a:latin typeface="Courier New"/>
              </a:rPr>
              <a:t> }</a:t>
            </a:r>
          </a:p>
          <a:p>
            <a:pPr algn="l">
              <a:lnSpc>
                <a:spcPts val="3200"/>
              </a:lnSpc>
            </a:pPr>
            <a:r>
              <a:rPr sz="2800" b="0">
                <a:solidFill>
                  <a:srgbClr val="9FE0C9"/>
                </a:solidFill>
                <a:latin typeface="Courier New"/>
              </a:rPr>
              <a:t>]</a:t>
            </a:r>
          </a:p>
        </p:txBody>
      </p:sp>
      <p:sp>
        <p:nvSpPr>
          <p:cNvPr id="6" name="Rectangle 5"/>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Unordered: tries every document.</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8"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8 of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Ordered insertMany stops at the error</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r>
              <a:rPr sz="2800" b="0">
                <a:solidFill>
                  <a:srgbClr val="8FA3B8"/>
                </a:solidFill>
                <a:latin typeface="Courier New"/>
              </a:rPr>
              <a:t>   db.ordered.find()</a:t>
            </a:r>
          </a:p>
          <a:p>
            <a:pPr algn="l">
              <a:lnSpc>
                <a:spcPts val="3200"/>
              </a:lnSpc>
            </a:pPr>
            <a:r>
              <a:rPr sz="2800" b="0">
                <a:solidFill>
                  <a:srgbClr val="8FA3B8"/>
                </a:solidFill>
                <a:latin typeface="Courier New"/>
              </a:rPr>
              <a:t>// no output: the collection is empty</a:t>
            </a:r>
          </a:p>
        </p:txBody>
      </p:sp>
      <p:sp>
        <p:nvSpPr>
          <p:cNvPr id="6" name="Rectangle 5"/>
          <p:cNvSpPr/>
          <p:nvPr/>
        </p:nvSpPr>
        <p:spPr>
          <a:xfrm>
            <a:off x="411480" y="2202688"/>
            <a:ext cx="11368735" cy="38404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2294128"/>
            <a:ext cx="11149279" cy="37307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 → REPLY</a:t>
            </a:r>
          </a:p>
          <a:p>
            <a:pPr algn="l">
              <a:lnSpc>
                <a:spcPts val="3200"/>
              </a:lnSpc>
            </a:pPr>
            <a:r>
              <a:rPr sz="2800" b="0">
                <a:solidFill>
                  <a:srgbClr val="E6ECF2"/>
                </a:solidFill>
                <a:latin typeface="Courier New"/>
              </a:rPr>
              <a:t>db.ordered.insertMany([</a:t>
            </a:r>
          </a:p>
          <a:p>
            <a:pPr algn="l">
              <a:lnSpc>
                <a:spcPts val="3200"/>
              </a:lnSpc>
            </a:pPr>
            <a:r>
              <a:rPr sz="2800" b="0">
                <a:solidFill>
                  <a:srgbClr val="E6ECF2"/>
                </a:solidFill>
                <a:latin typeface="Courier New"/>
              </a:rPr>
              <a:t>  {"_id" : 3, "title" : "Sixteen Candles"},</a:t>
            </a:r>
          </a:p>
          <a:p>
            <a:pPr algn="l">
              <a:lnSpc>
                <a:spcPts val="3200"/>
              </a:lnSpc>
            </a:pPr>
            <a:r>
              <a:rPr sz="2800" b="0">
                <a:solidFill>
                  <a:srgbClr val="E6ECF2"/>
                </a:solidFill>
                <a:latin typeface="Courier New"/>
              </a:rPr>
              <a:t>  {"_id" : 4, "title" : "The Terminator"},</a:t>
            </a:r>
          </a:p>
          <a:p>
            <a:pPr algn="l">
              <a:lnSpc>
                <a:spcPts val="3200"/>
              </a:lnSpc>
            </a:pPr>
            <a:r>
              <a:rPr sz="2800" b="0">
                <a:solidFill>
                  <a:srgbClr val="E6ECF2"/>
                </a:solidFill>
                <a:latin typeface="Courier New"/>
              </a:rPr>
              <a:t>  {"_id" : 4, "title" : "The Princess Bride"},</a:t>
            </a:r>
          </a:p>
          <a:p>
            <a:pPr algn="l">
              <a:lnSpc>
                <a:spcPts val="3200"/>
              </a:lnSpc>
            </a:pPr>
            <a:r>
              <a:rPr sz="2800" b="0">
                <a:solidFill>
                  <a:srgbClr val="E6ECF2"/>
                </a:solidFill>
                <a:latin typeface="Courier New"/>
              </a:rPr>
              <a:t>  {"_id" : 5, "title" : "Scarface"}])</a:t>
            </a:r>
          </a:p>
          <a:p>
            <a:pPr algn="l">
              <a:lnSpc>
                <a:spcPts val="3200"/>
              </a:lnSpc>
            </a:pPr>
            <a:r>
              <a:rPr sz="2800" b="0">
                <a:solidFill>
                  <a:srgbClr val="FFB4A8"/>
                </a:solidFill>
                <a:latin typeface="Courier New"/>
              </a:rPr>
              <a:t>MongoBulkWriteError: E11000 duplicate key error</a:t>
            </a:r>
          </a:p>
          <a:p>
            <a:pPr algn="l">
              <a:lnSpc>
                <a:spcPts val="3200"/>
              </a:lnSpc>
            </a:pPr>
            <a:r>
              <a:rPr sz="2800" b="0">
                <a:solidFill>
                  <a:srgbClr val="FFB4A8"/>
                </a:solidFill>
                <a:latin typeface="Courier New"/>
              </a:rPr>
              <a:t>collection: adbs_part1.ordered index: _id_ dup key:</a:t>
            </a:r>
          </a:p>
          <a:p>
            <a:pPr algn="l">
              <a:lnSpc>
                <a:spcPts val="3200"/>
              </a:lnSpc>
            </a:pPr>
            <a:r>
              <a:rPr sz="2800" b="0">
                <a:solidFill>
                  <a:srgbClr val="FFB4A8"/>
                </a:solidFill>
                <a:latin typeface="Courier New"/>
              </a:rPr>
              <a:t>{ _id: 4 }</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9"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10"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9 of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Ordered insertMany stops at the error</a:t>
            </a:r>
          </a:p>
        </p:txBody>
      </p:sp>
      <p:sp>
        <p:nvSpPr>
          <p:cNvPr id="4" name="Rectangle 3"/>
          <p:cNvSpPr/>
          <p:nvPr/>
        </p:nvSpPr>
        <p:spPr>
          <a:xfrm>
            <a:off x="411480" y="1097280"/>
            <a:ext cx="11368735" cy="22148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21051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3  AFTER</a:t>
            </a:r>
            <a:r>
              <a:rPr sz="2800" b="0">
                <a:solidFill>
                  <a:srgbClr val="8FA3B8"/>
                </a:solidFill>
                <a:latin typeface="Courier New"/>
              </a:rPr>
              <a:t>   db.ordered.find()</a:t>
            </a:r>
          </a:p>
          <a:p>
            <a:pPr algn="l">
              <a:lnSpc>
                <a:spcPts val="3200"/>
              </a:lnSpc>
            </a:pPr>
            <a:r>
              <a:rPr sz="2800" b="0">
                <a:solidFill>
                  <a:srgbClr val="9FE0C9"/>
                </a:solidFill>
                <a:latin typeface="Courier New"/>
              </a:rPr>
              <a:t>[</a:t>
            </a:r>
          </a:p>
          <a:p>
            <a:pPr algn="l">
              <a:lnSpc>
                <a:spcPts val="3200"/>
              </a:lnSpc>
            </a:pPr>
            <a:r>
              <a:rPr sz="2800" b="0">
                <a:solidFill>
                  <a:srgbClr val="9FE0C9"/>
                </a:solidFill>
                <a:latin typeface="Courier New"/>
              </a:rPr>
              <a:t>  { </a:t>
            </a:r>
            <a:r>
              <a:rPr sz="2800" b="1" u="sng">
                <a:solidFill>
                  <a:srgbClr val="FFD27F"/>
                </a:solidFill>
                <a:latin typeface="Courier New"/>
              </a:rPr>
              <a:t>_id: 3, title: 'Sixteen Candles'</a:t>
            </a:r>
            <a:r>
              <a:rPr sz="2800" b="0">
                <a:solidFill>
                  <a:srgbClr val="9FE0C9"/>
                </a:solidFill>
                <a:latin typeface="Courier New"/>
              </a:rPr>
              <a:t> },</a:t>
            </a:r>
          </a:p>
          <a:p>
            <a:pPr algn="l">
              <a:lnSpc>
                <a:spcPts val="3200"/>
              </a:lnSpc>
            </a:pPr>
            <a:r>
              <a:rPr sz="2800" b="0">
                <a:solidFill>
                  <a:srgbClr val="9FE0C9"/>
                </a:solidFill>
                <a:latin typeface="Courier New"/>
              </a:rPr>
              <a:t>  { </a:t>
            </a:r>
            <a:r>
              <a:rPr sz="2800" b="1" u="sng">
                <a:solidFill>
                  <a:srgbClr val="FFD27F"/>
                </a:solidFill>
                <a:latin typeface="Courier New"/>
              </a:rPr>
              <a:t>_id: 4, title: 'The Terminator'</a:t>
            </a:r>
            <a:r>
              <a:rPr sz="2800" b="0">
                <a:solidFill>
                  <a:srgbClr val="9FE0C9"/>
                </a:solidFill>
                <a:latin typeface="Courier New"/>
              </a:rPr>
              <a:t> }</a:t>
            </a:r>
          </a:p>
          <a:p>
            <a:pPr algn="l">
              <a:lnSpc>
                <a:spcPts val="3200"/>
              </a:lnSpc>
            </a:pPr>
            <a:r>
              <a:rPr sz="2800" b="0">
                <a:solidFill>
                  <a:srgbClr val="9FE0C9"/>
                </a:solidFill>
                <a:latin typeface="Courier New"/>
              </a:rPr>
              <a:t>]</a:t>
            </a:r>
          </a:p>
        </p:txBody>
      </p:sp>
      <p:sp>
        <p:nvSpPr>
          <p:cNvPr id="6" name="Rectangle 5"/>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Ordered (the default): stops at the error.</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8"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10 of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deleteOne removes one document</a:t>
            </a:r>
          </a:p>
        </p:txBody>
      </p:sp>
      <p:sp>
        <p:nvSpPr>
          <p:cNvPr id="4" name="Rectangle 3"/>
          <p:cNvSpPr/>
          <p:nvPr/>
        </p:nvSpPr>
        <p:spPr>
          <a:xfrm>
            <a:off x="411480" y="1097280"/>
            <a:ext cx="11368735" cy="30276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2917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p>
          <a:p>
            <a:pPr algn="l">
              <a:lnSpc>
                <a:spcPts val="3200"/>
              </a:lnSpc>
            </a:pPr>
            <a:r>
              <a:rPr sz="2800" b="0">
                <a:solidFill>
                  <a:srgbClr val="8FA3B8"/>
                </a:solidFill>
                <a:latin typeface="Courier New"/>
              </a:rPr>
              <a:t>db.movies.find({"_id" : {"$in" : [3, 4, 5]}})</a:t>
            </a:r>
          </a:p>
          <a:p>
            <a:pPr algn="l">
              <a:lnSpc>
                <a:spcPts val="3200"/>
              </a:lnSpc>
            </a:pPr>
            <a:r>
              <a:rPr sz="2800" b="0">
                <a:solidFill>
                  <a:srgbClr val="9FE0C9"/>
                </a:solidFill>
                <a:latin typeface="Courier New"/>
              </a:rPr>
              <a:t>[</a:t>
            </a:r>
          </a:p>
          <a:p>
            <a:pPr algn="l">
              <a:lnSpc>
                <a:spcPts val="3200"/>
              </a:lnSpc>
            </a:pPr>
            <a:r>
              <a:rPr sz="2800" b="0">
                <a:solidFill>
                  <a:srgbClr val="9FE0C9"/>
                </a:solidFill>
                <a:latin typeface="Courier New"/>
              </a:rPr>
              <a:t>  { _id: 3, title: 'Sixteen Candles' },</a:t>
            </a:r>
          </a:p>
          <a:p>
            <a:pPr algn="l">
              <a:lnSpc>
                <a:spcPts val="3200"/>
              </a:lnSpc>
            </a:pPr>
            <a:r>
              <a:rPr sz="2800" b="0">
                <a:solidFill>
                  <a:srgbClr val="9FE0C9"/>
                </a:solidFill>
                <a:latin typeface="Courier New"/>
              </a:rPr>
              <a:t>  { </a:t>
            </a:r>
            <a:r>
              <a:rPr sz="2800" b="0" strike="sngStrike">
                <a:solidFill>
                  <a:srgbClr val="FFB4A8"/>
                </a:solidFill>
                <a:latin typeface="Courier New"/>
              </a:rPr>
              <a:t>_id: 4, title: 'The Terminator'</a:t>
            </a:r>
            <a:r>
              <a:rPr sz="2800" b="0">
                <a:solidFill>
                  <a:srgbClr val="9FE0C9"/>
                </a:solidFill>
                <a:latin typeface="Courier New"/>
              </a:rPr>
              <a:t> },</a:t>
            </a:r>
          </a:p>
          <a:p>
            <a:pPr algn="l">
              <a:lnSpc>
                <a:spcPts val="3200"/>
              </a:lnSpc>
            </a:pPr>
            <a:r>
              <a:rPr sz="2800" b="0">
                <a:solidFill>
                  <a:srgbClr val="9FE0C9"/>
                </a:solidFill>
                <a:latin typeface="Courier New"/>
              </a:rPr>
              <a:t>  { _id: 5, title: 'Scarface' }</a:t>
            </a:r>
          </a:p>
          <a:p>
            <a:pPr algn="l">
              <a:lnSpc>
                <a:spcPts val="3200"/>
              </a:lnSpc>
            </a:pPr>
            <a:r>
              <a:rPr sz="2800" b="0">
                <a:solidFill>
                  <a:srgbClr val="9FE0C9"/>
                </a:solidFill>
                <a:latin typeface="Courier New"/>
              </a:rPr>
              <a:t>]</a:t>
            </a:r>
          </a:p>
        </p:txBody>
      </p:sp>
      <p:sp>
        <p:nvSpPr>
          <p:cNvPr id="6" name="Rectangle 5"/>
          <p:cNvSpPr/>
          <p:nvPr/>
        </p:nvSpPr>
        <p:spPr>
          <a:xfrm>
            <a:off x="411480" y="4234688"/>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4326128"/>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 → REPLY</a:t>
            </a:r>
          </a:p>
          <a:p>
            <a:pPr algn="l">
              <a:lnSpc>
                <a:spcPts val="3200"/>
              </a:lnSpc>
            </a:pPr>
            <a:r>
              <a:rPr sz="2800" b="0">
                <a:solidFill>
                  <a:srgbClr val="E6ECF2"/>
                </a:solidFill>
                <a:latin typeface="Courier New"/>
              </a:rPr>
              <a:t>db.movies.deleteOne({"_id" : 4})</a:t>
            </a:r>
          </a:p>
          <a:p>
            <a:pPr algn="l">
              <a:lnSpc>
                <a:spcPts val="3200"/>
              </a:lnSpc>
            </a:pPr>
            <a:r>
              <a:rPr sz="2800" b="0">
                <a:solidFill>
                  <a:srgbClr val="9FE0C9"/>
                </a:solidFill>
                <a:latin typeface="Courier New"/>
              </a:rPr>
              <a:t>{ acknowledged: true, deletedCount: 1 }</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9"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10"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11 of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deleteOne removes one document</a:t>
            </a:r>
          </a:p>
        </p:txBody>
      </p:sp>
      <p:sp>
        <p:nvSpPr>
          <p:cNvPr id="4" name="Rectangle 3"/>
          <p:cNvSpPr/>
          <p:nvPr/>
        </p:nvSpPr>
        <p:spPr>
          <a:xfrm>
            <a:off x="411480" y="1097280"/>
            <a:ext cx="11368735" cy="26212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25115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3  AFTER</a:t>
            </a:r>
          </a:p>
          <a:p>
            <a:pPr algn="l">
              <a:lnSpc>
                <a:spcPts val="3200"/>
              </a:lnSpc>
            </a:pPr>
            <a:r>
              <a:rPr sz="2800" b="0">
                <a:solidFill>
                  <a:srgbClr val="8FA3B8"/>
                </a:solidFill>
                <a:latin typeface="Courier New"/>
              </a:rPr>
              <a:t>db.movies.find({"_id" : {"$in" : [3, 4, 5]}})</a:t>
            </a:r>
          </a:p>
          <a:p>
            <a:pPr algn="l">
              <a:lnSpc>
                <a:spcPts val="3200"/>
              </a:lnSpc>
            </a:pPr>
            <a:r>
              <a:rPr sz="2800" b="0">
                <a:solidFill>
                  <a:srgbClr val="9FE0C9"/>
                </a:solidFill>
                <a:latin typeface="Courier New"/>
              </a:rPr>
              <a:t>[</a:t>
            </a:r>
          </a:p>
          <a:p>
            <a:pPr algn="l">
              <a:lnSpc>
                <a:spcPts val="3200"/>
              </a:lnSpc>
            </a:pPr>
            <a:r>
              <a:rPr sz="2800" b="0">
                <a:solidFill>
                  <a:srgbClr val="9FE0C9"/>
                </a:solidFill>
                <a:latin typeface="Courier New"/>
              </a:rPr>
              <a:t>  { _id: 3, title: 'Sixteen Candles' },</a:t>
            </a:r>
          </a:p>
          <a:p>
            <a:pPr algn="l">
              <a:lnSpc>
                <a:spcPts val="3200"/>
              </a:lnSpc>
            </a:pPr>
            <a:r>
              <a:rPr sz="2800" b="0">
                <a:solidFill>
                  <a:srgbClr val="9FE0C9"/>
                </a:solidFill>
                <a:latin typeface="Courier New"/>
              </a:rPr>
              <a:t>  { _id: 5, title: 'Scarface' }</a:t>
            </a:r>
          </a:p>
          <a:p>
            <a:pPr algn="l">
              <a:lnSpc>
                <a:spcPts val="3200"/>
              </a:lnSpc>
            </a:pPr>
            <a:r>
              <a:rPr sz="2800" b="0">
                <a:solidFill>
                  <a:srgbClr val="9FE0C9"/>
                </a:solidFill>
                <a:latin typeface="Courier New"/>
              </a:rPr>
              <a:t>]</a:t>
            </a:r>
          </a:p>
        </p:txBody>
      </p:sp>
      <p:sp>
        <p:nvSpPr>
          <p:cNvPr id="6" name="Rectangle 5"/>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deleteOne removes one.</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8"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12 of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deleteMany removes every match</a:t>
            </a:r>
          </a:p>
        </p:txBody>
      </p:sp>
      <p:sp>
        <p:nvSpPr>
          <p:cNvPr id="4" name="Rectangle 3"/>
          <p:cNvSpPr/>
          <p:nvPr/>
        </p:nvSpPr>
        <p:spPr>
          <a:xfrm>
            <a:off x="411480" y="1097280"/>
            <a:ext cx="11368735" cy="3434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33243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r>
              <a:rPr sz="2800" b="0">
                <a:solidFill>
                  <a:srgbClr val="8FA3B8"/>
                </a:solidFill>
                <a:latin typeface="Courier New"/>
              </a:rPr>
              <a:t>   db.movies.find()</a:t>
            </a:r>
          </a:p>
          <a:p>
            <a:pPr algn="l">
              <a:lnSpc>
                <a:spcPts val="3200"/>
              </a:lnSpc>
            </a:pPr>
            <a:r>
              <a:rPr sz="2800" b="0">
                <a:solidFill>
                  <a:srgbClr val="8FA3B8"/>
                </a:solidFill>
                <a:latin typeface="Courier New"/>
              </a:rPr>
              <a:t>// the handout's three movies</a:t>
            </a:r>
          </a:p>
          <a:p>
            <a:pPr algn="l">
              <a:lnSpc>
                <a:spcPts val="3200"/>
              </a:lnSpc>
            </a:pPr>
            <a:r>
              <a:rPr sz="2800" b="0">
                <a:solidFill>
                  <a:srgbClr val="9FE0C9"/>
                </a:solidFill>
                <a:latin typeface="Courier New"/>
              </a:rPr>
              <a:t>[</a:t>
            </a:r>
          </a:p>
          <a:p>
            <a:pPr algn="l">
              <a:lnSpc>
                <a:spcPts val="3200"/>
              </a:lnSpc>
            </a:pPr>
            <a:r>
              <a:rPr sz="2800" b="0">
                <a:solidFill>
                  <a:srgbClr val="9FE0C9"/>
                </a:solidFill>
                <a:latin typeface="Courier New"/>
              </a:rPr>
              <a:t>  { _id: 0, </a:t>
            </a:r>
            <a:r>
              <a:rPr sz="2800" b="0" strike="sngStrike">
                <a:solidFill>
                  <a:srgbClr val="FFB4A8"/>
                </a:solidFill>
                <a:latin typeface="Courier New"/>
              </a:rPr>
              <a:t>title: 'Top Gun'</a:t>
            </a:r>
            <a:r>
              <a:rPr sz="2800" b="0">
                <a:solidFill>
                  <a:srgbClr val="9FE0C9"/>
                </a:solidFill>
                <a:latin typeface="Courier New"/>
              </a:rPr>
              <a:t>, year: 1985 },</a:t>
            </a:r>
          </a:p>
          <a:p>
            <a:pPr algn="l">
              <a:lnSpc>
                <a:spcPts val="3200"/>
              </a:lnSpc>
            </a:pPr>
            <a:r>
              <a:rPr sz="2800" b="0">
                <a:solidFill>
                  <a:srgbClr val="9FE0C9"/>
                </a:solidFill>
                <a:latin typeface="Courier New"/>
              </a:rPr>
              <a:t>  { _id: 1, </a:t>
            </a:r>
            <a:r>
              <a:rPr sz="2800" b="0" strike="sngStrike">
                <a:solidFill>
                  <a:srgbClr val="FFB4A8"/>
                </a:solidFill>
                <a:latin typeface="Courier New"/>
              </a:rPr>
              <a:t>title: 'Back to the Future'</a:t>
            </a:r>
            <a:r>
              <a:rPr sz="2800" b="0">
                <a:solidFill>
                  <a:srgbClr val="9FE0C9"/>
                </a:solidFill>
                <a:latin typeface="Courier New"/>
              </a:rPr>
              <a:t>,</a:t>
            </a:r>
          </a:p>
          <a:p>
            <a:pPr algn="l">
              <a:lnSpc>
                <a:spcPts val="3200"/>
              </a:lnSpc>
            </a:pPr>
            <a:r>
              <a:rPr sz="2800" b="0">
                <a:solidFill>
                  <a:srgbClr val="9FE0C9"/>
                </a:solidFill>
                <a:latin typeface="Courier New"/>
              </a:rPr>
              <a:t>    year: 1985 },</a:t>
            </a:r>
          </a:p>
          <a:p>
            <a:pPr algn="l">
              <a:lnSpc>
                <a:spcPts val="3200"/>
              </a:lnSpc>
            </a:pPr>
            <a:r>
              <a:rPr sz="2800" b="0">
                <a:solidFill>
                  <a:srgbClr val="9FE0C9"/>
                </a:solidFill>
                <a:latin typeface="Courier New"/>
              </a:rPr>
              <a:t>  { _id: 3, title: 'Sixteen Candles', year: 1984 }</a:t>
            </a:r>
          </a:p>
          <a:p>
            <a:pPr algn="l">
              <a:lnSpc>
                <a:spcPts val="3200"/>
              </a:lnSpc>
            </a:pPr>
            <a:r>
              <a:rPr sz="2800" b="0">
                <a:solidFill>
                  <a:srgbClr val="9FE0C9"/>
                </a:solidFill>
                <a:latin typeface="Courier New"/>
              </a:rPr>
              <a:t>]</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2  COMMAND → REPLY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8"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13 of 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deleteMany removes every match</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 → REPLY</a:t>
            </a:r>
          </a:p>
          <a:p>
            <a:pPr algn="l">
              <a:lnSpc>
                <a:spcPts val="3200"/>
              </a:lnSpc>
            </a:pPr>
            <a:r>
              <a:rPr sz="2800" b="0">
                <a:solidFill>
                  <a:srgbClr val="E6ECF2"/>
                </a:solidFill>
                <a:latin typeface="Courier New"/>
              </a:rPr>
              <a:t>db.movies.deleteMany({"year" : 1985})</a:t>
            </a:r>
          </a:p>
          <a:p>
            <a:pPr algn="l">
              <a:lnSpc>
                <a:spcPts val="3200"/>
              </a:lnSpc>
            </a:pPr>
            <a:r>
              <a:rPr sz="2800" b="0">
                <a:solidFill>
                  <a:srgbClr val="9FE0C9"/>
                </a:solidFill>
                <a:latin typeface="Courier New"/>
              </a:rPr>
              <a:t>{ acknowledged: true, deletedCount: 2 }</a:t>
            </a:r>
          </a:p>
        </p:txBody>
      </p:sp>
      <p:sp>
        <p:nvSpPr>
          <p:cNvPr id="6" name="Rectangle 5"/>
          <p:cNvSpPr/>
          <p:nvPr/>
        </p:nvSpPr>
        <p:spPr>
          <a:xfrm>
            <a:off x="411480" y="2609088"/>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2700528"/>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3  AFTER</a:t>
            </a:r>
            <a:r>
              <a:rPr sz="2800" b="0">
                <a:solidFill>
                  <a:srgbClr val="8FA3B8"/>
                </a:solidFill>
                <a:latin typeface="Courier New"/>
              </a:rPr>
              <a:t>   db.movies.find()</a:t>
            </a:r>
          </a:p>
          <a:p>
            <a:pPr algn="l">
              <a:lnSpc>
                <a:spcPts val="3200"/>
              </a:lnSpc>
            </a:pPr>
            <a:r>
              <a:rPr sz="2800" b="0">
                <a:solidFill>
                  <a:srgbClr val="9FE0C9"/>
                </a:solidFill>
                <a:latin typeface="Courier New"/>
              </a:rPr>
              <a:t>[ { _id: 3, title: 'Sixteen Candles', year: 1984 } ]</a:t>
            </a:r>
          </a:p>
        </p:txBody>
      </p:sp>
      <p:sp>
        <p:nvSpPr>
          <p:cNvPr id="8" name="Rectangle 7"/>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deleteMany removes every match.</a:t>
            </a:r>
          </a:p>
        </p:txBody>
      </p:sp>
      <p:sp>
        <p:nvSpPr>
          <p:cNvPr id="9"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10" name="EXEMPT_FOOTER"/>
          <p:cNvSpPr txBox="1"/>
          <p:nvPr/>
        </p:nvSpPr>
        <p:spPr>
          <a:xfrm>
            <a:off x="5577840" y="6382512"/>
            <a:ext cx="2834640" cy="365760"/>
          </a:xfrm>
          <a:prstGeom prst="rect">
            <a:avLst/>
          </a:prstGeom>
          <a:noFill/>
        </p:spPr>
        <p:txBody>
          <a:bodyPr wrap="square" anchor="t" lIns="0" rIns="0" tIns="0" bIns="0">
            <a:spAutoFit/>
          </a:bodyPr>
          <a:lstStyle/>
          <a:p>
            <a:pPr algn="ctr">
              <a:lnSpc>
                <a:spcPct val="100000"/>
              </a:lnSpc>
            </a:pPr>
            <a:r>
              <a:rPr sz="1400" b="0">
                <a:solidFill>
                  <a:srgbClr val="0B6E61"/>
                </a:solidFill>
                <a:latin typeface="Arial"/>
              </a:rPr>
              <a:t>Real output · MongoDB 8.0.4</a:t>
            </a:r>
          </a:p>
        </p:txBody>
      </p:sp>
      <p:sp>
        <p:nvSpPr>
          <p:cNvPr id="11"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1 · 14 of 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411480" y="914400"/>
            <a:ext cx="3291840" cy="2743200"/>
          </a:xfrm>
          <a:prstGeom prst="rect">
            <a:avLst/>
          </a:prstGeom>
          <a:noFill/>
        </p:spPr>
        <p:txBody>
          <a:bodyPr wrap="square" anchor="t" lIns="0" rIns="0" tIns="0" bIns="0">
            <a:spAutoFit/>
          </a:bodyPr>
          <a:lstStyle/>
          <a:p>
            <a:pPr algn="l">
              <a:lnSpc>
                <a:spcPct val="100000"/>
              </a:lnSpc>
            </a:pPr>
            <a:r>
              <a:rPr sz="18000" b="1">
                <a:solidFill>
                  <a:srgbClr val="F2B27A"/>
                </a:solidFill>
                <a:latin typeface="Arial"/>
              </a:rPr>
              <a:t>2</a:t>
            </a:r>
          </a:p>
        </p:txBody>
      </p:sp>
      <p:sp>
        <p:nvSpPr>
          <p:cNvPr id="3" name="TextBox 2"/>
          <p:cNvSpPr txBox="1"/>
          <p:nvPr/>
        </p:nvSpPr>
        <p:spPr>
          <a:xfrm>
            <a:off x="3840480" y="548640"/>
            <a:ext cx="7863840" cy="2103120"/>
          </a:xfrm>
          <a:prstGeom prst="rect">
            <a:avLst/>
          </a:prstGeom>
          <a:noFill/>
        </p:spPr>
        <p:txBody>
          <a:bodyPr wrap="square" anchor="b" lIns="0" rIns="0" tIns="0" bIns="0">
            <a:spAutoFit/>
          </a:bodyPr>
          <a:lstStyle/>
          <a:p>
            <a:pPr algn="l">
              <a:lnSpc>
                <a:spcPct val="100000"/>
              </a:lnSpc>
            </a:pPr>
            <a:r>
              <a:rPr sz="4400" b="1">
                <a:solidFill>
                  <a:srgbClr val="FFFFFF"/>
                </a:solidFill>
                <a:latin typeface="Arial"/>
              </a:rPr>
              <a:t>Find, Replace &amp; Update</a:t>
            </a:r>
          </a:p>
        </p:txBody>
      </p:sp>
      <p:sp>
        <p:nvSpPr>
          <p:cNvPr id="4" name="TextBox 3"/>
          <p:cNvSpPr txBox="1"/>
          <p:nvPr/>
        </p:nvSpPr>
        <p:spPr>
          <a:xfrm>
            <a:off x="3840480" y="2743200"/>
            <a:ext cx="7863840" cy="914400"/>
          </a:xfrm>
          <a:prstGeom prst="rect">
            <a:avLst/>
          </a:prstGeom>
          <a:noFill/>
        </p:spPr>
        <p:txBody>
          <a:bodyPr wrap="square" anchor="t" lIns="0" rIns="0" tIns="0" bIns="0">
            <a:spAutoFit/>
          </a:bodyPr>
          <a:lstStyle/>
          <a:p>
            <a:pPr algn="l">
              <a:lnSpc>
                <a:spcPct val="100000"/>
              </a:lnSpc>
            </a:pPr>
            <a:r>
              <a:rPr sz="2800" b="0">
                <a:solidFill>
                  <a:srgbClr val="9FE0C9"/>
                </a:solidFill>
                <a:latin typeface="Arial"/>
              </a:rPr>
              <a:t>findOne · replaceOne · updateOne · updateMany</a:t>
            </a:r>
          </a:p>
        </p:txBody>
      </p:sp>
      <p:sp>
        <p:nvSpPr>
          <p:cNvPr id="5" name="TextBox 4"/>
          <p:cNvSpPr txBox="1"/>
          <p:nvPr/>
        </p:nvSpPr>
        <p:spPr>
          <a:xfrm>
            <a:off x="3840480" y="3794760"/>
            <a:ext cx="7863840" cy="1005840"/>
          </a:xfrm>
          <a:prstGeom prst="rect">
            <a:avLst/>
          </a:prstGeom>
          <a:noFill/>
        </p:spPr>
        <p:txBody>
          <a:bodyPr wrap="square" anchor="t" lIns="0" rIns="0" tIns="0" bIns="0">
            <a:spAutoFit/>
          </a:bodyPr>
          <a:lstStyle/>
          <a:p>
            <a:pPr algn="l">
              <a:lnSpc>
                <a:spcPct val="100000"/>
              </a:lnSpc>
            </a:pPr>
            <a:r>
              <a:rPr sz="3200" b="0">
                <a:solidFill>
                  <a:srgbClr val="F2B27A"/>
                </a:solidFill>
                <a:latin typeface="Arial"/>
              </a:rPr>
              <a:t>“Find it first. Then change it.”</a:t>
            </a:r>
          </a:p>
        </p:txBody>
      </p:sp>
      <p:sp>
        <p:nvSpPr>
          <p:cNvPr id="6" name="EXEMPT_PROGRESS"/>
          <p:cNvSpPr txBox="1"/>
          <p:nvPr/>
        </p:nvSpPr>
        <p:spPr>
          <a:xfrm>
            <a:off x="3840480" y="5074920"/>
            <a:ext cx="7863840" cy="457200"/>
          </a:xfrm>
          <a:prstGeom prst="rect">
            <a:avLst/>
          </a:prstGeom>
          <a:noFill/>
        </p:spPr>
        <p:txBody>
          <a:bodyPr wrap="square" anchor="t" lIns="0" rIns="0" tIns="0" bIns="0">
            <a:spAutoFit/>
          </a:bodyPr>
          <a:lstStyle/>
          <a:p>
            <a:pPr algn="l">
              <a:lnSpc>
                <a:spcPct val="100000"/>
              </a:lnSpc>
            </a:pPr>
            <a:r>
              <a:rPr sz="2200" b="0">
                <a:solidFill>
                  <a:srgbClr val="8FA3B8"/>
                </a:solidFill>
                <a:latin typeface="Arial"/>
              </a:rPr>
              <a:t>19 slides · about 2 min 18 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Part 2 SETUP: run this first</a:t>
            </a:r>
          </a:p>
        </p:txBody>
      </p:sp>
      <p:sp>
        <p:nvSpPr>
          <p:cNvPr id="4" name="EXEMPT_HELPER"/>
          <p:cNvSpPr txBox="1"/>
          <p:nvPr/>
        </p:nvSpPr>
        <p:spPr>
          <a:xfrm>
            <a:off x="7863840" y="45720"/>
            <a:ext cx="3916375" cy="274320"/>
          </a:xfrm>
          <a:prstGeom prst="rect">
            <a:avLst/>
          </a:prstGeom>
          <a:noFill/>
        </p:spPr>
        <p:txBody>
          <a:bodyPr wrap="square" anchor="t" lIns="0" rIns="0" tIns="0" bIns="0">
            <a:spAutoFit/>
          </a:bodyPr>
          <a:lstStyle/>
          <a:p>
            <a:pPr algn="r">
              <a:lnSpc>
                <a:spcPct val="100000"/>
              </a:lnSpc>
            </a:pPr>
            <a:r>
              <a:rPr sz="1400" b="1">
                <a:solidFill>
                  <a:srgbClr val="C2410C"/>
                </a:solidFill>
                <a:latin typeface="Arial"/>
              </a:rPr>
              <a:t>HELPER · delete before presenting</a:t>
            </a:r>
          </a:p>
        </p:txBody>
      </p:sp>
      <p:sp>
        <p:nvSpPr>
          <p:cNvPr id="5" name="EXEMPT_SETUP"/>
          <p:cNvSpPr/>
          <p:nvPr/>
        </p:nvSpPr>
        <p:spPr>
          <a:xfrm>
            <a:off x="411480" y="1097280"/>
            <a:ext cx="11368735" cy="44805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MPT_SETUP"/>
          <p:cNvSpPr txBox="1"/>
          <p:nvPr/>
        </p:nvSpPr>
        <p:spPr>
          <a:xfrm>
            <a:off x="548640" y="1207007"/>
            <a:ext cx="11094415" cy="4297680"/>
          </a:xfrm>
          <a:prstGeom prst="rect">
            <a:avLst/>
          </a:prstGeom>
          <a:noFill/>
        </p:spPr>
        <p:txBody>
          <a:bodyPr wrap="none" anchor="t" lIns="0" rIns="0" tIns="0" bIns="0">
            <a:spAutoFit/>
          </a:bodyPr>
          <a:lstStyle/>
          <a:p>
            <a:pPr algn="l">
              <a:lnSpc>
                <a:spcPct val="100000"/>
              </a:lnSpc>
            </a:pPr>
            <a:r>
              <a:rPr sz="2000" b="0">
                <a:solidFill>
                  <a:srgbClr val="E6ECF2"/>
                </a:solidFill>
                <a:latin typeface="Courier New"/>
              </a:rPr>
              <a:t>use adbs_part2</a:t>
            </a:r>
          </a:p>
          <a:p>
            <a:pPr algn="l">
              <a:lnSpc>
                <a:spcPct val="100000"/>
              </a:lnSpc>
            </a:pPr>
            <a:r>
              <a:rPr sz="2000" b="0">
                <a:solidFill>
                  <a:srgbClr val="E6ECF2"/>
                </a:solidFill>
                <a:latin typeface="Courier New"/>
              </a:rPr>
              <a:t>db.dropDatabase()</a:t>
            </a:r>
          </a:p>
          <a:p>
            <a:pPr algn="l">
              <a:lnSpc>
                <a:spcPct val="100000"/>
              </a:lnSpc>
            </a:pPr>
            <a:r>
              <a:rPr sz="2000" b="0">
                <a:solidFill>
                  <a:srgbClr val="E6ECF2"/>
                </a:solidFill>
                <a:latin typeface="Courier New"/>
              </a:rPr>
              <a:t>db.users.insertOne({"_id" : ObjectId("4b2b9f67a1f631733d917a7a"),</a:t>
            </a:r>
          </a:p>
          <a:p>
            <a:pPr algn="l">
              <a:lnSpc>
                <a:spcPct val="100000"/>
              </a:lnSpc>
            </a:pPr>
            <a:r>
              <a:rPr sz="2000" b="0">
                <a:solidFill>
                  <a:srgbClr val="E6ECF2"/>
                </a:solidFill>
                <a:latin typeface="Courier New"/>
              </a:rPr>
              <a:t>  "name" : "Joe", "friends" : 32, "enemies" : 2})</a:t>
            </a:r>
          </a:p>
          <a:p>
            <a:pPr algn="l">
              <a:lnSpc>
                <a:spcPct val="100000"/>
              </a:lnSpc>
            </a:pPr>
            <a:r>
              <a:rPr sz="2000" b="0">
                <a:solidFill>
                  <a:srgbClr val="E6ECF2"/>
                </a:solidFill>
                <a:latin typeface="Courier New"/>
              </a:rPr>
              <a:t>db.users.insertOne({"_id" : ObjectId("4b253b067525f35f94b60a31"),</a:t>
            </a:r>
          </a:p>
          <a:p>
            <a:pPr algn="l">
              <a:lnSpc>
                <a:spcPct val="100000"/>
              </a:lnSpc>
            </a:pPr>
            <a:r>
              <a:rPr sz="2000" b="0">
                <a:solidFill>
                  <a:srgbClr val="E6ECF2"/>
                </a:solidFill>
                <a:latin typeface="Courier New"/>
              </a:rPr>
              <a:t>  "name" : "John", "age" : 24, "sex" : "male", "location" : "Taytay"})</a:t>
            </a:r>
          </a:p>
          <a:p>
            <a:pPr algn="l">
              <a:lnSpc>
                <a:spcPct val="100000"/>
              </a:lnSpc>
            </a:pPr>
            <a:r>
              <a:rPr sz="2000" b="0">
                <a:solidFill>
                  <a:srgbClr val="E6ECF2"/>
                </a:solidFill>
                <a:latin typeface="Courier New"/>
              </a:rPr>
              <a:t>db.books.insertOne({"_id" : ObjectId("4b253b067525f35f94b60a31"),</a:t>
            </a:r>
          </a:p>
          <a:p>
            <a:pPr algn="l">
              <a:lnSpc>
                <a:spcPct val="100000"/>
              </a:lnSpc>
            </a:pPr>
            <a:r>
              <a:rPr sz="2000" b="0">
                <a:solidFill>
                  <a:srgbClr val="E6ECF2"/>
                </a:solidFill>
                <a:latin typeface="Courier New"/>
              </a:rPr>
              <a:t>  "title" : "MongoDB-2019",</a:t>
            </a:r>
          </a:p>
          <a:p>
            <a:pPr algn="l">
              <a:lnSpc>
                <a:spcPct val="100000"/>
              </a:lnSpc>
            </a:pPr>
            <a:r>
              <a:rPr sz="2000" b="0">
                <a:solidFill>
                  <a:srgbClr val="E6ECF2"/>
                </a:solidFill>
                <a:latin typeface="Courier New"/>
              </a:rPr>
              <a:t>  "author" : {"name" : "Nicole", "email" : "Nic@example.com"}})</a:t>
            </a:r>
          </a:p>
          <a:p>
            <a:pPr algn="l">
              <a:lnSpc>
                <a:spcPct val="100000"/>
              </a:lnSpc>
            </a:pPr>
            <a:r>
              <a:rPr sz="2000" b="0">
                <a:solidFill>
                  <a:srgbClr val="E6ECF2"/>
                </a:solidFill>
                <a:latin typeface="Courier New"/>
              </a:rPr>
              <a:t>db.users.insertMany([{"_id" : 1, "birthday" : "10/13/1978"},</a:t>
            </a:r>
          </a:p>
          <a:p>
            <a:pPr algn="l">
              <a:lnSpc>
                <a:spcPct val="100000"/>
              </a:lnSpc>
            </a:pPr>
            <a:r>
              <a:rPr sz="2000" b="0">
                <a:solidFill>
                  <a:srgbClr val="E6ECF2"/>
                </a:solidFill>
                <a:latin typeface="Courier New"/>
              </a:rPr>
              <a:t>  {"_id" : 2, "birthday" : "10/13/1978"},</a:t>
            </a:r>
          </a:p>
          <a:p>
            <a:pPr algn="l">
              <a:lnSpc>
                <a:spcPct val="100000"/>
              </a:lnSpc>
            </a:pPr>
            <a:r>
              <a:rPr sz="2000" b="0">
                <a:solidFill>
                  <a:srgbClr val="E6ECF2"/>
                </a:solidFill>
                <a:latin typeface="Courier New"/>
              </a:rPr>
              <a:t>  {"_id" : 3, "birthday" : "10/13/1978"}])</a:t>
            </a:r>
          </a:p>
        </p:txBody>
      </p:sp>
      <p:sp>
        <p:nvSpPr>
          <p:cNvPr id="7" name="EXEMPT_SETUP"/>
          <p:cNvSpPr txBox="1"/>
          <p:nvPr/>
        </p:nvSpPr>
        <p:spPr>
          <a:xfrm>
            <a:off x="411480" y="5715000"/>
            <a:ext cx="11368735" cy="457200"/>
          </a:xfrm>
          <a:prstGeom prst="rect">
            <a:avLst/>
          </a:prstGeom>
          <a:noFill/>
        </p:spPr>
        <p:txBody>
          <a:bodyPr wrap="square" anchor="t" lIns="0" rIns="0" tIns="0" bIns="0">
            <a:spAutoFit/>
          </a:bodyPr>
          <a:lstStyle/>
          <a:p>
            <a:pPr algn="l">
              <a:lnSpc>
                <a:spcPct val="100000"/>
              </a:lnSpc>
            </a:pPr>
            <a:r>
              <a:rPr sz="1800" b="0">
                <a:solidFill>
                  <a:srgbClr val="4A5868"/>
                </a:solidFill>
                <a:latin typeface="Arial"/>
              </a:rPr>
              <a:t>Copy all of it into the MongoDB shell and press Enter. Run it again any time to start over.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findOne returns one document</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db.users.findOne({"name" : "Joe"})</a:t>
            </a:r>
          </a:p>
        </p:txBody>
      </p:sp>
      <p:sp>
        <p:nvSpPr>
          <p:cNvPr id="6" name="EXEMPT_PASTE"/>
          <p:cNvSpPr/>
          <p:nvPr/>
        </p:nvSpPr>
        <p:spPr>
          <a:xfrm>
            <a:off x="411480" y="2202688"/>
            <a:ext cx="11368735" cy="30276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findOne brings back one document.</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2 of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replaceOne swaps the whole document</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p>
          <a:p>
            <a:pPr algn="l">
              <a:lnSpc>
                <a:spcPts val="3200"/>
              </a:lnSpc>
            </a:pPr>
            <a:r>
              <a:rPr sz="2800" b="0">
                <a:solidFill>
                  <a:srgbClr val="8FA3B8"/>
                </a:solidFill>
                <a:latin typeface="Courier New"/>
              </a:rPr>
              <a:t>// same as the last slide</a:t>
            </a:r>
          </a:p>
        </p:txBody>
      </p:sp>
      <p:sp>
        <p:nvSpPr>
          <p:cNvPr id="6" name="Rectangle 5"/>
          <p:cNvSpPr/>
          <p:nvPr/>
        </p:nvSpPr>
        <p:spPr>
          <a:xfrm>
            <a:off x="411480" y="2202688"/>
            <a:ext cx="11368735" cy="3434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2294128"/>
            <a:ext cx="11149279" cy="33243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a:t>
            </a:r>
          </a:p>
          <a:p>
            <a:pPr algn="l">
              <a:lnSpc>
                <a:spcPts val="3200"/>
              </a:lnSpc>
            </a:pPr>
            <a:r>
              <a:rPr sz="2800" b="0">
                <a:solidFill>
                  <a:srgbClr val="E6ECF2"/>
                </a:solidFill>
                <a:latin typeface="Courier New"/>
              </a:rPr>
              <a:t>var Joe = db.users.findOne({"name" : "Joe"});</a:t>
            </a:r>
          </a:p>
          <a:p>
            <a:pPr algn="l">
              <a:lnSpc>
                <a:spcPts val="3200"/>
              </a:lnSpc>
            </a:pPr>
            <a:r>
              <a:rPr sz="2800" b="0">
                <a:solidFill>
                  <a:srgbClr val="E6ECF2"/>
                </a:solidFill>
                <a:latin typeface="Courier New"/>
              </a:rPr>
              <a:t>Joe.relationships = {"friends" : Joe.friends,</a:t>
            </a:r>
          </a:p>
          <a:p>
            <a:pPr algn="l">
              <a:lnSpc>
                <a:spcPts val="3200"/>
              </a:lnSpc>
            </a:pPr>
            <a:r>
              <a:rPr sz="2800" b="0">
                <a:solidFill>
                  <a:srgbClr val="E6ECF2"/>
                </a:solidFill>
                <a:latin typeface="Courier New"/>
              </a:rPr>
              <a:t>  "enemies" : Joe.enemies};</a:t>
            </a:r>
          </a:p>
          <a:p>
            <a:pPr algn="l">
              <a:lnSpc>
                <a:spcPts val="3200"/>
              </a:lnSpc>
            </a:pPr>
            <a:r>
              <a:rPr sz="2800" b="0">
                <a:solidFill>
                  <a:srgbClr val="E6ECF2"/>
                </a:solidFill>
                <a:latin typeface="Courier New"/>
              </a:rPr>
              <a:t>Joe.username = Joe.name;</a:t>
            </a:r>
          </a:p>
          <a:p>
            <a:pPr algn="l">
              <a:lnSpc>
                <a:spcPts val="3200"/>
              </a:lnSpc>
            </a:pPr>
            <a:r>
              <a:rPr sz="2800" b="0">
                <a:solidFill>
                  <a:srgbClr val="E6ECF2"/>
                </a:solidFill>
                <a:latin typeface="Courier New"/>
              </a:rPr>
              <a:t>delete Joe.friends; delete Joe.enemies;</a:t>
            </a:r>
          </a:p>
          <a:p>
            <a:pPr algn="l">
              <a:lnSpc>
                <a:spcPts val="3200"/>
              </a:lnSpc>
            </a:pPr>
            <a:r>
              <a:rPr sz="2800" b="0">
                <a:solidFill>
                  <a:srgbClr val="E6ECF2"/>
                </a:solidFill>
                <a:latin typeface="Courier New"/>
              </a:rPr>
              <a:t>delete Joe.name;</a:t>
            </a:r>
          </a:p>
          <a:p>
            <a:pPr algn="l">
              <a:lnSpc>
                <a:spcPts val="3200"/>
              </a:lnSpc>
            </a:pPr>
            <a:r>
              <a:rPr sz="2800" b="0">
                <a:solidFill>
                  <a:srgbClr val="E6ECF2"/>
                </a:solidFill>
                <a:latin typeface="Courier New"/>
              </a:rPr>
              <a:t>db.users.replaceOne({"name" : "Joe"}, Joe)</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p.1-2</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3 of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replaceOne swaps the whole document</a:t>
            </a:r>
          </a:p>
        </p:txBody>
      </p:sp>
      <p:sp>
        <p:nvSpPr>
          <p:cNvPr id="4" name="EXEMPT_PASTE"/>
          <p:cNvSpPr/>
          <p:nvPr/>
        </p:nvSpPr>
        <p:spPr>
          <a:xfrm>
            <a:off x="411480" y="1097280"/>
            <a:ext cx="11368735" cy="1808479"/>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2  REPLY  ·  PASTE YOUR SCREENSHOT HERE</a:t>
            </a:r>
          </a:p>
          <a:p>
            <a:pPr algn="l">
              <a:lnSpc>
                <a:spcPct val="100000"/>
              </a:lnSpc>
            </a:pPr>
            <a:r>
              <a:rPr sz="1800" b="0">
                <a:solidFill>
                  <a:srgbClr val="14202E"/>
                </a:solidFill>
                <a:latin typeface="Arial"/>
              </a:rPr>
              <a:t>Zoom in (Ctrl + =). Screenshot the reply (Win + Shift + S). Click this box's edge, Delete, Ctrl + V.</a:t>
            </a:r>
          </a:p>
        </p:txBody>
      </p:sp>
      <p:sp>
        <p:nvSpPr>
          <p:cNvPr id="5" name="TextBox 4"/>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3  AFTER  →</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4 of 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replaceOne swaps the whole document</a:t>
            </a:r>
          </a:p>
        </p:txBody>
      </p:sp>
      <p:sp>
        <p:nvSpPr>
          <p:cNvPr id="4" name="EXEMPT_PASTE"/>
          <p:cNvSpPr/>
          <p:nvPr/>
        </p:nvSpPr>
        <p:spPr>
          <a:xfrm>
            <a:off x="411480" y="1097280"/>
            <a:ext cx="11368735" cy="26212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3  AFTER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db.users.findOne({"username" : "Joe"})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replaceOne replaces everything.</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p.1-2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5 of 19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adds or changes a field</a:t>
            </a:r>
          </a:p>
        </p:txBody>
      </p:sp>
      <p:sp>
        <p:nvSpPr>
          <p:cNvPr id="4" name="EXEMPT_PASTE"/>
          <p:cNvSpPr/>
          <p:nvPr/>
        </p:nvSpPr>
        <p:spPr>
          <a:xfrm>
            <a:off x="411480" y="1097280"/>
            <a:ext cx="11368735" cy="30276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1  BEFORE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db.users.findOne({"name" : "John"}, {"_id" : 0})</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TextBox 4"/>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2  COMMAND  →</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6 of 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adds or changes a field</a:t>
            </a:r>
          </a:p>
        </p:txBody>
      </p:sp>
      <p:sp>
        <p:nvSpPr>
          <p:cNvPr id="4" name="Rectangle 3"/>
          <p:cNvSpPr/>
          <p:nvPr/>
        </p:nvSpPr>
        <p:spPr>
          <a:xfrm>
            <a:off x="411480" y="1097280"/>
            <a:ext cx="11368735" cy="18084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6987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a:t>
            </a:r>
          </a:p>
          <a:p>
            <a:pPr algn="l">
              <a:lnSpc>
                <a:spcPts val="3200"/>
              </a:lnSpc>
            </a:pPr>
            <a:r>
              <a:rPr sz="2800" b="0">
                <a:solidFill>
                  <a:srgbClr val="E6ECF2"/>
                </a:solidFill>
                <a:latin typeface="Courier New"/>
              </a:rPr>
              <a:t>db.users.updateOne({"name" : "John"},</a:t>
            </a:r>
          </a:p>
          <a:p>
            <a:pPr algn="l">
              <a:lnSpc>
                <a:spcPts val="3200"/>
              </a:lnSpc>
            </a:pPr>
            <a:r>
              <a:rPr sz="2800" b="0">
                <a:solidFill>
                  <a:srgbClr val="E6ECF2"/>
                </a:solidFill>
                <a:latin typeface="Courier New"/>
              </a:rPr>
              <a:t>  {"$set" : {"favorite book" :</a:t>
            </a:r>
          </a:p>
          <a:p>
            <a:pPr algn="l">
              <a:lnSpc>
                <a:spcPts val="3200"/>
              </a:lnSpc>
            </a:pPr>
            <a:r>
              <a:rPr sz="2800" b="0">
                <a:solidFill>
                  <a:srgbClr val="E6ECF2"/>
                </a:solidFill>
                <a:latin typeface="Courier New"/>
              </a:rPr>
              <a:t>    "Green Eggs and Ham"}})</a:t>
            </a:r>
          </a:p>
        </p:txBody>
      </p:sp>
      <p:sp>
        <p:nvSpPr>
          <p:cNvPr id="6" name="EXEMPT_PASTE"/>
          <p:cNvSpPr/>
          <p:nvPr/>
        </p:nvSpPr>
        <p:spPr>
          <a:xfrm>
            <a:off x="411480" y="3015487"/>
            <a:ext cx="11368735" cy="1808479"/>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2  REPLY  ·  PASTE YOUR SCREENSHOT HERE</a:t>
            </a:r>
          </a:p>
          <a:p>
            <a:pPr algn="l">
              <a:lnSpc>
                <a:spcPct val="100000"/>
              </a:lnSpc>
            </a:pPr>
            <a:r>
              <a:rPr sz="1800" b="0">
                <a:solidFill>
                  <a:srgbClr val="14202E"/>
                </a:solidFill>
                <a:latin typeface="Arial"/>
              </a:rPr>
              <a:t>Zoom in (Ctrl + =). Screenshot the reply (Win + Shift + S). Click this box's edge, Delete, Ctrl + V.</a:t>
            </a:r>
          </a:p>
        </p:txBody>
      </p:sp>
      <p:sp>
        <p:nvSpPr>
          <p:cNvPr id="7" name="TextBox 6"/>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3  AFTER  →</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7 of 19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adds or changes a field</a:t>
            </a:r>
          </a:p>
        </p:txBody>
      </p:sp>
      <p:sp>
        <p:nvSpPr>
          <p:cNvPr id="4" name="EXEMPT_PASTE"/>
          <p:cNvSpPr/>
          <p:nvPr/>
        </p:nvSpPr>
        <p:spPr>
          <a:xfrm>
            <a:off x="411480" y="1097280"/>
            <a:ext cx="11368735" cy="3434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3  AFTER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db.users.findOne({"name" : "John"}, {"_id" : 0})</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$set: add it or change it.</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8 of 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can change the type</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p>
          <a:p>
            <a:pPr algn="l">
              <a:lnSpc>
                <a:spcPts val="3200"/>
              </a:lnSpc>
            </a:pPr>
            <a:r>
              <a:rPr sz="2800" b="0">
                <a:solidFill>
                  <a:srgbClr val="8FA3B8"/>
                </a:solidFill>
                <a:latin typeface="Courier New"/>
              </a:rPr>
              <a:t>// same as the last slide</a:t>
            </a:r>
          </a:p>
        </p:txBody>
      </p:sp>
      <p:sp>
        <p:nvSpPr>
          <p:cNvPr id="6" name="Rectangle 5"/>
          <p:cNvSpPr/>
          <p:nvPr/>
        </p:nvSpPr>
        <p:spPr>
          <a:xfrm>
            <a:off x="411480" y="2202688"/>
            <a:ext cx="11368735" cy="22148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2294128"/>
            <a:ext cx="11149279" cy="21051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a:t>
            </a:r>
          </a:p>
          <a:p>
            <a:pPr algn="l">
              <a:lnSpc>
                <a:spcPts val="3200"/>
              </a:lnSpc>
            </a:pPr>
            <a:r>
              <a:rPr sz="2800" b="0">
                <a:solidFill>
                  <a:srgbClr val="E6ECF2"/>
                </a:solidFill>
                <a:latin typeface="Courier New"/>
              </a:rPr>
              <a:t>db.users.updateOne({"name" : "John"},</a:t>
            </a:r>
          </a:p>
          <a:p>
            <a:pPr algn="l">
              <a:lnSpc>
                <a:spcPts val="3200"/>
              </a:lnSpc>
            </a:pPr>
            <a:r>
              <a:rPr sz="2800" b="0">
                <a:solidFill>
                  <a:srgbClr val="E6ECF2"/>
                </a:solidFill>
                <a:latin typeface="Courier New"/>
              </a:rPr>
              <a:t>  {"$set" : {"favorite book" :</a:t>
            </a:r>
          </a:p>
          <a:p>
            <a:pPr algn="l">
              <a:lnSpc>
                <a:spcPts val="3200"/>
              </a:lnSpc>
            </a:pPr>
            <a:r>
              <a:rPr sz="2800" b="0">
                <a:solidFill>
                  <a:srgbClr val="E6ECF2"/>
                </a:solidFill>
                <a:latin typeface="Courier New"/>
              </a:rPr>
              <a:t>  ["Cat's Cradle", "Foundation Trilogy",</a:t>
            </a:r>
          </a:p>
          <a:p>
            <a:pPr algn="l">
              <a:lnSpc>
                <a:spcPts val="3200"/>
              </a:lnSpc>
            </a:pPr>
            <a:r>
              <a:rPr sz="2800" b="0">
                <a:solidFill>
                  <a:srgbClr val="E6ECF2"/>
                </a:solidFill>
                <a:latin typeface="Courier New"/>
              </a:rPr>
              <a:t>   "Ender's Game"]}})</a:t>
            </a:r>
          </a:p>
        </p:txBody>
      </p:sp>
      <p:sp>
        <p:nvSpPr>
          <p:cNvPr id="8" name="TextBox 7"/>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2  REPLY  →</a:t>
            </a:r>
          </a:p>
        </p:txBody>
      </p:sp>
      <p:sp>
        <p:nvSpPr>
          <p:cNvPr id="9"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10"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9 of 19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can change the type</a:t>
            </a:r>
          </a:p>
        </p:txBody>
      </p:sp>
      <p:sp>
        <p:nvSpPr>
          <p:cNvPr id="4" name="EXEMPT_PASTE"/>
          <p:cNvSpPr/>
          <p:nvPr/>
        </p:nvSpPr>
        <p:spPr>
          <a:xfrm>
            <a:off x="411480" y="1097280"/>
            <a:ext cx="11368735" cy="1808479"/>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2  REPLY  ·  PASTE YOUR SCREENSHOT HERE</a:t>
            </a:r>
          </a:p>
          <a:p>
            <a:pPr algn="l">
              <a:lnSpc>
                <a:spcPct val="100000"/>
              </a:lnSpc>
            </a:pPr>
            <a:r>
              <a:rPr sz="1800" b="0">
                <a:solidFill>
                  <a:srgbClr val="14202E"/>
                </a:solidFill>
                <a:latin typeface="Arial"/>
              </a:rPr>
              <a:t>Zoom in (Ctrl + =). Screenshot the reply (Win + Shift + S). Click this box's edge, Delete, Ctrl + V.</a:t>
            </a:r>
          </a:p>
        </p:txBody>
      </p:sp>
      <p:sp>
        <p:nvSpPr>
          <p:cNvPr id="5" name="TextBox 4"/>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3  AFTER  →</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10 of 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can change the type</a:t>
            </a:r>
          </a:p>
        </p:txBody>
      </p:sp>
      <p:sp>
        <p:nvSpPr>
          <p:cNvPr id="4" name="EXEMPT_PASTE"/>
          <p:cNvSpPr/>
          <p:nvPr/>
        </p:nvSpPr>
        <p:spPr>
          <a:xfrm>
            <a:off x="411480" y="1097280"/>
            <a:ext cx="11368735" cy="38404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3  AFTER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db.users.findOne({"name" : "John"}, {"_id" : 0})</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Text becomes a list.</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11 of 19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$unset removes a field</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1  BEFORE</a:t>
            </a:r>
          </a:p>
          <a:p>
            <a:pPr algn="l">
              <a:lnSpc>
                <a:spcPts val="3200"/>
              </a:lnSpc>
            </a:pPr>
            <a:r>
              <a:rPr sz="2800" b="0">
                <a:solidFill>
                  <a:srgbClr val="8FA3B8"/>
                </a:solidFill>
                <a:latin typeface="Courier New"/>
              </a:rPr>
              <a:t>// same as the last slide</a:t>
            </a:r>
          </a:p>
        </p:txBody>
      </p:sp>
      <p:sp>
        <p:nvSpPr>
          <p:cNvPr id="6" name="Rectangle 5"/>
          <p:cNvSpPr/>
          <p:nvPr/>
        </p:nvSpPr>
        <p:spPr>
          <a:xfrm>
            <a:off x="411480" y="2202688"/>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2294128"/>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a:t>
            </a:r>
          </a:p>
          <a:p>
            <a:pPr algn="l">
              <a:lnSpc>
                <a:spcPts val="3200"/>
              </a:lnSpc>
            </a:pPr>
            <a:r>
              <a:rPr sz="2800" b="0">
                <a:solidFill>
                  <a:srgbClr val="E6ECF2"/>
                </a:solidFill>
                <a:latin typeface="Courier New"/>
              </a:rPr>
              <a:t>db.users.updateOne({"name" : "John"},</a:t>
            </a:r>
          </a:p>
          <a:p>
            <a:pPr algn="l">
              <a:lnSpc>
                <a:spcPts val="3200"/>
              </a:lnSpc>
            </a:pPr>
            <a:r>
              <a:rPr sz="2800" b="0">
                <a:solidFill>
                  <a:srgbClr val="E6ECF2"/>
                </a:solidFill>
                <a:latin typeface="Courier New"/>
              </a:rPr>
              <a:t>  {"$unset" : {"favorite book" : 1}})</a:t>
            </a:r>
          </a:p>
        </p:txBody>
      </p:sp>
      <p:sp>
        <p:nvSpPr>
          <p:cNvPr id="8" name="EXEMPT_PASTE"/>
          <p:cNvSpPr/>
          <p:nvPr/>
        </p:nvSpPr>
        <p:spPr>
          <a:xfrm>
            <a:off x="411480" y="3714496"/>
            <a:ext cx="11368735" cy="1808479"/>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2  REPLY  ·  PASTE YOUR SCREENSHOT HERE</a:t>
            </a:r>
          </a:p>
          <a:p>
            <a:pPr algn="l">
              <a:lnSpc>
                <a:spcPct val="100000"/>
              </a:lnSpc>
            </a:pPr>
            <a:r>
              <a:rPr sz="1800" b="0">
                <a:solidFill>
                  <a:srgbClr val="14202E"/>
                </a:solidFill>
                <a:latin typeface="Arial"/>
              </a:rPr>
              <a:t>Zoom in (Ctrl + =). Screenshot the reply (Win + Shift + S). Click this box's edge, Delete, Ctrl + V.</a:t>
            </a:r>
          </a:p>
        </p:txBody>
      </p:sp>
      <p:sp>
        <p:nvSpPr>
          <p:cNvPr id="9" name="TextBox 8"/>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3  AFTER  →</a:t>
            </a:r>
          </a:p>
        </p:txBody>
      </p:sp>
      <p:sp>
        <p:nvSpPr>
          <p:cNvPr id="10"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11"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12 of 19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$unset removes a field</a:t>
            </a:r>
          </a:p>
        </p:txBody>
      </p:sp>
      <p:sp>
        <p:nvSpPr>
          <p:cNvPr id="4" name="EXEMPT_PASTE"/>
          <p:cNvSpPr/>
          <p:nvPr/>
        </p:nvSpPr>
        <p:spPr>
          <a:xfrm>
            <a:off x="411480" y="1097280"/>
            <a:ext cx="11368735" cy="30276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3  AFTER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db.users.findOne({"name" : "John"}, {"_id" : 0})</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$unset: the field is gone.</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13 of 19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inside an embedded document</a:t>
            </a:r>
          </a:p>
        </p:txBody>
      </p:sp>
      <p:sp>
        <p:nvSpPr>
          <p:cNvPr id="4" name="EXEMPT_PASTE"/>
          <p:cNvSpPr/>
          <p:nvPr/>
        </p:nvSpPr>
        <p:spPr>
          <a:xfrm>
            <a:off x="411480" y="1097280"/>
            <a:ext cx="11368735" cy="3434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1  BEFORE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db.books.findOne({}, {"_id" : 0})</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TextBox 4"/>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2  COMMAND  →</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14 of 19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inside an embedded document</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a:t>
            </a:r>
          </a:p>
          <a:p>
            <a:pPr algn="l">
              <a:lnSpc>
                <a:spcPts val="3200"/>
              </a:lnSpc>
            </a:pPr>
            <a:r>
              <a:rPr sz="2800" b="0">
                <a:solidFill>
                  <a:srgbClr val="E6ECF2"/>
                </a:solidFill>
                <a:latin typeface="Courier New"/>
              </a:rPr>
              <a:t>db.books.updateOne({"author.name" : "Nicole"},</a:t>
            </a:r>
          </a:p>
          <a:p>
            <a:pPr algn="l">
              <a:lnSpc>
                <a:spcPts val="3200"/>
              </a:lnSpc>
            </a:pPr>
            <a:r>
              <a:rPr sz="2800" b="0">
                <a:solidFill>
                  <a:srgbClr val="E6ECF2"/>
                </a:solidFill>
                <a:latin typeface="Courier New"/>
              </a:rPr>
              <a:t>  {"$set" : {"author.name" : "Nicole Tagayon"}})</a:t>
            </a:r>
          </a:p>
        </p:txBody>
      </p:sp>
      <p:sp>
        <p:nvSpPr>
          <p:cNvPr id="6" name="EXEMPT_PASTE"/>
          <p:cNvSpPr/>
          <p:nvPr/>
        </p:nvSpPr>
        <p:spPr>
          <a:xfrm>
            <a:off x="411480" y="2609088"/>
            <a:ext cx="11368735" cy="1808479"/>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2  REPLY  ·  PASTE YOUR SCREENSHOT HERE</a:t>
            </a:r>
          </a:p>
          <a:p>
            <a:pPr algn="l">
              <a:lnSpc>
                <a:spcPct val="100000"/>
              </a:lnSpc>
            </a:pPr>
            <a:r>
              <a:rPr sz="1800" b="0">
                <a:solidFill>
                  <a:srgbClr val="14202E"/>
                </a:solidFill>
                <a:latin typeface="Arial"/>
              </a:rPr>
              <a:t>Zoom in (Ctrl + =). Screenshot the reply (Win + Shift + S). Click this box's edge, Delete, Ctrl + V.</a:t>
            </a:r>
          </a:p>
        </p:txBody>
      </p:sp>
      <p:sp>
        <p:nvSpPr>
          <p:cNvPr id="7" name="TextBox 6"/>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3  AFTER  →</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15 of 19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$set inside an embedded document</a:t>
            </a:r>
          </a:p>
        </p:txBody>
      </p:sp>
      <p:sp>
        <p:nvSpPr>
          <p:cNvPr id="4" name="EXEMPT_PASTE"/>
          <p:cNvSpPr/>
          <p:nvPr/>
        </p:nvSpPr>
        <p:spPr>
          <a:xfrm>
            <a:off x="411480" y="1097280"/>
            <a:ext cx="11368735" cy="3434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3  AFTER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db.books.findOne({}, {"_id" : 0})</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Use the dot to reach inside.</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p.2</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16 of 19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updateMany updates every match</a:t>
            </a:r>
          </a:p>
        </p:txBody>
      </p:sp>
      <p:sp>
        <p:nvSpPr>
          <p:cNvPr id="4" name="EXEMPT_PASTE"/>
          <p:cNvSpPr/>
          <p:nvPr/>
        </p:nvSpPr>
        <p:spPr>
          <a:xfrm>
            <a:off x="411480" y="1097280"/>
            <a:ext cx="11368735" cy="26212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1  BEFORE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db.users.find({"birthday" : "10/13/1978"})</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TextBox 4"/>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2  COMMAND  →</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17 of 19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updateMany updates every match</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a:t>
            </a:r>
          </a:p>
          <a:p>
            <a:pPr algn="l">
              <a:lnSpc>
                <a:spcPts val="3200"/>
              </a:lnSpc>
            </a:pPr>
            <a:r>
              <a:rPr sz="2800" b="0">
                <a:solidFill>
                  <a:srgbClr val="E6ECF2"/>
                </a:solidFill>
                <a:latin typeface="Courier New"/>
              </a:rPr>
              <a:t>db.users.updateMany({"birthday" : "10/13/1978"},</a:t>
            </a:r>
          </a:p>
          <a:p>
            <a:pPr algn="l">
              <a:lnSpc>
                <a:spcPts val="3200"/>
              </a:lnSpc>
            </a:pPr>
            <a:r>
              <a:rPr sz="2800" b="0">
                <a:solidFill>
                  <a:srgbClr val="E6ECF2"/>
                </a:solidFill>
                <a:latin typeface="Courier New"/>
              </a:rPr>
              <a:t>  {"$set" : {"gift" : "Happy Birthday!"}})</a:t>
            </a:r>
          </a:p>
        </p:txBody>
      </p:sp>
      <p:sp>
        <p:nvSpPr>
          <p:cNvPr id="6" name="EXEMPT_PASTE"/>
          <p:cNvSpPr/>
          <p:nvPr/>
        </p:nvSpPr>
        <p:spPr>
          <a:xfrm>
            <a:off x="411480" y="2609088"/>
            <a:ext cx="11368735" cy="1808479"/>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2  REPLY  ·  PASTE YOUR SCREENSHOT HERE</a:t>
            </a:r>
          </a:p>
          <a:p>
            <a:pPr algn="l">
              <a:lnSpc>
                <a:spcPct val="100000"/>
              </a:lnSpc>
            </a:pPr>
            <a:r>
              <a:rPr sz="1800" b="0">
                <a:solidFill>
                  <a:srgbClr val="14202E"/>
                </a:solidFill>
                <a:latin typeface="Arial"/>
              </a:rPr>
              <a:t>Zoom in (Ctrl + =). Screenshot the reply (Win + Shift + S). Click this box's edge, Delete, Ctrl + V.</a:t>
            </a:r>
          </a:p>
        </p:txBody>
      </p:sp>
      <p:sp>
        <p:nvSpPr>
          <p:cNvPr id="7" name="TextBox 6"/>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3  AFTER  →</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18 of 19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updateMany updates every match</a:t>
            </a:r>
          </a:p>
        </p:txBody>
      </p:sp>
      <p:sp>
        <p:nvSpPr>
          <p:cNvPr id="4" name="EXEMPT_PASTE"/>
          <p:cNvSpPr/>
          <p:nvPr/>
        </p:nvSpPr>
        <p:spPr>
          <a:xfrm>
            <a:off x="411480" y="1097280"/>
            <a:ext cx="11368735" cy="38404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3  AFTER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db.users.find({"birthday" : "10/13/1978"})</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One rule, every match.</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2 · 19 of 19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411480" y="914400"/>
            <a:ext cx="3291840" cy="2743200"/>
          </a:xfrm>
          <a:prstGeom prst="rect">
            <a:avLst/>
          </a:prstGeom>
          <a:noFill/>
        </p:spPr>
        <p:txBody>
          <a:bodyPr wrap="square" anchor="t" lIns="0" rIns="0" tIns="0" bIns="0">
            <a:spAutoFit/>
          </a:bodyPr>
          <a:lstStyle/>
          <a:p>
            <a:pPr algn="l">
              <a:lnSpc>
                <a:spcPct val="100000"/>
              </a:lnSpc>
            </a:pPr>
            <a:r>
              <a:rPr sz="18000" b="1">
                <a:solidFill>
                  <a:srgbClr val="F2B27A"/>
                </a:solidFill>
                <a:latin typeface="Arial"/>
              </a:rPr>
              <a:t>3</a:t>
            </a:r>
          </a:p>
        </p:txBody>
      </p:sp>
      <p:sp>
        <p:nvSpPr>
          <p:cNvPr id="3" name="TextBox 2"/>
          <p:cNvSpPr txBox="1"/>
          <p:nvPr/>
        </p:nvSpPr>
        <p:spPr>
          <a:xfrm>
            <a:off x="3840480" y="548640"/>
            <a:ext cx="7863840" cy="2103120"/>
          </a:xfrm>
          <a:prstGeom prst="rect">
            <a:avLst/>
          </a:prstGeom>
          <a:noFill/>
        </p:spPr>
        <p:txBody>
          <a:bodyPr wrap="square" anchor="b" lIns="0" rIns="0" tIns="0" bIns="0">
            <a:spAutoFit/>
          </a:bodyPr>
          <a:lstStyle/>
          <a:p>
            <a:pPr algn="l">
              <a:lnSpc>
                <a:spcPct val="100000"/>
              </a:lnSpc>
            </a:pPr>
            <a:r>
              <a:rPr sz="4400" b="1">
                <a:solidFill>
                  <a:srgbClr val="FFFFFF"/>
                </a:solidFill>
                <a:latin typeface="Arial"/>
              </a:rPr>
              <a:t>Comparison Operators</a:t>
            </a:r>
          </a:p>
        </p:txBody>
      </p:sp>
      <p:sp>
        <p:nvSpPr>
          <p:cNvPr id="4" name="TextBox 3"/>
          <p:cNvSpPr txBox="1"/>
          <p:nvPr/>
        </p:nvSpPr>
        <p:spPr>
          <a:xfrm>
            <a:off x="3840480" y="2743200"/>
            <a:ext cx="7863840" cy="914400"/>
          </a:xfrm>
          <a:prstGeom prst="rect">
            <a:avLst/>
          </a:prstGeom>
          <a:noFill/>
        </p:spPr>
        <p:txBody>
          <a:bodyPr wrap="square" anchor="t" lIns="0" rIns="0" tIns="0" bIns="0">
            <a:spAutoFit/>
          </a:bodyPr>
          <a:lstStyle/>
          <a:p>
            <a:pPr algn="l">
              <a:lnSpc>
                <a:spcPct val="100000"/>
              </a:lnSpc>
            </a:pPr>
            <a:r>
              <a:rPr sz="2800" b="0">
                <a:solidFill>
                  <a:srgbClr val="9FE0C9"/>
                </a:solidFill>
                <a:latin typeface="Arial"/>
              </a:rPr>
              <a:t>$lt · $lte · $gt · $gte</a:t>
            </a:r>
          </a:p>
        </p:txBody>
      </p:sp>
      <p:sp>
        <p:nvSpPr>
          <p:cNvPr id="5" name="TextBox 4"/>
          <p:cNvSpPr txBox="1"/>
          <p:nvPr/>
        </p:nvSpPr>
        <p:spPr>
          <a:xfrm>
            <a:off x="3840480" y="3794760"/>
            <a:ext cx="7863840" cy="1005840"/>
          </a:xfrm>
          <a:prstGeom prst="rect">
            <a:avLst/>
          </a:prstGeom>
          <a:noFill/>
        </p:spPr>
        <p:txBody>
          <a:bodyPr wrap="square" anchor="t" lIns="0" rIns="0" tIns="0" bIns="0">
            <a:spAutoFit/>
          </a:bodyPr>
          <a:lstStyle/>
          <a:p>
            <a:pPr algn="l">
              <a:lnSpc>
                <a:spcPct val="100000"/>
              </a:lnSpc>
            </a:pPr>
            <a:r>
              <a:rPr sz="3200" b="0">
                <a:solidFill>
                  <a:srgbClr val="F2B27A"/>
                </a:solidFill>
                <a:latin typeface="Arial"/>
              </a:rPr>
              <a:t>“The e means equal is allowed.”</a:t>
            </a:r>
          </a:p>
        </p:txBody>
      </p:sp>
      <p:sp>
        <p:nvSpPr>
          <p:cNvPr id="6" name="EXEMPT_PROGRESS"/>
          <p:cNvSpPr txBox="1"/>
          <p:nvPr/>
        </p:nvSpPr>
        <p:spPr>
          <a:xfrm>
            <a:off x="3840480" y="5074920"/>
            <a:ext cx="7863840" cy="457200"/>
          </a:xfrm>
          <a:prstGeom prst="rect">
            <a:avLst/>
          </a:prstGeom>
          <a:noFill/>
        </p:spPr>
        <p:txBody>
          <a:bodyPr wrap="square" anchor="t" lIns="0" rIns="0" tIns="0" bIns="0">
            <a:spAutoFit/>
          </a:bodyPr>
          <a:lstStyle/>
          <a:p>
            <a:pPr algn="l">
              <a:lnSpc>
                <a:spcPct val="100000"/>
              </a:lnSpc>
            </a:pPr>
            <a:r>
              <a:rPr sz="2200" b="0">
                <a:solidFill>
                  <a:srgbClr val="8FA3B8"/>
                </a:solidFill>
                <a:latin typeface="Arial"/>
              </a:rPr>
              <a:t>9 slides · about 1 min 38 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Part 3 SETUP: run this first</a:t>
            </a:r>
          </a:p>
        </p:txBody>
      </p:sp>
      <p:sp>
        <p:nvSpPr>
          <p:cNvPr id="4" name="EXEMPT_HELPER"/>
          <p:cNvSpPr txBox="1"/>
          <p:nvPr/>
        </p:nvSpPr>
        <p:spPr>
          <a:xfrm>
            <a:off x="7863840" y="45720"/>
            <a:ext cx="3916375" cy="274320"/>
          </a:xfrm>
          <a:prstGeom prst="rect">
            <a:avLst/>
          </a:prstGeom>
          <a:noFill/>
        </p:spPr>
        <p:txBody>
          <a:bodyPr wrap="square" anchor="t" lIns="0" rIns="0" tIns="0" bIns="0">
            <a:spAutoFit/>
          </a:bodyPr>
          <a:lstStyle/>
          <a:p>
            <a:pPr algn="r">
              <a:lnSpc>
                <a:spcPct val="100000"/>
              </a:lnSpc>
            </a:pPr>
            <a:r>
              <a:rPr sz="1400" b="1">
                <a:solidFill>
                  <a:srgbClr val="C2410C"/>
                </a:solidFill>
                <a:latin typeface="Arial"/>
              </a:rPr>
              <a:t>HELPER · delete before presenting</a:t>
            </a:r>
          </a:p>
        </p:txBody>
      </p:sp>
      <p:sp>
        <p:nvSpPr>
          <p:cNvPr id="5" name="EXEMPT_SETUP"/>
          <p:cNvSpPr/>
          <p:nvPr/>
        </p:nvSpPr>
        <p:spPr>
          <a:xfrm>
            <a:off x="411480" y="1097280"/>
            <a:ext cx="11368735" cy="44805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MPT_SETUP"/>
          <p:cNvSpPr txBox="1"/>
          <p:nvPr/>
        </p:nvSpPr>
        <p:spPr>
          <a:xfrm>
            <a:off x="548640" y="1207007"/>
            <a:ext cx="11094415" cy="4297680"/>
          </a:xfrm>
          <a:prstGeom prst="rect">
            <a:avLst/>
          </a:prstGeom>
          <a:noFill/>
        </p:spPr>
        <p:txBody>
          <a:bodyPr wrap="none" anchor="t" lIns="0" rIns="0" tIns="0" bIns="0">
            <a:spAutoFit/>
          </a:bodyPr>
          <a:lstStyle/>
          <a:p>
            <a:pPr algn="l">
              <a:lnSpc>
                <a:spcPct val="100000"/>
              </a:lnSpc>
            </a:pPr>
            <a:r>
              <a:rPr sz="2000" b="0">
                <a:solidFill>
                  <a:srgbClr val="E6ECF2"/>
                </a:solidFill>
                <a:latin typeface="Courier New"/>
              </a:rPr>
              <a:t>use adbs_part3</a:t>
            </a:r>
          </a:p>
          <a:p>
            <a:pPr algn="l">
              <a:lnSpc>
                <a:spcPct val="100000"/>
              </a:lnSpc>
            </a:pPr>
            <a:r>
              <a:rPr sz="2000" b="0">
                <a:solidFill>
                  <a:srgbClr val="E6ECF2"/>
                </a:solidFill>
                <a:latin typeface="Courier New"/>
              </a:rPr>
              <a:t>db.dropDatabase()</a:t>
            </a:r>
          </a:p>
          <a:p>
            <a:pPr algn="l">
              <a:lnSpc>
                <a:spcPct val="100000"/>
              </a:lnSpc>
            </a:pPr>
            <a:r>
              <a:rPr sz="2000" b="0">
                <a:solidFill>
                  <a:srgbClr val="E6ECF2"/>
                </a:solidFill>
                <a:latin typeface="Courier New"/>
              </a:rPr>
              <a:t>db.users.insertMany([{"_id" : 1, "name" : "Ana", "age" : 17},</a:t>
            </a:r>
          </a:p>
          <a:p>
            <a:pPr algn="l">
              <a:lnSpc>
                <a:spcPct val="100000"/>
              </a:lnSpc>
            </a:pPr>
            <a:r>
              <a:rPr sz="2000" b="0">
                <a:solidFill>
                  <a:srgbClr val="E6ECF2"/>
                </a:solidFill>
                <a:latin typeface="Courier New"/>
              </a:rPr>
              <a:t>  {"_id" : 2, "name" : "Ben", "age" : 18},</a:t>
            </a:r>
          </a:p>
          <a:p>
            <a:pPr algn="l">
              <a:lnSpc>
                <a:spcPct val="100000"/>
              </a:lnSpc>
            </a:pPr>
            <a:r>
              <a:rPr sz="2000" b="0">
                <a:solidFill>
                  <a:srgbClr val="E6ECF2"/>
                </a:solidFill>
                <a:latin typeface="Courier New"/>
              </a:rPr>
              <a:t>  {"_id" : 3, "name" : "Cara", "age" : 24},</a:t>
            </a:r>
          </a:p>
          <a:p>
            <a:pPr algn="l">
              <a:lnSpc>
                <a:spcPct val="100000"/>
              </a:lnSpc>
            </a:pPr>
            <a:r>
              <a:rPr sz="2000" b="0">
                <a:solidFill>
                  <a:srgbClr val="E6ECF2"/>
                </a:solidFill>
                <a:latin typeface="Courier New"/>
              </a:rPr>
              <a:t>  {"_id" : 4, "name" : "Dan", "age" : 30},</a:t>
            </a:r>
          </a:p>
          <a:p>
            <a:pPr algn="l">
              <a:lnSpc>
                <a:spcPct val="100000"/>
              </a:lnSpc>
            </a:pPr>
            <a:r>
              <a:rPr sz="2000" b="0">
                <a:solidFill>
                  <a:srgbClr val="E6ECF2"/>
                </a:solidFill>
                <a:latin typeface="Courier New"/>
              </a:rPr>
              <a:t>  {"_id" : 5, "name" : "Eli", "age" : 31}])</a:t>
            </a:r>
          </a:p>
        </p:txBody>
      </p:sp>
      <p:sp>
        <p:nvSpPr>
          <p:cNvPr id="7" name="EXEMPT_SETUP"/>
          <p:cNvSpPr txBox="1"/>
          <p:nvPr/>
        </p:nvSpPr>
        <p:spPr>
          <a:xfrm>
            <a:off x="411480" y="5715000"/>
            <a:ext cx="11368735" cy="457200"/>
          </a:xfrm>
          <a:prstGeom prst="rect">
            <a:avLst/>
          </a:prstGeom>
          <a:noFill/>
        </p:spPr>
        <p:txBody>
          <a:bodyPr wrap="square" anchor="t" lIns="0" rIns="0" tIns="0" bIns="0">
            <a:spAutoFit/>
          </a:bodyPr>
          <a:lstStyle/>
          <a:p>
            <a:pPr algn="l">
              <a:lnSpc>
                <a:spcPct val="100000"/>
              </a:lnSpc>
            </a:pPr>
            <a:r>
              <a:rPr sz="1800" b="0">
                <a:solidFill>
                  <a:srgbClr val="4A5868"/>
                </a:solidFill>
                <a:latin typeface="Arial"/>
              </a:rPr>
              <a:t>Copy all of it into the MongoDB shell and press Enter. Run it again any time to start over.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Four comparison operators</a:t>
            </a:r>
          </a:p>
        </p:txBody>
      </p:sp>
      <p:graphicFrame>
        <p:nvGraphicFramePr>
          <p:cNvPr id="4" name="Table 3"/>
          <p:cNvGraphicFramePr>
            <a:graphicFrameLocks noGrp="1"/>
          </p:cNvGraphicFramePr>
          <p:nvPr/>
        </p:nvGraphicFramePr>
        <p:xfrm>
          <a:off x="411480" y="1234439"/>
          <a:ext cx="11368735" cy="4352540"/>
        </p:xfrm>
        <a:graphic>
          <a:graphicData uri="http://schemas.openxmlformats.org/drawingml/2006/table">
            <a:tbl>
              <a:tblPr firstRow="1" bandRow="1">
                <a:tableStyleId>{5C22544A-7EE6-4342-B048-85BDC9FD1C3A}</a:tableStyleId>
              </a:tblPr>
              <a:tblGrid>
                <a:gridCol w="2743200"/>
                <a:gridCol w="5882335"/>
                <a:gridCol w="2743200"/>
              </a:tblGrid>
              <a:tr h="870508">
                <a:tc>
                  <a:txBody>
                    <a:bodyPr wrap="square" anchor="ctr" lIns="109728" rIns="109728" tIns="109728" bIns="109728"/>
                    <a:lstStyle/>
                    <a:p>
                      <a:pPr algn="l">
                        <a:lnSpc>
                          <a:spcPct val="100000"/>
                        </a:lnSpc>
                      </a:pPr>
                      <a:r>
                        <a:rPr sz="2800" b="1">
                          <a:solidFill>
                            <a:srgbClr val="FFFFFF"/>
                          </a:solidFill>
                          <a:latin typeface="Arial"/>
                        </a:rPr>
                        <a:t>Operator</a:t>
                      </a:r>
                    </a:p>
                  </a:txBody>
                  <a:tcPr>
                    <a:solidFill>
                      <a:srgbClr val="14202E"/>
                    </a:solidFill>
                  </a:tcPr>
                </a:tc>
                <a:tc>
                  <a:txBody>
                    <a:bodyPr wrap="square" anchor="ctr" lIns="109728" rIns="109728" tIns="109728" bIns="109728"/>
                    <a:lstStyle/>
                    <a:p>
                      <a:pPr algn="l">
                        <a:lnSpc>
                          <a:spcPct val="100000"/>
                        </a:lnSpc>
                      </a:pPr>
                      <a:r>
                        <a:rPr sz="2800" b="1">
                          <a:solidFill>
                            <a:srgbClr val="FFFFFF"/>
                          </a:solidFill>
                          <a:latin typeface="Arial"/>
                        </a:rPr>
                        <a:t>Means</a:t>
                      </a:r>
                    </a:p>
                  </a:txBody>
                  <a:tcPr>
                    <a:solidFill>
                      <a:srgbClr val="14202E"/>
                    </a:solidFill>
                  </a:tcPr>
                </a:tc>
                <a:tc>
                  <a:txBody>
                    <a:bodyPr wrap="square" anchor="ctr" lIns="109728" rIns="109728" tIns="109728" bIns="109728"/>
                    <a:lstStyle/>
                    <a:p>
                      <a:pPr algn="l">
                        <a:lnSpc>
                          <a:spcPct val="100000"/>
                        </a:lnSpc>
                      </a:pPr>
                      <a:r>
                        <a:rPr sz="2800" b="1">
                          <a:solidFill>
                            <a:srgbClr val="FFFFFF"/>
                          </a:solidFill>
                          <a:latin typeface="Arial"/>
                        </a:rPr>
                        <a:t>Symbol</a:t>
                      </a:r>
                    </a:p>
                  </a:txBody>
                  <a:tcPr>
                    <a:solidFill>
                      <a:srgbClr val="14202E"/>
                    </a:solidFill>
                  </a:tcPr>
                </a:tc>
              </a:tr>
              <a:tr h="870508">
                <a:tc>
                  <a:txBody>
                    <a:bodyPr wrap="square" anchor="ctr" lIns="109728" rIns="109728" tIns="109728" bIns="109728"/>
                    <a:lstStyle/>
                    <a:p>
                      <a:pPr algn="l">
                        <a:lnSpc>
                          <a:spcPct val="100000"/>
                        </a:lnSpc>
                      </a:pPr>
                      <a:r>
                        <a:rPr sz="3000" b="1">
                          <a:solidFill>
                            <a:srgbClr val="14202E"/>
                          </a:solidFill>
                          <a:latin typeface="Courier New"/>
                        </a:rPr>
                        <a:t>$lt</a:t>
                      </a:r>
                    </a:p>
                  </a:txBody>
                  <a:tcPr>
                    <a:solidFill>
                      <a:srgbClr val="FFFFFF"/>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a:t>
                      </a:r>
                    </a:p>
                  </a:txBody>
                  <a:tcPr>
                    <a:solidFill>
                      <a:srgbClr val="FFF4E5"/>
                    </a:solidFill>
                  </a:tcPr>
                </a:tc>
                <a:tc>
                  <a:txBody>
                    <a:bodyPr wrap="square" anchor="ctr" lIns="109728" rIns="109728" tIns="109728" bIns="109728"/>
                    <a:lstStyle/>
                    <a:p>
                      <a:pPr algn="l">
                        <a:lnSpc>
                          <a:spcPct val="100000"/>
                        </a:lnSpc>
                      </a:pPr>
                      <a:r>
                        <a:rPr sz="3000" b="0">
                          <a:solidFill>
                            <a:srgbClr val="14202E"/>
                          </a:solidFill>
                          <a:latin typeface="Arial"/>
                        </a:rPr>
                        <a:t>___________</a:t>
                      </a:r>
                    </a:p>
                  </a:txBody>
                  <a:tcPr>
                    <a:solidFill>
                      <a:srgbClr val="FFF4E5"/>
                    </a:solidFill>
                  </a:tcPr>
                </a:tc>
              </a:tr>
              <a:tr h="870508">
                <a:tc>
                  <a:txBody>
                    <a:bodyPr wrap="square" anchor="ctr" lIns="109728" rIns="109728" tIns="109728" bIns="109728"/>
                    <a:lstStyle/>
                    <a:p>
                      <a:pPr algn="l">
                        <a:lnSpc>
                          <a:spcPct val="100000"/>
                        </a:lnSpc>
                      </a:pPr>
                      <a:r>
                        <a:rPr sz="3000" b="1">
                          <a:solidFill>
                            <a:srgbClr val="14202E"/>
                          </a:solidFill>
                          <a:latin typeface="Courier New"/>
                        </a:rPr>
                        <a:t>$lte</a:t>
                      </a:r>
                    </a:p>
                  </a:txBody>
                  <a:tcPr>
                    <a:solidFill>
                      <a:srgbClr val="EEF1F4"/>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a:t>
                      </a:r>
                    </a:p>
                  </a:txBody>
                  <a:tcPr>
                    <a:solidFill>
                      <a:srgbClr val="FFF4E5"/>
                    </a:solidFill>
                  </a:tcPr>
                </a:tc>
                <a:tc>
                  <a:txBody>
                    <a:bodyPr wrap="square" anchor="ctr" lIns="109728" rIns="109728" tIns="109728" bIns="109728"/>
                    <a:lstStyle/>
                    <a:p>
                      <a:pPr algn="l">
                        <a:lnSpc>
                          <a:spcPct val="100000"/>
                        </a:lnSpc>
                      </a:pPr>
                      <a:r>
                        <a:rPr sz="3000" b="0">
                          <a:solidFill>
                            <a:srgbClr val="14202E"/>
                          </a:solidFill>
                          <a:latin typeface="Arial"/>
                        </a:rPr>
                        <a:t>___________</a:t>
                      </a:r>
                    </a:p>
                  </a:txBody>
                  <a:tcPr>
                    <a:solidFill>
                      <a:srgbClr val="FFF4E5"/>
                    </a:solidFill>
                  </a:tcPr>
                </a:tc>
              </a:tr>
              <a:tr h="870508">
                <a:tc>
                  <a:txBody>
                    <a:bodyPr wrap="square" anchor="ctr" lIns="109728" rIns="109728" tIns="109728" bIns="109728"/>
                    <a:lstStyle/>
                    <a:p>
                      <a:pPr algn="l">
                        <a:lnSpc>
                          <a:spcPct val="100000"/>
                        </a:lnSpc>
                      </a:pPr>
                      <a:r>
                        <a:rPr sz="3000" b="1">
                          <a:solidFill>
                            <a:srgbClr val="14202E"/>
                          </a:solidFill>
                          <a:latin typeface="Courier New"/>
                        </a:rPr>
                        <a:t>$gt</a:t>
                      </a:r>
                    </a:p>
                  </a:txBody>
                  <a:tcPr>
                    <a:solidFill>
                      <a:srgbClr val="FFFFFF"/>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a:t>
                      </a:r>
                    </a:p>
                  </a:txBody>
                  <a:tcPr>
                    <a:solidFill>
                      <a:srgbClr val="FFF4E5"/>
                    </a:solidFill>
                  </a:tcPr>
                </a:tc>
                <a:tc>
                  <a:txBody>
                    <a:bodyPr wrap="square" anchor="ctr" lIns="109728" rIns="109728" tIns="109728" bIns="109728"/>
                    <a:lstStyle/>
                    <a:p>
                      <a:pPr algn="l">
                        <a:lnSpc>
                          <a:spcPct val="100000"/>
                        </a:lnSpc>
                      </a:pPr>
                      <a:r>
                        <a:rPr sz="3000" b="0">
                          <a:solidFill>
                            <a:srgbClr val="14202E"/>
                          </a:solidFill>
                          <a:latin typeface="Arial"/>
                        </a:rPr>
                        <a:t>___________</a:t>
                      </a:r>
                    </a:p>
                  </a:txBody>
                  <a:tcPr>
                    <a:solidFill>
                      <a:srgbClr val="FFF4E5"/>
                    </a:solidFill>
                  </a:tcPr>
                </a:tc>
              </a:tr>
              <a:tr h="870508">
                <a:tc>
                  <a:txBody>
                    <a:bodyPr wrap="square" anchor="ctr" lIns="109728" rIns="109728" tIns="109728" bIns="109728"/>
                    <a:lstStyle/>
                    <a:p>
                      <a:pPr algn="l">
                        <a:lnSpc>
                          <a:spcPct val="100000"/>
                        </a:lnSpc>
                      </a:pPr>
                      <a:r>
                        <a:rPr sz="3000" b="1">
                          <a:solidFill>
                            <a:srgbClr val="14202E"/>
                          </a:solidFill>
                          <a:latin typeface="Courier New"/>
                        </a:rPr>
                        <a:t>$gte</a:t>
                      </a:r>
                    </a:p>
                  </a:txBody>
                  <a:tcPr>
                    <a:solidFill>
                      <a:srgbClr val="EEF1F4"/>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a:t>
                      </a:r>
                    </a:p>
                  </a:txBody>
                  <a:tcPr>
                    <a:solidFill>
                      <a:srgbClr val="FFF4E5"/>
                    </a:solidFill>
                  </a:tcPr>
                </a:tc>
                <a:tc>
                  <a:txBody>
                    <a:bodyPr wrap="square" anchor="ctr" lIns="109728" rIns="109728" tIns="109728" bIns="109728"/>
                    <a:lstStyle/>
                    <a:p>
                      <a:pPr algn="l">
                        <a:lnSpc>
                          <a:spcPct val="100000"/>
                        </a:lnSpc>
                      </a:pPr>
                      <a:r>
                        <a:rPr sz="3000" b="0">
                          <a:solidFill>
                            <a:srgbClr val="14202E"/>
                          </a:solidFill>
                          <a:latin typeface="Arial"/>
                        </a:rPr>
                        <a:t>___________</a:t>
                      </a:r>
                    </a:p>
                  </a:txBody>
                  <a:tcPr>
                    <a:solidFill>
                      <a:srgbClr val="FFF4E5"/>
                    </a:solidFill>
                  </a:tcPr>
                </a:tc>
              </a:tr>
            </a:tbl>
          </a:graphicData>
        </a:graphic>
      </p:graphicFrame>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The e means equal is allowed.</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3 · 2 of 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Our practice data: five users</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Practice data (ours) for 08 Handout p.3</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3 · 3 of 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Our practice data: five users</a:t>
            </a:r>
          </a:p>
        </p:txBody>
      </p:sp>
      <p:sp>
        <p:nvSpPr>
          <p:cNvPr id="4" name="EXEMPT_PASTE"/>
          <p:cNvSpPr/>
          <p:nvPr/>
        </p:nvSpPr>
        <p:spPr>
          <a:xfrm>
            <a:off x="411480" y="1097280"/>
            <a:ext cx="11368735" cy="3434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Ages 17, 18, 24, 30, 31.</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Practice data (ours) for 08 Handout p.3</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3 · 4 of 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$lt vs $lte at 18</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db.users.find({"age" : {"$lt" : 18}})</a:t>
            </a:r>
          </a:p>
        </p:txBody>
      </p:sp>
      <p:sp>
        <p:nvSpPr>
          <p:cNvPr id="6" name="EXEMPT_PASTE"/>
          <p:cNvSpPr/>
          <p:nvPr/>
        </p:nvSpPr>
        <p:spPr>
          <a:xfrm>
            <a:off x="411480" y="2202688"/>
            <a:ext cx="11368735" cy="1402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3714496"/>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3805935"/>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db.users.find({"age" : {"$lte" : 18}})</a:t>
            </a:r>
          </a:p>
        </p:txBody>
      </p:sp>
      <p:sp>
        <p:nvSpPr>
          <p:cNvPr id="9" name="TextBox 8"/>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10"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11"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3 · 5 of 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$lt vs $lte at 18</a:t>
            </a:r>
          </a:p>
        </p:txBody>
      </p:sp>
      <p:sp>
        <p:nvSpPr>
          <p:cNvPr id="4" name="EXEMPT_PASTE"/>
          <p:cNvSpPr/>
          <p:nvPr/>
        </p:nvSpPr>
        <p:spPr>
          <a:xfrm>
            <a:off x="411480" y="1097280"/>
            <a:ext cx="11368735" cy="22148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18 is out with $lt, in with $lte.</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3 · 6 of 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$gt vs $gte at 30</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db.users.find({"age" : {"$gt" : 30}})</a:t>
            </a:r>
          </a:p>
        </p:txBody>
      </p:sp>
      <p:sp>
        <p:nvSpPr>
          <p:cNvPr id="6" name="EXEMPT_PASTE"/>
          <p:cNvSpPr/>
          <p:nvPr/>
        </p:nvSpPr>
        <p:spPr>
          <a:xfrm>
            <a:off x="411480" y="2202688"/>
            <a:ext cx="11368735" cy="1402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3714496"/>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 y="3805935"/>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db.users.find({"age" : {"$gte" : 30}})</a:t>
            </a:r>
          </a:p>
        </p:txBody>
      </p:sp>
      <p:sp>
        <p:nvSpPr>
          <p:cNvPr id="9" name="TextBox 8"/>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10"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11"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3 · 7 of 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$gt vs $gte at 30</a:t>
            </a:r>
          </a:p>
        </p:txBody>
      </p:sp>
      <p:sp>
        <p:nvSpPr>
          <p:cNvPr id="4" name="EXEMPT_PASTE"/>
          <p:cNvSpPr/>
          <p:nvPr/>
        </p:nvSpPr>
        <p:spPr>
          <a:xfrm>
            <a:off x="411480" y="1097280"/>
            <a:ext cx="11368735" cy="22148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30 is out with $gt, in with $gte.</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3 · 8 of 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Combine two: ages 18 to 30</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db.users.find({"age" : {"$gte" : 18, "$lte" : 30}})</a:t>
            </a:r>
          </a:p>
        </p:txBody>
      </p:sp>
      <p:sp>
        <p:nvSpPr>
          <p:cNvPr id="6" name="EXEMPT_PASTE"/>
          <p:cNvSpPr/>
          <p:nvPr/>
        </p:nvSpPr>
        <p:spPr>
          <a:xfrm>
            <a:off x="411480" y="2202688"/>
            <a:ext cx="11368735" cy="26212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Two operators, one field, one range.</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3 · 9 of 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411480" y="914400"/>
            <a:ext cx="3291840" cy="2743200"/>
          </a:xfrm>
          <a:prstGeom prst="rect">
            <a:avLst/>
          </a:prstGeom>
          <a:noFill/>
        </p:spPr>
        <p:txBody>
          <a:bodyPr wrap="square" anchor="t" lIns="0" rIns="0" tIns="0" bIns="0">
            <a:spAutoFit/>
          </a:bodyPr>
          <a:lstStyle/>
          <a:p>
            <a:pPr algn="l">
              <a:lnSpc>
                <a:spcPct val="100000"/>
              </a:lnSpc>
            </a:pPr>
            <a:r>
              <a:rPr sz="18000" b="1">
                <a:solidFill>
                  <a:srgbClr val="F2B27A"/>
                </a:solidFill>
                <a:latin typeface="Arial"/>
              </a:rPr>
              <a:t>4</a:t>
            </a:r>
          </a:p>
        </p:txBody>
      </p:sp>
      <p:sp>
        <p:nvSpPr>
          <p:cNvPr id="3" name="TextBox 2"/>
          <p:cNvSpPr txBox="1"/>
          <p:nvPr/>
        </p:nvSpPr>
        <p:spPr>
          <a:xfrm>
            <a:off x="3840480" y="548640"/>
            <a:ext cx="7863840" cy="2103120"/>
          </a:xfrm>
          <a:prstGeom prst="rect">
            <a:avLst/>
          </a:prstGeom>
          <a:noFill/>
        </p:spPr>
        <p:txBody>
          <a:bodyPr wrap="square" anchor="b" lIns="0" rIns="0" tIns="0" bIns="0">
            <a:spAutoFit/>
          </a:bodyPr>
          <a:lstStyle/>
          <a:p>
            <a:pPr algn="l">
              <a:lnSpc>
                <a:spcPct val="100000"/>
              </a:lnSpc>
            </a:pPr>
            <a:r>
              <a:rPr sz="4400" b="1">
                <a:solidFill>
                  <a:srgbClr val="FFFFFF"/>
                </a:solidFill>
                <a:latin typeface="Arial"/>
              </a:rPr>
              <a:t>$in, $or, $not</a:t>
            </a:r>
          </a:p>
        </p:txBody>
      </p:sp>
      <p:sp>
        <p:nvSpPr>
          <p:cNvPr id="4" name="TextBox 3"/>
          <p:cNvSpPr txBox="1"/>
          <p:nvPr/>
        </p:nvSpPr>
        <p:spPr>
          <a:xfrm>
            <a:off x="3840480" y="2743200"/>
            <a:ext cx="7863840" cy="914400"/>
          </a:xfrm>
          <a:prstGeom prst="rect">
            <a:avLst/>
          </a:prstGeom>
          <a:noFill/>
        </p:spPr>
        <p:txBody>
          <a:bodyPr wrap="square" anchor="t" lIns="0" rIns="0" tIns="0" bIns="0">
            <a:spAutoFit/>
          </a:bodyPr>
          <a:lstStyle/>
          <a:p>
            <a:pPr algn="l">
              <a:lnSpc>
                <a:spcPct val="100000"/>
              </a:lnSpc>
            </a:pPr>
            <a:r>
              <a:rPr sz="2800" b="0">
                <a:solidFill>
                  <a:srgbClr val="9FE0C9"/>
                </a:solidFill>
                <a:latin typeface="Arial"/>
              </a:rPr>
              <a:t>$in · $or · $not</a:t>
            </a:r>
          </a:p>
        </p:txBody>
      </p:sp>
      <p:sp>
        <p:nvSpPr>
          <p:cNvPr id="5" name="TextBox 4"/>
          <p:cNvSpPr txBox="1"/>
          <p:nvPr/>
        </p:nvSpPr>
        <p:spPr>
          <a:xfrm>
            <a:off x="3840480" y="3794760"/>
            <a:ext cx="7863840" cy="1005840"/>
          </a:xfrm>
          <a:prstGeom prst="rect">
            <a:avLst/>
          </a:prstGeom>
          <a:noFill/>
        </p:spPr>
        <p:txBody>
          <a:bodyPr wrap="square" anchor="t" lIns="0" rIns="0" tIns="0" bIns="0">
            <a:spAutoFit/>
          </a:bodyPr>
          <a:lstStyle/>
          <a:p>
            <a:pPr algn="l">
              <a:lnSpc>
                <a:spcPct val="100000"/>
              </a:lnSpc>
            </a:pPr>
            <a:r>
              <a:rPr sz="3200" b="0">
                <a:solidFill>
                  <a:srgbClr val="F2B27A"/>
                </a:solidFill>
                <a:latin typeface="Arial"/>
              </a:rPr>
              <a:t>“One key, many values. Many keys, any match.”</a:t>
            </a:r>
          </a:p>
        </p:txBody>
      </p:sp>
      <p:sp>
        <p:nvSpPr>
          <p:cNvPr id="6" name="EXEMPT_PROGRESS"/>
          <p:cNvSpPr txBox="1"/>
          <p:nvPr/>
        </p:nvSpPr>
        <p:spPr>
          <a:xfrm>
            <a:off x="3840480" y="5074920"/>
            <a:ext cx="7863840" cy="457200"/>
          </a:xfrm>
          <a:prstGeom prst="rect">
            <a:avLst/>
          </a:prstGeom>
          <a:noFill/>
        </p:spPr>
        <p:txBody>
          <a:bodyPr wrap="square" anchor="t" lIns="0" rIns="0" tIns="0" bIns="0">
            <a:spAutoFit/>
          </a:bodyPr>
          <a:lstStyle/>
          <a:p>
            <a:pPr algn="l">
              <a:lnSpc>
                <a:spcPct val="100000"/>
              </a:lnSpc>
            </a:pPr>
            <a:r>
              <a:rPr sz="2200" b="0">
                <a:solidFill>
                  <a:srgbClr val="8FA3B8"/>
                </a:solidFill>
                <a:latin typeface="Arial"/>
              </a:rPr>
              <a:t>7 slides · about 2 min 22 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Part 4 SETUP: run this first</a:t>
            </a:r>
          </a:p>
        </p:txBody>
      </p:sp>
      <p:sp>
        <p:nvSpPr>
          <p:cNvPr id="4" name="EXEMPT_HELPER"/>
          <p:cNvSpPr txBox="1"/>
          <p:nvPr/>
        </p:nvSpPr>
        <p:spPr>
          <a:xfrm>
            <a:off x="7863840" y="45720"/>
            <a:ext cx="3916375" cy="274320"/>
          </a:xfrm>
          <a:prstGeom prst="rect">
            <a:avLst/>
          </a:prstGeom>
          <a:noFill/>
        </p:spPr>
        <p:txBody>
          <a:bodyPr wrap="square" anchor="t" lIns="0" rIns="0" tIns="0" bIns="0">
            <a:spAutoFit/>
          </a:bodyPr>
          <a:lstStyle/>
          <a:p>
            <a:pPr algn="r">
              <a:lnSpc>
                <a:spcPct val="100000"/>
              </a:lnSpc>
            </a:pPr>
            <a:r>
              <a:rPr sz="1400" b="1">
                <a:solidFill>
                  <a:srgbClr val="C2410C"/>
                </a:solidFill>
                <a:latin typeface="Arial"/>
              </a:rPr>
              <a:t>HELPER · delete before presenting</a:t>
            </a:r>
          </a:p>
        </p:txBody>
      </p:sp>
      <p:sp>
        <p:nvSpPr>
          <p:cNvPr id="5" name="EXEMPT_SETUP"/>
          <p:cNvSpPr/>
          <p:nvPr/>
        </p:nvSpPr>
        <p:spPr>
          <a:xfrm>
            <a:off x="411480" y="1097280"/>
            <a:ext cx="11368735" cy="44805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MPT_SETUP"/>
          <p:cNvSpPr txBox="1"/>
          <p:nvPr/>
        </p:nvSpPr>
        <p:spPr>
          <a:xfrm>
            <a:off x="548640" y="1207007"/>
            <a:ext cx="11094415" cy="4297680"/>
          </a:xfrm>
          <a:prstGeom prst="rect">
            <a:avLst/>
          </a:prstGeom>
          <a:noFill/>
        </p:spPr>
        <p:txBody>
          <a:bodyPr wrap="none" anchor="t" lIns="0" rIns="0" tIns="0" bIns="0">
            <a:spAutoFit/>
          </a:bodyPr>
          <a:lstStyle/>
          <a:p>
            <a:pPr algn="l">
              <a:lnSpc>
                <a:spcPct val="100000"/>
              </a:lnSpc>
            </a:pPr>
            <a:r>
              <a:rPr sz="2000" b="0">
                <a:solidFill>
                  <a:srgbClr val="E6ECF2"/>
                </a:solidFill>
                <a:latin typeface="Courier New"/>
              </a:rPr>
              <a:t>use adbs_part4</a:t>
            </a:r>
          </a:p>
          <a:p>
            <a:pPr algn="l">
              <a:lnSpc>
                <a:spcPct val="100000"/>
              </a:lnSpc>
            </a:pPr>
            <a:r>
              <a:rPr sz="2000" b="0">
                <a:solidFill>
                  <a:srgbClr val="E6ECF2"/>
                </a:solidFill>
                <a:latin typeface="Courier New"/>
              </a:rPr>
              <a:t>db.dropDatabase()</a:t>
            </a:r>
          </a:p>
          <a:p>
            <a:pPr algn="l">
              <a:lnSpc>
                <a:spcPct val="100000"/>
              </a:lnSpc>
            </a:pPr>
            <a:r>
              <a:rPr sz="2000" b="0">
                <a:solidFill>
                  <a:srgbClr val="E6ECF2"/>
                </a:solidFill>
                <a:latin typeface="Courier New"/>
              </a:rPr>
              <a:t>db.raffle.insertMany([{"_id" : 1, "ticket_no" : 725, "winner" : false},</a:t>
            </a:r>
          </a:p>
          <a:p>
            <a:pPr algn="l">
              <a:lnSpc>
                <a:spcPct val="100000"/>
              </a:lnSpc>
            </a:pPr>
            <a:r>
              <a:rPr sz="2000" b="0">
                <a:solidFill>
                  <a:srgbClr val="E6ECF2"/>
                </a:solidFill>
                <a:latin typeface="Courier New"/>
              </a:rPr>
              <a:t>  {"_id" : 2, "ticket_no" : 542, "winner" : false},</a:t>
            </a:r>
          </a:p>
          <a:p>
            <a:pPr algn="l">
              <a:lnSpc>
                <a:spcPct val="100000"/>
              </a:lnSpc>
            </a:pPr>
            <a:r>
              <a:rPr sz="2000" b="0">
                <a:solidFill>
                  <a:srgbClr val="E6ECF2"/>
                </a:solidFill>
                <a:latin typeface="Courier New"/>
              </a:rPr>
              <a:t>  {"_id" : 3, "ticket_no" : 390, "winner" : false},</a:t>
            </a:r>
          </a:p>
          <a:p>
            <a:pPr algn="l">
              <a:lnSpc>
                <a:spcPct val="100000"/>
              </a:lnSpc>
            </a:pPr>
            <a:r>
              <a:rPr sz="2000" b="0">
                <a:solidFill>
                  <a:srgbClr val="E6ECF2"/>
                </a:solidFill>
                <a:latin typeface="Courier New"/>
              </a:rPr>
              <a:t>  {"_id" : 4, "ticket_no" : 111, "winner" : true},</a:t>
            </a:r>
          </a:p>
          <a:p>
            <a:pPr algn="l">
              <a:lnSpc>
                <a:spcPct val="100000"/>
              </a:lnSpc>
            </a:pPr>
            <a:r>
              <a:rPr sz="2000" b="0">
                <a:solidFill>
                  <a:srgbClr val="E6ECF2"/>
                </a:solidFill>
                <a:latin typeface="Courier New"/>
              </a:rPr>
              <a:t>  {"_id" : 5, "ticket_no" : 222, "winner" : false}])</a:t>
            </a:r>
          </a:p>
          <a:p>
            <a:pPr algn="l">
              <a:lnSpc>
                <a:spcPct val="100000"/>
              </a:lnSpc>
            </a:pPr>
            <a:r>
              <a:rPr sz="2000" b="0">
                <a:solidFill>
                  <a:srgbClr val="E6ECF2"/>
                </a:solidFill>
                <a:latin typeface="Courier New"/>
              </a:rPr>
              <a:t>db.users.insertMany([{"_id" : 1, "name" : "Rhea", "salary" : 8000},</a:t>
            </a:r>
          </a:p>
          <a:p>
            <a:pPr algn="l">
              <a:lnSpc>
                <a:spcPct val="100000"/>
              </a:lnSpc>
            </a:pPr>
            <a:r>
              <a:rPr sz="2000" b="0">
                <a:solidFill>
                  <a:srgbClr val="E6ECF2"/>
                </a:solidFill>
                <a:latin typeface="Courier New"/>
              </a:rPr>
              <a:t>  {"_id" : 2, "name" : "Mark", "salary" : 10000},</a:t>
            </a:r>
          </a:p>
          <a:p>
            <a:pPr algn="l">
              <a:lnSpc>
                <a:spcPct val="100000"/>
              </a:lnSpc>
            </a:pPr>
            <a:r>
              <a:rPr sz="2000" b="0">
                <a:solidFill>
                  <a:srgbClr val="E6ECF2"/>
                </a:solidFill>
                <a:latin typeface="Courier New"/>
              </a:rPr>
              <a:t>  {"_id" : 3, "name" : "Liza", "salary" : 15000}])</a:t>
            </a:r>
          </a:p>
        </p:txBody>
      </p:sp>
      <p:sp>
        <p:nvSpPr>
          <p:cNvPr id="7" name="EXEMPT_SETUP"/>
          <p:cNvSpPr txBox="1"/>
          <p:nvPr/>
        </p:nvSpPr>
        <p:spPr>
          <a:xfrm>
            <a:off x="411480" y="5715000"/>
            <a:ext cx="11368735" cy="457200"/>
          </a:xfrm>
          <a:prstGeom prst="rect">
            <a:avLst/>
          </a:prstGeom>
          <a:noFill/>
        </p:spPr>
        <p:txBody>
          <a:bodyPr wrap="square" anchor="t" lIns="0" rIns="0" tIns="0" bIns="0">
            <a:spAutoFit/>
          </a:bodyPr>
          <a:lstStyle/>
          <a:p>
            <a:pPr algn="l">
              <a:lnSpc>
                <a:spcPct val="100000"/>
              </a:lnSpc>
            </a:pPr>
            <a:r>
              <a:rPr sz="1800" b="0">
                <a:solidFill>
                  <a:srgbClr val="4A5868"/>
                </a:solidFill>
                <a:latin typeface="Arial"/>
              </a:rPr>
              <a:t>Copy all of it into the MongoDB shell and press Enter. Run it again any time to start over.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Practice data: the raffle</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db.raffle.find()</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Practice data (ours) for 08 Handout p.3</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4 · 2 of 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Practice data: the raffle</a:t>
            </a:r>
          </a:p>
        </p:txBody>
      </p:sp>
      <p:sp>
        <p:nvSpPr>
          <p:cNvPr id="4" name="EXEMPT_PASTE"/>
          <p:cNvSpPr/>
          <p:nvPr/>
        </p:nvSpPr>
        <p:spPr>
          <a:xfrm>
            <a:off x="411480" y="1097280"/>
            <a:ext cx="11368735" cy="3434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Five tickets. Only 111 is a winner.</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Practice data (ours) for 08 Handout p.3</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4 · 3 of 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$in: many values for one key</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db.raffle.find({"ticket_no" :</a:t>
            </a:r>
          </a:p>
          <a:p>
            <a:pPr algn="l">
              <a:lnSpc>
                <a:spcPts val="3200"/>
              </a:lnSpc>
            </a:pPr>
            <a:r>
              <a:rPr sz="2800" b="0">
                <a:solidFill>
                  <a:srgbClr val="E6ECF2"/>
                </a:solidFill>
                <a:latin typeface="Courier New"/>
              </a:rPr>
              <a:t>  {"$in" : [725, 542, 390]}})</a:t>
            </a:r>
          </a:p>
        </p:txBody>
      </p:sp>
      <p:sp>
        <p:nvSpPr>
          <p:cNvPr id="6" name="EXEMPT_PASTE"/>
          <p:cNvSpPr/>
          <p:nvPr/>
        </p:nvSpPr>
        <p:spPr>
          <a:xfrm>
            <a:off x="411480" y="2609088"/>
            <a:ext cx="11368735" cy="26212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$in is a guest list for one key.</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4 · 4 of 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$or: pass any one condition</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db.raffle.find({"$or" : [{"ticket_no" : 725},</a:t>
            </a:r>
          </a:p>
          <a:p>
            <a:pPr algn="l">
              <a:lnSpc>
                <a:spcPts val="3200"/>
              </a:lnSpc>
            </a:pPr>
            <a:r>
              <a:rPr sz="2800" b="0">
                <a:solidFill>
                  <a:srgbClr val="E6ECF2"/>
                </a:solidFill>
                <a:latin typeface="Courier New"/>
              </a:rPr>
              <a:t>  {"winner" : true}]})</a:t>
            </a:r>
          </a:p>
        </p:txBody>
      </p:sp>
      <p:sp>
        <p:nvSpPr>
          <p:cNvPr id="6" name="EXEMPT_PASTE"/>
          <p:cNvSpPr/>
          <p:nvPr/>
        </p:nvSpPr>
        <p:spPr>
          <a:xfrm>
            <a:off x="411480" y="2609088"/>
            <a:ext cx="11368735" cy="22148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$or: pass any one test.</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4 · 5 of 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Practice data: three salaries</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a:t>
            </a:r>
          </a:p>
        </p:txBody>
      </p:sp>
      <p:sp>
        <p:nvSpPr>
          <p:cNvPr id="6" name="EXEMPT_PASTE"/>
          <p:cNvSpPr/>
          <p:nvPr/>
        </p:nvSpPr>
        <p:spPr>
          <a:xfrm>
            <a:off x="411480" y="2202688"/>
            <a:ext cx="11368735" cy="26212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8,000 · 10,000 · 15,000 pesos.</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Practice data (ours) for 08 Handout p.3</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4 · 6 of 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$not: everything that does NOT match</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db.users.find({salary:</a:t>
            </a:r>
          </a:p>
          <a:p>
            <a:pPr algn="l">
              <a:lnSpc>
                <a:spcPts val="3200"/>
              </a:lnSpc>
            </a:pPr>
            <a:r>
              <a:rPr sz="2800" b="0">
                <a:solidFill>
                  <a:srgbClr val="E6ECF2"/>
                </a:solidFill>
                <a:latin typeface="Courier New"/>
              </a:rPr>
              <a:t>  {$not: {$gt: 10000}}}).pretty()</a:t>
            </a:r>
          </a:p>
        </p:txBody>
      </p:sp>
      <p:sp>
        <p:nvSpPr>
          <p:cNvPr id="6" name="EXEMPT_PASTE"/>
          <p:cNvSpPr/>
          <p:nvPr/>
        </p:nvSpPr>
        <p:spPr>
          <a:xfrm>
            <a:off x="411480" y="2609088"/>
            <a:ext cx="11368735" cy="22148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$not flips the condition.</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p.3</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4 · 7 of 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411480" y="914400"/>
            <a:ext cx="3291840" cy="2743200"/>
          </a:xfrm>
          <a:prstGeom prst="rect">
            <a:avLst/>
          </a:prstGeom>
          <a:noFill/>
        </p:spPr>
        <p:txBody>
          <a:bodyPr wrap="square" anchor="t" lIns="0" rIns="0" tIns="0" bIns="0">
            <a:spAutoFit/>
          </a:bodyPr>
          <a:lstStyle/>
          <a:p>
            <a:pPr algn="l">
              <a:lnSpc>
                <a:spcPct val="100000"/>
              </a:lnSpc>
            </a:pPr>
            <a:r>
              <a:rPr sz="18000" b="1">
                <a:solidFill>
                  <a:srgbClr val="F2B27A"/>
                </a:solidFill>
                <a:latin typeface="Arial"/>
              </a:rPr>
              <a:t>5</a:t>
            </a:r>
          </a:p>
        </p:txBody>
      </p:sp>
      <p:sp>
        <p:nvSpPr>
          <p:cNvPr id="3" name="TextBox 2"/>
          <p:cNvSpPr txBox="1"/>
          <p:nvPr/>
        </p:nvSpPr>
        <p:spPr>
          <a:xfrm>
            <a:off x="3840480" y="548640"/>
            <a:ext cx="7863840" cy="2103120"/>
          </a:xfrm>
          <a:prstGeom prst="rect">
            <a:avLst/>
          </a:prstGeom>
          <a:noFill/>
        </p:spPr>
        <p:txBody>
          <a:bodyPr wrap="square" anchor="b" lIns="0" rIns="0" tIns="0" bIns="0">
            <a:spAutoFit/>
          </a:bodyPr>
          <a:lstStyle/>
          <a:p>
            <a:pPr algn="l">
              <a:lnSpc>
                <a:spcPct val="100000"/>
              </a:lnSpc>
            </a:pPr>
            <a:r>
              <a:rPr sz="4400" b="1">
                <a:solidFill>
                  <a:srgbClr val="FFFFFF"/>
                </a:solidFill>
                <a:latin typeface="Arial"/>
              </a:rPr>
              <a:t>Querying Arrays</a:t>
            </a:r>
          </a:p>
        </p:txBody>
      </p:sp>
      <p:sp>
        <p:nvSpPr>
          <p:cNvPr id="4" name="TextBox 3"/>
          <p:cNvSpPr txBox="1"/>
          <p:nvPr/>
        </p:nvSpPr>
        <p:spPr>
          <a:xfrm>
            <a:off x="3840480" y="2743200"/>
            <a:ext cx="7863840" cy="914400"/>
          </a:xfrm>
          <a:prstGeom prst="rect">
            <a:avLst/>
          </a:prstGeom>
          <a:noFill/>
        </p:spPr>
        <p:txBody>
          <a:bodyPr wrap="square" anchor="t" lIns="0" rIns="0" tIns="0" bIns="0">
            <a:spAutoFit/>
          </a:bodyPr>
          <a:lstStyle/>
          <a:p>
            <a:pPr algn="l">
              <a:lnSpc>
                <a:spcPct val="100000"/>
              </a:lnSpc>
            </a:pPr>
            <a:r>
              <a:rPr sz="2800" b="0">
                <a:solidFill>
                  <a:srgbClr val="9FE0C9"/>
                </a:solidFill>
                <a:latin typeface="Arial"/>
              </a:rPr>
              <a:t>inserting arrays · $all · $size</a:t>
            </a:r>
          </a:p>
        </p:txBody>
      </p:sp>
      <p:sp>
        <p:nvSpPr>
          <p:cNvPr id="5" name="TextBox 4"/>
          <p:cNvSpPr txBox="1"/>
          <p:nvPr/>
        </p:nvSpPr>
        <p:spPr>
          <a:xfrm>
            <a:off x="3840480" y="3794760"/>
            <a:ext cx="7863840" cy="1005840"/>
          </a:xfrm>
          <a:prstGeom prst="rect">
            <a:avLst/>
          </a:prstGeom>
          <a:noFill/>
        </p:spPr>
        <p:txBody>
          <a:bodyPr wrap="square" anchor="t" lIns="0" rIns="0" tIns="0" bIns="0">
            <a:spAutoFit/>
          </a:bodyPr>
          <a:lstStyle/>
          <a:p>
            <a:pPr algn="l">
              <a:lnSpc>
                <a:spcPct val="100000"/>
              </a:lnSpc>
            </a:pPr>
            <a:r>
              <a:rPr sz="3200" b="0">
                <a:solidFill>
                  <a:srgbClr val="F2B27A"/>
                </a:solidFill>
                <a:latin typeface="Arial"/>
              </a:rPr>
              <a:t>“Arrays answer like single values.”</a:t>
            </a:r>
          </a:p>
        </p:txBody>
      </p:sp>
      <p:sp>
        <p:nvSpPr>
          <p:cNvPr id="6" name="EXEMPT_PROGRESS"/>
          <p:cNvSpPr txBox="1"/>
          <p:nvPr/>
        </p:nvSpPr>
        <p:spPr>
          <a:xfrm>
            <a:off x="3840480" y="5074920"/>
            <a:ext cx="7863840" cy="457200"/>
          </a:xfrm>
          <a:prstGeom prst="rect">
            <a:avLst/>
          </a:prstGeom>
          <a:noFill/>
        </p:spPr>
        <p:txBody>
          <a:bodyPr wrap="square" anchor="t" lIns="0" rIns="0" tIns="0" bIns="0">
            <a:spAutoFit/>
          </a:bodyPr>
          <a:lstStyle/>
          <a:p>
            <a:pPr algn="l">
              <a:lnSpc>
                <a:spcPct val="100000"/>
              </a:lnSpc>
            </a:pPr>
            <a:r>
              <a:rPr sz="2200" b="0">
                <a:solidFill>
                  <a:srgbClr val="8FA3B8"/>
                </a:solidFill>
                <a:latin typeface="Arial"/>
              </a:rPr>
              <a:t>8 slides · about 1 min 59 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Part 5 SETUP: run this first</a:t>
            </a:r>
          </a:p>
        </p:txBody>
      </p:sp>
      <p:sp>
        <p:nvSpPr>
          <p:cNvPr id="4" name="EXEMPT_HELPER"/>
          <p:cNvSpPr txBox="1"/>
          <p:nvPr/>
        </p:nvSpPr>
        <p:spPr>
          <a:xfrm>
            <a:off x="7863840" y="45720"/>
            <a:ext cx="3916375" cy="274320"/>
          </a:xfrm>
          <a:prstGeom prst="rect">
            <a:avLst/>
          </a:prstGeom>
          <a:noFill/>
        </p:spPr>
        <p:txBody>
          <a:bodyPr wrap="square" anchor="t" lIns="0" rIns="0" tIns="0" bIns="0">
            <a:spAutoFit/>
          </a:bodyPr>
          <a:lstStyle/>
          <a:p>
            <a:pPr algn="r">
              <a:lnSpc>
                <a:spcPct val="100000"/>
              </a:lnSpc>
            </a:pPr>
            <a:r>
              <a:rPr sz="1400" b="1">
                <a:solidFill>
                  <a:srgbClr val="C2410C"/>
                </a:solidFill>
                <a:latin typeface="Arial"/>
              </a:rPr>
              <a:t>HELPER · delete before presenting</a:t>
            </a:r>
          </a:p>
        </p:txBody>
      </p:sp>
      <p:sp>
        <p:nvSpPr>
          <p:cNvPr id="5" name="EXEMPT_SETUP"/>
          <p:cNvSpPr/>
          <p:nvPr/>
        </p:nvSpPr>
        <p:spPr>
          <a:xfrm>
            <a:off x="411480" y="1097280"/>
            <a:ext cx="11368735" cy="44805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MPT_SETUP"/>
          <p:cNvSpPr txBox="1"/>
          <p:nvPr/>
        </p:nvSpPr>
        <p:spPr>
          <a:xfrm>
            <a:off x="548640" y="1207007"/>
            <a:ext cx="11094415" cy="4297680"/>
          </a:xfrm>
          <a:prstGeom prst="rect">
            <a:avLst/>
          </a:prstGeom>
          <a:noFill/>
        </p:spPr>
        <p:txBody>
          <a:bodyPr wrap="none" anchor="t" lIns="0" rIns="0" tIns="0" bIns="0">
            <a:spAutoFit/>
          </a:bodyPr>
          <a:lstStyle/>
          <a:p>
            <a:pPr algn="l">
              <a:lnSpc>
                <a:spcPct val="100000"/>
              </a:lnSpc>
            </a:pPr>
            <a:r>
              <a:rPr sz="2000" b="0">
                <a:solidFill>
                  <a:srgbClr val="E6ECF2"/>
                </a:solidFill>
                <a:latin typeface="Courier New"/>
              </a:rPr>
              <a:t>use adbs_part5</a:t>
            </a:r>
          </a:p>
          <a:p>
            <a:pPr algn="l">
              <a:lnSpc>
                <a:spcPct val="100000"/>
              </a:lnSpc>
            </a:pPr>
            <a:r>
              <a:rPr sz="2000" b="0">
                <a:solidFill>
                  <a:srgbClr val="E6ECF2"/>
                </a:solidFill>
                <a:latin typeface="Courier New"/>
              </a:rPr>
              <a:t>db.dropDatabase()</a:t>
            </a:r>
          </a:p>
        </p:txBody>
      </p:sp>
      <p:sp>
        <p:nvSpPr>
          <p:cNvPr id="7" name="EXEMPT_SETUP"/>
          <p:cNvSpPr txBox="1"/>
          <p:nvPr/>
        </p:nvSpPr>
        <p:spPr>
          <a:xfrm>
            <a:off x="411480" y="5715000"/>
            <a:ext cx="11368735" cy="457200"/>
          </a:xfrm>
          <a:prstGeom prst="rect">
            <a:avLst/>
          </a:prstGeom>
          <a:noFill/>
        </p:spPr>
        <p:txBody>
          <a:bodyPr wrap="square" anchor="t" lIns="0" rIns="0" tIns="0" bIns="0">
            <a:spAutoFit/>
          </a:bodyPr>
          <a:lstStyle/>
          <a:p>
            <a:pPr algn="l">
              <a:lnSpc>
                <a:spcPct val="100000"/>
              </a:lnSpc>
            </a:pPr>
            <a:r>
              <a:rPr sz="1800" b="0">
                <a:solidFill>
                  <a:srgbClr val="4A5868"/>
                </a:solidFill>
                <a:latin typeface="Arial"/>
              </a:rPr>
              <a:t>Copy all of it into the MongoDB shell and press Enter. Run it again any time to start over.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Inserting elements in an array</a:t>
            </a:r>
          </a:p>
        </p:txBody>
      </p:sp>
      <p:sp>
        <p:nvSpPr>
          <p:cNvPr id="4" name="EXEMPT_PASTE"/>
          <p:cNvSpPr/>
          <p:nvPr/>
        </p:nvSpPr>
        <p:spPr>
          <a:xfrm>
            <a:off x="411480" y="1097280"/>
            <a:ext cx="11368735" cy="1402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1  BEFORE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db.food.find()</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TextBox 4"/>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2  COMMAND  →</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5 · 2 of 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Inserting elements in an array</a:t>
            </a:r>
          </a:p>
        </p:txBody>
      </p:sp>
      <p:sp>
        <p:nvSpPr>
          <p:cNvPr id="4" name="Rectangle 3"/>
          <p:cNvSpPr/>
          <p:nvPr/>
        </p:nvSpPr>
        <p:spPr>
          <a:xfrm>
            <a:off x="411480" y="1097280"/>
            <a:ext cx="11368735" cy="30276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2917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2  COMMAND</a:t>
            </a:r>
          </a:p>
          <a:p>
            <a:pPr algn="l">
              <a:lnSpc>
                <a:spcPts val="3200"/>
              </a:lnSpc>
            </a:pPr>
            <a:r>
              <a:rPr sz="2800" b="0">
                <a:solidFill>
                  <a:srgbClr val="E6ECF2"/>
                </a:solidFill>
                <a:latin typeface="Courier New"/>
              </a:rPr>
              <a:t>db.food.insertOne({"_id" : 1,</a:t>
            </a:r>
          </a:p>
          <a:p>
            <a:pPr algn="l">
              <a:lnSpc>
                <a:spcPts val="3200"/>
              </a:lnSpc>
            </a:pPr>
            <a:r>
              <a:rPr sz="2800" b="0">
                <a:solidFill>
                  <a:srgbClr val="E6ECF2"/>
                </a:solidFill>
                <a:latin typeface="Courier New"/>
              </a:rPr>
              <a:t>  "fruit" : ["apple", "banana", "peach"]})</a:t>
            </a:r>
          </a:p>
          <a:p>
            <a:pPr algn="l">
              <a:lnSpc>
                <a:spcPts val="3200"/>
              </a:lnSpc>
            </a:pPr>
            <a:r>
              <a:rPr sz="2800" b="0">
                <a:solidFill>
                  <a:srgbClr val="E6ECF2"/>
                </a:solidFill>
                <a:latin typeface="Courier New"/>
              </a:rPr>
              <a:t>db.food.insertOne({"_id" : 2,</a:t>
            </a:r>
          </a:p>
          <a:p>
            <a:pPr algn="l">
              <a:lnSpc>
                <a:spcPts val="3200"/>
              </a:lnSpc>
            </a:pPr>
            <a:r>
              <a:rPr sz="2800" b="0">
                <a:solidFill>
                  <a:srgbClr val="E6ECF2"/>
                </a:solidFill>
                <a:latin typeface="Courier New"/>
              </a:rPr>
              <a:t>  "fruit" : ["apple", "kumquat", "orange"]})</a:t>
            </a:r>
          </a:p>
          <a:p>
            <a:pPr algn="l">
              <a:lnSpc>
                <a:spcPts val="3200"/>
              </a:lnSpc>
            </a:pPr>
            <a:r>
              <a:rPr sz="2800" b="0">
                <a:solidFill>
                  <a:srgbClr val="E6ECF2"/>
                </a:solidFill>
                <a:latin typeface="Courier New"/>
              </a:rPr>
              <a:t>db.food.insertOne({"_id" : 3,</a:t>
            </a:r>
          </a:p>
          <a:p>
            <a:pPr algn="l">
              <a:lnSpc>
                <a:spcPts val="3200"/>
              </a:lnSpc>
            </a:pPr>
            <a:r>
              <a:rPr sz="2800" b="0">
                <a:solidFill>
                  <a:srgbClr val="E6ECF2"/>
                </a:solidFill>
                <a:latin typeface="Courier New"/>
              </a:rPr>
              <a:t>  "fruit" : ["cherry", "banana", "apple"]})</a:t>
            </a:r>
          </a:p>
        </p:txBody>
      </p:sp>
      <p:sp>
        <p:nvSpPr>
          <p:cNvPr id="6" name="EXEMPT_PASTE"/>
          <p:cNvSpPr/>
          <p:nvPr/>
        </p:nvSpPr>
        <p:spPr>
          <a:xfrm>
            <a:off x="411480" y="4234688"/>
            <a:ext cx="11368735" cy="1402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2  REPLY  ·  PASTE YOUR SCREENSHOT HERE</a:t>
            </a:r>
          </a:p>
          <a:p>
            <a:pPr algn="l">
              <a:lnSpc>
                <a:spcPct val="100000"/>
              </a:lnSpc>
            </a:pPr>
            <a:r>
              <a:rPr sz="1800" b="0">
                <a:solidFill>
                  <a:srgbClr val="14202E"/>
                </a:solidFill>
                <a:latin typeface="Arial"/>
              </a:rPr>
              <a:t>Zoom in (Ctrl + =). Screenshot the reply (Win + Shift + S). Click this box's edge, Delete, Ctrl + V.</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5 · 3 of 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Inserting elements in an array</a:t>
            </a:r>
          </a:p>
        </p:txBody>
      </p:sp>
      <p:sp>
        <p:nvSpPr>
          <p:cNvPr id="4" name="EXEMPT_PASTE"/>
          <p:cNvSpPr/>
          <p:nvPr/>
        </p:nvSpPr>
        <p:spPr>
          <a:xfrm>
            <a:off x="411480" y="1097280"/>
            <a:ext cx="11368735" cy="38404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3  AFTER  ·  PASTE YOUR SCREENSHOT HERE</a:t>
            </a:r>
          </a:p>
          <a:p>
            <a:pPr algn="l">
              <a:lnSpc>
                <a:spcPct val="100000"/>
              </a:lnSpc>
            </a:pPr>
            <a:r>
              <a:rPr sz="1800" b="1">
                <a:solidFill>
                  <a:srgbClr val="14202E"/>
                </a:solidFill>
                <a:latin typeface="Arial"/>
              </a:rPr>
              <a:t>Run:  </a:t>
            </a:r>
            <a:r>
              <a:rPr sz="1800" b="0">
                <a:solidFill>
                  <a:srgbClr val="14202E"/>
                </a:solidFill>
                <a:latin typeface="Courier New"/>
              </a:rPr>
              <a:t>db.food.find()</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Square brackets make an array.</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5 · 4 of 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Ask for one element</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db.food.find({"fruit" : "banana"})</a:t>
            </a:r>
          </a:p>
        </p:txBody>
      </p:sp>
      <p:sp>
        <p:nvSpPr>
          <p:cNvPr id="6" name="EXEMPT_PASTE"/>
          <p:cNvSpPr/>
          <p:nvPr/>
        </p:nvSpPr>
        <p:spPr>
          <a:xfrm>
            <a:off x="411480" y="2202688"/>
            <a:ext cx="11368735" cy="22148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Ask for banana, get every basket with a banana.</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5 · 5 of 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$all: must have every listed element</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db.food.find({fruit : {$all : ["apple", "banana"]}})</a:t>
            </a:r>
          </a:p>
        </p:txBody>
      </p:sp>
      <p:sp>
        <p:nvSpPr>
          <p:cNvPr id="6" name="EXEMPT_PASTE"/>
          <p:cNvSpPr/>
          <p:nvPr/>
        </p:nvSpPr>
        <p:spPr>
          <a:xfrm>
            <a:off x="411480" y="2202688"/>
            <a:ext cx="11368735" cy="22148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7" name="Rectangle 6"/>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$all: has them all, any order.</a:t>
            </a:r>
          </a:p>
        </p:txBody>
      </p:sp>
      <p:sp>
        <p:nvSpPr>
          <p:cNvPr id="8"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9"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5 · 6 of 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$size: match by number of elements</a:t>
            </a:r>
          </a:p>
        </p:txBody>
      </p:sp>
      <p:sp>
        <p:nvSpPr>
          <p:cNvPr id="4" name="Rectangle 3"/>
          <p:cNvSpPr/>
          <p:nvPr/>
        </p:nvSpPr>
        <p:spPr>
          <a:xfrm>
            <a:off x="411480" y="1097280"/>
            <a:ext cx="11368735" cy="9956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8859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db.food.find({"fruit" : {"$size" : 3}})</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5 · 7 of 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$size: match by number of elements</a:t>
            </a:r>
          </a:p>
        </p:txBody>
      </p:sp>
      <p:sp>
        <p:nvSpPr>
          <p:cNvPr id="4" name="EXEMPT_PASTE"/>
          <p:cNvSpPr/>
          <p:nvPr/>
        </p:nvSpPr>
        <p:spPr>
          <a:xfrm>
            <a:off x="411480" y="1097280"/>
            <a:ext cx="11368735" cy="38404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$size counts the elements.</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5 · 8 of 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411480" y="914400"/>
            <a:ext cx="3291840" cy="2743200"/>
          </a:xfrm>
          <a:prstGeom prst="rect">
            <a:avLst/>
          </a:prstGeom>
          <a:noFill/>
        </p:spPr>
        <p:txBody>
          <a:bodyPr wrap="square" anchor="t" lIns="0" rIns="0" tIns="0" bIns="0">
            <a:spAutoFit/>
          </a:bodyPr>
          <a:lstStyle/>
          <a:p>
            <a:pPr algn="l">
              <a:lnSpc>
                <a:spcPct val="100000"/>
              </a:lnSpc>
            </a:pPr>
            <a:r>
              <a:rPr sz="18000" b="1">
                <a:solidFill>
                  <a:srgbClr val="F2B27A"/>
                </a:solidFill>
                <a:latin typeface="Arial"/>
              </a:rPr>
              <a:t>6</a:t>
            </a:r>
          </a:p>
        </p:txBody>
      </p:sp>
      <p:sp>
        <p:nvSpPr>
          <p:cNvPr id="3" name="TextBox 2"/>
          <p:cNvSpPr txBox="1"/>
          <p:nvPr/>
        </p:nvSpPr>
        <p:spPr>
          <a:xfrm>
            <a:off x="3840480" y="548640"/>
            <a:ext cx="7863840" cy="2103120"/>
          </a:xfrm>
          <a:prstGeom prst="rect">
            <a:avLst/>
          </a:prstGeom>
          <a:noFill/>
        </p:spPr>
        <p:txBody>
          <a:bodyPr wrap="square" anchor="b" lIns="0" rIns="0" tIns="0" bIns="0">
            <a:spAutoFit/>
          </a:bodyPr>
          <a:lstStyle/>
          <a:p>
            <a:pPr algn="l">
              <a:lnSpc>
                <a:spcPct val="100000"/>
              </a:lnSpc>
            </a:pPr>
            <a:r>
              <a:rPr sz="4400" b="1">
                <a:solidFill>
                  <a:srgbClr val="FFFFFF"/>
                </a:solidFill>
                <a:latin typeface="Arial"/>
              </a:rPr>
              <a:t>$slice &amp; Embedded Documents</a:t>
            </a:r>
          </a:p>
        </p:txBody>
      </p:sp>
      <p:sp>
        <p:nvSpPr>
          <p:cNvPr id="4" name="TextBox 3"/>
          <p:cNvSpPr txBox="1"/>
          <p:nvPr/>
        </p:nvSpPr>
        <p:spPr>
          <a:xfrm>
            <a:off x="3840480" y="2743200"/>
            <a:ext cx="7863840" cy="914400"/>
          </a:xfrm>
          <a:prstGeom prst="rect">
            <a:avLst/>
          </a:prstGeom>
          <a:noFill/>
        </p:spPr>
        <p:txBody>
          <a:bodyPr wrap="square" anchor="t" lIns="0" rIns="0" tIns="0" bIns="0">
            <a:spAutoFit/>
          </a:bodyPr>
          <a:lstStyle/>
          <a:p>
            <a:pPr algn="l">
              <a:lnSpc>
                <a:spcPct val="100000"/>
              </a:lnSpc>
            </a:pPr>
            <a:r>
              <a:rPr sz="2800" b="0">
                <a:solidFill>
                  <a:srgbClr val="9FE0C9"/>
                </a:solidFill>
                <a:latin typeface="Arial"/>
              </a:rPr>
              <a:t>$slice · embedded documents</a:t>
            </a:r>
          </a:p>
        </p:txBody>
      </p:sp>
      <p:sp>
        <p:nvSpPr>
          <p:cNvPr id="5" name="TextBox 4"/>
          <p:cNvSpPr txBox="1"/>
          <p:nvPr/>
        </p:nvSpPr>
        <p:spPr>
          <a:xfrm>
            <a:off x="3840480" y="3794760"/>
            <a:ext cx="7863840" cy="1005840"/>
          </a:xfrm>
          <a:prstGeom prst="rect">
            <a:avLst/>
          </a:prstGeom>
          <a:noFill/>
        </p:spPr>
        <p:txBody>
          <a:bodyPr wrap="square" anchor="t" lIns="0" rIns="0" tIns="0" bIns="0">
            <a:spAutoFit/>
          </a:bodyPr>
          <a:lstStyle/>
          <a:p>
            <a:pPr algn="l">
              <a:lnSpc>
                <a:spcPct val="100000"/>
              </a:lnSpc>
            </a:pPr>
            <a:r>
              <a:rPr sz="3200" b="0">
                <a:solidFill>
                  <a:srgbClr val="F2B27A"/>
                </a:solidFill>
                <a:latin typeface="Arial"/>
              </a:rPr>
              <a:t>“Trim what you see. Reach inside with a dot.”</a:t>
            </a:r>
          </a:p>
        </p:txBody>
      </p:sp>
      <p:sp>
        <p:nvSpPr>
          <p:cNvPr id="6" name="EXEMPT_PROGRESS"/>
          <p:cNvSpPr txBox="1"/>
          <p:nvPr/>
        </p:nvSpPr>
        <p:spPr>
          <a:xfrm>
            <a:off x="3840480" y="5074920"/>
            <a:ext cx="7863840" cy="457200"/>
          </a:xfrm>
          <a:prstGeom prst="rect">
            <a:avLst/>
          </a:prstGeom>
          <a:noFill/>
        </p:spPr>
        <p:txBody>
          <a:bodyPr wrap="square" anchor="t" lIns="0" rIns="0" tIns="0" bIns="0">
            <a:spAutoFit/>
          </a:bodyPr>
          <a:lstStyle/>
          <a:p>
            <a:pPr algn="l">
              <a:lnSpc>
                <a:spcPct val="100000"/>
              </a:lnSpc>
            </a:pPr>
            <a:r>
              <a:rPr sz="2200" b="0">
                <a:solidFill>
                  <a:srgbClr val="8FA3B8"/>
                </a:solidFill>
                <a:latin typeface="Arial"/>
              </a:rPr>
              <a:t>9 slides · about 1 min 32 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Part 6 SETUP: run this first</a:t>
            </a:r>
          </a:p>
        </p:txBody>
      </p:sp>
      <p:sp>
        <p:nvSpPr>
          <p:cNvPr id="4" name="EXEMPT_HELPER"/>
          <p:cNvSpPr txBox="1"/>
          <p:nvPr/>
        </p:nvSpPr>
        <p:spPr>
          <a:xfrm>
            <a:off x="7863840" y="45720"/>
            <a:ext cx="3916375" cy="274320"/>
          </a:xfrm>
          <a:prstGeom prst="rect">
            <a:avLst/>
          </a:prstGeom>
          <a:noFill/>
        </p:spPr>
        <p:txBody>
          <a:bodyPr wrap="square" anchor="t" lIns="0" rIns="0" tIns="0" bIns="0">
            <a:spAutoFit/>
          </a:bodyPr>
          <a:lstStyle/>
          <a:p>
            <a:pPr algn="r">
              <a:lnSpc>
                <a:spcPct val="100000"/>
              </a:lnSpc>
            </a:pPr>
            <a:r>
              <a:rPr sz="1400" b="1">
                <a:solidFill>
                  <a:srgbClr val="C2410C"/>
                </a:solidFill>
                <a:latin typeface="Arial"/>
              </a:rPr>
              <a:t>HELPER · delete before presenting</a:t>
            </a:r>
          </a:p>
        </p:txBody>
      </p:sp>
      <p:sp>
        <p:nvSpPr>
          <p:cNvPr id="5" name="EXEMPT_SETUP"/>
          <p:cNvSpPr/>
          <p:nvPr/>
        </p:nvSpPr>
        <p:spPr>
          <a:xfrm>
            <a:off x="411480" y="1097280"/>
            <a:ext cx="11368735" cy="448056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EXEMPT_SETUP"/>
          <p:cNvSpPr txBox="1"/>
          <p:nvPr/>
        </p:nvSpPr>
        <p:spPr>
          <a:xfrm>
            <a:off x="548640" y="1207007"/>
            <a:ext cx="11094415" cy="4297680"/>
          </a:xfrm>
          <a:prstGeom prst="rect">
            <a:avLst/>
          </a:prstGeom>
          <a:noFill/>
        </p:spPr>
        <p:txBody>
          <a:bodyPr wrap="none" anchor="t" lIns="0" rIns="0" tIns="0" bIns="0">
            <a:spAutoFit/>
          </a:bodyPr>
          <a:lstStyle/>
          <a:p>
            <a:pPr algn="l">
              <a:lnSpc>
                <a:spcPct val="100000"/>
              </a:lnSpc>
            </a:pPr>
            <a:r>
              <a:rPr sz="2000" b="0">
                <a:solidFill>
                  <a:srgbClr val="E6ECF2"/>
                </a:solidFill>
                <a:latin typeface="Courier New"/>
              </a:rPr>
              <a:t>use adbs_part6</a:t>
            </a:r>
          </a:p>
          <a:p>
            <a:pPr algn="l">
              <a:lnSpc>
                <a:spcPct val="100000"/>
              </a:lnSpc>
            </a:pPr>
            <a:r>
              <a:rPr sz="2000" b="0">
                <a:solidFill>
                  <a:srgbClr val="E6ECF2"/>
                </a:solidFill>
                <a:latin typeface="Courier New"/>
              </a:rPr>
              <a:t>db.dropDatabase()</a:t>
            </a:r>
          </a:p>
          <a:p>
            <a:pPr algn="l">
              <a:lnSpc>
                <a:spcPct val="100000"/>
              </a:lnSpc>
            </a:pPr>
            <a:r>
              <a:rPr sz="2000" b="0">
                <a:solidFill>
                  <a:srgbClr val="E6ECF2"/>
                </a:solidFill>
                <a:latin typeface="Courier New"/>
              </a:rPr>
              <a:t>db.blog.posts.insertOne({"_id" : 1, "title" : "ADBS",</a:t>
            </a:r>
          </a:p>
          <a:p>
            <a:pPr algn="l">
              <a:lnSpc>
                <a:spcPct val="100000"/>
              </a:lnSpc>
            </a:pPr>
            <a:r>
              <a:rPr sz="2000" b="0">
                <a:solidFill>
                  <a:srgbClr val="E6ECF2"/>
                </a:solidFill>
                <a:latin typeface="Courier New"/>
              </a:rPr>
              <a:t>  "comments" : Array.from({length : 40}, (_, i) =&gt; "c" + (i + 1))})</a:t>
            </a:r>
          </a:p>
          <a:p>
            <a:pPr algn="l">
              <a:lnSpc>
                <a:spcPct val="100000"/>
              </a:lnSpc>
            </a:pPr>
            <a:r>
              <a:rPr sz="2000" b="0">
                <a:solidFill>
                  <a:srgbClr val="E6ECF2"/>
                </a:solidFill>
                <a:latin typeface="Courier New"/>
              </a:rPr>
              <a:t>db.people.insertOne({"_id" : 1,</a:t>
            </a:r>
          </a:p>
          <a:p>
            <a:pPr algn="l">
              <a:lnSpc>
                <a:spcPct val="100000"/>
              </a:lnSpc>
            </a:pPr>
            <a:r>
              <a:rPr sz="2000" b="0">
                <a:solidFill>
                  <a:srgbClr val="E6ECF2"/>
                </a:solidFill>
                <a:latin typeface="Courier New"/>
              </a:rPr>
              <a:t>  "name" : {"first" : "John", "last" : "Escalona"}, "age" : 45})</a:t>
            </a:r>
          </a:p>
        </p:txBody>
      </p:sp>
      <p:sp>
        <p:nvSpPr>
          <p:cNvPr id="7" name="EXEMPT_SETUP"/>
          <p:cNvSpPr txBox="1"/>
          <p:nvPr/>
        </p:nvSpPr>
        <p:spPr>
          <a:xfrm>
            <a:off x="411480" y="5715000"/>
            <a:ext cx="11368735" cy="457200"/>
          </a:xfrm>
          <a:prstGeom prst="rect">
            <a:avLst/>
          </a:prstGeom>
          <a:noFill/>
        </p:spPr>
        <p:txBody>
          <a:bodyPr wrap="square" anchor="t" lIns="0" rIns="0" tIns="0" bIns="0">
            <a:spAutoFit/>
          </a:bodyPr>
          <a:lstStyle/>
          <a:p>
            <a:pPr algn="l">
              <a:lnSpc>
                <a:spcPct val="100000"/>
              </a:lnSpc>
            </a:pPr>
            <a:r>
              <a:rPr sz="1800" b="0">
                <a:solidFill>
                  <a:srgbClr val="4A5868"/>
                </a:solidFill>
                <a:latin typeface="Arial"/>
              </a:rPr>
              <a:t>Copy all of it into the MongoDB shell and press Enter. Run it again any time to start over.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$slice 10: the first 10</a:t>
            </a:r>
          </a:p>
        </p:txBody>
      </p:sp>
      <p:sp>
        <p:nvSpPr>
          <p:cNvPr id="4" name="Rectangle 3"/>
          <p:cNvSpPr/>
          <p:nvPr/>
        </p:nvSpPr>
        <p:spPr>
          <a:xfrm>
            <a:off x="411480" y="1097280"/>
            <a:ext cx="11368735" cy="1808479"/>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698752"/>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8FA3B8"/>
                </a:solidFill>
                <a:latin typeface="Courier New"/>
              </a:rPr>
              <a:t>// practice post: 40 comments, c1 to c40</a:t>
            </a:r>
          </a:p>
          <a:p>
            <a:pPr algn="l">
              <a:lnSpc>
                <a:spcPts val="3200"/>
              </a:lnSpc>
            </a:pPr>
            <a:r>
              <a:rPr sz="2800" b="0">
                <a:solidFill>
                  <a:srgbClr val="E6ECF2"/>
                </a:solidFill>
                <a:latin typeface="Courier New"/>
              </a:rPr>
              <a:t>db.blog.posts.findOne({"_id" : 1},</a:t>
            </a:r>
          </a:p>
          <a:p>
            <a:pPr algn="l">
              <a:lnSpc>
                <a:spcPts val="3200"/>
              </a:lnSpc>
            </a:pPr>
            <a:r>
              <a:rPr sz="2800" b="0">
                <a:solidFill>
                  <a:srgbClr val="E6ECF2"/>
                </a:solidFill>
                <a:latin typeface="Courier New"/>
              </a:rPr>
              <a:t>  {"comments" : {"$slice" : 10}})</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6 · 2 of 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$slice 10: the first 10</a:t>
            </a:r>
          </a:p>
        </p:txBody>
      </p:sp>
      <p:sp>
        <p:nvSpPr>
          <p:cNvPr id="4" name="EXEMPT_PASTE"/>
          <p:cNvSpPr/>
          <p:nvPr/>
        </p:nvSpPr>
        <p:spPr>
          <a:xfrm>
            <a:off x="411480" y="1097280"/>
            <a:ext cx="11368735" cy="30276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Positive counts from the front.</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6 · 3 of 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$slice -10: the last 10</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db.blog.posts.findOne({"_id" : 1},</a:t>
            </a:r>
          </a:p>
          <a:p>
            <a:pPr algn="l">
              <a:lnSpc>
                <a:spcPts val="3200"/>
              </a:lnSpc>
            </a:pPr>
            <a:r>
              <a:rPr sz="2800" b="0">
                <a:solidFill>
                  <a:srgbClr val="E6ECF2"/>
                </a:solidFill>
                <a:latin typeface="Courier New"/>
              </a:rPr>
              <a:t>  {"comments" : {"$slice" : -10}})</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6 · 4 of 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$slice -10: the last 10</a:t>
            </a:r>
          </a:p>
        </p:txBody>
      </p:sp>
      <p:sp>
        <p:nvSpPr>
          <p:cNvPr id="4" name="EXEMPT_PASTE"/>
          <p:cNvSpPr/>
          <p:nvPr/>
        </p:nvSpPr>
        <p:spPr>
          <a:xfrm>
            <a:off x="411480" y="1097280"/>
            <a:ext cx="11368735" cy="30276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Negative counts from the back.</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6 · 5 of 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$slice [23, 10]: a page from the middle</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db.blog.posts.findOne({"_id" : 1},</a:t>
            </a:r>
          </a:p>
          <a:p>
            <a:pPr algn="l">
              <a:lnSpc>
                <a:spcPts val="3200"/>
              </a:lnSpc>
            </a:pPr>
            <a:r>
              <a:rPr sz="2800" b="0">
                <a:solidFill>
                  <a:srgbClr val="E6ECF2"/>
                </a:solidFill>
                <a:latin typeface="Courier New"/>
              </a:rPr>
              <a:t>  {"comments" : {"$slice" : [23, 10]}})</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6 · 6 of 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$slice [23, 10]: a page from the middle</a:t>
            </a:r>
          </a:p>
        </p:txBody>
      </p:sp>
      <p:sp>
        <p:nvSpPr>
          <p:cNvPr id="4" name="EXEMPT_PASTE"/>
          <p:cNvSpPr/>
          <p:nvPr/>
        </p:nvSpPr>
        <p:spPr>
          <a:xfrm>
            <a:off x="411480" y="1097280"/>
            <a:ext cx="11368735" cy="30276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Skip 23, take 10.</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6 · 7 of 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Query inside an embedded document</a:t>
            </a:r>
          </a:p>
        </p:txBody>
      </p:sp>
      <p:sp>
        <p:nvSpPr>
          <p:cNvPr id="4" name="Rectangle 3"/>
          <p:cNvSpPr/>
          <p:nvPr/>
        </p:nvSpPr>
        <p:spPr>
          <a:xfrm>
            <a:off x="411480" y="1097280"/>
            <a:ext cx="11368735" cy="1402080"/>
          </a:xfrm>
          <a:prstGeom prst="rect">
            <a:avLst/>
          </a:prstGeom>
          <a:solidFill>
            <a:srgbClr val="1621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57784" y="1188720"/>
            <a:ext cx="11149279" cy="1292351"/>
          </a:xfrm>
          <a:prstGeom prst="rect">
            <a:avLst/>
          </a:prstGeom>
          <a:noFill/>
        </p:spPr>
        <p:txBody>
          <a:bodyPr wrap="none" anchor="t" lIns="0" rIns="0" tIns="0" bIns="0">
            <a:spAutoFit/>
          </a:bodyPr>
          <a:lstStyle/>
          <a:p>
            <a:pPr algn="l">
              <a:lnSpc>
                <a:spcPts val="3200"/>
              </a:lnSpc>
            </a:pPr>
            <a:r>
              <a:rPr sz="2800" b="1">
                <a:solidFill>
                  <a:srgbClr val="F2B27A"/>
                </a:solidFill>
                <a:latin typeface="Arial"/>
              </a:rPr>
              <a:t>COMMAND</a:t>
            </a:r>
          </a:p>
          <a:p>
            <a:pPr algn="l">
              <a:lnSpc>
                <a:spcPts val="3200"/>
              </a:lnSpc>
            </a:pPr>
            <a:r>
              <a:rPr sz="2800" b="0">
                <a:solidFill>
                  <a:srgbClr val="E6ECF2"/>
                </a:solidFill>
                <a:latin typeface="Courier New"/>
              </a:rPr>
              <a:t>db.people.find({"name.first" : "John",</a:t>
            </a:r>
          </a:p>
          <a:p>
            <a:pPr algn="l">
              <a:lnSpc>
                <a:spcPts val="3200"/>
              </a:lnSpc>
            </a:pPr>
            <a:r>
              <a:rPr sz="2800" b="0">
                <a:solidFill>
                  <a:srgbClr val="E6ECF2"/>
                </a:solidFill>
                <a:latin typeface="Courier New"/>
              </a:rPr>
              <a:t>  "name.last" : "Escalona"})</a:t>
            </a:r>
          </a:p>
        </p:txBody>
      </p:sp>
      <p:sp>
        <p:nvSpPr>
          <p:cNvPr id="6" name="TextBox 5"/>
          <p:cNvSpPr txBox="1"/>
          <p:nvPr/>
        </p:nvSpPr>
        <p:spPr>
          <a:xfrm>
            <a:off x="411480" y="5696712"/>
            <a:ext cx="11368735" cy="566928"/>
          </a:xfrm>
          <a:prstGeom prst="rect">
            <a:avLst/>
          </a:prstGeom>
          <a:noFill/>
        </p:spPr>
        <p:txBody>
          <a:bodyPr wrap="square" anchor="ctr" lIns="164592" rIns="164592" tIns="164592" bIns="164592">
            <a:spAutoFit/>
          </a:bodyPr>
          <a:lstStyle/>
          <a:p>
            <a:pPr algn="r">
              <a:lnSpc>
                <a:spcPct val="100000"/>
              </a:lnSpc>
            </a:pPr>
            <a:r>
              <a:rPr sz="2800" b="0">
                <a:solidFill>
                  <a:srgbClr val="4A5868"/>
                </a:solidFill>
                <a:latin typeface="Arial"/>
              </a:rPr>
              <a:t>Next: RESULT  →</a:t>
            </a:r>
          </a:p>
        </p:txBody>
      </p:sp>
      <p:sp>
        <p:nvSpPr>
          <p:cNvPr id="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6 · 8 of 9</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Query inside an embedded document</a:t>
            </a:r>
          </a:p>
        </p:txBody>
      </p:sp>
      <p:sp>
        <p:nvSpPr>
          <p:cNvPr id="4" name="EXEMPT_PASTE"/>
          <p:cNvSpPr/>
          <p:nvPr/>
        </p:nvSpPr>
        <p:spPr>
          <a:xfrm>
            <a:off x="411480" y="1097280"/>
            <a:ext cx="11368735" cy="3434080"/>
          </a:xfrm>
          <a:prstGeom prst="rect">
            <a:avLst/>
          </a:prstGeom>
          <a:solidFill>
            <a:srgbClr val="FFF4E5"/>
          </a:solidFill>
          <a:ln w="254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lnSpc>
                <a:spcPct val="100000"/>
              </a:lnSpc>
            </a:pPr>
            <a:r>
              <a:rPr sz="2200" b="1">
                <a:solidFill>
                  <a:srgbClr val="C2410C"/>
                </a:solidFill>
                <a:latin typeface="Arial"/>
              </a:rPr>
              <a:t>RESULT  ·  PASTE YOUR SCREENSHOT HERE</a:t>
            </a:r>
          </a:p>
          <a:p>
            <a:pPr algn="l">
              <a:lnSpc>
                <a:spcPct val="100000"/>
              </a:lnSpc>
            </a:pPr>
            <a:r>
              <a:rPr sz="1800" b="0">
                <a:solidFill>
                  <a:srgbClr val="14202E"/>
                </a:solidFill>
                <a:latin typeface="Arial"/>
              </a:rPr>
              <a:t>Zoom in (Ctrl + =). Screenshot the result (Win + Shift + S). Click this box's edge, Delete, Ctrl + V.</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Use the dot to reach inside.</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08 Handout p.4</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6 · 9 of 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411480" y="914400"/>
            <a:ext cx="3291840" cy="2743200"/>
          </a:xfrm>
          <a:prstGeom prst="rect">
            <a:avLst/>
          </a:prstGeom>
          <a:noFill/>
        </p:spPr>
        <p:txBody>
          <a:bodyPr wrap="square" anchor="t" lIns="0" rIns="0" tIns="0" bIns="0">
            <a:spAutoFit/>
          </a:bodyPr>
          <a:lstStyle/>
          <a:p>
            <a:pPr algn="l">
              <a:lnSpc>
                <a:spcPct val="100000"/>
              </a:lnSpc>
            </a:pPr>
            <a:r>
              <a:rPr sz="18000" b="1">
                <a:solidFill>
                  <a:srgbClr val="F2B27A"/>
                </a:solidFill>
                <a:latin typeface="Arial"/>
              </a:rPr>
              <a:t>7</a:t>
            </a:r>
          </a:p>
        </p:txBody>
      </p:sp>
      <p:sp>
        <p:nvSpPr>
          <p:cNvPr id="3" name="TextBox 2"/>
          <p:cNvSpPr txBox="1"/>
          <p:nvPr/>
        </p:nvSpPr>
        <p:spPr>
          <a:xfrm>
            <a:off x="3840480" y="548640"/>
            <a:ext cx="7863840" cy="2103120"/>
          </a:xfrm>
          <a:prstGeom prst="rect">
            <a:avLst/>
          </a:prstGeom>
          <a:noFill/>
        </p:spPr>
        <p:txBody>
          <a:bodyPr wrap="square" anchor="b" lIns="0" rIns="0" tIns="0" bIns="0">
            <a:spAutoFit/>
          </a:bodyPr>
          <a:lstStyle/>
          <a:p>
            <a:pPr algn="l">
              <a:lnSpc>
                <a:spcPct val="100000"/>
              </a:lnSpc>
            </a:pPr>
            <a:r>
              <a:rPr sz="4400" b="1">
                <a:solidFill>
                  <a:srgbClr val="FFFFFF"/>
                </a:solidFill>
                <a:latin typeface="Arial"/>
              </a:rPr>
              <a:t>Cloud Computing &amp; Implementation Types</a:t>
            </a:r>
          </a:p>
        </p:txBody>
      </p:sp>
      <p:sp>
        <p:nvSpPr>
          <p:cNvPr id="4" name="TextBox 3"/>
          <p:cNvSpPr txBox="1"/>
          <p:nvPr/>
        </p:nvSpPr>
        <p:spPr>
          <a:xfrm>
            <a:off x="3840480" y="2743200"/>
            <a:ext cx="7863840" cy="914400"/>
          </a:xfrm>
          <a:prstGeom prst="rect">
            <a:avLst/>
          </a:prstGeom>
          <a:noFill/>
        </p:spPr>
        <p:txBody>
          <a:bodyPr wrap="square" anchor="t" lIns="0" rIns="0" tIns="0" bIns="0">
            <a:spAutoFit/>
          </a:bodyPr>
          <a:lstStyle/>
          <a:p>
            <a:pPr algn="l">
              <a:lnSpc>
                <a:spcPct val="100000"/>
              </a:lnSpc>
            </a:pPr>
            <a:r>
              <a:rPr sz="2800" b="0">
                <a:solidFill>
                  <a:srgbClr val="9FE0C9"/>
                </a:solidFill>
                <a:latin typeface="Arial"/>
              </a:rPr>
              <a:t>public · private · hybrid</a:t>
            </a:r>
          </a:p>
        </p:txBody>
      </p:sp>
      <p:sp>
        <p:nvSpPr>
          <p:cNvPr id="5" name="TextBox 4"/>
          <p:cNvSpPr txBox="1"/>
          <p:nvPr/>
        </p:nvSpPr>
        <p:spPr>
          <a:xfrm>
            <a:off x="3840480" y="3794760"/>
            <a:ext cx="7863840" cy="1005840"/>
          </a:xfrm>
          <a:prstGeom prst="rect">
            <a:avLst/>
          </a:prstGeom>
          <a:noFill/>
        </p:spPr>
        <p:txBody>
          <a:bodyPr wrap="square" anchor="t" lIns="0" rIns="0" tIns="0" bIns="0">
            <a:spAutoFit/>
          </a:bodyPr>
          <a:lstStyle/>
          <a:p>
            <a:pPr algn="l">
              <a:lnSpc>
                <a:spcPct val="100000"/>
              </a:lnSpc>
            </a:pPr>
            <a:r>
              <a:rPr sz="3200" b="0">
                <a:solidFill>
                  <a:srgbClr val="F2B27A"/>
                </a:solidFill>
                <a:latin typeface="Arial"/>
              </a:rPr>
              <a:t>“Where it lives + who controls it.”</a:t>
            </a:r>
          </a:p>
        </p:txBody>
      </p:sp>
      <p:sp>
        <p:nvSpPr>
          <p:cNvPr id="6" name="EXEMPT_PROGRESS"/>
          <p:cNvSpPr txBox="1"/>
          <p:nvPr/>
        </p:nvSpPr>
        <p:spPr>
          <a:xfrm>
            <a:off x="3840480" y="5074920"/>
            <a:ext cx="7863840" cy="457200"/>
          </a:xfrm>
          <a:prstGeom prst="rect">
            <a:avLst/>
          </a:prstGeom>
          <a:noFill/>
        </p:spPr>
        <p:txBody>
          <a:bodyPr wrap="square" anchor="t" lIns="0" rIns="0" tIns="0" bIns="0">
            <a:spAutoFit/>
          </a:bodyPr>
          <a:lstStyle/>
          <a:p>
            <a:pPr algn="l">
              <a:lnSpc>
                <a:spcPct val="100000"/>
              </a:lnSpc>
            </a:pPr>
            <a:r>
              <a:rPr sz="2200" b="0">
                <a:solidFill>
                  <a:srgbClr val="8FA3B8"/>
                </a:solidFill>
                <a:latin typeface="Arial"/>
              </a:rPr>
              <a:t>6 slides · about 1 min 45 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What cloud computing is</a:t>
            </a:r>
          </a:p>
        </p:txBody>
      </p:sp>
      <p:sp>
        <p:nvSpPr>
          <p:cNvPr id="4" name="TextBox 3"/>
          <p:cNvSpPr txBox="1"/>
          <p:nvPr/>
        </p:nvSpPr>
        <p:spPr>
          <a:xfrm>
            <a:off x="411480" y="1234439"/>
            <a:ext cx="11368735" cy="4325112"/>
          </a:xfrm>
          <a:prstGeom prst="rect">
            <a:avLst/>
          </a:prstGeom>
          <a:noFill/>
        </p:spPr>
        <p:txBody>
          <a:bodyPr wrap="square" anchor="t" lIns="0" rIns="0" tIns="0" bIns="0">
            <a:spAutoFit/>
          </a:bodyPr>
          <a:lstStyle/>
          <a:p>
            <a:pPr algn="l">
              <a:lnSpc>
                <a:spcPct val="110000"/>
              </a:lnSpc>
            </a:pPr>
            <a:r>
              <a:rPr sz="3200" b="1">
                <a:solidFill>
                  <a:srgbClr val="C2410C"/>
                </a:solidFill>
                <a:latin typeface="Arial"/>
              </a:rPr>
              <a:t>▸  </a:t>
            </a:r>
            <a:r>
              <a:rPr sz="3200" b="0">
                <a:solidFill>
                  <a:srgbClr val="14202E"/>
                </a:solidFill>
                <a:latin typeface="Arial"/>
              </a:rPr>
              <a:t>____________________________</a:t>
            </a:r>
          </a:p>
          <a:p>
            <a:pPr algn="l">
              <a:lnSpc>
                <a:spcPct val="110000"/>
              </a:lnSpc>
            </a:pPr>
            <a:r>
              <a:rPr sz="3200" b="1">
                <a:solidFill>
                  <a:srgbClr val="C2410C"/>
                </a:solidFill>
                <a:latin typeface="Arial"/>
              </a:rPr>
              <a:t>▸  </a:t>
            </a:r>
            <a:r>
              <a:rPr sz="3200" b="0">
                <a:solidFill>
                  <a:srgbClr val="14202E"/>
                </a:solidFill>
                <a:latin typeface="Arial"/>
              </a:rPr>
              <a:t>____________________________</a:t>
            </a:r>
          </a:p>
          <a:p>
            <a:pPr algn="l">
              <a:lnSpc>
                <a:spcPct val="110000"/>
              </a:lnSpc>
            </a:pPr>
            <a:r>
              <a:rPr sz="3200" b="1">
                <a:solidFill>
                  <a:srgbClr val="C2410C"/>
                </a:solidFill>
                <a:latin typeface="Arial"/>
              </a:rPr>
              <a:t>▸  </a:t>
            </a:r>
            <a:r>
              <a:rPr sz="3200" b="0">
                <a:solidFill>
                  <a:srgbClr val="14202E"/>
                </a:solidFill>
                <a:latin typeface="Arial"/>
              </a:rPr>
              <a:t>____________________________</a:t>
            </a:r>
          </a:p>
        </p:txBody>
      </p:sp>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If it has the web, it has your data.</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7 · 2 of 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Three implementation types</a:t>
            </a:r>
          </a:p>
        </p:txBody>
      </p:sp>
      <p:graphicFrame>
        <p:nvGraphicFramePr>
          <p:cNvPr id="4" name="Table 3"/>
          <p:cNvGraphicFramePr>
            <a:graphicFrameLocks noGrp="1"/>
          </p:cNvGraphicFramePr>
          <p:nvPr/>
        </p:nvGraphicFramePr>
        <p:xfrm>
          <a:off x="411480" y="1234439"/>
          <a:ext cx="11368735" cy="3657600"/>
        </p:xfrm>
        <a:graphic>
          <a:graphicData uri="http://schemas.openxmlformats.org/drawingml/2006/table">
            <a:tbl>
              <a:tblPr firstRow="1" bandRow="1">
                <a:tableStyleId>{5C22544A-7EE6-4342-B048-85BDC9FD1C3A}</a:tableStyleId>
              </a:tblPr>
              <a:tblGrid>
                <a:gridCol w="3291840"/>
                <a:gridCol w="8076895"/>
              </a:tblGrid>
              <a:tr h="914400">
                <a:tc>
                  <a:txBody>
                    <a:bodyPr wrap="square" anchor="ctr" lIns="109728" rIns="109728" tIns="109728" bIns="109728"/>
                    <a:lstStyle/>
                    <a:p>
                      <a:pPr algn="l">
                        <a:lnSpc>
                          <a:spcPct val="100000"/>
                        </a:lnSpc>
                      </a:pPr>
                      <a:r>
                        <a:rPr sz="2800" b="1">
                          <a:solidFill>
                            <a:srgbClr val="FFFFFF"/>
                          </a:solidFill>
                          <a:latin typeface="Arial"/>
                        </a:rPr>
                        <a:t>Type</a:t>
                      </a:r>
                    </a:p>
                  </a:txBody>
                  <a:tcPr>
                    <a:solidFill>
                      <a:srgbClr val="14202E"/>
                    </a:solidFill>
                  </a:tcPr>
                </a:tc>
                <a:tc>
                  <a:txBody>
                    <a:bodyPr wrap="square" anchor="ctr" lIns="109728" rIns="109728" tIns="109728" bIns="109728"/>
                    <a:lstStyle/>
                    <a:p>
                      <a:pPr algn="l">
                        <a:lnSpc>
                          <a:spcPct val="100000"/>
                        </a:lnSpc>
                      </a:pPr>
                      <a:r>
                        <a:rPr sz="2800" b="1">
                          <a:solidFill>
                            <a:srgbClr val="FFFFFF"/>
                          </a:solidFill>
                          <a:latin typeface="Arial"/>
                        </a:rPr>
                        <a:t>In one line</a:t>
                      </a:r>
                    </a:p>
                  </a:txBody>
                  <a:tcPr>
                    <a:solidFill>
                      <a:srgbClr val="14202E"/>
                    </a:solidFill>
                  </a:tcPr>
                </a:tc>
              </a:tr>
              <a:tr h="914400">
                <a:tc>
                  <a:txBody>
                    <a:bodyPr wrap="square" anchor="ctr" lIns="109728" rIns="109728" tIns="109728" bIns="109728"/>
                    <a:lstStyle/>
                    <a:p>
                      <a:pPr algn="l">
                        <a:lnSpc>
                          <a:spcPct val="100000"/>
                        </a:lnSpc>
                      </a:pPr>
                      <a:r>
                        <a:rPr sz="3000" b="1">
                          <a:solidFill>
                            <a:srgbClr val="14202E"/>
                          </a:solidFill>
                          <a:latin typeface="Arial"/>
                        </a:rPr>
                        <a:t>Public</a:t>
                      </a:r>
                    </a:p>
                  </a:txBody>
                  <a:tcPr>
                    <a:solidFill>
                      <a:srgbClr val="FFFFFF"/>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____________________________________</a:t>
                      </a:r>
                    </a:p>
                  </a:txBody>
                  <a:tcPr>
                    <a:solidFill>
                      <a:srgbClr val="FFF4E5"/>
                    </a:solidFill>
                  </a:tcPr>
                </a:tc>
              </a:tr>
              <a:tr h="914400">
                <a:tc>
                  <a:txBody>
                    <a:bodyPr wrap="square" anchor="ctr" lIns="109728" rIns="109728" tIns="109728" bIns="109728"/>
                    <a:lstStyle/>
                    <a:p>
                      <a:pPr algn="l">
                        <a:lnSpc>
                          <a:spcPct val="100000"/>
                        </a:lnSpc>
                      </a:pPr>
                      <a:r>
                        <a:rPr sz="3000" b="1">
                          <a:solidFill>
                            <a:srgbClr val="14202E"/>
                          </a:solidFill>
                          <a:latin typeface="Arial"/>
                        </a:rPr>
                        <a:t>Private</a:t>
                      </a:r>
                    </a:p>
                  </a:txBody>
                  <a:tcPr>
                    <a:solidFill>
                      <a:srgbClr val="EEF1F4"/>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____________________________________</a:t>
                      </a:r>
                    </a:p>
                  </a:txBody>
                  <a:tcPr>
                    <a:solidFill>
                      <a:srgbClr val="FFF4E5"/>
                    </a:solidFill>
                  </a:tcPr>
                </a:tc>
              </a:tr>
              <a:tr h="914400">
                <a:tc>
                  <a:txBody>
                    <a:bodyPr wrap="square" anchor="ctr" lIns="109728" rIns="109728" tIns="109728" bIns="109728"/>
                    <a:lstStyle/>
                    <a:p>
                      <a:pPr algn="l">
                        <a:lnSpc>
                          <a:spcPct val="100000"/>
                        </a:lnSpc>
                      </a:pPr>
                      <a:r>
                        <a:rPr sz="3000" b="1">
                          <a:solidFill>
                            <a:srgbClr val="14202E"/>
                          </a:solidFill>
                          <a:latin typeface="Arial"/>
                        </a:rPr>
                        <a:t>Hybrid</a:t>
                      </a:r>
                    </a:p>
                  </a:txBody>
                  <a:tcPr>
                    <a:solidFill>
                      <a:srgbClr val="FFFFFF"/>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____________________________________</a:t>
                      </a:r>
                    </a:p>
                  </a:txBody>
                  <a:tcPr>
                    <a:solidFill>
                      <a:srgbClr val="FFF4E5"/>
                    </a:solidFill>
                  </a:tcPr>
                </a:tc>
              </a:tr>
            </a:tbl>
          </a:graphicData>
        </a:graphic>
      </p:graphicFrame>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Rent it, own it, or mix both.</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7 · 3 of 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Public cloud</a:t>
            </a:r>
          </a:p>
        </p:txBody>
      </p:sp>
      <p:sp>
        <p:nvSpPr>
          <p:cNvPr id="4" name="Rectangle 3"/>
          <p:cNvSpPr/>
          <p:nvPr/>
        </p:nvSpPr>
        <p:spPr>
          <a:xfrm>
            <a:off x="411480" y="1188720"/>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980497"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Built by</a:t>
            </a:r>
          </a:p>
        </p:txBody>
      </p:sp>
      <p:sp>
        <p:nvSpPr>
          <p:cNvPr id="6" name="TextBox 5"/>
          <p:cNvSpPr txBox="1"/>
          <p:nvPr/>
        </p:nvSpPr>
        <p:spPr>
          <a:xfrm>
            <a:off x="2529137" y="1280160"/>
            <a:ext cx="9113917"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7" name="Rectangle 6"/>
          <p:cNvSpPr/>
          <p:nvPr/>
        </p:nvSpPr>
        <p:spPr>
          <a:xfrm>
            <a:off x="411480" y="1911095"/>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02536"/>
            <a:ext cx="1980497"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Examples</a:t>
            </a:r>
          </a:p>
        </p:txBody>
      </p:sp>
      <p:sp>
        <p:nvSpPr>
          <p:cNvPr id="9" name="TextBox 8"/>
          <p:cNvSpPr txBox="1"/>
          <p:nvPr/>
        </p:nvSpPr>
        <p:spPr>
          <a:xfrm>
            <a:off x="2529137" y="2002536"/>
            <a:ext cx="9113917"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0" name="Rectangle 9"/>
          <p:cNvSpPr/>
          <p:nvPr/>
        </p:nvSpPr>
        <p:spPr>
          <a:xfrm>
            <a:off x="411480" y="2633472"/>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24912"/>
            <a:ext cx="1980497"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Plus</a:t>
            </a:r>
          </a:p>
        </p:txBody>
      </p:sp>
      <p:sp>
        <p:nvSpPr>
          <p:cNvPr id="12" name="TextBox 11"/>
          <p:cNvSpPr txBox="1"/>
          <p:nvPr/>
        </p:nvSpPr>
        <p:spPr>
          <a:xfrm>
            <a:off x="2529137" y="2724912"/>
            <a:ext cx="9113917"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3" name="Rectangle 12"/>
          <p:cNvSpPr/>
          <p:nvPr/>
        </p:nvSpPr>
        <p:spPr>
          <a:xfrm>
            <a:off x="411480" y="3355848"/>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47288"/>
            <a:ext cx="1980497"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Minus</a:t>
            </a:r>
          </a:p>
        </p:txBody>
      </p:sp>
      <p:sp>
        <p:nvSpPr>
          <p:cNvPr id="15" name="TextBox 14"/>
          <p:cNvSpPr txBox="1"/>
          <p:nvPr/>
        </p:nvSpPr>
        <p:spPr>
          <a:xfrm>
            <a:off x="2529137" y="3447288"/>
            <a:ext cx="9113917"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6" name="Rectangle 15"/>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Rent it.</a:t>
            </a:r>
          </a:p>
        </p:txBody>
      </p:sp>
      <p:sp>
        <p:nvSpPr>
          <p:cNvPr id="1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1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7 · 4 of 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Private cloud</a:t>
            </a:r>
          </a:p>
        </p:txBody>
      </p:sp>
      <p:sp>
        <p:nvSpPr>
          <p:cNvPr id="4" name="Rectangle 3"/>
          <p:cNvSpPr/>
          <p:nvPr/>
        </p:nvSpPr>
        <p:spPr>
          <a:xfrm>
            <a:off x="411480" y="1188720"/>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2374996"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Built by</a:t>
            </a:r>
          </a:p>
        </p:txBody>
      </p:sp>
      <p:sp>
        <p:nvSpPr>
          <p:cNvPr id="6" name="TextBox 5"/>
          <p:cNvSpPr txBox="1"/>
          <p:nvPr/>
        </p:nvSpPr>
        <p:spPr>
          <a:xfrm>
            <a:off x="2923636" y="1280160"/>
            <a:ext cx="8719418"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7" name="Rectangle 6"/>
          <p:cNvSpPr/>
          <p:nvPr/>
        </p:nvSpPr>
        <p:spPr>
          <a:xfrm>
            <a:off x="411480" y="1911095"/>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02536"/>
            <a:ext cx="2374996"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Used by</a:t>
            </a:r>
          </a:p>
        </p:txBody>
      </p:sp>
      <p:sp>
        <p:nvSpPr>
          <p:cNvPr id="9" name="TextBox 8"/>
          <p:cNvSpPr txBox="1"/>
          <p:nvPr/>
        </p:nvSpPr>
        <p:spPr>
          <a:xfrm>
            <a:off x="2923636" y="2002536"/>
            <a:ext cx="8719418"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0" name="Rectangle 9"/>
          <p:cNvSpPr/>
          <p:nvPr/>
        </p:nvSpPr>
        <p:spPr>
          <a:xfrm>
            <a:off x="411480" y="2633472"/>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24912"/>
            <a:ext cx="2374996"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Managed by</a:t>
            </a:r>
          </a:p>
        </p:txBody>
      </p:sp>
      <p:sp>
        <p:nvSpPr>
          <p:cNvPr id="12" name="TextBox 11"/>
          <p:cNvSpPr txBox="1"/>
          <p:nvPr/>
        </p:nvSpPr>
        <p:spPr>
          <a:xfrm>
            <a:off x="2923636" y="2724912"/>
            <a:ext cx="8719418"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3" name="Rectangle 12"/>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Own it.</a:t>
            </a:r>
          </a:p>
        </p:txBody>
      </p:sp>
      <p:sp>
        <p:nvSpPr>
          <p:cNvPr id="14"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15"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7 · 5 of 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Hybrid cloud</a:t>
            </a:r>
          </a:p>
        </p:txBody>
      </p:sp>
      <p:sp>
        <p:nvSpPr>
          <p:cNvPr id="4" name="Rectangle 3"/>
          <p:cNvSpPr/>
          <p:nvPr/>
        </p:nvSpPr>
        <p:spPr>
          <a:xfrm>
            <a:off x="411480" y="1188720"/>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2078948"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Is</a:t>
            </a:r>
          </a:p>
        </p:txBody>
      </p:sp>
      <p:sp>
        <p:nvSpPr>
          <p:cNvPr id="6" name="TextBox 5"/>
          <p:cNvSpPr txBox="1"/>
          <p:nvPr/>
        </p:nvSpPr>
        <p:spPr>
          <a:xfrm>
            <a:off x="2627588" y="1280160"/>
            <a:ext cx="9015466"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7" name="Rectangle 6"/>
          <p:cNvSpPr/>
          <p:nvPr/>
        </p:nvSpPr>
        <p:spPr>
          <a:xfrm>
            <a:off x="411480" y="1911095"/>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02536"/>
            <a:ext cx="2078948"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Public for</a:t>
            </a:r>
          </a:p>
        </p:txBody>
      </p:sp>
      <p:sp>
        <p:nvSpPr>
          <p:cNvPr id="9" name="TextBox 8"/>
          <p:cNvSpPr txBox="1"/>
          <p:nvPr/>
        </p:nvSpPr>
        <p:spPr>
          <a:xfrm>
            <a:off x="2627588" y="2002536"/>
            <a:ext cx="9015466"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0" name="Rectangle 9"/>
          <p:cNvSpPr/>
          <p:nvPr/>
        </p:nvSpPr>
        <p:spPr>
          <a:xfrm>
            <a:off x="411480" y="2633472"/>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24912"/>
            <a:ext cx="2078948"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Private for</a:t>
            </a:r>
          </a:p>
        </p:txBody>
      </p:sp>
      <p:sp>
        <p:nvSpPr>
          <p:cNvPr id="12" name="TextBox 11"/>
          <p:cNvSpPr txBox="1"/>
          <p:nvPr/>
        </p:nvSpPr>
        <p:spPr>
          <a:xfrm>
            <a:off x="2627588" y="2724912"/>
            <a:ext cx="9015466"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3" name="Rectangle 12"/>
          <p:cNvSpPr/>
          <p:nvPr/>
        </p:nvSpPr>
        <p:spPr>
          <a:xfrm>
            <a:off x="411480" y="3355848"/>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47288"/>
            <a:ext cx="2078948"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Gain</a:t>
            </a:r>
          </a:p>
        </p:txBody>
      </p:sp>
      <p:sp>
        <p:nvSpPr>
          <p:cNvPr id="15" name="TextBox 14"/>
          <p:cNvSpPr txBox="1"/>
          <p:nvPr/>
        </p:nvSpPr>
        <p:spPr>
          <a:xfrm>
            <a:off x="2627588" y="3447288"/>
            <a:ext cx="9015466"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6" name="Rectangle 15"/>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Mix both.</a:t>
            </a:r>
          </a:p>
        </p:txBody>
      </p:sp>
      <p:sp>
        <p:nvSpPr>
          <p:cNvPr id="17"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18"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7 · 6 of 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4202E"/>
        </a:solidFill>
        <a:effectLst/>
      </p:bgPr>
    </p:bg>
    <p:spTree>
      <p:nvGrpSpPr>
        <p:cNvPr id="1" name=""/>
        <p:cNvGrpSpPr/>
        <p:nvPr/>
      </p:nvGrpSpPr>
      <p:grpSpPr/>
      <p:sp>
        <p:nvSpPr>
          <p:cNvPr id="2" name="TextBox 1"/>
          <p:cNvSpPr txBox="1"/>
          <p:nvPr/>
        </p:nvSpPr>
        <p:spPr>
          <a:xfrm>
            <a:off x="411480" y="914400"/>
            <a:ext cx="3291840" cy="2743200"/>
          </a:xfrm>
          <a:prstGeom prst="rect">
            <a:avLst/>
          </a:prstGeom>
          <a:noFill/>
        </p:spPr>
        <p:txBody>
          <a:bodyPr wrap="square" anchor="t" lIns="0" rIns="0" tIns="0" bIns="0">
            <a:spAutoFit/>
          </a:bodyPr>
          <a:lstStyle/>
          <a:p>
            <a:pPr algn="l">
              <a:lnSpc>
                <a:spcPct val="100000"/>
              </a:lnSpc>
            </a:pPr>
            <a:r>
              <a:rPr sz="18000" b="1">
                <a:solidFill>
                  <a:srgbClr val="F2B27A"/>
                </a:solidFill>
                <a:latin typeface="Arial"/>
              </a:rPr>
              <a:t>8</a:t>
            </a:r>
          </a:p>
        </p:txBody>
      </p:sp>
      <p:sp>
        <p:nvSpPr>
          <p:cNvPr id="3" name="TextBox 2"/>
          <p:cNvSpPr txBox="1"/>
          <p:nvPr/>
        </p:nvSpPr>
        <p:spPr>
          <a:xfrm>
            <a:off x="3840480" y="548640"/>
            <a:ext cx="7863840" cy="2103120"/>
          </a:xfrm>
          <a:prstGeom prst="rect">
            <a:avLst/>
          </a:prstGeom>
          <a:noFill/>
        </p:spPr>
        <p:txBody>
          <a:bodyPr wrap="square" anchor="b" lIns="0" rIns="0" tIns="0" bIns="0">
            <a:spAutoFit/>
          </a:bodyPr>
          <a:lstStyle/>
          <a:p>
            <a:pPr algn="l">
              <a:lnSpc>
                <a:spcPct val="100000"/>
              </a:lnSpc>
            </a:pPr>
            <a:r>
              <a:rPr sz="4400" b="1">
                <a:solidFill>
                  <a:srgbClr val="FFFFFF"/>
                </a:solidFill>
                <a:latin typeface="Arial"/>
              </a:rPr>
              <a:t>Cloud Service Types &amp; Benefits</a:t>
            </a:r>
          </a:p>
        </p:txBody>
      </p:sp>
      <p:sp>
        <p:nvSpPr>
          <p:cNvPr id="4" name="TextBox 3"/>
          <p:cNvSpPr txBox="1"/>
          <p:nvPr/>
        </p:nvSpPr>
        <p:spPr>
          <a:xfrm>
            <a:off x="3840480" y="2743200"/>
            <a:ext cx="7863840" cy="914400"/>
          </a:xfrm>
          <a:prstGeom prst="rect">
            <a:avLst/>
          </a:prstGeom>
          <a:noFill/>
        </p:spPr>
        <p:txBody>
          <a:bodyPr wrap="square" anchor="t" lIns="0" rIns="0" tIns="0" bIns="0">
            <a:spAutoFit/>
          </a:bodyPr>
          <a:lstStyle/>
          <a:p>
            <a:pPr algn="l">
              <a:lnSpc>
                <a:spcPct val="100000"/>
              </a:lnSpc>
            </a:pPr>
            <a:r>
              <a:rPr sz="2800" b="0">
                <a:solidFill>
                  <a:srgbClr val="9FE0C9"/>
                </a:solidFill>
                <a:latin typeface="Arial"/>
              </a:rPr>
              <a:t>SaaS · PaaS · IaaS · 10 benefits</a:t>
            </a:r>
          </a:p>
        </p:txBody>
      </p:sp>
      <p:sp>
        <p:nvSpPr>
          <p:cNvPr id="5" name="TextBox 4"/>
          <p:cNvSpPr txBox="1"/>
          <p:nvPr/>
        </p:nvSpPr>
        <p:spPr>
          <a:xfrm>
            <a:off x="3840480" y="3794760"/>
            <a:ext cx="7863840" cy="1005840"/>
          </a:xfrm>
          <a:prstGeom prst="rect">
            <a:avLst/>
          </a:prstGeom>
          <a:noFill/>
        </p:spPr>
        <p:txBody>
          <a:bodyPr wrap="square" anchor="t" lIns="0" rIns="0" tIns="0" bIns="0">
            <a:spAutoFit/>
          </a:bodyPr>
          <a:lstStyle/>
          <a:p>
            <a:pPr algn="l">
              <a:lnSpc>
                <a:spcPct val="100000"/>
              </a:lnSpc>
            </a:pPr>
            <a:r>
              <a:rPr sz="3200" b="0">
                <a:solidFill>
                  <a:srgbClr val="F2B27A"/>
                </a:solidFill>
                <a:latin typeface="Arial"/>
              </a:rPr>
              <a:t>“Use it, build on it, or rent the machine.”</a:t>
            </a:r>
          </a:p>
        </p:txBody>
      </p:sp>
      <p:sp>
        <p:nvSpPr>
          <p:cNvPr id="6" name="EXEMPT_PROGRESS"/>
          <p:cNvSpPr txBox="1"/>
          <p:nvPr/>
        </p:nvSpPr>
        <p:spPr>
          <a:xfrm>
            <a:off x="3840480" y="5074920"/>
            <a:ext cx="7863840" cy="457200"/>
          </a:xfrm>
          <a:prstGeom prst="rect">
            <a:avLst/>
          </a:prstGeom>
          <a:noFill/>
        </p:spPr>
        <p:txBody>
          <a:bodyPr wrap="square" anchor="t" lIns="0" rIns="0" tIns="0" bIns="0">
            <a:spAutoFit/>
          </a:bodyPr>
          <a:lstStyle/>
          <a:p>
            <a:pPr algn="l">
              <a:lnSpc>
                <a:spcPct val="100000"/>
              </a:lnSpc>
            </a:pPr>
            <a:r>
              <a:rPr sz="2200" b="0">
                <a:solidFill>
                  <a:srgbClr val="8FA3B8"/>
                </a:solidFill>
                <a:latin typeface="Arial"/>
              </a:rPr>
              <a:t>7 slides · about 1 min 52 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Three types of cloud services</a:t>
            </a:r>
          </a:p>
        </p:txBody>
      </p:sp>
      <p:graphicFrame>
        <p:nvGraphicFramePr>
          <p:cNvPr id="4" name="Table 3"/>
          <p:cNvGraphicFramePr>
            <a:graphicFrameLocks noGrp="1"/>
          </p:cNvGraphicFramePr>
          <p:nvPr/>
        </p:nvGraphicFramePr>
        <p:xfrm>
          <a:off x="411480" y="1234439"/>
          <a:ext cx="11368735" cy="3657600"/>
        </p:xfrm>
        <a:graphic>
          <a:graphicData uri="http://schemas.openxmlformats.org/drawingml/2006/table">
            <a:tbl>
              <a:tblPr firstRow="1" bandRow="1">
                <a:tableStyleId>{5C22544A-7EE6-4342-B048-85BDC9FD1C3A}</a:tableStyleId>
              </a:tblPr>
              <a:tblGrid>
                <a:gridCol w="3291840"/>
                <a:gridCol w="8076895"/>
              </a:tblGrid>
              <a:tr h="914400">
                <a:tc>
                  <a:txBody>
                    <a:bodyPr wrap="square" anchor="ctr" lIns="109728" rIns="109728" tIns="109728" bIns="109728"/>
                    <a:lstStyle/>
                    <a:p>
                      <a:pPr algn="l">
                        <a:lnSpc>
                          <a:spcPct val="100000"/>
                        </a:lnSpc>
                      </a:pPr>
                      <a:r>
                        <a:rPr sz="2800" b="1">
                          <a:solidFill>
                            <a:srgbClr val="FFFFFF"/>
                          </a:solidFill>
                          <a:latin typeface="Arial"/>
                        </a:rPr>
                        <a:t>Type</a:t>
                      </a:r>
                    </a:p>
                  </a:txBody>
                  <a:tcPr>
                    <a:solidFill>
                      <a:srgbClr val="14202E"/>
                    </a:solidFill>
                  </a:tcPr>
                </a:tc>
                <a:tc>
                  <a:txBody>
                    <a:bodyPr wrap="square" anchor="ctr" lIns="109728" rIns="109728" tIns="109728" bIns="109728"/>
                    <a:lstStyle/>
                    <a:p>
                      <a:pPr algn="l">
                        <a:lnSpc>
                          <a:spcPct val="100000"/>
                        </a:lnSpc>
                      </a:pPr>
                      <a:r>
                        <a:rPr sz="2800" b="1">
                          <a:solidFill>
                            <a:srgbClr val="FFFFFF"/>
                          </a:solidFill>
                          <a:latin typeface="Arial"/>
                        </a:rPr>
                        <a:t>In one line</a:t>
                      </a:r>
                    </a:p>
                  </a:txBody>
                  <a:tcPr>
                    <a:solidFill>
                      <a:srgbClr val="14202E"/>
                    </a:solidFill>
                  </a:tcPr>
                </a:tc>
              </a:tr>
              <a:tr h="914400">
                <a:tc>
                  <a:txBody>
                    <a:bodyPr wrap="square" anchor="ctr" lIns="109728" rIns="109728" tIns="109728" bIns="109728"/>
                    <a:lstStyle/>
                    <a:p>
                      <a:pPr algn="l">
                        <a:lnSpc>
                          <a:spcPct val="100000"/>
                        </a:lnSpc>
                      </a:pPr>
                      <a:r>
                        <a:rPr sz="3000" b="1">
                          <a:solidFill>
                            <a:srgbClr val="14202E"/>
                          </a:solidFill>
                          <a:latin typeface="Arial"/>
                        </a:rPr>
                        <a:t>SaaS</a:t>
                      </a:r>
                    </a:p>
                  </a:txBody>
                  <a:tcPr>
                    <a:solidFill>
                      <a:srgbClr val="FFFFFF"/>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____________________________________</a:t>
                      </a:r>
                    </a:p>
                  </a:txBody>
                  <a:tcPr>
                    <a:solidFill>
                      <a:srgbClr val="FFF4E5"/>
                    </a:solidFill>
                  </a:tcPr>
                </a:tc>
              </a:tr>
              <a:tr h="914400">
                <a:tc>
                  <a:txBody>
                    <a:bodyPr wrap="square" anchor="ctr" lIns="109728" rIns="109728" tIns="109728" bIns="109728"/>
                    <a:lstStyle/>
                    <a:p>
                      <a:pPr algn="l">
                        <a:lnSpc>
                          <a:spcPct val="100000"/>
                        </a:lnSpc>
                      </a:pPr>
                      <a:r>
                        <a:rPr sz="3000" b="1">
                          <a:solidFill>
                            <a:srgbClr val="14202E"/>
                          </a:solidFill>
                          <a:latin typeface="Arial"/>
                        </a:rPr>
                        <a:t>PaaS</a:t>
                      </a:r>
                    </a:p>
                  </a:txBody>
                  <a:tcPr>
                    <a:solidFill>
                      <a:srgbClr val="EEF1F4"/>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____________________________________</a:t>
                      </a:r>
                    </a:p>
                  </a:txBody>
                  <a:tcPr>
                    <a:solidFill>
                      <a:srgbClr val="FFF4E5"/>
                    </a:solidFill>
                  </a:tcPr>
                </a:tc>
              </a:tr>
              <a:tr h="914400">
                <a:tc>
                  <a:txBody>
                    <a:bodyPr wrap="square" anchor="ctr" lIns="109728" rIns="109728" tIns="109728" bIns="109728"/>
                    <a:lstStyle/>
                    <a:p>
                      <a:pPr algn="l">
                        <a:lnSpc>
                          <a:spcPct val="100000"/>
                        </a:lnSpc>
                      </a:pPr>
                      <a:r>
                        <a:rPr sz="3000" b="1">
                          <a:solidFill>
                            <a:srgbClr val="14202E"/>
                          </a:solidFill>
                          <a:latin typeface="Arial"/>
                        </a:rPr>
                        <a:t>IaaS</a:t>
                      </a:r>
                    </a:p>
                  </a:txBody>
                  <a:tcPr>
                    <a:solidFill>
                      <a:srgbClr val="FFFFFF"/>
                    </a:solidFill>
                  </a:tcPr>
                </a:tc>
                <a:tc>
                  <a:txBody>
                    <a:bodyPr wrap="square" anchor="ctr" lIns="109728" rIns="109728" tIns="109728" bIns="109728"/>
                    <a:lstStyle/>
                    <a:p>
                      <a:pPr algn="l">
                        <a:lnSpc>
                          <a:spcPct val="100000"/>
                        </a:lnSpc>
                      </a:pPr>
                      <a:r>
                        <a:rPr sz="3000" b="0">
                          <a:solidFill>
                            <a:srgbClr val="14202E"/>
                          </a:solidFill>
                          <a:latin typeface="Arial"/>
                        </a:rPr>
                        <a:t>____________________________________</a:t>
                      </a:r>
                    </a:p>
                  </a:txBody>
                  <a:tcPr>
                    <a:solidFill>
                      <a:srgbClr val="FFF4E5"/>
                    </a:solidFill>
                  </a:tcPr>
                </a:tc>
              </a:tr>
            </a:tbl>
          </a:graphicData>
        </a:graphic>
      </p:graphicFrame>
      <p:sp>
        <p:nvSpPr>
          <p:cNvPr id="5" name="Rectangle 4"/>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Use it, build on it, or rent the machine.</a:t>
            </a:r>
          </a:p>
        </p:txBody>
      </p:sp>
      <p:sp>
        <p:nvSpPr>
          <p:cNvPr id="6"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7"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8 · 2 of 7</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SaaS: Software as a Service</a:t>
            </a:r>
          </a:p>
        </p:txBody>
      </p:sp>
      <p:sp>
        <p:nvSpPr>
          <p:cNvPr id="4" name="Rectangle 3"/>
          <p:cNvSpPr/>
          <p:nvPr/>
        </p:nvSpPr>
        <p:spPr>
          <a:xfrm>
            <a:off x="411480" y="1188720"/>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Provider offers</a:t>
            </a:r>
          </a:p>
        </p:txBody>
      </p:sp>
      <p:sp>
        <p:nvSpPr>
          <p:cNvPr id="6" name="TextBox 5"/>
          <p:cNvSpPr txBox="1"/>
          <p:nvPr/>
        </p:nvSpPr>
        <p:spPr>
          <a:xfrm>
            <a:off x="3398173" y="1280160"/>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7" name="Rectangle 6"/>
          <p:cNvSpPr/>
          <p:nvPr/>
        </p:nvSpPr>
        <p:spPr>
          <a:xfrm>
            <a:off x="411480" y="1911095"/>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02536"/>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You can</a:t>
            </a:r>
          </a:p>
        </p:txBody>
      </p:sp>
      <p:sp>
        <p:nvSpPr>
          <p:cNvPr id="9" name="TextBox 8"/>
          <p:cNvSpPr txBox="1"/>
          <p:nvPr/>
        </p:nvSpPr>
        <p:spPr>
          <a:xfrm>
            <a:off x="3398173" y="2002536"/>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0" name="Rectangle 9"/>
          <p:cNvSpPr/>
          <p:nvPr/>
        </p:nvSpPr>
        <p:spPr>
          <a:xfrm>
            <a:off x="411480" y="2633472"/>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24912"/>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Examples</a:t>
            </a:r>
          </a:p>
        </p:txBody>
      </p:sp>
      <p:sp>
        <p:nvSpPr>
          <p:cNvPr id="12" name="TextBox 11"/>
          <p:cNvSpPr txBox="1"/>
          <p:nvPr/>
        </p:nvSpPr>
        <p:spPr>
          <a:xfrm>
            <a:off x="3398173" y="2724912"/>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3" name="Rectangle 12"/>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Use it.</a:t>
            </a:r>
          </a:p>
        </p:txBody>
      </p:sp>
      <p:sp>
        <p:nvSpPr>
          <p:cNvPr id="14"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15"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8 · 3 of 7</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PaaS: Platform as a Service</a:t>
            </a:r>
          </a:p>
        </p:txBody>
      </p:sp>
      <p:sp>
        <p:nvSpPr>
          <p:cNvPr id="4" name="Rectangle 3"/>
          <p:cNvSpPr/>
          <p:nvPr/>
        </p:nvSpPr>
        <p:spPr>
          <a:xfrm>
            <a:off x="411480" y="1188720"/>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Provider offers</a:t>
            </a:r>
          </a:p>
        </p:txBody>
      </p:sp>
      <p:sp>
        <p:nvSpPr>
          <p:cNvPr id="6" name="TextBox 5"/>
          <p:cNvSpPr txBox="1"/>
          <p:nvPr/>
        </p:nvSpPr>
        <p:spPr>
          <a:xfrm>
            <a:off x="3398173" y="1280160"/>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7" name="Rectangle 6"/>
          <p:cNvSpPr/>
          <p:nvPr/>
        </p:nvSpPr>
        <p:spPr>
          <a:xfrm>
            <a:off x="411480" y="1911095"/>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02536"/>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You do not</a:t>
            </a:r>
          </a:p>
        </p:txBody>
      </p:sp>
      <p:sp>
        <p:nvSpPr>
          <p:cNvPr id="9" name="TextBox 8"/>
          <p:cNvSpPr txBox="1"/>
          <p:nvPr/>
        </p:nvSpPr>
        <p:spPr>
          <a:xfrm>
            <a:off x="3398173" y="2002536"/>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0" name="Rectangle 9"/>
          <p:cNvSpPr/>
          <p:nvPr/>
        </p:nvSpPr>
        <p:spPr>
          <a:xfrm>
            <a:off x="411480" y="2633472"/>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24912"/>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Example</a:t>
            </a:r>
          </a:p>
        </p:txBody>
      </p:sp>
      <p:sp>
        <p:nvSpPr>
          <p:cNvPr id="12" name="TextBox 11"/>
          <p:cNvSpPr txBox="1"/>
          <p:nvPr/>
        </p:nvSpPr>
        <p:spPr>
          <a:xfrm>
            <a:off x="3398173" y="2724912"/>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3" name="Rectangle 12"/>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Build on it.</a:t>
            </a:r>
          </a:p>
        </p:txBody>
      </p:sp>
      <p:sp>
        <p:nvSpPr>
          <p:cNvPr id="14"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15"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8 · 4 of 7</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IaaS: Infrastructure as a Service</a:t>
            </a:r>
          </a:p>
        </p:txBody>
      </p:sp>
      <p:sp>
        <p:nvSpPr>
          <p:cNvPr id="4" name="Rectangle 3"/>
          <p:cNvSpPr/>
          <p:nvPr/>
        </p:nvSpPr>
        <p:spPr>
          <a:xfrm>
            <a:off x="411480" y="1188720"/>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Provider offers</a:t>
            </a:r>
          </a:p>
        </p:txBody>
      </p:sp>
      <p:sp>
        <p:nvSpPr>
          <p:cNvPr id="6" name="TextBox 5"/>
          <p:cNvSpPr txBox="1"/>
          <p:nvPr/>
        </p:nvSpPr>
        <p:spPr>
          <a:xfrm>
            <a:off x="3398173" y="1280160"/>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7" name="Rectangle 6"/>
          <p:cNvSpPr/>
          <p:nvPr/>
        </p:nvSpPr>
        <p:spPr>
          <a:xfrm>
            <a:off x="411480" y="1911095"/>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02536"/>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You can</a:t>
            </a:r>
          </a:p>
        </p:txBody>
      </p:sp>
      <p:sp>
        <p:nvSpPr>
          <p:cNvPr id="9" name="TextBox 8"/>
          <p:cNvSpPr txBox="1"/>
          <p:nvPr/>
        </p:nvSpPr>
        <p:spPr>
          <a:xfrm>
            <a:off x="3398173" y="2002536"/>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0" name="Rectangle 9"/>
          <p:cNvSpPr/>
          <p:nvPr/>
        </p:nvSpPr>
        <p:spPr>
          <a:xfrm>
            <a:off x="411480" y="2633472"/>
            <a:ext cx="11368735" cy="630936"/>
          </a:xfrm>
          <a:prstGeom prst="rect">
            <a:avLst/>
          </a:prstGeom>
          <a:solidFill>
            <a:srgbClr val="FFF4E5"/>
          </a:solidFill>
          <a:ln w="25400">
            <a:solidFill>
              <a:srgbClr val="C9D1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24912"/>
            <a:ext cx="2849533" cy="493775"/>
          </a:xfrm>
          <a:prstGeom prst="rect">
            <a:avLst/>
          </a:prstGeom>
          <a:noFill/>
        </p:spPr>
        <p:txBody>
          <a:bodyPr wrap="square" anchor="t" lIns="0" rIns="0" tIns="0" bIns="0">
            <a:spAutoFit/>
          </a:bodyPr>
          <a:lstStyle/>
          <a:p>
            <a:pPr algn="l">
              <a:lnSpc>
                <a:spcPct val="100000"/>
              </a:lnSpc>
            </a:pPr>
            <a:r>
              <a:rPr sz="2800" b="1">
                <a:solidFill>
                  <a:srgbClr val="C2410C"/>
                </a:solidFill>
                <a:latin typeface="Arial"/>
              </a:rPr>
              <a:t>Example</a:t>
            </a:r>
          </a:p>
        </p:txBody>
      </p:sp>
      <p:sp>
        <p:nvSpPr>
          <p:cNvPr id="12" name="TextBox 11"/>
          <p:cNvSpPr txBox="1"/>
          <p:nvPr/>
        </p:nvSpPr>
        <p:spPr>
          <a:xfrm>
            <a:off x="3398173" y="2724912"/>
            <a:ext cx="8244881" cy="493775"/>
          </a:xfrm>
          <a:prstGeom prst="rect">
            <a:avLst/>
          </a:prstGeom>
          <a:noFill/>
        </p:spPr>
        <p:txBody>
          <a:bodyPr wrap="square" anchor="t" lIns="0" rIns="0" tIns="0" bIns="0">
            <a:spAutoFit/>
          </a:bodyPr>
          <a:lstStyle/>
          <a:p>
            <a:pPr algn="l">
              <a:lnSpc>
                <a:spcPct val="100000"/>
              </a:lnSpc>
            </a:pPr>
            <a:r>
              <a:rPr sz="2800" b="0">
                <a:solidFill>
                  <a:srgbClr val="14202E"/>
                </a:solidFill>
                <a:latin typeface="Arial"/>
              </a:rPr>
              <a:t>___________________________</a:t>
            </a:r>
          </a:p>
        </p:txBody>
      </p:sp>
      <p:sp>
        <p:nvSpPr>
          <p:cNvPr id="13" name="Rectangle 12"/>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Rent the machine.</a:t>
            </a:r>
          </a:p>
        </p:txBody>
      </p:sp>
      <p:sp>
        <p:nvSpPr>
          <p:cNvPr id="14"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a:t>
            </a:r>
          </a:p>
        </p:txBody>
      </p:sp>
      <p:sp>
        <p:nvSpPr>
          <p:cNvPr id="15"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8 · 5 of 7</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Benefits 1 to 5</a:t>
            </a:r>
          </a:p>
        </p:txBody>
      </p:sp>
      <p:sp>
        <p:nvSpPr>
          <p:cNvPr id="4" name="TextBox 3"/>
          <p:cNvSpPr txBox="1"/>
          <p:nvPr/>
        </p:nvSpPr>
        <p:spPr>
          <a:xfrm>
            <a:off x="411480" y="1143000"/>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1</a:t>
            </a:r>
          </a:p>
        </p:txBody>
      </p:sp>
      <p:sp>
        <p:nvSpPr>
          <p:cNvPr id="5" name="TextBox 4"/>
          <p:cNvSpPr txBox="1"/>
          <p:nvPr/>
        </p:nvSpPr>
        <p:spPr>
          <a:xfrm>
            <a:off x="1417320" y="1143000"/>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6" name="TextBox 5"/>
          <p:cNvSpPr txBox="1"/>
          <p:nvPr/>
        </p:nvSpPr>
        <p:spPr>
          <a:xfrm>
            <a:off x="411480" y="2039112"/>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2</a:t>
            </a:r>
          </a:p>
        </p:txBody>
      </p:sp>
      <p:sp>
        <p:nvSpPr>
          <p:cNvPr id="7" name="TextBox 6"/>
          <p:cNvSpPr txBox="1"/>
          <p:nvPr/>
        </p:nvSpPr>
        <p:spPr>
          <a:xfrm>
            <a:off x="1417320" y="2039112"/>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8" name="TextBox 7"/>
          <p:cNvSpPr txBox="1"/>
          <p:nvPr/>
        </p:nvSpPr>
        <p:spPr>
          <a:xfrm>
            <a:off x="411480" y="2935224"/>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3</a:t>
            </a:r>
          </a:p>
        </p:txBody>
      </p:sp>
      <p:sp>
        <p:nvSpPr>
          <p:cNvPr id="9" name="TextBox 8"/>
          <p:cNvSpPr txBox="1"/>
          <p:nvPr/>
        </p:nvSpPr>
        <p:spPr>
          <a:xfrm>
            <a:off x="1417320" y="2935224"/>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10" name="TextBox 9"/>
          <p:cNvSpPr txBox="1"/>
          <p:nvPr/>
        </p:nvSpPr>
        <p:spPr>
          <a:xfrm>
            <a:off x="411480" y="3831335"/>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4</a:t>
            </a:r>
          </a:p>
        </p:txBody>
      </p:sp>
      <p:sp>
        <p:nvSpPr>
          <p:cNvPr id="11" name="TextBox 10"/>
          <p:cNvSpPr txBox="1"/>
          <p:nvPr/>
        </p:nvSpPr>
        <p:spPr>
          <a:xfrm>
            <a:off x="1417320" y="3831335"/>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12" name="TextBox 11"/>
          <p:cNvSpPr txBox="1"/>
          <p:nvPr/>
        </p:nvSpPr>
        <p:spPr>
          <a:xfrm>
            <a:off x="411480" y="4727448"/>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5</a:t>
            </a:r>
          </a:p>
        </p:txBody>
      </p:sp>
      <p:sp>
        <p:nvSpPr>
          <p:cNvPr id="13" name="TextBox 12"/>
          <p:cNvSpPr txBox="1"/>
          <p:nvPr/>
        </p:nvSpPr>
        <p:spPr>
          <a:xfrm>
            <a:off x="1417320" y="4727448"/>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14" name="Rectangle 13"/>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Scale up fast.</a:t>
            </a:r>
          </a:p>
        </p:txBody>
      </p:sp>
      <p:sp>
        <p:nvSpPr>
          <p:cNvPr id="15"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p.1-2</a:t>
            </a:r>
          </a:p>
        </p:txBody>
      </p:sp>
      <p:sp>
        <p:nvSpPr>
          <p:cNvPr id="16"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8 · 6 of 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Benefits 6 to 10</a:t>
            </a:r>
          </a:p>
        </p:txBody>
      </p:sp>
      <p:sp>
        <p:nvSpPr>
          <p:cNvPr id="4" name="TextBox 3"/>
          <p:cNvSpPr txBox="1"/>
          <p:nvPr/>
        </p:nvSpPr>
        <p:spPr>
          <a:xfrm>
            <a:off x="411480" y="1143000"/>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6</a:t>
            </a:r>
          </a:p>
        </p:txBody>
      </p:sp>
      <p:sp>
        <p:nvSpPr>
          <p:cNvPr id="5" name="TextBox 4"/>
          <p:cNvSpPr txBox="1"/>
          <p:nvPr/>
        </p:nvSpPr>
        <p:spPr>
          <a:xfrm>
            <a:off x="1417320" y="1143000"/>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6" name="TextBox 5"/>
          <p:cNvSpPr txBox="1"/>
          <p:nvPr/>
        </p:nvSpPr>
        <p:spPr>
          <a:xfrm>
            <a:off x="411480" y="2039112"/>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7</a:t>
            </a:r>
          </a:p>
        </p:txBody>
      </p:sp>
      <p:sp>
        <p:nvSpPr>
          <p:cNvPr id="7" name="TextBox 6"/>
          <p:cNvSpPr txBox="1"/>
          <p:nvPr/>
        </p:nvSpPr>
        <p:spPr>
          <a:xfrm>
            <a:off x="1417320" y="2039112"/>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8" name="TextBox 7"/>
          <p:cNvSpPr txBox="1"/>
          <p:nvPr/>
        </p:nvSpPr>
        <p:spPr>
          <a:xfrm>
            <a:off x="411480" y="2935224"/>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8</a:t>
            </a:r>
          </a:p>
        </p:txBody>
      </p:sp>
      <p:sp>
        <p:nvSpPr>
          <p:cNvPr id="9" name="TextBox 8"/>
          <p:cNvSpPr txBox="1"/>
          <p:nvPr/>
        </p:nvSpPr>
        <p:spPr>
          <a:xfrm>
            <a:off x="1417320" y="2935224"/>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10" name="TextBox 9"/>
          <p:cNvSpPr txBox="1"/>
          <p:nvPr/>
        </p:nvSpPr>
        <p:spPr>
          <a:xfrm>
            <a:off x="411480" y="3831335"/>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9</a:t>
            </a:r>
          </a:p>
        </p:txBody>
      </p:sp>
      <p:sp>
        <p:nvSpPr>
          <p:cNvPr id="11" name="TextBox 10"/>
          <p:cNvSpPr txBox="1"/>
          <p:nvPr/>
        </p:nvSpPr>
        <p:spPr>
          <a:xfrm>
            <a:off x="1417320" y="3831335"/>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12" name="TextBox 11"/>
          <p:cNvSpPr txBox="1"/>
          <p:nvPr/>
        </p:nvSpPr>
        <p:spPr>
          <a:xfrm>
            <a:off x="411480" y="4727448"/>
            <a:ext cx="914400" cy="822960"/>
          </a:xfrm>
          <a:prstGeom prst="rect">
            <a:avLst/>
          </a:prstGeom>
          <a:noFill/>
        </p:spPr>
        <p:txBody>
          <a:bodyPr wrap="square" anchor="t" lIns="0" rIns="0" tIns="0" bIns="0">
            <a:spAutoFit/>
          </a:bodyPr>
          <a:lstStyle/>
          <a:p>
            <a:pPr algn="l">
              <a:lnSpc>
                <a:spcPct val="100000"/>
              </a:lnSpc>
            </a:pPr>
            <a:r>
              <a:rPr sz="4000" b="1">
                <a:solidFill>
                  <a:srgbClr val="C2410C"/>
                </a:solidFill>
                <a:latin typeface="Arial"/>
              </a:rPr>
              <a:t>10</a:t>
            </a:r>
          </a:p>
        </p:txBody>
      </p:sp>
      <p:sp>
        <p:nvSpPr>
          <p:cNvPr id="13" name="TextBox 12"/>
          <p:cNvSpPr txBox="1"/>
          <p:nvPr/>
        </p:nvSpPr>
        <p:spPr>
          <a:xfrm>
            <a:off x="1417320" y="4727448"/>
            <a:ext cx="10362895" cy="868680"/>
          </a:xfrm>
          <a:prstGeom prst="rect">
            <a:avLst/>
          </a:prstGeom>
          <a:noFill/>
        </p:spPr>
        <p:txBody>
          <a:bodyPr wrap="square" anchor="t" lIns="0" rIns="0" tIns="0" bIns="0">
            <a:spAutoFit/>
          </a:bodyPr>
          <a:lstStyle/>
          <a:p>
            <a:pPr algn="l">
              <a:lnSpc>
                <a:spcPct val="100000"/>
              </a:lnSpc>
            </a:pPr>
            <a:r>
              <a:rPr sz="3200" b="1">
                <a:solidFill>
                  <a:srgbClr val="14202E"/>
                </a:solidFill>
                <a:latin typeface="Arial"/>
              </a:rPr>
              <a:t>________________</a:t>
            </a:r>
          </a:p>
          <a:p>
            <a:pPr algn="l">
              <a:lnSpc>
                <a:spcPct val="100000"/>
              </a:lnSpc>
            </a:pPr>
            <a:r>
              <a:rPr sz="2800" b="0">
                <a:solidFill>
                  <a:srgbClr val="4A5868"/>
                </a:solidFill>
                <a:latin typeface="Arial"/>
              </a:rPr>
              <a:t>one line from the 09 Handout</a:t>
            </a:r>
          </a:p>
        </p:txBody>
      </p:sp>
      <p:sp>
        <p:nvSpPr>
          <p:cNvPr id="14" name="Rectangle 13"/>
          <p:cNvSpPr/>
          <p:nvPr/>
        </p:nvSpPr>
        <p:spPr>
          <a:xfrm>
            <a:off x="411480" y="5696712"/>
            <a:ext cx="11368735" cy="566928"/>
          </a:xfrm>
          <a:prstGeom prst="rect">
            <a:avLst/>
          </a:prstGeom>
          <a:solidFill>
            <a:srgbClr val="0B6E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lnSpc>
                <a:spcPct val="100000"/>
              </a:lnSpc>
            </a:pPr>
            <a:r>
              <a:rPr sz="2800" b="1">
                <a:solidFill>
                  <a:srgbClr val="FFFFFF"/>
                </a:solidFill>
                <a:latin typeface="Arial"/>
              </a:rPr>
              <a:t>Pay for what you use.</a:t>
            </a:r>
          </a:p>
        </p:txBody>
      </p:sp>
      <p:sp>
        <p:nvSpPr>
          <p:cNvPr id="15" name="EXEMPT_FOOTER"/>
          <p:cNvSpPr txBox="1"/>
          <p:nvPr/>
        </p:nvSpPr>
        <p:spPr>
          <a:xfrm>
            <a:off x="411480" y="6382512"/>
            <a:ext cx="5120640" cy="365760"/>
          </a:xfrm>
          <a:prstGeom prst="rect">
            <a:avLst/>
          </a:prstGeom>
          <a:noFill/>
        </p:spPr>
        <p:txBody>
          <a:bodyPr wrap="square" anchor="t" lIns="0" rIns="0" tIns="0" bIns="0">
            <a:spAutoFit/>
          </a:bodyPr>
          <a:lstStyle/>
          <a:p>
            <a:pPr algn="l">
              <a:lnSpc>
                <a:spcPct val="100000"/>
              </a:lnSpc>
            </a:pPr>
            <a:r>
              <a:rPr sz="1400" b="0">
                <a:solidFill>
                  <a:srgbClr val="4A5868"/>
                </a:solidFill>
                <a:latin typeface="Arial"/>
              </a:rPr>
              <a:t>Source: 09 Handout p.2</a:t>
            </a:r>
          </a:p>
        </p:txBody>
      </p:sp>
      <p:sp>
        <p:nvSpPr>
          <p:cNvPr id="16" name="EXEMPT_PROGRESS"/>
          <p:cNvSpPr txBox="1"/>
          <p:nvPr/>
        </p:nvSpPr>
        <p:spPr>
          <a:xfrm>
            <a:off x="8503920" y="6327648"/>
            <a:ext cx="3276295" cy="411480"/>
          </a:xfrm>
          <a:prstGeom prst="rect">
            <a:avLst/>
          </a:prstGeom>
          <a:noFill/>
        </p:spPr>
        <p:txBody>
          <a:bodyPr wrap="square" anchor="t" lIns="0" rIns="0" tIns="0" bIns="0">
            <a:spAutoFit/>
          </a:bodyPr>
          <a:lstStyle/>
          <a:p>
            <a:pPr algn="r">
              <a:lnSpc>
                <a:spcPct val="100000"/>
              </a:lnSpc>
            </a:pPr>
            <a:r>
              <a:rPr sz="2200" b="1">
                <a:solidFill>
                  <a:srgbClr val="4A5868"/>
                </a:solidFill>
                <a:latin typeface="Arial"/>
              </a:rPr>
              <a:t>Part 8 · 7 of 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74320"/>
            <a:ext cx="11368735" cy="731520"/>
          </a:xfrm>
          <a:prstGeom prst="rect">
            <a:avLst/>
          </a:prstGeom>
          <a:noFill/>
        </p:spPr>
        <p:txBody>
          <a:bodyPr wrap="square" anchor="t" lIns="0" rIns="0" tIns="0" bIns="0">
            <a:spAutoFit/>
          </a:bodyPr>
          <a:lstStyle/>
          <a:p>
            <a:pPr algn="l">
              <a:lnSpc>
                <a:spcPct val="100000"/>
              </a:lnSpc>
            </a:pPr>
            <a:r>
              <a:rPr sz="3600" b="1">
                <a:solidFill>
                  <a:srgbClr val="14202E"/>
                </a:solidFill>
                <a:latin typeface="Arial"/>
              </a:rPr>
              <a:t>All commands on one slide</a:t>
            </a:r>
          </a:p>
        </p:txBody>
      </p:sp>
      <p:sp>
        <p:nvSpPr>
          <p:cNvPr id="4" name="Rectangle 3"/>
          <p:cNvSpPr/>
          <p:nvPr/>
        </p:nvSpPr>
        <p:spPr>
          <a:xfrm>
            <a:off x="411480" y="1097280"/>
            <a:ext cx="1136873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97280"/>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Create</a:t>
            </a:r>
          </a:p>
        </p:txBody>
      </p:sp>
      <p:sp>
        <p:nvSpPr>
          <p:cNvPr id="6" name="TextBox 5"/>
          <p:cNvSpPr txBox="1"/>
          <p:nvPr/>
        </p:nvSpPr>
        <p:spPr>
          <a:xfrm>
            <a:off x="3063240" y="1097280"/>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Courier New"/>
              </a:rPr>
              <a:t>insertOne  insertMany</a:t>
            </a:r>
          </a:p>
        </p:txBody>
      </p:sp>
      <p:sp>
        <p:nvSpPr>
          <p:cNvPr id="7" name="Rectangle 6"/>
          <p:cNvSpPr/>
          <p:nvPr/>
        </p:nvSpPr>
        <p:spPr>
          <a:xfrm>
            <a:off x="411480" y="1609344"/>
            <a:ext cx="11368735" cy="47548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9344"/>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Delete</a:t>
            </a:r>
          </a:p>
        </p:txBody>
      </p:sp>
      <p:sp>
        <p:nvSpPr>
          <p:cNvPr id="9" name="TextBox 8"/>
          <p:cNvSpPr txBox="1"/>
          <p:nvPr/>
        </p:nvSpPr>
        <p:spPr>
          <a:xfrm>
            <a:off x="3063240" y="1609344"/>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Courier New"/>
              </a:rPr>
              <a:t>deleteOne  deleteMany</a:t>
            </a:r>
          </a:p>
        </p:txBody>
      </p:sp>
      <p:sp>
        <p:nvSpPr>
          <p:cNvPr id="10" name="Rectangle 9"/>
          <p:cNvSpPr/>
          <p:nvPr/>
        </p:nvSpPr>
        <p:spPr>
          <a:xfrm>
            <a:off x="411480" y="2121408"/>
            <a:ext cx="1136873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121408"/>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Read</a:t>
            </a:r>
          </a:p>
        </p:txBody>
      </p:sp>
      <p:sp>
        <p:nvSpPr>
          <p:cNvPr id="12" name="TextBox 11"/>
          <p:cNvSpPr txBox="1"/>
          <p:nvPr/>
        </p:nvSpPr>
        <p:spPr>
          <a:xfrm>
            <a:off x="3063240" y="2121408"/>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Courier New"/>
              </a:rPr>
              <a:t>find  findOne</a:t>
            </a:r>
          </a:p>
        </p:txBody>
      </p:sp>
      <p:sp>
        <p:nvSpPr>
          <p:cNvPr id="13" name="Rectangle 12"/>
          <p:cNvSpPr/>
          <p:nvPr/>
        </p:nvSpPr>
        <p:spPr>
          <a:xfrm>
            <a:off x="411480" y="2633472"/>
            <a:ext cx="11368735" cy="47548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33472"/>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Change</a:t>
            </a:r>
          </a:p>
        </p:txBody>
      </p:sp>
      <p:sp>
        <p:nvSpPr>
          <p:cNvPr id="15" name="TextBox 14"/>
          <p:cNvSpPr txBox="1"/>
          <p:nvPr/>
        </p:nvSpPr>
        <p:spPr>
          <a:xfrm>
            <a:off x="3063240" y="2633472"/>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Courier New"/>
              </a:rPr>
              <a:t>replaceOne  updateOne  updateMany</a:t>
            </a:r>
          </a:p>
        </p:txBody>
      </p:sp>
      <p:sp>
        <p:nvSpPr>
          <p:cNvPr id="16" name="Rectangle 15"/>
          <p:cNvSpPr/>
          <p:nvPr/>
        </p:nvSpPr>
        <p:spPr>
          <a:xfrm>
            <a:off x="411480" y="3145536"/>
            <a:ext cx="1136873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145536"/>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Fields</a:t>
            </a:r>
          </a:p>
        </p:txBody>
      </p:sp>
      <p:sp>
        <p:nvSpPr>
          <p:cNvPr id="18" name="TextBox 17"/>
          <p:cNvSpPr txBox="1"/>
          <p:nvPr/>
        </p:nvSpPr>
        <p:spPr>
          <a:xfrm>
            <a:off x="3063240" y="3145536"/>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Courier New"/>
              </a:rPr>
              <a:t>$set  $unset</a:t>
            </a:r>
          </a:p>
        </p:txBody>
      </p:sp>
      <p:sp>
        <p:nvSpPr>
          <p:cNvPr id="19" name="Rectangle 18"/>
          <p:cNvSpPr/>
          <p:nvPr/>
        </p:nvSpPr>
        <p:spPr>
          <a:xfrm>
            <a:off x="411480" y="3657600"/>
            <a:ext cx="11368735" cy="47548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657600"/>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Compare</a:t>
            </a:r>
          </a:p>
        </p:txBody>
      </p:sp>
      <p:sp>
        <p:nvSpPr>
          <p:cNvPr id="21" name="TextBox 20"/>
          <p:cNvSpPr txBox="1"/>
          <p:nvPr/>
        </p:nvSpPr>
        <p:spPr>
          <a:xfrm>
            <a:off x="3063240" y="3657600"/>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Courier New"/>
              </a:rPr>
              <a:t>$lt  $lte  $gt  $gte</a:t>
            </a:r>
          </a:p>
        </p:txBody>
      </p:sp>
      <p:sp>
        <p:nvSpPr>
          <p:cNvPr id="22" name="Rectangle 21"/>
          <p:cNvSpPr/>
          <p:nvPr/>
        </p:nvSpPr>
        <p:spPr>
          <a:xfrm>
            <a:off x="411480" y="4169664"/>
            <a:ext cx="1136873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169664"/>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Choose</a:t>
            </a:r>
          </a:p>
        </p:txBody>
      </p:sp>
      <p:sp>
        <p:nvSpPr>
          <p:cNvPr id="24" name="TextBox 23"/>
          <p:cNvSpPr txBox="1"/>
          <p:nvPr/>
        </p:nvSpPr>
        <p:spPr>
          <a:xfrm>
            <a:off x="3063240" y="4169664"/>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Courier New"/>
              </a:rPr>
              <a:t>$in  $or  $not</a:t>
            </a:r>
          </a:p>
        </p:txBody>
      </p:sp>
      <p:sp>
        <p:nvSpPr>
          <p:cNvPr id="25" name="Rectangle 24"/>
          <p:cNvSpPr/>
          <p:nvPr/>
        </p:nvSpPr>
        <p:spPr>
          <a:xfrm>
            <a:off x="411480" y="4681728"/>
            <a:ext cx="11368735" cy="47548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681728"/>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Arrays</a:t>
            </a:r>
          </a:p>
        </p:txBody>
      </p:sp>
      <p:sp>
        <p:nvSpPr>
          <p:cNvPr id="27" name="TextBox 26"/>
          <p:cNvSpPr txBox="1"/>
          <p:nvPr/>
        </p:nvSpPr>
        <p:spPr>
          <a:xfrm>
            <a:off x="3063240" y="4681728"/>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Courier New"/>
              </a:rPr>
              <a:t>$all  $size  $slice  "name.first"</a:t>
            </a:r>
          </a:p>
        </p:txBody>
      </p:sp>
      <p:sp>
        <p:nvSpPr>
          <p:cNvPr id="28" name="Rectangle 27"/>
          <p:cNvSpPr/>
          <p:nvPr/>
        </p:nvSpPr>
        <p:spPr>
          <a:xfrm>
            <a:off x="411480" y="5193792"/>
            <a:ext cx="1136873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93792"/>
            <a:ext cx="2377440" cy="475488"/>
          </a:xfrm>
          <a:prstGeom prst="rect">
            <a:avLst/>
          </a:prstGeom>
          <a:noFill/>
        </p:spPr>
        <p:txBody>
          <a:bodyPr wrap="square" anchor="ctr" lIns="0" rIns="0" tIns="0" bIns="0">
            <a:spAutoFit/>
          </a:bodyPr>
          <a:lstStyle/>
          <a:p>
            <a:pPr algn="l">
              <a:lnSpc>
                <a:spcPct val="100000"/>
              </a:lnSpc>
            </a:pPr>
            <a:r>
              <a:rPr sz="2800" b="1">
                <a:solidFill>
                  <a:srgbClr val="14202E"/>
                </a:solidFill>
                <a:latin typeface="Arial"/>
              </a:rPr>
              <a:t>Cloud</a:t>
            </a:r>
          </a:p>
        </p:txBody>
      </p:sp>
      <p:sp>
        <p:nvSpPr>
          <p:cNvPr id="30" name="TextBox 29"/>
          <p:cNvSpPr txBox="1"/>
          <p:nvPr/>
        </p:nvSpPr>
        <p:spPr>
          <a:xfrm>
            <a:off x="3063240" y="5193792"/>
            <a:ext cx="8625535" cy="475488"/>
          </a:xfrm>
          <a:prstGeom prst="rect">
            <a:avLst/>
          </a:prstGeom>
          <a:noFill/>
        </p:spPr>
        <p:txBody>
          <a:bodyPr wrap="none" anchor="ctr" lIns="0" rIns="0" tIns="0" bIns="0">
            <a:spAutoFit/>
          </a:bodyPr>
          <a:lstStyle/>
          <a:p>
            <a:pPr algn="l">
              <a:lnSpc>
                <a:spcPct val="100000"/>
              </a:lnSpc>
            </a:pPr>
            <a:r>
              <a:rPr sz="2800" b="0">
                <a:solidFill>
                  <a:srgbClr val="14202E"/>
                </a:solidFill>
                <a:latin typeface="Arial"/>
              </a:rPr>
              <a:t>Public · Private · Hybrid | SaaS · PaaS · IaaS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